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70" r:id="rId4"/>
    <p:sldId id="271" r:id="rId5"/>
    <p:sldId id="267" r:id="rId6"/>
    <p:sldId id="268" r:id="rId7"/>
    <p:sldId id="258" r:id="rId8"/>
    <p:sldId id="269" r:id="rId9"/>
    <p:sldId id="259" r:id="rId10"/>
    <p:sldId id="293" r:id="rId11"/>
    <p:sldId id="273" r:id="rId12"/>
    <p:sldId id="272" r:id="rId13"/>
    <p:sldId id="262" r:id="rId14"/>
    <p:sldId id="275" r:id="rId15"/>
    <p:sldId id="263" r:id="rId16"/>
    <p:sldId id="279" r:id="rId17"/>
    <p:sldId id="290" r:id="rId18"/>
    <p:sldId id="291" r:id="rId19"/>
    <p:sldId id="292" r:id="rId20"/>
    <p:sldId id="277" r:id="rId21"/>
    <p:sldId id="282" r:id="rId22"/>
    <p:sldId id="283" r:id="rId23"/>
    <p:sldId id="284" r:id="rId24"/>
    <p:sldId id="285" r:id="rId25"/>
    <p:sldId id="286" r:id="rId26"/>
    <p:sldId id="288" r:id="rId27"/>
    <p:sldId id="289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53F5E7-6B13-45B5-AE79-D848AB037BE4}" v="21" dt="2026-02-05T06:26:30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ED360-A2B7-42AD-A7FE-B4A0C8056402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BE771-CA47-4DAF-AA9F-0D71FA14A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4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7BE771-CA47-4DAF-AA9F-0D71FA14A4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24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I</a:t>
            </a:r>
            <a:r>
              <a:rPr dirty="0"/>
              <a:t>: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AI</a:t>
            </a:r>
            <a:r>
              <a:rPr dirty="0"/>
              <a:t>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Artificial intelligence (AI) is a branch of computer science concerned with building smart machines capable of performing tasks that typically require human intelligence.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A0227-F277-626D-9F1C-8CC9A401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477"/>
            <a:ext cx="8229600" cy="88490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 of Artificial Intelligence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C2C66-340F-3028-3F7A-F4C6141B6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091381"/>
            <a:ext cx="8362335" cy="576661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600" dirty="0"/>
              <a:t>1. </a:t>
            </a:r>
            <a:r>
              <a:rPr lang="en-US" sz="3600" b="1" dirty="0"/>
              <a:t>Learning</a:t>
            </a:r>
            <a:endParaRPr lang="en-US" sz="3600" dirty="0"/>
          </a:p>
          <a:p>
            <a:r>
              <a:rPr lang="en-US" sz="3600" dirty="0"/>
              <a:t>Enable machines to acquire knowledge and improve performance over time.</a:t>
            </a:r>
          </a:p>
          <a:p>
            <a:r>
              <a:rPr lang="en-US" sz="3600" dirty="0"/>
              <a:t>Includes supervised learning, unsupervised learning, and reinforcement learning.</a:t>
            </a:r>
          </a:p>
          <a:p>
            <a:r>
              <a:rPr lang="en-US" sz="3600" dirty="0"/>
              <a:t>Example: Recommendation systems that improve with user feedback.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2. </a:t>
            </a:r>
            <a:r>
              <a:rPr lang="en-US" sz="3600" b="1" dirty="0"/>
              <a:t>Reasoning</a:t>
            </a:r>
            <a:endParaRPr lang="en-US" sz="3600" dirty="0"/>
          </a:p>
          <a:p>
            <a:r>
              <a:rPr lang="en-US" sz="3600" dirty="0"/>
              <a:t>Develop systems that can draw logical conclusions from available data.</a:t>
            </a:r>
          </a:p>
          <a:p>
            <a:r>
              <a:rPr lang="en-US" sz="3600" dirty="0"/>
              <a:t>Involves deductive reasoning (from rules to conclusions) and inductive reasoning (from examples to generalizations).</a:t>
            </a:r>
          </a:p>
          <a:p>
            <a:r>
              <a:rPr lang="en-US" sz="3600" dirty="0"/>
              <a:t>Example: Expert systems used in medical diagnosis.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dirty="0"/>
              <a:t>3. </a:t>
            </a:r>
            <a:r>
              <a:rPr lang="en-US" sz="3600" b="1" dirty="0"/>
              <a:t>Problem-Solving</a:t>
            </a:r>
            <a:endParaRPr lang="en-US" sz="3600" dirty="0"/>
          </a:p>
          <a:p>
            <a:r>
              <a:rPr lang="en-US" sz="3600" dirty="0"/>
              <a:t>Create algorithms that can solve complex tasks efficiently.</a:t>
            </a:r>
          </a:p>
          <a:p>
            <a:r>
              <a:rPr lang="en-US" sz="3600" dirty="0"/>
              <a:t>Includes search algorithms, optimization, and heuristic methods.</a:t>
            </a:r>
          </a:p>
          <a:p>
            <a:r>
              <a:rPr lang="en-US" sz="3600" dirty="0"/>
              <a:t>Example: Pathfinding in GPS navigation.</a:t>
            </a:r>
          </a:p>
          <a:p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323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2C97A-D9C5-AE34-4E56-9C005A28C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68680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Perception</a:t>
            </a:r>
            <a:endParaRPr lang="en-US" dirty="0"/>
          </a:p>
          <a:p>
            <a:r>
              <a:rPr lang="en-US" dirty="0"/>
              <a:t>Enable machines to interpret sensory data (vision, speech, touch).</a:t>
            </a:r>
          </a:p>
          <a:p>
            <a:r>
              <a:rPr lang="en-US" dirty="0"/>
              <a:t>Example: Computer vision in autonomous vehicles.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5. </a:t>
            </a:r>
            <a:r>
              <a:rPr lang="en-US" b="1" dirty="0"/>
              <a:t>Language Understanding</a:t>
            </a:r>
            <a:endParaRPr lang="en-US" dirty="0"/>
          </a:p>
          <a:p>
            <a:r>
              <a:rPr lang="en-US" dirty="0"/>
              <a:t>Natural Language Processing (NLP) for communication with humans.</a:t>
            </a:r>
          </a:p>
          <a:p>
            <a:r>
              <a:rPr lang="en-US" dirty="0"/>
              <a:t>Example: Chatbots, translation systems.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6. </a:t>
            </a:r>
            <a:r>
              <a:rPr lang="en-US" b="1" dirty="0"/>
              <a:t>Planning</a:t>
            </a:r>
            <a:endParaRPr lang="en-US" dirty="0"/>
          </a:p>
          <a:p>
            <a:r>
              <a:rPr lang="en-US" dirty="0"/>
              <a:t>Systems should plan actions to achieve specific goals.</a:t>
            </a:r>
          </a:p>
          <a:p>
            <a:r>
              <a:rPr lang="en-US" dirty="0"/>
              <a:t>Example: AI in robotics planning movements.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7. </a:t>
            </a:r>
            <a:r>
              <a:rPr lang="en-US" b="1" dirty="0"/>
              <a:t>Autonomy</a:t>
            </a:r>
            <a:endParaRPr lang="en-US" dirty="0"/>
          </a:p>
          <a:p>
            <a:r>
              <a:rPr lang="en-US" dirty="0"/>
              <a:t>Build agents that can act independently without human intervention.</a:t>
            </a:r>
          </a:p>
          <a:p>
            <a:r>
              <a:rPr lang="en-US" dirty="0"/>
              <a:t>Example: Self-driving cars.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8. </a:t>
            </a:r>
            <a:r>
              <a:rPr lang="en-US" b="1" dirty="0"/>
              <a:t>General Intelligence</a:t>
            </a:r>
            <a:endParaRPr lang="en-US" dirty="0"/>
          </a:p>
          <a:p>
            <a:r>
              <a:rPr lang="en-US" dirty="0"/>
              <a:t>Long-term goal: Achieve Artificial General Intelligence (AGI) capable of performing any intellectual task a human can.</a:t>
            </a:r>
          </a:p>
          <a:p>
            <a:r>
              <a:rPr lang="en-US" dirty="0"/>
              <a:t>Example: Research in cognitive architectures.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57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FEE5B-67F8-F6EB-0FA3-130C1C8A1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858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US" dirty="0"/>
              <a:t>: Healthcare, Finance, Gaming Autonomous Vehicles, Robotics, Data Security, Speech Recognition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B537D-1618-2954-1EA3-05EF911C7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29" y="1533831"/>
            <a:ext cx="5825614" cy="532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59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29D8F-7E32-9997-84B8-00DBBA405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1948"/>
            <a:ext cx="8229600" cy="565421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or Benefits of AI: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Increase work efficiency</a:t>
            </a:r>
          </a:p>
          <a:p>
            <a:r>
              <a:rPr lang="en-US" dirty="0"/>
              <a:t>Work with high accuracy</a:t>
            </a:r>
          </a:p>
          <a:p>
            <a:r>
              <a:rPr lang="en-US" dirty="0"/>
              <a:t>Reduce cost of training and operation</a:t>
            </a:r>
          </a:p>
          <a:p>
            <a:r>
              <a:rPr lang="en-US" dirty="0"/>
              <a:t>Improve Processes</a:t>
            </a:r>
          </a:p>
        </p:txBody>
      </p:sp>
    </p:spTree>
    <p:extLst>
      <p:ext uri="{BB962C8B-B14F-4D97-AF65-F5344CB8AC3E}">
        <p14:creationId xmlns:p14="http://schemas.microsoft.com/office/powerpoint/2010/main" val="3239422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671" y="0"/>
            <a:ext cx="8229600" cy="1106129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8645"/>
            <a:ext cx="8229600" cy="5899355"/>
          </a:xfrm>
        </p:spPr>
        <p:txBody>
          <a:bodyPr>
            <a:normAutofit fontScale="55000" lnSpcReduction="20000"/>
          </a:bodyPr>
          <a:lstStyle/>
          <a:p>
            <a:r>
              <a:rPr lang="en-US" sz="4500" b="1" dirty="0"/>
              <a:t>Philosophical Foundations</a:t>
            </a:r>
          </a:p>
          <a:p>
            <a:r>
              <a:rPr lang="en-US" b="1" dirty="0"/>
              <a:t>Logic and Reasoning</a:t>
            </a:r>
            <a:r>
              <a:rPr lang="en-US" dirty="0"/>
              <a:t>: Originates from Aristotle’s work on syllogism and rational thought.</a:t>
            </a:r>
          </a:p>
          <a:p>
            <a:r>
              <a:rPr lang="en-US" b="1" dirty="0"/>
              <a:t>Mind–Body Problem</a:t>
            </a:r>
            <a:r>
              <a:rPr lang="en-US" dirty="0"/>
              <a:t>: Philosophers questioned whether machines could replicate human thought.</a:t>
            </a:r>
          </a:p>
          <a:p>
            <a:r>
              <a:rPr lang="en-US" b="1" dirty="0"/>
              <a:t>Ethics of AI: </a:t>
            </a:r>
            <a:r>
              <a:rPr lang="en-US" dirty="0"/>
              <a:t>Concerns about autonomy, responsibility, and decision-making</a:t>
            </a:r>
            <a:r>
              <a:rPr lang="en-US" b="1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sz="4400" b="1" dirty="0"/>
              <a:t>Mathematical Foundations</a:t>
            </a:r>
          </a:p>
          <a:p>
            <a:r>
              <a:rPr lang="en-US" b="1" dirty="0"/>
              <a:t>Formal Logic</a:t>
            </a:r>
            <a:r>
              <a:rPr lang="en-US" dirty="0"/>
              <a:t>: Propositional and predicate logic for reasoning.</a:t>
            </a:r>
          </a:p>
          <a:p>
            <a:r>
              <a:rPr lang="en-US" b="1" dirty="0"/>
              <a:t>Probability &amp; Statistics</a:t>
            </a:r>
            <a:r>
              <a:rPr lang="en-US" dirty="0"/>
              <a:t>: Handling uncertainty in decision-making.</a:t>
            </a:r>
          </a:p>
          <a:p>
            <a:r>
              <a:rPr lang="en-US" b="1" dirty="0"/>
              <a:t>Algorithms &amp; Complexity</a:t>
            </a:r>
            <a:r>
              <a:rPr lang="en-US" dirty="0"/>
              <a:t>: Efficient problem-solving methods.</a:t>
            </a:r>
          </a:p>
          <a:p>
            <a:r>
              <a:rPr lang="en-US" b="1" dirty="0"/>
              <a:t>Game Theory</a:t>
            </a:r>
            <a:r>
              <a:rPr lang="en-US" dirty="0"/>
              <a:t>: Strategic decision-making in competitive environments</a:t>
            </a:r>
            <a:r>
              <a:rPr lang="en-US" b="1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sz="4400" b="1" dirty="0"/>
              <a:t>Computer Science Foundations</a:t>
            </a:r>
            <a:endParaRPr lang="en-US" sz="4400" dirty="0"/>
          </a:p>
          <a:p>
            <a:r>
              <a:rPr lang="en-US" b="1" dirty="0"/>
              <a:t>Data Structures &amp; Algorithms</a:t>
            </a:r>
            <a:r>
              <a:rPr lang="en-US" dirty="0"/>
              <a:t>: Essential for search, optimization, and learning.</a:t>
            </a:r>
          </a:p>
          <a:p>
            <a:r>
              <a:rPr lang="en-US" b="1" dirty="0"/>
              <a:t>Programming Languages</a:t>
            </a:r>
            <a:r>
              <a:rPr lang="en-US" dirty="0"/>
              <a:t>: Lisp, Prolog, Python widely used in AI.</a:t>
            </a:r>
          </a:p>
          <a:p>
            <a:r>
              <a:rPr lang="en-US" b="1" dirty="0"/>
              <a:t>Machine Learning</a:t>
            </a:r>
            <a:r>
              <a:rPr lang="en-US" dirty="0"/>
              <a:t>: Algorithms that allow systems to learn from data.</a:t>
            </a:r>
          </a:p>
          <a:p>
            <a:r>
              <a:rPr lang="en-US" b="1" dirty="0"/>
              <a:t>Neural Networks</a:t>
            </a:r>
            <a:r>
              <a:rPr lang="en-US" dirty="0"/>
              <a:t>: Inspired by biological neurons for pattern recognition.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22AFD-EA14-F11A-ADCF-4AAC9F05B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988"/>
            <a:ext cx="8229600" cy="6008176"/>
          </a:xfrm>
        </p:spPr>
        <p:txBody>
          <a:bodyPr>
            <a:normAutofit fontScale="70000" lnSpcReduction="20000"/>
          </a:bodyPr>
          <a:lstStyle/>
          <a:p>
            <a:r>
              <a:rPr lang="en-US" sz="3400" b="1" dirty="0"/>
              <a:t>Psychological Foundations</a:t>
            </a:r>
            <a:endParaRPr lang="en-US" sz="3400" dirty="0"/>
          </a:p>
          <a:p>
            <a:r>
              <a:rPr lang="en-US" b="1" dirty="0"/>
              <a:t>Cognitive Science</a:t>
            </a:r>
            <a:r>
              <a:rPr lang="en-US" dirty="0"/>
              <a:t>: Understanding human learning, memory, and problem-solving.</a:t>
            </a:r>
          </a:p>
          <a:p>
            <a:r>
              <a:rPr lang="en-US" b="1" dirty="0"/>
              <a:t>Behavioral Models</a:t>
            </a:r>
            <a:r>
              <a:rPr lang="en-US" dirty="0"/>
              <a:t>: AI systems mimic human decision-making processes.</a:t>
            </a:r>
          </a:p>
          <a:p>
            <a:r>
              <a:rPr lang="en-US" b="1" dirty="0"/>
              <a:t>Perception &amp; Vision</a:t>
            </a:r>
            <a:r>
              <a:rPr lang="en-US" dirty="0"/>
              <a:t>: Study of how humans interpret sensory data.</a:t>
            </a:r>
          </a:p>
          <a:p>
            <a:endParaRPr lang="en-US" dirty="0"/>
          </a:p>
          <a:p>
            <a:r>
              <a:rPr lang="en-US" sz="3400" b="1" dirty="0"/>
              <a:t>Linguistic Foundations</a:t>
            </a:r>
            <a:endParaRPr lang="en-US" sz="3400" dirty="0"/>
          </a:p>
          <a:p>
            <a:r>
              <a:rPr lang="en-US" b="1" dirty="0"/>
              <a:t>Natural Language Processing (NLP)</a:t>
            </a:r>
            <a:r>
              <a:rPr lang="en-US" dirty="0"/>
              <a:t>: Enables machines to understand and generate human language.</a:t>
            </a:r>
          </a:p>
          <a:p>
            <a:r>
              <a:rPr lang="en-US" b="1" dirty="0"/>
              <a:t>Syntax &amp; Semantics</a:t>
            </a:r>
            <a:r>
              <a:rPr lang="en-US" dirty="0"/>
              <a:t>: Rules of language structure and meaning.</a:t>
            </a:r>
          </a:p>
          <a:p>
            <a:r>
              <a:rPr lang="en-US" b="1" dirty="0"/>
              <a:t>Speech Recognition</a:t>
            </a:r>
            <a:r>
              <a:rPr lang="en-US" dirty="0"/>
              <a:t>: Converting spoken words into text.</a:t>
            </a:r>
          </a:p>
          <a:p>
            <a:endParaRPr lang="en-US" dirty="0"/>
          </a:p>
          <a:p>
            <a:r>
              <a:rPr lang="en-US" sz="3400" b="1" dirty="0"/>
              <a:t>Engineering Foundations</a:t>
            </a:r>
          </a:p>
          <a:p>
            <a:r>
              <a:rPr lang="en-US" b="1" dirty="0"/>
              <a:t>Robotics: </a:t>
            </a:r>
            <a:r>
              <a:rPr lang="en-US" dirty="0"/>
              <a:t>Integration of AI with mechanical systems</a:t>
            </a:r>
            <a:r>
              <a:rPr lang="en-US" b="1" dirty="0"/>
              <a:t>.</a:t>
            </a:r>
          </a:p>
          <a:p>
            <a:r>
              <a:rPr lang="en-US" b="1" dirty="0"/>
              <a:t>Control Systems: </a:t>
            </a:r>
            <a:r>
              <a:rPr lang="en-US" dirty="0"/>
              <a:t>Ensuring stability and adaptability in machines</a:t>
            </a:r>
            <a:r>
              <a:rPr lang="en-US" b="1" dirty="0"/>
              <a:t>.</a:t>
            </a:r>
          </a:p>
          <a:p>
            <a:r>
              <a:rPr lang="en-US" b="1" dirty="0"/>
              <a:t>Sensors &amp; Actuators</a:t>
            </a:r>
            <a:r>
              <a:rPr lang="en-US" dirty="0"/>
              <a:t>: Gathering and responding to environmental data.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949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565" y="117987"/>
            <a:ext cx="8229600" cy="1076632"/>
          </a:xfrm>
        </p:spPr>
        <p:txBody>
          <a:bodyPr>
            <a:normAutofit/>
          </a:bodyPr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683" y="1401098"/>
            <a:ext cx="8229600" cy="5560142"/>
          </a:xfrm>
        </p:spPr>
        <p:txBody>
          <a:bodyPr>
            <a:normAutofit/>
          </a:bodyPr>
          <a:lstStyle/>
          <a:p>
            <a:r>
              <a:rPr lang="en-US" sz="2400" dirty="0"/>
              <a:t>Early Concepts: Myths, mechanical automata.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1950s-60s: Turing Test, early programs.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1970s-80s: Expert systems, AI winter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1990s-2000s: Machine learning, data-driven AI.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2010s-present: Deep learning, real-world applications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2020s- Present: Generative AI –(e.g., GPT, Copilot</a:t>
            </a:r>
            <a:r>
              <a:rPr lang="en-US" alt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State of the Art </a:t>
            </a:r>
            <a:r>
              <a:rPr lang="en-US" b="1" dirty="0"/>
              <a:t>,Risks and  Benefits of</a:t>
            </a:r>
            <a:r>
              <a:rPr b="1" dirty="0"/>
              <a:t>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State of the Art</a:t>
            </a:r>
          </a:p>
          <a:p>
            <a:pPr marL="0" indent="0">
              <a:buNone/>
            </a:pPr>
            <a:r>
              <a:rPr lang="en-IN" dirty="0"/>
              <a:t>•  </a:t>
            </a:r>
            <a:r>
              <a:rPr dirty="0"/>
              <a:t>Self-driving cars</a:t>
            </a:r>
          </a:p>
          <a:p>
            <a:pPr marL="0" indent="0">
              <a:buNone/>
            </a:pPr>
            <a:r>
              <a:rPr dirty="0"/>
              <a:t>• Chatbots &amp; LLMs</a:t>
            </a:r>
          </a:p>
          <a:p>
            <a:pPr marL="0" indent="0">
              <a:buNone/>
            </a:pPr>
            <a:r>
              <a:rPr dirty="0"/>
              <a:t>• Medical diagnosis</a:t>
            </a:r>
          </a:p>
          <a:p>
            <a:pPr marL="0" indent="0">
              <a:buNone/>
            </a:pPr>
            <a:r>
              <a:rPr dirty="0"/>
              <a:t>• Face recognition</a:t>
            </a:r>
          </a:p>
          <a:p>
            <a:pPr marL="0" indent="0">
              <a:buNone/>
            </a:pPr>
            <a:r>
              <a:rPr dirty="0"/>
              <a:t>• Recommendation systems</a:t>
            </a:r>
          </a:p>
          <a:p>
            <a:pPr marL="0" indent="0">
              <a:buNone/>
            </a:pPr>
            <a:r>
              <a:rPr dirty="0"/>
              <a:t>• Generative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Benefits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Efficiency &amp;</a:t>
            </a:r>
            <a:r>
              <a:rPr dirty="0"/>
              <a:t>Automation</a:t>
            </a:r>
            <a:endParaRPr lang="en-US" dirty="0"/>
          </a:p>
          <a:p>
            <a:pPr marL="0" indent="0">
              <a:buNone/>
            </a:pPr>
            <a:r>
              <a:rPr dirty="0"/>
              <a:t> • </a:t>
            </a:r>
            <a:r>
              <a:rPr lang="en-US" dirty="0"/>
              <a:t>Better Decision</a:t>
            </a:r>
            <a:endParaRPr dirty="0"/>
          </a:p>
          <a:p>
            <a:pPr marL="0" indent="0">
              <a:buNone/>
            </a:pPr>
            <a:r>
              <a:rPr dirty="0"/>
              <a:t>• 24×7 availability</a:t>
            </a:r>
          </a:p>
          <a:p>
            <a:pPr marL="0" indent="0">
              <a:buNone/>
            </a:pPr>
            <a:r>
              <a:rPr dirty="0"/>
              <a:t>• Personalization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Healthcare advances </a:t>
            </a:r>
          </a:p>
          <a:p>
            <a:pPr marL="0" indent="0">
              <a:buNone/>
            </a:pPr>
            <a:r>
              <a:rPr lang="en-IN" dirty="0"/>
              <a:t>•</a:t>
            </a:r>
            <a:r>
              <a:rPr lang="en-US" dirty="0"/>
              <a:t> Accessibility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US" dirty="0"/>
              <a:t>Innovation etc.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AB78-51E0-3698-27D0-B57BB19DC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Risks of AI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32D88-0CD5-B909-F763-C9C3D7BCD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•Job displacement</a:t>
            </a:r>
          </a:p>
          <a:p>
            <a:pPr marL="0" indent="0">
              <a:buNone/>
            </a:pPr>
            <a:r>
              <a:rPr lang="en-US" dirty="0"/>
              <a:t>• Bias &amp; unfair decisions</a:t>
            </a:r>
          </a:p>
          <a:p>
            <a:pPr marL="0" indent="0">
              <a:buNone/>
            </a:pPr>
            <a:r>
              <a:rPr lang="en-US" dirty="0"/>
              <a:t>• Privacy issues</a:t>
            </a:r>
          </a:p>
          <a:p>
            <a:pPr marL="0" indent="0">
              <a:buNone/>
            </a:pPr>
            <a:r>
              <a:rPr lang="en-US" dirty="0"/>
              <a:t>• Security threats</a:t>
            </a:r>
          </a:p>
          <a:p>
            <a:pPr marL="0" indent="0">
              <a:buNone/>
            </a:pPr>
            <a:r>
              <a:rPr lang="en-US" dirty="0"/>
              <a:t>• Over-dependence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0883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Definition</a:t>
            </a:r>
            <a:r>
              <a:rPr dirty="0"/>
              <a:t>: Entities that perceive and act upon environments.</a:t>
            </a:r>
            <a:endParaRPr lang="en-US" dirty="0"/>
          </a:p>
          <a:p>
            <a:endParaRPr dirty="0"/>
          </a:p>
          <a:p>
            <a:r>
              <a:rPr b="1" dirty="0"/>
              <a:t>Characteristics</a:t>
            </a:r>
            <a:r>
              <a:rPr dirty="0"/>
              <a:t>: </a:t>
            </a:r>
            <a:r>
              <a:rPr lang="en-US" dirty="0" err="1"/>
              <a:t>Perception,</a:t>
            </a:r>
            <a:r>
              <a:rPr dirty="0" err="1"/>
              <a:t>Autonomy</a:t>
            </a:r>
            <a:r>
              <a:rPr dirty="0"/>
              <a:t>, </a:t>
            </a:r>
            <a:r>
              <a:rPr lang="en-US" dirty="0" err="1"/>
              <a:t>Adaptability,Goal-Driven</a:t>
            </a:r>
            <a:r>
              <a:rPr dirty="0" err="1"/>
              <a:t>,</a:t>
            </a:r>
            <a:r>
              <a:rPr lang="en-US" dirty="0" err="1"/>
              <a:t>Interactive</a:t>
            </a:r>
            <a:r>
              <a:rPr dirty="0"/>
              <a:t> .</a:t>
            </a:r>
            <a:endParaRPr lang="en-US" dirty="0"/>
          </a:p>
          <a:p>
            <a:endParaRPr dirty="0"/>
          </a:p>
          <a:p>
            <a:r>
              <a:rPr b="1" dirty="0"/>
              <a:t>Examples</a:t>
            </a:r>
            <a:r>
              <a:rPr dirty="0"/>
              <a:t>: Virtual assistants, autonomous vehicles</a:t>
            </a:r>
            <a:r>
              <a:rPr lang="en-US" dirty="0"/>
              <a:t>, Google </a:t>
            </a:r>
            <a:r>
              <a:rPr lang="en-US" dirty="0" err="1"/>
              <a:t>maps,Spam</a:t>
            </a:r>
            <a:r>
              <a:rPr lang="en-US" dirty="0"/>
              <a:t> filters etc.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B108E-EBD9-FDE5-7B89-E270A05F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6981"/>
            <a:ext cx="8509819" cy="1106129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IN" b="1" dirty="0"/>
              <a:t>Agents and Environments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05743-850F-C467-4BCA-07BFAF00A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an Agent?</a:t>
            </a:r>
          </a:p>
          <a:p>
            <a:pPr marL="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An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entity that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perceives its environment through sensors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upon it through actuators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achieve goals.</a:t>
            </a:r>
          </a:p>
          <a:p>
            <a:pPr algn="just"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 can be software or physical (e.g., robot, web crawler). </a:t>
            </a:r>
          </a:p>
          <a:p>
            <a:pPr marL="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467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Agent–Environment Interaction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perceive → decide → act → perceive new 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environment responds to actions and provides feedback.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could include robot navigation, game-playing agents, chatbots.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A98C8-5F2A-C602-74F6-78B8BBBA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an Environment?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81FD55-2744-20E7-FA34-916B5EFC3B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739798"/>
            <a:ext cx="866294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Everything external to the agent that it interacts with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via sensors and actuators.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environment can change over time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influence agent decisions.</a:t>
            </a:r>
          </a:p>
        </p:txBody>
      </p:sp>
    </p:spTree>
    <p:extLst>
      <p:ext uri="{BB962C8B-B14F-4D97-AF65-F5344CB8AC3E}">
        <p14:creationId xmlns:p14="http://schemas.microsoft.com/office/powerpoint/2010/main" val="2725517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76272"/>
            <a:ext cx="8229600" cy="1490472"/>
          </a:xfrm>
        </p:spPr>
        <p:txBody>
          <a:bodyPr/>
          <a:lstStyle/>
          <a:p>
            <a:r>
              <a:rPr dirty="0"/>
              <a:t>Good Behavior – Concept of Rationality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779008"/>
          </a:xfrm>
        </p:spPr>
        <p:txBody>
          <a:bodyPr/>
          <a:lstStyle/>
          <a:p>
            <a:r>
              <a:rPr b="1" dirty="0"/>
              <a:t>Rationality</a:t>
            </a:r>
            <a:r>
              <a:rPr lang="en-US" b="1" dirty="0"/>
              <a:t> in AI</a:t>
            </a:r>
            <a:r>
              <a:rPr dirty="0"/>
              <a:t>: The quality of being based on or in accordance with reason or logic.</a:t>
            </a:r>
            <a:endParaRPr lang="en-US" dirty="0"/>
          </a:p>
          <a:p>
            <a:r>
              <a:rPr lang="en-US" b="1" dirty="0"/>
              <a:t>Good Behavior</a:t>
            </a:r>
            <a:r>
              <a:rPr lang="en-US" dirty="0"/>
              <a:t>: Actions that are morally right, respectful, and socially acceptable.</a:t>
            </a:r>
          </a:p>
          <a:p>
            <a:pPr marL="0" indent="0">
              <a:buNone/>
            </a:pPr>
            <a:r>
              <a:rPr lang="en-US" b="1" dirty="0"/>
              <a:t>The agent should:</a:t>
            </a:r>
          </a:p>
          <a:p>
            <a:pPr marL="0" indent="0">
              <a:buNone/>
            </a:pPr>
            <a:r>
              <a:rPr lang="en-US" dirty="0"/>
              <a:t>1)Perceive Correctly</a:t>
            </a:r>
          </a:p>
          <a:p>
            <a:pPr marL="0" indent="0">
              <a:buNone/>
            </a:pPr>
            <a:r>
              <a:rPr lang="en-US" dirty="0"/>
              <a:t>2)Act effectively</a:t>
            </a:r>
          </a:p>
          <a:p>
            <a:pPr marL="0" indent="0">
              <a:buNone/>
            </a:pPr>
            <a:r>
              <a:rPr lang="en-US" dirty="0"/>
              <a:t>3)Adapt</a:t>
            </a:r>
          </a:p>
          <a:p>
            <a:pPr marL="0" indent="0">
              <a:buNone/>
            </a:pPr>
            <a:r>
              <a:rPr lang="en-US" dirty="0"/>
              <a:t>4)Maximize Performance</a:t>
            </a:r>
          </a:p>
          <a:p>
            <a:pPr marL="0" indent="0">
              <a:buNone/>
            </a:pP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Rational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Steps:</a:t>
            </a:r>
          </a:p>
          <a:p>
            <a:pPr marL="0" indent="0">
              <a:buNone/>
            </a:pPr>
            <a:r>
              <a:rPr dirty="0"/>
              <a:t>1. Identify the problem</a:t>
            </a:r>
          </a:p>
          <a:p>
            <a:pPr marL="0" indent="0">
              <a:buNone/>
            </a:pPr>
            <a:r>
              <a:rPr dirty="0"/>
              <a:t>2. Gather information</a:t>
            </a:r>
          </a:p>
          <a:p>
            <a:pPr marL="0" indent="0">
              <a:buNone/>
            </a:pPr>
            <a:r>
              <a:rPr dirty="0"/>
              <a:t>3. Evaluate alternatives</a:t>
            </a:r>
          </a:p>
          <a:p>
            <a:pPr marL="0" indent="0">
              <a:buNone/>
            </a:pPr>
            <a:r>
              <a:rPr dirty="0"/>
              <a:t>4. Make a decision</a:t>
            </a:r>
          </a:p>
          <a:p>
            <a:pPr marL="0" indent="0">
              <a:buNone/>
            </a:pPr>
            <a:r>
              <a:rPr dirty="0"/>
              <a:t>5. Implement and review</a:t>
            </a:r>
          </a:p>
          <a:p>
            <a:pPr marL="0" indent="0">
              <a:buNone/>
            </a:pPr>
            <a:r>
              <a:rPr dirty="0"/>
              <a:t>Example: Choosing a career path based on skills and interests.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CC6F96-181E-92E0-A92B-6C4C6D73D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412416"/>
              </p:ext>
            </p:extLst>
          </p:nvPr>
        </p:nvGraphicFramePr>
        <p:xfrm>
          <a:off x="482600" y="1"/>
          <a:ext cx="8178800" cy="7555455"/>
        </p:xfrm>
        <a:graphic>
          <a:graphicData uri="http://schemas.openxmlformats.org/drawingml/2006/table">
            <a:tbl>
              <a:tblPr/>
              <a:tblGrid>
                <a:gridCol w="4053534">
                  <a:extLst>
                    <a:ext uri="{9D8B030D-6E8A-4147-A177-3AD203B41FA5}">
                      <a16:colId xmlns:a16="http://schemas.microsoft.com/office/drawing/2014/main" val="2367687426"/>
                    </a:ext>
                  </a:extLst>
                </a:gridCol>
                <a:gridCol w="4125266">
                  <a:extLst>
                    <a:ext uri="{9D8B030D-6E8A-4147-A177-3AD203B41FA5}">
                      <a16:colId xmlns:a16="http://schemas.microsoft.com/office/drawing/2014/main" val="3323822790"/>
                    </a:ext>
                  </a:extLst>
                </a:gridCol>
              </a:tblGrid>
              <a:tr h="12534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8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sz="2000" b="1" i="1" u="sng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Types /Nature/ Properties of Environment</a:t>
                      </a:r>
                    </a:p>
                    <a:p>
                      <a:pPr algn="l" fontAlgn="ctr">
                        <a:buNone/>
                      </a:pPr>
                      <a:endParaRPr lang="en-US" sz="18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Property</a:t>
                      </a: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8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ctr">
                        <a:buNone/>
                      </a:pPr>
                      <a:endParaRPr lang="en-US" sz="18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ctr">
                        <a:buNone/>
                      </a:pPr>
                      <a:endParaRPr lang="en-US" sz="1800" b="1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128295"/>
                  </a:ext>
                </a:extLst>
              </a:tr>
              <a:tr h="8042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Fully Observable</a:t>
                      </a: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 can access complete state at each time step.</a:t>
                      </a: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387241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Partially Observable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 only sees part of the environment.</a:t>
                      </a: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331443"/>
                  </a:ext>
                </a:extLst>
              </a:tr>
              <a:tr h="8042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Deterministic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 state fully determined by current state + action.</a:t>
                      </a: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344218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Stochastic</a:t>
                      </a: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Probabilities involved in next-state.</a:t>
                      </a: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92134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Episodic</a:t>
                      </a: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 action has independent episodes.</a:t>
                      </a: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616156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Sequential</a:t>
                      </a: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decisions affect future states.</a:t>
                      </a: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776530"/>
                  </a:ext>
                </a:extLst>
              </a:tr>
              <a:tr h="8042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/ Dynamic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 stays same / changes while agent computes.</a:t>
                      </a: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995829"/>
                  </a:ext>
                </a:extLst>
              </a:tr>
              <a:tr h="4490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Discrete / Continuous</a:t>
                      </a: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Finite / infinite states or actions.</a:t>
                      </a: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981887"/>
                  </a:ext>
                </a:extLst>
              </a:tr>
              <a:tr h="8042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Single-agent / Multi-agent</a:t>
                      </a:r>
                      <a:endParaRPr lang="en-US" sz="18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agent or several competing/cooperating agents.</a:t>
                      </a: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202322"/>
                  </a:ext>
                </a:extLst>
              </a:tr>
              <a:tr h="5884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8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501" marR="72501" marT="36250" marB="36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310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4974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CA505-55EA-88B5-C03A-CFF37F234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 real-world AI agents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AA7DD-8D4A-B940-2362-4CAEDDA2CFC7}"/>
              </a:ext>
            </a:extLst>
          </p:cNvPr>
          <p:cNvSpPr txBox="1"/>
          <p:nvPr/>
        </p:nvSpPr>
        <p:spPr>
          <a:xfrm>
            <a:off x="752167" y="1443841"/>
            <a:ext cx="752167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AutoNum type="arabicPeriod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</a:t>
            </a:r>
          </a:p>
          <a:p>
            <a:pPr marL="742950" indent="-742950">
              <a:buAutoNum type="arabicPeriod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Autonomous vehicle controller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Classification: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Partially Observable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Sensors cannot see everything (blind spots, weather)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Other vehicles and pedestrians behave unpredictably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Current actions affect future states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Environment changes continuously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Speed, position, time are continuous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Other cars, humans, traffic systems</a:t>
            </a:r>
          </a:p>
        </p:txBody>
      </p:sp>
    </p:spTree>
    <p:extLst>
      <p:ext uri="{BB962C8B-B14F-4D97-AF65-F5344CB8AC3E}">
        <p14:creationId xmlns:p14="http://schemas.microsoft.com/office/powerpoint/2010/main" val="2569241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047F13-AE21-F849-6BEA-0E1751330907}"/>
              </a:ext>
            </a:extLst>
          </p:cNvPr>
          <p:cNvSpPr txBox="1"/>
          <p:nvPr/>
        </p:nvSpPr>
        <p:spPr>
          <a:xfrm>
            <a:off x="457201" y="1859340"/>
            <a:ext cx="750692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Chess Playing Program</a:t>
            </a:r>
          </a:p>
          <a:p>
            <a:pPr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Chess AI (e.g., Stockfish)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Classification: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Observable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Complete board is visible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Same move always gives same result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Each move affects future moves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Board does not change while thinking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Finite states and moves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(Adversarial)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Opponent is another agent</a:t>
            </a:r>
          </a:p>
        </p:txBody>
      </p:sp>
    </p:spTree>
    <p:extLst>
      <p:ext uri="{BB962C8B-B14F-4D97-AF65-F5344CB8AC3E}">
        <p14:creationId xmlns:p14="http://schemas.microsoft.com/office/powerpoint/2010/main" val="2585066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FEE7A5-2049-91AB-A086-2FBB3987F3C6}"/>
              </a:ext>
            </a:extLst>
          </p:cNvPr>
          <p:cNvSpPr txBox="1"/>
          <p:nvPr/>
        </p:nvSpPr>
        <p:spPr>
          <a:xfrm>
            <a:off x="457200" y="1582341"/>
            <a:ext cx="775765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Robot Vacuum Cleaner</a:t>
            </a:r>
          </a:p>
          <a:p>
            <a:pPr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Cleaning robot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Classification: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Partially Observable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Cannot see entire room at once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Actions generally have predictable effects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Past actions affect future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Furniture or people may move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Movement and time are continuous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Single-Agent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Operates independently</a:t>
            </a:r>
          </a:p>
        </p:txBody>
      </p:sp>
    </p:spTree>
    <p:extLst>
      <p:ext uri="{BB962C8B-B14F-4D97-AF65-F5344CB8AC3E}">
        <p14:creationId xmlns:p14="http://schemas.microsoft.com/office/powerpoint/2010/main" val="3745577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B96141-F05A-173D-3F04-73A30FD6FDBE}"/>
              </a:ext>
            </a:extLst>
          </p:cNvPr>
          <p:cNvSpPr txBox="1"/>
          <p:nvPr/>
        </p:nvSpPr>
        <p:spPr>
          <a:xfrm>
            <a:off x="457200" y="1582341"/>
            <a:ext cx="6400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Email Spam Filter</a:t>
            </a:r>
          </a:p>
          <a:p>
            <a:pPr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Spam detection system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Classification: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Observable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Entire email content is available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Spam patterns change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Each email is classified independently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Email does not change during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Finite set of actions (spam / not spam)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Single-Agent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42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80759B-9BC6-B3A6-083D-F3CA285CAE44}"/>
              </a:ext>
            </a:extLst>
          </p:cNvPr>
          <p:cNvSpPr txBox="1"/>
          <p:nvPr/>
        </p:nvSpPr>
        <p:spPr>
          <a:xfrm>
            <a:off x="176981" y="1443841"/>
            <a:ext cx="827384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Online Recommendation System (Netflix / Amazon)</a:t>
            </a:r>
          </a:p>
          <a:p>
            <a:pPr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 engine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Classification: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Partially Observable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preferences are not fully known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behavior is unpredictable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Recommendations affect future choices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interests change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+ Continuous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Items are discrete, ratings are continuous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Multiple users interacting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2938682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Simple Reflex</a:t>
            </a:r>
          </a:p>
          <a:p>
            <a:pPr marL="0" indent="0">
              <a:buNone/>
            </a:pPr>
            <a:r>
              <a:rPr dirty="0"/>
              <a:t>• Model-Based</a:t>
            </a:r>
          </a:p>
          <a:p>
            <a:pPr marL="0" indent="0">
              <a:buNone/>
            </a:pPr>
            <a:r>
              <a:rPr dirty="0"/>
              <a:t>• Goal-Based</a:t>
            </a:r>
          </a:p>
          <a:p>
            <a:pPr marL="0" indent="0">
              <a:buNone/>
            </a:pPr>
            <a:r>
              <a:rPr dirty="0"/>
              <a:t>• Utility-Based</a:t>
            </a:r>
          </a:p>
          <a:p>
            <a:pPr marL="0" indent="0">
              <a:buNone/>
            </a:pPr>
            <a:r>
              <a:rPr dirty="0"/>
              <a:t>• Learning Agents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1226" y="2743200"/>
            <a:ext cx="16459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Simple Reflex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743200"/>
            <a:ext cx="16459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Model-Based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743200"/>
            <a:ext cx="164592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Goal-Based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2743200"/>
            <a:ext cx="1498435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Utility-Based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2743200"/>
            <a:ext cx="1243584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Learning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874807-1BD4-1F4F-B499-674A6533DBA9}"/>
              </a:ext>
            </a:extLst>
          </p:cNvPr>
          <p:cNvSpPr/>
          <p:nvPr/>
        </p:nvSpPr>
        <p:spPr>
          <a:xfrm>
            <a:off x="2507226" y="1240656"/>
            <a:ext cx="3849329" cy="6341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Types of Agents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D741BE-DC59-5259-4A91-F0873FD59F76}"/>
              </a:ext>
            </a:extLst>
          </p:cNvPr>
          <p:cNvCxnSpPr/>
          <p:nvPr/>
        </p:nvCxnSpPr>
        <p:spPr>
          <a:xfrm flipH="1">
            <a:off x="1622323" y="1806677"/>
            <a:ext cx="884903" cy="93652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B78497-B09F-AB56-C9CB-70073BFA35D6}"/>
              </a:ext>
            </a:extLst>
          </p:cNvPr>
          <p:cNvCxnSpPr/>
          <p:nvPr/>
        </p:nvCxnSpPr>
        <p:spPr>
          <a:xfrm>
            <a:off x="2846439" y="1874837"/>
            <a:ext cx="0" cy="8683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F109876-2847-26F5-E96B-273E4481FE20}"/>
              </a:ext>
            </a:extLst>
          </p:cNvPr>
          <p:cNvCxnSpPr/>
          <p:nvPr/>
        </p:nvCxnSpPr>
        <p:spPr>
          <a:xfrm>
            <a:off x="4572000" y="1874837"/>
            <a:ext cx="0" cy="8683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6ACB84-B6C4-2525-DF26-F3F885192639}"/>
              </a:ext>
            </a:extLst>
          </p:cNvPr>
          <p:cNvCxnSpPr/>
          <p:nvPr/>
        </p:nvCxnSpPr>
        <p:spPr>
          <a:xfrm>
            <a:off x="5648632" y="1874837"/>
            <a:ext cx="545691" cy="8683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562BEAE-4E11-511D-4C6E-4CBF0E012655}"/>
              </a:ext>
            </a:extLst>
          </p:cNvPr>
          <p:cNvCxnSpPr/>
          <p:nvPr/>
        </p:nvCxnSpPr>
        <p:spPr>
          <a:xfrm>
            <a:off x="6356555" y="1806677"/>
            <a:ext cx="1415845" cy="9365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1357</Words>
  <Application>Microsoft Office PowerPoint</Application>
  <PresentationFormat>On-screen Show (4:3)</PresentationFormat>
  <Paragraphs>249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Calibri</vt:lpstr>
      <vt:lpstr>Times New Roman</vt:lpstr>
      <vt:lpstr>Office Theme</vt:lpstr>
      <vt:lpstr>Unit I: Introduction </vt:lpstr>
      <vt:lpstr>Introduction to Artificial Intelligence</vt:lpstr>
      <vt:lpstr>Goals of Artificial Intelligence</vt:lpstr>
      <vt:lpstr>PowerPoint Presentation</vt:lpstr>
      <vt:lpstr>PowerPoint Presentation</vt:lpstr>
      <vt:lpstr>PowerPoint Presentation</vt:lpstr>
      <vt:lpstr>Foundations of Artificial Intelligence</vt:lpstr>
      <vt:lpstr>PowerPoint Presentation</vt:lpstr>
      <vt:lpstr>History of Artificial Intelligence</vt:lpstr>
      <vt:lpstr>State of the Art ,Risks and  Benefits of AI</vt:lpstr>
      <vt:lpstr>Benefits of AI</vt:lpstr>
      <vt:lpstr>Risks of AI</vt:lpstr>
      <vt:lpstr>Intelligent Agents</vt:lpstr>
      <vt:lpstr> Agents and Environments </vt:lpstr>
      <vt:lpstr>Agent–Environment Interaction</vt:lpstr>
      <vt:lpstr>What is an Environment?</vt:lpstr>
      <vt:lpstr>Good Behavior – Concept of Rationality</vt:lpstr>
      <vt:lpstr>Introduction</vt:lpstr>
      <vt:lpstr>Rational Decision-Making</vt:lpstr>
      <vt:lpstr>PowerPoint Presentation</vt:lpstr>
      <vt:lpstr>5 real-world AI agents </vt:lpstr>
      <vt:lpstr>PowerPoint Presentation</vt:lpstr>
      <vt:lpstr>PowerPoint Presentation</vt:lpstr>
      <vt:lpstr>PowerPoint Presentation</vt:lpstr>
      <vt:lpstr>PowerPoint Presentation</vt:lpstr>
      <vt:lpstr>Types of Agents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Soni</dc:creator>
  <cp:keywords/>
  <dc:description>generated using python-pptx</dc:description>
  <cp:lastModifiedBy>Soni Kendre</cp:lastModifiedBy>
  <cp:revision>3</cp:revision>
  <dcterms:created xsi:type="dcterms:W3CDTF">2013-01-27T09:14:16Z</dcterms:created>
  <dcterms:modified xsi:type="dcterms:W3CDTF">2026-02-05T06:28:39Z</dcterms:modified>
  <cp:category/>
</cp:coreProperties>
</file>