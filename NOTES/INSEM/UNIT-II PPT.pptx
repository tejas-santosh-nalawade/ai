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293"/>
  </p:notesMasterIdLst>
  <p:sldIdLst>
    <p:sldId id="256" r:id="rId2"/>
    <p:sldId id="257" r:id="rId3"/>
    <p:sldId id="258" r:id="rId4"/>
    <p:sldId id="387" r:id="rId5"/>
    <p:sldId id="388" r:id="rId6"/>
    <p:sldId id="389" r:id="rId7"/>
    <p:sldId id="390" r:id="rId8"/>
    <p:sldId id="346" r:id="rId9"/>
    <p:sldId id="369" r:id="rId10"/>
    <p:sldId id="370" r:id="rId11"/>
    <p:sldId id="371" r:id="rId12"/>
    <p:sldId id="372" r:id="rId13"/>
    <p:sldId id="373" r:id="rId14"/>
    <p:sldId id="343" r:id="rId15"/>
    <p:sldId id="344" r:id="rId16"/>
    <p:sldId id="347" r:id="rId17"/>
    <p:sldId id="329" r:id="rId18"/>
    <p:sldId id="391" r:id="rId19"/>
    <p:sldId id="339" r:id="rId20"/>
    <p:sldId id="340" r:id="rId21"/>
    <p:sldId id="341" r:id="rId22"/>
    <p:sldId id="351" r:id="rId23"/>
    <p:sldId id="355" r:id="rId24"/>
    <p:sldId id="374" r:id="rId25"/>
    <p:sldId id="356" r:id="rId26"/>
    <p:sldId id="375" r:id="rId27"/>
    <p:sldId id="380" r:id="rId28"/>
    <p:sldId id="381" r:id="rId29"/>
    <p:sldId id="382" r:id="rId30"/>
    <p:sldId id="395" r:id="rId31"/>
    <p:sldId id="396" r:id="rId32"/>
    <p:sldId id="397" r:id="rId33"/>
    <p:sldId id="398" r:id="rId34"/>
    <p:sldId id="399" r:id="rId35"/>
    <p:sldId id="411" r:id="rId36"/>
    <p:sldId id="412" r:id="rId37"/>
    <p:sldId id="403" r:id="rId38"/>
    <p:sldId id="404" r:id="rId39"/>
    <p:sldId id="405" r:id="rId40"/>
    <p:sldId id="406" r:id="rId41"/>
    <p:sldId id="407" r:id="rId42"/>
    <p:sldId id="409" r:id="rId43"/>
    <p:sldId id="440" r:id="rId44"/>
    <p:sldId id="441" r:id="rId45"/>
    <p:sldId id="442" r:id="rId46"/>
    <p:sldId id="443" r:id="rId47"/>
    <p:sldId id="445" r:id="rId48"/>
    <p:sldId id="446" r:id="rId49"/>
    <p:sldId id="416" r:id="rId50"/>
    <p:sldId id="449" r:id="rId51"/>
    <p:sldId id="417" r:id="rId52"/>
    <p:sldId id="469" r:id="rId53"/>
    <p:sldId id="420" r:id="rId54"/>
    <p:sldId id="421" r:id="rId55"/>
    <p:sldId id="422" r:id="rId56"/>
    <p:sldId id="423" r:id="rId57"/>
    <p:sldId id="424" r:id="rId58"/>
    <p:sldId id="425" r:id="rId59"/>
    <p:sldId id="426" r:id="rId60"/>
    <p:sldId id="427" r:id="rId61"/>
    <p:sldId id="428" r:id="rId62"/>
    <p:sldId id="429" r:id="rId63"/>
    <p:sldId id="430" r:id="rId64"/>
    <p:sldId id="431" r:id="rId65"/>
    <p:sldId id="432" r:id="rId66"/>
    <p:sldId id="433" r:id="rId67"/>
    <p:sldId id="454" r:id="rId68"/>
    <p:sldId id="455" r:id="rId69"/>
    <p:sldId id="435" r:id="rId70"/>
    <p:sldId id="269" r:id="rId71"/>
    <p:sldId id="271" r:id="rId72"/>
    <p:sldId id="273" r:id="rId73"/>
    <p:sldId id="274" r:id="rId74"/>
    <p:sldId id="275" r:id="rId75"/>
    <p:sldId id="276" r:id="rId76"/>
    <p:sldId id="277" r:id="rId77"/>
    <p:sldId id="457" r:id="rId78"/>
    <p:sldId id="476" r:id="rId79"/>
    <p:sldId id="477" r:id="rId80"/>
    <p:sldId id="418" r:id="rId81"/>
    <p:sldId id="464" r:id="rId82"/>
    <p:sldId id="479" r:id="rId83"/>
    <p:sldId id="480" r:id="rId84"/>
    <p:sldId id="481" r:id="rId85"/>
    <p:sldId id="482" r:id="rId86"/>
    <p:sldId id="471" r:id="rId87"/>
    <p:sldId id="465" r:id="rId88"/>
    <p:sldId id="499" r:id="rId89"/>
    <p:sldId id="500" r:id="rId90"/>
    <p:sldId id="501" r:id="rId91"/>
    <p:sldId id="502" r:id="rId92"/>
    <p:sldId id="503" r:id="rId93"/>
    <p:sldId id="504" r:id="rId94"/>
    <p:sldId id="505" r:id="rId95"/>
    <p:sldId id="506" r:id="rId96"/>
    <p:sldId id="507" r:id="rId97"/>
    <p:sldId id="508" r:id="rId98"/>
    <p:sldId id="509" r:id="rId99"/>
    <p:sldId id="510" r:id="rId100"/>
    <p:sldId id="511" r:id="rId101"/>
    <p:sldId id="512" r:id="rId102"/>
    <p:sldId id="513" r:id="rId103"/>
    <p:sldId id="514" r:id="rId104"/>
    <p:sldId id="515" r:id="rId105"/>
    <p:sldId id="516" r:id="rId106"/>
    <p:sldId id="517" r:id="rId107"/>
    <p:sldId id="518" r:id="rId108"/>
    <p:sldId id="519" r:id="rId109"/>
    <p:sldId id="520" r:id="rId110"/>
    <p:sldId id="521" r:id="rId111"/>
    <p:sldId id="522" r:id="rId112"/>
    <p:sldId id="528" r:id="rId113"/>
    <p:sldId id="524" r:id="rId114"/>
    <p:sldId id="525" r:id="rId115"/>
    <p:sldId id="526" r:id="rId116"/>
    <p:sldId id="527" r:id="rId117"/>
    <p:sldId id="466" r:id="rId118"/>
    <p:sldId id="529" r:id="rId119"/>
    <p:sldId id="483" r:id="rId120"/>
    <p:sldId id="484" r:id="rId121"/>
    <p:sldId id="485" r:id="rId122"/>
    <p:sldId id="486" r:id="rId123"/>
    <p:sldId id="487" r:id="rId124"/>
    <p:sldId id="488" r:id="rId125"/>
    <p:sldId id="489" r:id="rId126"/>
    <p:sldId id="490" r:id="rId127"/>
    <p:sldId id="545" r:id="rId128"/>
    <p:sldId id="546" r:id="rId129"/>
    <p:sldId id="544" r:id="rId130"/>
    <p:sldId id="474" r:id="rId131"/>
    <p:sldId id="467" r:id="rId132"/>
    <p:sldId id="530" r:id="rId133"/>
    <p:sldId id="491" r:id="rId134"/>
    <p:sldId id="497" r:id="rId135"/>
    <p:sldId id="496" r:id="rId136"/>
    <p:sldId id="553" r:id="rId137"/>
    <p:sldId id="549" r:id="rId138"/>
    <p:sldId id="550" r:id="rId139"/>
    <p:sldId id="551" r:id="rId140"/>
    <p:sldId id="552" r:id="rId141"/>
    <p:sldId id="555" r:id="rId142"/>
    <p:sldId id="556" r:id="rId143"/>
    <p:sldId id="554" r:id="rId144"/>
    <p:sldId id="558" r:id="rId145"/>
    <p:sldId id="559" r:id="rId146"/>
    <p:sldId id="560" r:id="rId147"/>
    <p:sldId id="579" r:id="rId148"/>
    <p:sldId id="580" r:id="rId149"/>
    <p:sldId id="581" r:id="rId150"/>
    <p:sldId id="561" r:id="rId151"/>
    <p:sldId id="584" r:id="rId152"/>
    <p:sldId id="585" r:id="rId153"/>
    <p:sldId id="586" r:id="rId154"/>
    <p:sldId id="582" r:id="rId155"/>
    <p:sldId id="562" r:id="rId156"/>
    <p:sldId id="587" r:id="rId157"/>
    <p:sldId id="588" r:id="rId158"/>
    <p:sldId id="589" r:id="rId159"/>
    <p:sldId id="590" r:id="rId160"/>
    <p:sldId id="563" r:id="rId161"/>
    <p:sldId id="785" r:id="rId162"/>
    <p:sldId id="786" r:id="rId163"/>
    <p:sldId id="564" r:id="rId164"/>
    <p:sldId id="631" r:id="rId165"/>
    <p:sldId id="565" r:id="rId166"/>
    <p:sldId id="566" r:id="rId167"/>
    <p:sldId id="604" r:id="rId168"/>
    <p:sldId id="609" r:id="rId169"/>
    <p:sldId id="617" r:id="rId170"/>
    <p:sldId id="610" r:id="rId171"/>
    <p:sldId id="611" r:id="rId172"/>
    <p:sldId id="612" r:id="rId173"/>
    <p:sldId id="613" r:id="rId174"/>
    <p:sldId id="614" r:id="rId175"/>
    <p:sldId id="620" r:id="rId176"/>
    <p:sldId id="622" r:id="rId177"/>
    <p:sldId id="623" r:id="rId178"/>
    <p:sldId id="624" r:id="rId179"/>
    <p:sldId id="625" r:id="rId180"/>
    <p:sldId id="626" r:id="rId181"/>
    <p:sldId id="627" r:id="rId182"/>
    <p:sldId id="662" r:id="rId183"/>
    <p:sldId id="663" r:id="rId184"/>
    <p:sldId id="664" r:id="rId185"/>
    <p:sldId id="665" r:id="rId186"/>
    <p:sldId id="596" r:id="rId187"/>
    <p:sldId id="600" r:id="rId188"/>
    <p:sldId id="601" r:id="rId189"/>
    <p:sldId id="615" r:id="rId190"/>
    <p:sldId id="598" r:id="rId191"/>
    <p:sldId id="629" r:id="rId192"/>
    <p:sldId id="788" r:id="rId193"/>
    <p:sldId id="618" r:id="rId194"/>
    <p:sldId id="599" r:id="rId195"/>
    <p:sldId id="606" r:id="rId196"/>
    <p:sldId id="607" r:id="rId197"/>
    <p:sldId id="572" r:id="rId198"/>
    <p:sldId id="573" r:id="rId199"/>
    <p:sldId id="574" r:id="rId200"/>
    <p:sldId id="575" r:id="rId201"/>
    <p:sldId id="790" r:id="rId202"/>
    <p:sldId id="633" r:id="rId203"/>
    <p:sldId id="634" r:id="rId204"/>
    <p:sldId id="635" r:id="rId205"/>
    <p:sldId id="636" r:id="rId206"/>
    <p:sldId id="637" r:id="rId207"/>
    <p:sldId id="638" r:id="rId208"/>
    <p:sldId id="640" r:id="rId209"/>
    <p:sldId id="641" r:id="rId210"/>
    <p:sldId id="642" r:id="rId211"/>
    <p:sldId id="643" r:id="rId212"/>
    <p:sldId id="644" r:id="rId213"/>
    <p:sldId id="645" r:id="rId214"/>
    <p:sldId id="646" r:id="rId215"/>
    <p:sldId id="647" r:id="rId216"/>
    <p:sldId id="648" r:id="rId217"/>
    <p:sldId id="649" r:id="rId218"/>
    <p:sldId id="774" r:id="rId219"/>
    <p:sldId id="775" r:id="rId220"/>
    <p:sldId id="776" r:id="rId221"/>
    <p:sldId id="791" r:id="rId222"/>
    <p:sldId id="778" r:id="rId223"/>
    <p:sldId id="811" r:id="rId224"/>
    <p:sldId id="780" r:id="rId225"/>
    <p:sldId id="798" r:id="rId226"/>
    <p:sldId id="781" r:id="rId227"/>
    <p:sldId id="782" r:id="rId228"/>
    <p:sldId id="794" r:id="rId229"/>
    <p:sldId id="812" r:id="rId230"/>
    <p:sldId id="814" r:id="rId231"/>
    <p:sldId id="758" r:id="rId232"/>
    <p:sldId id="815" r:id="rId233"/>
    <p:sldId id="795" r:id="rId234"/>
    <p:sldId id="796" r:id="rId235"/>
    <p:sldId id="816" r:id="rId236"/>
    <p:sldId id="817" r:id="rId237"/>
    <p:sldId id="797" r:id="rId238"/>
    <p:sldId id="818" r:id="rId239"/>
    <p:sldId id="819" r:id="rId240"/>
    <p:sldId id="820" r:id="rId241"/>
    <p:sldId id="762" r:id="rId242"/>
    <p:sldId id="821" r:id="rId243"/>
    <p:sldId id="836" r:id="rId244"/>
    <p:sldId id="823" r:id="rId245"/>
    <p:sldId id="803" r:id="rId246"/>
    <p:sldId id="822" r:id="rId247"/>
    <p:sldId id="824" r:id="rId248"/>
    <p:sldId id="676" r:id="rId249"/>
    <p:sldId id="883" r:id="rId250"/>
    <p:sldId id="884" r:id="rId251"/>
    <p:sldId id="885" r:id="rId252"/>
    <p:sldId id="886" r:id="rId253"/>
    <p:sldId id="887" r:id="rId254"/>
    <p:sldId id="888" r:id="rId255"/>
    <p:sldId id="889" r:id="rId256"/>
    <p:sldId id="835" r:id="rId257"/>
    <p:sldId id="810" r:id="rId258"/>
    <p:sldId id="840" r:id="rId259"/>
    <p:sldId id="807" r:id="rId260"/>
    <p:sldId id="808" r:id="rId261"/>
    <p:sldId id="837" r:id="rId262"/>
    <p:sldId id="294" r:id="rId263"/>
    <p:sldId id="844" r:id="rId264"/>
    <p:sldId id="838" r:id="rId265"/>
    <p:sldId id="839" r:id="rId266"/>
    <p:sldId id="295" r:id="rId267"/>
    <p:sldId id="296" r:id="rId268"/>
    <p:sldId id="297" r:id="rId269"/>
    <p:sldId id="298" r:id="rId270"/>
    <p:sldId id="845" r:id="rId271"/>
    <p:sldId id="841" r:id="rId272"/>
    <p:sldId id="873" r:id="rId273"/>
    <p:sldId id="868" r:id="rId274"/>
    <p:sldId id="872" r:id="rId275"/>
    <p:sldId id="876" r:id="rId276"/>
    <p:sldId id="850" r:id="rId277"/>
    <p:sldId id="851" r:id="rId278"/>
    <p:sldId id="880" r:id="rId279"/>
    <p:sldId id="881" r:id="rId280"/>
    <p:sldId id="858" r:id="rId281"/>
    <p:sldId id="859" r:id="rId282"/>
    <p:sldId id="860" r:id="rId283"/>
    <p:sldId id="863" r:id="rId284"/>
    <p:sldId id="875" r:id="rId285"/>
    <p:sldId id="877" r:id="rId286"/>
    <p:sldId id="879" r:id="rId287"/>
    <p:sldId id="867" r:id="rId288"/>
    <p:sldId id="869" r:id="rId289"/>
    <p:sldId id="882" r:id="rId290"/>
    <p:sldId id="870" r:id="rId291"/>
    <p:sldId id="871" r:id="rId29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79" autoAdjust="0"/>
    <p:restoredTop sz="99104" autoAdjust="0"/>
  </p:normalViewPr>
  <p:slideViewPr>
    <p:cSldViewPr>
      <p:cViewPr varScale="1">
        <p:scale>
          <a:sx n="70" d="100"/>
          <a:sy n="70" d="100"/>
        </p:scale>
        <p:origin x="141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notesMaster" Target="notesMasters/notesMaster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presProps" Target="pres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theme" Target="theme/theme1.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tableStyles" Target="tableStyles.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CDF93B2-2EC8-4415-9EC4-79B1FD571D50}" type="datetimeFigureOut">
              <a:rPr lang="en-US" smtClean="0"/>
              <a:pPr/>
              <a:t>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D0347B-CD8C-450E-AC68-BAC6E1EC82B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
        <p:nvSpPr>
          <p:cNvPr id="532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3EF90A5-1B1F-4C58-B1A5-3EDF13A18963}" type="slidenum">
              <a:rPr lang="en-US" smtClean="0"/>
              <a:pPr/>
              <a:t>8</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p:spPr>
      </p:sp>
      <p:sp>
        <p:nvSpPr>
          <p:cNvPr id="614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
        <p:nvSpPr>
          <p:cNvPr id="614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60ED456-1505-4D9E-BB87-041B908B4CF3}" type="slidenum">
              <a:rPr lang="en-US" smtClean="0"/>
              <a:pPr/>
              <a:t>19</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
        <p:nvSpPr>
          <p:cNvPr id="624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112BD4F-5756-48C0-8D13-B1BC7D336EDE}" type="slidenum">
              <a:rPr lang="en-US" smtClean="0"/>
              <a:pPr/>
              <a:t>20</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p:spPr>
      </p:sp>
      <p:sp>
        <p:nvSpPr>
          <p:cNvPr id="6349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
        <p:nvSpPr>
          <p:cNvPr id="634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FD54C64-5D5C-4DB5-8837-31B5E96994AB}" type="slidenum">
              <a:rPr lang="en-US" smtClean="0"/>
              <a:pPr/>
              <a:t>21</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p:spPr>
      </p:sp>
      <p:sp>
        <p:nvSpPr>
          <p:cNvPr id="665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
        <p:nvSpPr>
          <p:cNvPr id="665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324B640-6A6A-4E19-B252-11012E9C85F7}" type="slidenum">
              <a:rPr lang="en-US" smtClean="0"/>
              <a:pPr/>
              <a:t>22</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
        <p:nvSpPr>
          <p:cNvPr id="706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6472697-8B81-491D-8A22-2CEFDC299B34}" type="slidenum">
              <a:rPr lang="en-US" smtClean="0"/>
              <a:pPr/>
              <a:t>23</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p:spPr>
      </p:sp>
      <p:sp>
        <p:nvSpPr>
          <p:cNvPr id="7168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716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D18D623-2C01-4564-8630-A5E67B9CFC45}" type="slidenum">
              <a:rPr lang="en-US" smtClean="0"/>
              <a:pPr/>
              <a:t>25</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p:spPr>
        <p:txBody>
          <a:bodyPr/>
          <a:lstStyle/>
          <a:p>
            <a:fld id="{D8D43A97-76F5-4C95-AA96-C8FC850378DD}" type="slidenum">
              <a:rPr lang="en-US"/>
              <a:pPr/>
              <a:t>27</a:t>
            </a:fld>
            <a:endParaRPr lang="en-US"/>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pPr eaLnBrk="1" hangingPunct="1"/>
            <a:r>
              <a:rPr lang="en-US" altLang="ja-JP">
                <a:latin typeface="Times New Roman" pitchFamily="18" charset="0"/>
                <a:ea typeface="ＭＳ Ｐゴシック" pitchFamily="34" charset="-128"/>
              </a:rPr>
              <a:t>Toy problem		</a:t>
            </a:r>
            <a:r>
              <a:rPr lang="ja-JP" altLang="en-US">
                <a:latin typeface="Times New Roman" pitchFamily="18" charset="0"/>
                <a:ea typeface="ＭＳ Ｐゴシック" pitchFamily="34" charset="-128"/>
              </a:rPr>
              <a:t>おもちゃ問題		おもちゃもんだい</a:t>
            </a:r>
          </a:p>
          <a:p>
            <a:pPr eaLnBrk="1" hangingPunct="1"/>
            <a:r>
              <a:rPr lang="en-US" altLang="ja-JP">
                <a:latin typeface="Times New Roman" pitchFamily="18" charset="0"/>
                <a:ea typeface="ＭＳ Ｐゴシック" pitchFamily="34" charset="-128"/>
              </a:rPr>
              <a:t>Illustrate		</a:t>
            </a:r>
            <a:r>
              <a:rPr lang="ja-JP" altLang="en-GB">
                <a:latin typeface="Times New Roman" pitchFamily="18" charset="0"/>
                <a:ea typeface="ＭＳ Ｐゴシック" pitchFamily="34" charset="-128"/>
              </a:rPr>
              <a:t>説明する</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せつめいする</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Exercise		</a:t>
            </a:r>
            <a:r>
              <a:rPr lang="ja-JP" altLang="en-GB">
                <a:latin typeface="Times New Roman" pitchFamily="18" charset="0"/>
                <a:ea typeface="ＭＳ Ｐゴシック" pitchFamily="34" charset="-128"/>
              </a:rPr>
              <a:t>演習</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えんしゅう</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Concise		</a:t>
            </a:r>
            <a:r>
              <a:rPr lang="ja-JP" altLang="en-GB">
                <a:latin typeface="Times New Roman" pitchFamily="18" charset="0"/>
                <a:ea typeface="ＭＳ Ｐゴシック" pitchFamily="34" charset="-128"/>
              </a:rPr>
              <a:t>簡潔な</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かんけつな</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Agreed		</a:t>
            </a:r>
            <a:r>
              <a:rPr lang="ja-JP" altLang="en-GB">
                <a:latin typeface="Times New Roman" pitchFamily="18" charset="0"/>
                <a:ea typeface="ＭＳ Ｐゴシック" pitchFamily="34" charset="-128"/>
              </a:rPr>
              <a:t>合意</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ごうい</a:t>
            </a:r>
          </a:p>
          <a:p>
            <a:pPr eaLnBrk="1" hangingPunct="1"/>
            <a:r>
              <a:rPr lang="en-US" altLang="ja-JP">
                <a:latin typeface="Times New Roman" pitchFamily="18" charset="0"/>
                <a:ea typeface="ＭＳ Ｐゴシック" pitchFamily="34" charset="-128"/>
              </a:rPr>
              <a:t>Description		</a:t>
            </a:r>
            <a:r>
              <a:rPr lang="ja-JP" altLang="en-US">
                <a:latin typeface="Times New Roman" pitchFamily="18" charset="0"/>
                <a:ea typeface="ＭＳ Ｐゴシック" pitchFamily="34" charset="-128"/>
              </a:rPr>
              <a:t>記述		きじゅつ</a:t>
            </a:r>
            <a:endParaRPr lang="ja-JP" altLang="en-GB">
              <a:latin typeface="Times New Roman" pitchFamily="18" charset="0"/>
              <a:ea typeface="ＭＳ Ｐゴシック"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p:spPr>
        <p:txBody>
          <a:bodyPr/>
          <a:lstStyle/>
          <a:p>
            <a:fld id="{EAAAFDF9-CEF2-4487-BCA9-7F96760C283F}" type="slidenum">
              <a:rPr lang="en-US"/>
              <a:pPr/>
              <a:t>28</a:t>
            </a:fld>
            <a:endParaRPr lang="en-US"/>
          </a:p>
        </p:txBody>
      </p:sp>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a:ln/>
        </p:spPr>
        <p:txBody>
          <a:bodyPr/>
          <a:lstStyle/>
          <a:p>
            <a:pPr eaLnBrk="1" hangingPunct="1"/>
            <a:r>
              <a:rPr lang="en-US" altLang="ja-JP">
                <a:latin typeface="Times New Roman" pitchFamily="18" charset="0"/>
                <a:ea typeface="ＭＳ Ｐゴシック" pitchFamily="34" charset="-128"/>
              </a:rPr>
              <a:t>Problem type		</a:t>
            </a:r>
            <a:r>
              <a:rPr lang="ja-JP" altLang="en-GB">
                <a:latin typeface="Times New Roman" pitchFamily="18" charset="0"/>
                <a:ea typeface="ＭＳ Ｐゴシック" pitchFamily="34" charset="-128"/>
              </a:rPr>
              <a:t>問題のタイプ</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もんだいのタイプ</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Vacuum cleaner	</a:t>
            </a:r>
            <a:r>
              <a:rPr lang="ja-JP" altLang="en-GB">
                <a:latin typeface="Times New Roman" pitchFamily="18" charset="0"/>
                <a:ea typeface="ＭＳ Ｐゴシック" pitchFamily="34" charset="-128"/>
              </a:rPr>
              <a:t>掃除機</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そうじき</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Location		</a:t>
            </a:r>
            <a:r>
              <a:rPr lang="ja-JP" altLang="en-GB">
                <a:latin typeface="Times New Roman" pitchFamily="18" charset="0"/>
                <a:ea typeface="ＭＳ Ｐゴシック" pitchFamily="34" charset="-128"/>
              </a:rPr>
              <a:t>場所</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ばしょ</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Suck		</a:t>
            </a:r>
            <a:r>
              <a:rPr lang="ja-JP" altLang="en-GB">
                <a:latin typeface="Times New Roman" pitchFamily="18" charset="0"/>
                <a:ea typeface="ＭＳ Ｐゴシック" pitchFamily="34" charset="-128"/>
              </a:rPr>
              <a:t>吸込み</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すいこみ</a:t>
            </a:r>
            <a:endParaRPr lang="en-GB" altLang="ja-JP">
              <a:latin typeface="Times New Roman" pitchFamily="18" charset="0"/>
              <a:ea typeface="ＭＳ Ｐゴシック"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p:spPr>
        <p:txBody>
          <a:bodyPr/>
          <a:lstStyle/>
          <a:p>
            <a:fld id="{6090EEFD-3E7C-479A-B775-CEC6C2951C76}" type="slidenum">
              <a:rPr lang="en-US"/>
              <a:pPr/>
              <a:t>29</a:t>
            </a:fld>
            <a:endParaRPr lang="en-US"/>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p:spPr>
        <p:txBody>
          <a:bodyPr/>
          <a:lstStyle/>
          <a:p>
            <a:pPr eaLnBrk="1" hangingPunct="1"/>
            <a:endParaRPr lang="en-GB" altLang="ja-JP">
              <a:latin typeface="Times New Roman" pitchFamily="18" charset="0"/>
              <a:ea typeface="ＭＳ Ｐゴシック"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p:spPr>
        <p:txBody>
          <a:bodyPr/>
          <a:lstStyle/>
          <a:p>
            <a:fld id="{9EF5F02D-0B51-41F7-91BE-C8BA07B43F67}" type="slidenum">
              <a:rPr lang="en-US"/>
              <a:pPr/>
              <a:t>35</a:t>
            </a:fld>
            <a:endParaRPr lang="en-US"/>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pPr eaLnBrk="1" hangingPunct="1"/>
            <a:r>
              <a:rPr lang="en-US" altLang="ja-JP">
                <a:latin typeface="Times New Roman" pitchFamily="18" charset="0"/>
                <a:ea typeface="ＭＳ Ｐゴシック" pitchFamily="34" charset="-128"/>
              </a:rPr>
              <a:t>Route finding		</a:t>
            </a:r>
            <a:r>
              <a:rPr lang="ja-JP" altLang="en-US">
                <a:latin typeface="Times New Roman" pitchFamily="18" charset="0"/>
                <a:ea typeface="ＭＳ Ｐゴシック" pitchFamily="34" charset="-128"/>
              </a:rPr>
              <a:t>ルート発見		ルートはっけん</a:t>
            </a:r>
          </a:p>
          <a:p>
            <a:pPr eaLnBrk="1" hangingPunct="1"/>
            <a:r>
              <a:rPr lang="en-US" altLang="ja-JP">
                <a:latin typeface="Times New Roman" pitchFamily="18" charset="0"/>
                <a:ea typeface="ＭＳ Ｐゴシック" pitchFamily="34" charset="-128"/>
              </a:rPr>
              <a:t>Specified		</a:t>
            </a:r>
            <a:r>
              <a:rPr lang="ja-JP" altLang="en-US">
                <a:latin typeface="Times New Roman" pitchFamily="18" charset="0"/>
                <a:ea typeface="ＭＳ Ｐゴシック" pitchFamily="34" charset="-128"/>
              </a:rPr>
              <a:t>規定された		きていされた</a:t>
            </a:r>
          </a:p>
          <a:p>
            <a:pPr eaLnBrk="1" hangingPunct="1"/>
            <a:r>
              <a:rPr lang="en-US" altLang="ja-JP">
                <a:latin typeface="Times New Roman" pitchFamily="18" charset="0"/>
                <a:ea typeface="ＭＳ Ｐゴシック" pitchFamily="34" charset="-128"/>
              </a:rPr>
              <a:t>Transition		</a:t>
            </a:r>
            <a:r>
              <a:rPr lang="ja-JP" altLang="en-GB">
                <a:latin typeface="Times New Roman" pitchFamily="18" charset="0"/>
                <a:ea typeface="ＭＳ Ｐゴシック" pitchFamily="34" charset="-128"/>
              </a:rPr>
              <a:t>遷移</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せんい</a:t>
            </a:r>
          </a:p>
          <a:p>
            <a:pPr eaLnBrk="1" hangingPunct="1"/>
            <a:r>
              <a:rPr lang="en-US" altLang="ja-JP">
                <a:latin typeface="Times New Roman" pitchFamily="18" charset="0"/>
                <a:ea typeface="ＭＳ Ｐゴシック" pitchFamily="34" charset="-128"/>
              </a:rPr>
              <a:t>Automated travel advice	</a:t>
            </a:r>
            <a:r>
              <a:rPr lang="ja-JP" altLang="en-US">
                <a:latin typeface="Times New Roman" pitchFamily="18" charset="0"/>
                <a:ea typeface="ＭＳ Ｐゴシック" pitchFamily="34" charset="-128"/>
              </a:rPr>
              <a:t>自動旅行アドバイス	じどうりょこうアドバイス</a:t>
            </a:r>
          </a:p>
          <a:p>
            <a:pPr eaLnBrk="1" hangingPunct="1"/>
            <a:r>
              <a:rPr lang="en-US" altLang="ja-JP">
                <a:latin typeface="Times New Roman" pitchFamily="18" charset="0"/>
                <a:ea typeface="ＭＳ Ｐゴシック" pitchFamily="34" charset="-128"/>
              </a:rPr>
              <a:t>Airline travel planning	</a:t>
            </a:r>
            <a:r>
              <a:rPr lang="ja-JP" altLang="en-US">
                <a:latin typeface="Times New Roman" pitchFamily="18" charset="0"/>
                <a:ea typeface="ＭＳ Ｐゴシック" pitchFamily="34" charset="-128"/>
              </a:rPr>
              <a:t>航空会社運行計画	こうくうがいしゃうんこうけいかく</a:t>
            </a:r>
          </a:p>
          <a:p>
            <a:pPr eaLnBrk="1" hangingPunct="1"/>
            <a:r>
              <a:rPr lang="en-US" altLang="ja-JP">
                <a:latin typeface="Times New Roman" pitchFamily="18" charset="0"/>
                <a:ea typeface="ＭＳ Ｐゴシック" pitchFamily="34" charset="-128"/>
              </a:rPr>
              <a:t>Touring		</a:t>
            </a:r>
            <a:r>
              <a:rPr lang="ja-JP" altLang="en-US">
                <a:latin typeface="Times New Roman" pitchFamily="18" charset="0"/>
                <a:ea typeface="ＭＳ Ｐゴシック" pitchFamily="34" charset="-128"/>
              </a:rPr>
              <a:t>旅行		りょこう</a:t>
            </a:r>
          </a:p>
          <a:p>
            <a:pPr eaLnBrk="1" hangingPunct="1"/>
            <a:r>
              <a:rPr lang="en-US" altLang="ja-JP">
                <a:latin typeface="Times New Roman" pitchFamily="18" charset="0"/>
                <a:ea typeface="ＭＳ Ｐゴシック" pitchFamily="34" charset="-128"/>
              </a:rPr>
              <a:t>Traveling salesman	</a:t>
            </a:r>
            <a:r>
              <a:rPr lang="ja-JP" altLang="en-US">
                <a:latin typeface="Times New Roman" pitchFamily="18" charset="0"/>
                <a:ea typeface="ＭＳ Ｐゴシック" pitchFamily="34" charset="-128"/>
              </a:rPr>
              <a:t>巡回セールスマン	じゅんかいセールスマン</a:t>
            </a:r>
          </a:p>
          <a:p>
            <a:pPr eaLnBrk="1" hangingPunct="1"/>
            <a:r>
              <a:rPr lang="en-US" altLang="ja-JP">
                <a:latin typeface="Times New Roman" pitchFamily="18" charset="0"/>
                <a:ea typeface="ＭＳ Ｐゴシック" pitchFamily="34" charset="-128"/>
              </a:rPr>
              <a:t>Visited		</a:t>
            </a:r>
            <a:r>
              <a:rPr lang="ja-JP" altLang="en-US">
                <a:latin typeface="Times New Roman" pitchFamily="18" charset="0"/>
                <a:ea typeface="ＭＳ Ｐゴシック" pitchFamily="34" charset="-128"/>
              </a:rPr>
              <a:t>訪れた		</a:t>
            </a:r>
            <a:r>
              <a:rPr lang="ja-JP" altLang="en-GB">
                <a:latin typeface="Times New Roman" pitchFamily="18" charset="0"/>
                <a:ea typeface="ＭＳ Ｐゴシック" pitchFamily="34" charset="-128"/>
              </a:rPr>
              <a:t>おとずれた</a:t>
            </a:r>
          </a:p>
          <a:p>
            <a:pPr eaLnBrk="1" hangingPunct="1"/>
            <a:r>
              <a:rPr lang="en-US" altLang="ja-JP">
                <a:latin typeface="Times New Roman" pitchFamily="18" charset="0"/>
                <a:ea typeface="ＭＳ Ｐゴシック" pitchFamily="34" charset="-128"/>
              </a:rPr>
              <a:t>Shortest tour		</a:t>
            </a:r>
            <a:r>
              <a:rPr lang="ja-JP" altLang="en-US">
                <a:latin typeface="Times New Roman" pitchFamily="18" charset="0"/>
                <a:ea typeface="ＭＳ Ｐゴシック" pitchFamily="34" charset="-128"/>
              </a:rPr>
              <a:t>最短の旅行		さいたんのりょこう</a:t>
            </a:r>
          </a:p>
          <a:p>
            <a:pPr eaLnBrk="1" hangingPunct="1"/>
            <a:r>
              <a:rPr lang="en-US" altLang="ja-JP">
                <a:latin typeface="Times New Roman" pitchFamily="18" charset="0"/>
                <a:ea typeface="ＭＳ Ｐゴシック" pitchFamily="34" charset="-128"/>
              </a:rPr>
              <a:t>NP-hard		NP-</a:t>
            </a:r>
            <a:r>
              <a:rPr lang="ja-JP" altLang="en-US">
                <a:latin typeface="Times New Roman" pitchFamily="18" charset="0"/>
                <a:ea typeface="ＭＳ Ｐゴシック" pitchFamily="34" charset="-128"/>
              </a:rPr>
              <a:t>困難		</a:t>
            </a:r>
            <a:r>
              <a:rPr lang="en-US" altLang="ja-JP">
                <a:latin typeface="Times New Roman" pitchFamily="18" charset="0"/>
                <a:ea typeface="ＭＳ Ｐゴシック" pitchFamily="34" charset="-128"/>
              </a:rPr>
              <a:t>NP-</a:t>
            </a:r>
            <a:r>
              <a:rPr lang="ja-JP" altLang="en-US">
                <a:latin typeface="Times New Roman" pitchFamily="18" charset="0"/>
                <a:ea typeface="ＭＳ Ｐゴシック" pitchFamily="34" charset="-128"/>
              </a:rPr>
              <a:t>こんなん</a:t>
            </a:r>
          </a:p>
          <a:p>
            <a:pPr eaLnBrk="1" hangingPunct="1"/>
            <a:r>
              <a:rPr lang="en-US" altLang="ja-JP">
                <a:latin typeface="Times New Roman" pitchFamily="18" charset="0"/>
                <a:ea typeface="ＭＳ Ｐゴシック" pitchFamily="34" charset="-128"/>
              </a:rPr>
              <a:t>Improve		</a:t>
            </a:r>
            <a:r>
              <a:rPr lang="ja-JP" altLang="en-GB">
                <a:latin typeface="Times New Roman" pitchFamily="18" charset="0"/>
                <a:ea typeface="ＭＳ Ｐゴシック" pitchFamily="34" charset="-128"/>
              </a:rPr>
              <a:t>改善する</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かいぜんする</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Capability		</a:t>
            </a:r>
            <a:r>
              <a:rPr lang="ja-JP" altLang="en-GB">
                <a:latin typeface="Times New Roman" pitchFamily="18" charset="0"/>
                <a:ea typeface="ＭＳ Ｐゴシック" pitchFamily="34" charset="-128"/>
              </a:rPr>
              <a:t>能力</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のうりょく</a:t>
            </a:r>
          </a:p>
          <a:p>
            <a:pPr eaLnBrk="1" hangingPunct="1"/>
            <a:r>
              <a:rPr lang="en-US" altLang="ja-JP">
                <a:latin typeface="Times New Roman" pitchFamily="18" charset="0"/>
                <a:ea typeface="ＭＳ Ｐゴシック" pitchFamily="34" charset="-128"/>
              </a:rPr>
              <a:t>Circuit board drill	</a:t>
            </a:r>
            <a:r>
              <a:rPr lang="ja-JP" altLang="en-US">
                <a:latin typeface="Times New Roman" pitchFamily="18" charset="0"/>
                <a:ea typeface="ＭＳ Ｐゴシック" pitchFamily="34" charset="-128"/>
              </a:rPr>
              <a:t>回路基板穿孔機	かいろきばんせんこうき</a:t>
            </a:r>
            <a:endParaRPr lang="ja-JP" altLang="en-GB">
              <a:latin typeface="Times New Roman" pitchFamily="18" charset="0"/>
              <a:ea typeface="ＭＳ Ｐゴシック"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p:spPr>
        <p:txBody>
          <a:bodyPr/>
          <a:lstStyle/>
          <a:p>
            <a:fld id="{F6299725-882A-443E-A8A1-F325B9D781EA}" type="slidenum">
              <a:rPr lang="en-US"/>
              <a:pPr/>
              <a:t>36</a:t>
            </a:fld>
            <a:endParaRPr lang="en-US"/>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p:spPr>
        <p:txBody>
          <a:bodyPr/>
          <a:lstStyle/>
          <a:p>
            <a:pPr eaLnBrk="1" hangingPunct="1"/>
            <a:r>
              <a:rPr lang="en-US" altLang="ja-JP">
                <a:latin typeface="Times New Roman" pitchFamily="18" charset="0"/>
                <a:ea typeface="ＭＳ Ｐゴシック" pitchFamily="34" charset="-128"/>
              </a:rPr>
              <a:t>VLSI layout		VLSI</a:t>
            </a:r>
            <a:r>
              <a:rPr lang="ja-JP" altLang="en-US">
                <a:latin typeface="Times New Roman" pitchFamily="18" charset="0"/>
                <a:ea typeface="ＭＳ Ｐゴシック" pitchFamily="34" charset="-128"/>
              </a:rPr>
              <a:t>レイアウト</a:t>
            </a:r>
          </a:p>
          <a:p>
            <a:pPr eaLnBrk="1" hangingPunct="1"/>
            <a:r>
              <a:rPr lang="en-US" altLang="ja-JP">
                <a:latin typeface="Times New Roman" pitchFamily="18" charset="0"/>
                <a:ea typeface="ＭＳ Ｐゴシック" pitchFamily="34" charset="-128"/>
              </a:rPr>
              <a:t>Overlap		</a:t>
            </a:r>
            <a:r>
              <a:rPr lang="ja-JP" altLang="en-GB">
                <a:latin typeface="Times New Roman" pitchFamily="18" charset="0"/>
                <a:ea typeface="ＭＳ Ｐゴシック" pitchFamily="34" charset="-128"/>
              </a:rPr>
              <a:t>重なり合わす</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かさなりあわす</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Connection		</a:t>
            </a:r>
            <a:r>
              <a:rPr lang="ja-JP" altLang="en-GB">
                <a:latin typeface="Times New Roman" pitchFamily="18" charset="0"/>
                <a:ea typeface="ＭＳ Ｐゴシック" pitchFamily="34" charset="-128"/>
              </a:rPr>
              <a:t>接続</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せつぞく</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Generalization		</a:t>
            </a:r>
            <a:r>
              <a:rPr lang="ja-JP" altLang="en-GB">
                <a:latin typeface="Times New Roman" pitchFamily="18" charset="0"/>
                <a:ea typeface="ＭＳ Ｐゴシック" pitchFamily="34" charset="-128"/>
              </a:rPr>
              <a:t>一般化</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いっぱんか</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Discrete		</a:t>
            </a:r>
            <a:r>
              <a:rPr lang="ja-JP" altLang="en-GB">
                <a:latin typeface="Times New Roman" pitchFamily="18" charset="0"/>
                <a:ea typeface="ＭＳ Ｐゴシック" pitchFamily="34" charset="-128"/>
              </a:rPr>
              <a:t>離散的</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りさんてき</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Continuous space	</a:t>
            </a:r>
            <a:r>
              <a:rPr lang="ja-JP" altLang="en-GB">
                <a:latin typeface="Times New Roman" pitchFamily="18" charset="0"/>
                <a:ea typeface="ＭＳ Ｐゴシック" pitchFamily="34" charset="-128"/>
              </a:rPr>
              <a:t>連続空間</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れんぞくくうかん</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Infinite		</a:t>
            </a:r>
            <a:r>
              <a:rPr lang="ja-JP" altLang="en-GB">
                <a:latin typeface="Times New Roman" pitchFamily="18" charset="0"/>
                <a:ea typeface="ＭＳ Ｐゴシック" pitchFamily="34" charset="-128"/>
              </a:rPr>
              <a:t>無限</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むげん</a:t>
            </a:r>
          </a:p>
          <a:p>
            <a:pPr eaLnBrk="1" hangingPunct="1"/>
            <a:r>
              <a:rPr lang="en-US" altLang="ja-JP">
                <a:latin typeface="Times New Roman" pitchFamily="18" charset="0"/>
                <a:ea typeface="ＭＳ Ｐゴシック" pitchFamily="34" charset="-128"/>
              </a:rPr>
              <a:t>Error		</a:t>
            </a:r>
            <a:r>
              <a:rPr lang="ja-JP" altLang="en-US">
                <a:latin typeface="Times New Roman" pitchFamily="18" charset="0"/>
                <a:ea typeface="ＭＳ Ｐゴシック" pitchFamily="34" charset="-128"/>
              </a:rPr>
              <a:t>誤差		ごさ</a:t>
            </a:r>
          </a:p>
          <a:p>
            <a:pPr eaLnBrk="1" hangingPunct="1"/>
            <a:r>
              <a:rPr lang="en-US" altLang="ja-JP">
                <a:latin typeface="Times New Roman" pitchFamily="18" charset="0"/>
                <a:ea typeface="ＭＳ Ｐゴシック" pitchFamily="34" charset="-128"/>
              </a:rPr>
              <a:t>Assembly sequencing	</a:t>
            </a:r>
            <a:r>
              <a:rPr lang="ja-JP" altLang="en-US">
                <a:latin typeface="Times New Roman" pitchFamily="18" charset="0"/>
                <a:ea typeface="ＭＳ Ｐゴシック" pitchFamily="34" charset="-128"/>
              </a:rPr>
              <a:t>アセンブリの順序付け	アセンブリのじゅんじょうつけ</a:t>
            </a:r>
          </a:p>
          <a:p>
            <a:pPr eaLnBrk="1" hangingPunct="1"/>
            <a:r>
              <a:rPr lang="en-US" altLang="ja-JP">
                <a:latin typeface="Times New Roman" pitchFamily="18" charset="0"/>
                <a:ea typeface="ＭＳ Ｐゴシック" pitchFamily="34" charset="-128"/>
              </a:rPr>
              <a:t>Complex		</a:t>
            </a:r>
            <a:r>
              <a:rPr lang="ja-JP" altLang="en-GB">
                <a:latin typeface="Times New Roman" pitchFamily="18" charset="0"/>
                <a:ea typeface="ＭＳ Ｐゴシック" pitchFamily="34" charset="-128"/>
              </a:rPr>
              <a:t>複雑</a:t>
            </a:r>
            <a:r>
              <a:rPr lang="ja-JP" altLang="en-US">
                <a:latin typeface="Times New Roman" pitchFamily="18" charset="0"/>
                <a:ea typeface="ＭＳ Ｐゴシック" pitchFamily="34" charset="-128"/>
              </a:rPr>
              <a:t>		</a:t>
            </a:r>
            <a:r>
              <a:rPr lang="ja-JP" altLang="en-GB">
                <a:latin typeface="Times New Roman" pitchFamily="18" charset="0"/>
                <a:ea typeface="ＭＳ Ｐゴシック" pitchFamily="34" charset="-128"/>
              </a:rPr>
              <a:t>ふくざつ</a:t>
            </a:r>
            <a:endParaRPr lang="ja-JP" altLang="en-US">
              <a:latin typeface="Times New Roman" pitchFamily="18" charset="0"/>
              <a:ea typeface="ＭＳ Ｐゴシック" pitchFamily="34" charset="-128"/>
            </a:endParaRPr>
          </a:p>
          <a:p>
            <a:pPr eaLnBrk="1" hangingPunct="1"/>
            <a:r>
              <a:rPr lang="en-US" altLang="ja-JP">
                <a:latin typeface="Times New Roman" pitchFamily="18" charset="0"/>
                <a:ea typeface="ＭＳ Ｐゴシック" pitchFamily="34" charset="-128"/>
              </a:rPr>
              <a:t>Undo		</a:t>
            </a:r>
            <a:r>
              <a:rPr lang="ja-JP" altLang="en-US">
                <a:latin typeface="Times New Roman" pitchFamily="18" charset="0"/>
                <a:ea typeface="ＭＳ Ｐゴシック" pitchFamily="34" charset="-128"/>
              </a:rPr>
              <a:t>取り消す		とりけす</a:t>
            </a:r>
            <a:endParaRPr lang="ja-JP" altLang="en-GB">
              <a:latin typeface="Times New Roman" pitchFamily="18" charset="0"/>
              <a:ea typeface="ＭＳ Ｐゴシック"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p:spPr>
      </p:sp>
      <p:sp>
        <p:nvSpPr>
          <p:cNvPr id="8397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839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7322137-53B0-4EF8-9D54-860C19058260}" type="slidenum">
              <a:rPr lang="en-US" smtClean="0"/>
              <a:pPr/>
              <a:t>49</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p:spPr>
      </p:sp>
      <p:sp>
        <p:nvSpPr>
          <p:cNvPr id="849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849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BA2AF1-8A9D-4BB5-ABFA-3D138E49FA8F}" type="slidenum">
              <a:rPr lang="en-US" smtClean="0"/>
              <a:pPr/>
              <a:t>51</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1"/>
          <p:cNvSpPr>
            <a:spLocks noGrp="1" noChangeArrowheads="1"/>
          </p:cNvSpPr>
          <p:nvPr>
            <p:ph type="dt" sz="quarter" idx="1"/>
          </p:nvPr>
        </p:nvSpPr>
        <p:spPr>
          <a:noFill/>
        </p:spPr>
        <p:txBody>
          <a:bodyPr/>
          <a:lstStyle/>
          <a:p>
            <a:fld id="{F8D4FA01-C5DF-47DC-B675-0B6B524FBCF2}" type="datetime1">
              <a:rPr lang="he-IL" altLang="en-US">
                <a:latin typeface="Arial" charset="0"/>
              </a:rPr>
              <a:pPr/>
              <a:t>ו'/שבט/תשפ"ה</a:t>
            </a:fld>
            <a:endParaRPr lang="en-US" altLang="en-US">
              <a:latin typeface="Arial" charset="0"/>
            </a:endParaRPr>
          </a:p>
        </p:txBody>
      </p:sp>
      <p:sp>
        <p:nvSpPr>
          <p:cNvPr id="81923" name="Rectangle 13"/>
          <p:cNvSpPr>
            <a:spLocks noGrp="1" noChangeArrowheads="1"/>
          </p:cNvSpPr>
          <p:nvPr>
            <p:ph type="sldNum" sz="quarter" idx="5"/>
          </p:nvPr>
        </p:nvSpPr>
        <p:spPr>
          <a:noFill/>
        </p:spPr>
        <p:txBody>
          <a:bodyPr/>
          <a:lstStyle/>
          <a:p>
            <a:fld id="{0BE36CB1-611E-4672-B87C-FFE5B61F50FE}" type="slidenum">
              <a:rPr lang="en-US" altLang="en-US">
                <a:latin typeface="Arial" charset="0"/>
              </a:rPr>
              <a:pPr/>
              <a:t>66</a:t>
            </a:fld>
            <a:endParaRPr lang="en-US" altLang="en-US">
              <a:latin typeface="Arial" charset="0"/>
            </a:endParaRPr>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p:spPr>
        <p:txBody>
          <a:bodyPr/>
          <a:lstStyle/>
          <a:p>
            <a:endParaRPr lang="en-US" altLang="en-US">
              <a:latin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p:spPr>
      </p:sp>
      <p:sp>
        <p:nvSpPr>
          <p:cNvPr id="10035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1003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9E00562-14A1-4CA2-9E64-57B3654F7CCD}" type="slidenum">
              <a:rPr lang="en-US"/>
              <a:pPr/>
              <a:t>79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p:spPr>
      </p:sp>
      <p:sp>
        <p:nvSpPr>
          <p:cNvPr id="860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860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88953B3-8D0E-477F-B3A3-BCF4A2760A6B}" type="slidenum">
              <a:rPr lang="en-US" smtClean="0"/>
              <a:pPr/>
              <a:t>80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761D483E-C482-48CB-B891-3941B8749C77}" type="slidenum">
              <a:rPr lang="en-US"/>
              <a:pPr/>
              <a:t>82</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EDCD452B-077D-461E-8E49-7A13AF90F5E4}" type="slidenum">
              <a:rPr lang="en-US"/>
              <a:pPr/>
              <a:t>83</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B1C47B57-33FA-44C1-AA15-F3C89216BA72}" type="slidenum">
              <a:rPr lang="en-US"/>
              <a:pPr/>
              <a:t>84</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CE04AD3E-819F-46FA-A859-A203E12ED351}" type="slidenum">
              <a:rPr lang="en-US"/>
              <a:pPr/>
              <a:t>85</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
          <p:cNvSpPr>
            <a:spLocks noGrp="1" noRot="1" noChangeAspect="1" noChangeArrowheads="1" noTextEdit="1"/>
          </p:cNvSpPr>
          <p:nvPr>
            <p:ph type="sldImg"/>
          </p:nvPr>
        </p:nvSpPr>
        <p:spPr>
          <a:solidFill>
            <a:srgbClr val="FFFFFF"/>
          </a:solidFill>
          <a:ln/>
        </p:spPr>
      </p:sp>
      <p:sp>
        <p:nvSpPr>
          <p:cNvPr id="135171" name="Rectangle 2"/>
          <p:cNvSpPr>
            <a:spLocks noGrp="1" noChangeArrowheads="1"/>
          </p:cNvSpPr>
          <p:nvPr>
            <p:ph type="body" idx="1"/>
          </p:nvPr>
        </p:nvSpPr>
        <p:spPr>
          <a:noFill/>
          <a:ln/>
        </p:spPr>
        <p:txBody>
          <a:bodyPr/>
          <a:lstStyle/>
          <a:p>
            <a:pPr marL="38100" eaLnBrk="1" hangingPunct="1">
              <a:spcBef>
                <a:spcPts val="838"/>
              </a:spcBef>
            </a:pPr>
            <a:r>
              <a:rPr lang="en-US" sz="2400">
                <a:solidFill>
                  <a:srgbClr val="000000"/>
                </a:solidFill>
                <a:latin typeface="Arial" charset="0"/>
                <a:cs typeface="Arial" charset="0"/>
                <a:sym typeface="Arial" charset="0"/>
              </a:rPr>
              <a:t>The current node [1] already has been removed from the fringe, and the new ones [2,3] will be added.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3CB4E3DD-3006-4E73-9038-FB5ECC5D327E}" type="slidenum">
              <a:rPr lang="en-US"/>
              <a:pPr/>
              <a:t>119</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9B94EB1A-A0AD-4C8D-B866-8276AE995814}" type="slidenum">
              <a:rPr lang="en-US"/>
              <a:pPr/>
              <a:t>120</a:t>
            </a:fld>
            <a:endParaRPr 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3AF6E870-D56E-4B80-AEDB-B283CC6C9CAE}" type="slidenum">
              <a:rPr lang="en-US"/>
              <a:pPr/>
              <a:t>121</a:t>
            </a:fld>
            <a:endParaRPr 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C3807A76-2059-4714-89D3-63585ED5E3C8}" type="slidenum">
              <a:rPr lang="en-US"/>
              <a:pPr/>
              <a:t>122</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C7A8FF1C-0E6C-461D-9F04-DD2354E442F3}" type="slidenum">
              <a:rPr lang="en-US"/>
              <a:pPr/>
              <a:t>123</a:t>
            </a:fld>
            <a:endParaRPr 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85C3518-50AB-46BC-B437-3F452F78ADF1}" type="slidenum">
              <a:rPr lang="en-US"/>
              <a:pPr/>
              <a:t>124</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862A9283-1DB8-410C-B8CE-CA325BA4353F}" type="slidenum">
              <a:rPr lang="en-US"/>
              <a:pPr/>
              <a:t>125</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4A297AC5-1271-4C0B-9B9B-A711E9391D7E}" type="slidenum">
              <a:rPr lang="en-US"/>
              <a:pPr/>
              <a:t>126</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C51360A8-3C30-4987-873B-2B64090A6609}" type="slidenum">
              <a:rPr lang="en-US"/>
              <a:pPr/>
              <a:t>133</a:t>
            </a:fld>
            <a:endParaRPr lang="en-US"/>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10CCDF4A-DB70-43D1-B835-428689989999}" type="slidenum">
              <a:rPr lang="en-US"/>
              <a:pPr/>
              <a:t>161</a:t>
            </a:fld>
            <a:endParaRPr lang="en-US"/>
          </a:p>
        </p:txBody>
      </p:sp>
      <p:sp>
        <p:nvSpPr>
          <p:cNvPr id="70659" name="Rectangle 2"/>
          <p:cNvSpPr>
            <a:spLocks noGrp="1" noRot="1" noChangeAspect="1" noChangeArrowheads="1" noTextEdit="1"/>
          </p:cNvSpPr>
          <p:nvPr>
            <p:ph type="sldImg"/>
          </p:nvPr>
        </p:nvSpPr>
        <p:spPr>
          <a:xfrm>
            <a:off x="1150938" y="692150"/>
            <a:ext cx="4556125" cy="3416300"/>
          </a:xfrm>
          <a:ln/>
        </p:spPr>
      </p:sp>
      <p:sp>
        <p:nvSpPr>
          <p:cNvPr id="70660"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0020B5EB-0AFF-422B-9303-9605246141DF}" type="slidenum">
              <a:rPr lang="en-US"/>
              <a:pPr/>
              <a:t>162</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2D39AA19-7C41-45DF-B0CB-AFF17AFD02F4}" type="slidenum">
              <a:rPr lang="en-US"/>
              <a:pPr/>
              <a:t>164</a:t>
            </a:fld>
            <a:endParaRPr lang="en-US"/>
          </a:p>
        </p:txBody>
      </p:sp>
      <p:sp>
        <p:nvSpPr>
          <p:cNvPr id="84995" name="Rectangle 2"/>
          <p:cNvSpPr>
            <a:spLocks noGrp="1" noRot="1" noChangeAspect="1" noChangeArrowheads="1" noTextEdit="1"/>
          </p:cNvSpPr>
          <p:nvPr>
            <p:ph type="sldImg"/>
          </p:nvPr>
        </p:nvSpPr>
        <p:spPr>
          <a:xfrm>
            <a:off x="1150938" y="692150"/>
            <a:ext cx="4556125" cy="3416300"/>
          </a:xfrm>
          <a:ln/>
        </p:spPr>
      </p:sp>
      <p:sp>
        <p:nvSpPr>
          <p:cNvPr id="84996"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1198563" y="717550"/>
            <a:ext cx="4516437" cy="3387725"/>
          </a:xfrm>
          <a:noFill/>
          <a:ln/>
        </p:spPr>
      </p:sp>
      <p:sp>
        <p:nvSpPr>
          <p:cNvPr id="49155" name="Rectangle 3"/>
          <p:cNvSpPr>
            <a:spLocks noGrp="1" noChangeArrowheads="1"/>
          </p:cNvSpPr>
          <p:nvPr>
            <p:ph type="body" idx="1"/>
          </p:nvPr>
        </p:nvSpPr>
        <p:spPr bwMode="auto">
          <a:xfrm>
            <a:off x="898654" y="4366311"/>
            <a:ext cx="5046290" cy="4105635"/>
          </a:xfrm>
          <a:prstGeom prst="rect">
            <a:avLst/>
          </a:prstGeom>
          <a:noFill/>
          <a:ln>
            <a:miter lim="800000"/>
            <a:headEnd/>
            <a:tailEnd/>
          </a:ln>
        </p:spPr>
        <p:txBody>
          <a:bodyPr/>
          <a:lstStyle/>
          <a:p>
            <a:endParaRPr lang="en-US">
              <a:latin typeface="Times New Roman"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1198563" y="717550"/>
            <a:ext cx="4516437" cy="3387725"/>
          </a:xfrm>
          <a:noFill/>
          <a:ln/>
        </p:spPr>
      </p:sp>
      <p:sp>
        <p:nvSpPr>
          <p:cNvPr id="51203" name="Rectangle 3"/>
          <p:cNvSpPr>
            <a:spLocks noGrp="1" noChangeArrowheads="1"/>
          </p:cNvSpPr>
          <p:nvPr>
            <p:ph type="body" idx="1"/>
          </p:nvPr>
        </p:nvSpPr>
        <p:spPr bwMode="auto">
          <a:xfrm>
            <a:off x="898654" y="4366311"/>
            <a:ext cx="5046290" cy="4105635"/>
          </a:xfrm>
          <a:prstGeom prst="rect">
            <a:avLst/>
          </a:prstGeom>
          <a:noFill/>
          <a:ln>
            <a:miter lim="800000"/>
            <a:headEnd/>
            <a:tailEnd/>
          </a:ln>
        </p:spPr>
        <p:txBody>
          <a:bodyPr/>
          <a:lstStyle/>
          <a:p>
            <a:endParaRPr lang="en-US">
              <a:latin typeface="Times New Roman"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1198563" y="717550"/>
            <a:ext cx="4516437" cy="3387725"/>
          </a:xfrm>
          <a:noFill/>
          <a:ln/>
        </p:spPr>
      </p:sp>
      <p:sp>
        <p:nvSpPr>
          <p:cNvPr id="52227" name="Rectangle 3"/>
          <p:cNvSpPr>
            <a:spLocks noGrp="1" noChangeArrowheads="1"/>
          </p:cNvSpPr>
          <p:nvPr>
            <p:ph type="body" idx="1"/>
          </p:nvPr>
        </p:nvSpPr>
        <p:spPr bwMode="auto">
          <a:xfrm>
            <a:off x="898654" y="4366311"/>
            <a:ext cx="5046290" cy="4105635"/>
          </a:xfrm>
          <a:prstGeom prst="rect">
            <a:avLst/>
          </a:prstGeom>
          <a:noFill/>
          <a:ln>
            <a:miter lim="800000"/>
            <a:headEnd/>
            <a:tailEnd/>
          </a:ln>
        </p:spPr>
        <p:txBody>
          <a:bodyPr/>
          <a:lstStyle/>
          <a:p>
            <a:endParaRPr lang="en-US">
              <a:latin typeface="Times New Roman"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198563" y="717550"/>
            <a:ext cx="4516437" cy="3387725"/>
          </a:xfrm>
          <a:noFill/>
          <a:ln/>
        </p:spPr>
      </p:sp>
      <p:sp>
        <p:nvSpPr>
          <p:cNvPr id="53251" name="Rectangle 3"/>
          <p:cNvSpPr>
            <a:spLocks noGrp="1" noChangeArrowheads="1"/>
          </p:cNvSpPr>
          <p:nvPr>
            <p:ph type="body" idx="1"/>
          </p:nvPr>
        </p:nvSpPr>
        <p:spPr bwMode="auto">
          <a:xfrm>
            <a:off x="898654" y="4366311"/>
            <a:ext cx="5046290" cy="4105635"/>
          </a:xfrm>
          <a:prstGeom prst="rect">
            <a:avLst/>
          </a:prstGeom>
          <a:noFill/>
          <a:ln>
            <a:miter lim="800000"/>
            <a:headEnd/>
            <a:tailEnd/>
          </a:ln>
        </p:spPr>
        <p:txBody>
          <a:bodyPr/>
          <a:lstStyle/>
          <a:p>
            <a:endParaRPr lang="en-US">
              <a:latin typeface="Times New Roman"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1198563" y="717550"/>
            <a:ext cx="4516437" cy="3387725"/>
          </a:xfrm>
          <a:noFill/>
          <a:ln/>
        </p:spPr>
      </p:sp>
      <p:sp>
        <p:nvSpPr>
          <p:cNvPr id="54275" name="Rectangle 3"/>
          <p:cNvSpPr>
            <a:spLocks noGrp="1" noChangeArrowheads="1"/>
          </p:cNvSpPr>
          <p:nvPr>
            <p:ph type="body" idx="1"/>
          </p:nvPr>
        </p:nvSpPr>
        <p:spPr bwMode="auto">
          <a:xfrm>
            <a:off x="898654" y="4366311"/>
            <a:ext cx="5046290" cy="4105635"/>
          </a:xfrm>
          <a:prstGeom prst="rect">
            <a:avLst/>
          </a:prstGeom>
          <a:noFill/>
          <a:ln>
            <a:miter lim="800000"/>
            <a:headEnd/>
            <a:tailEnd/>
          </a:ln>
        </p:spPr>
        <p:txBody>
          <a:bodyPr/>
          <a:lstStyle/>
          <a:p>
            <a:endParaRPr lang="en-US">
              <a:latin typeface="Times New Roman"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1198563" y="717550"/>
            <a:ext cx="4516437" cy="3387725"/>
          </a:xfrm>
          <a:noFill/>
          <a:ln/>
        </p:spPr>
      </p:sp>
      <p:sp>
        <p:nvSpPr>
          <p:cNvPr id="55299" name="Rectangle 3"/>
          <p:cNvSpPr>
            <a:spLocks noGrp="1" noChangeArrowheads="1"/>
          </p:cNvSpPr>
          <p:nvPr>
            <p:ph type="body" idx="1"/>
          </p:nvPr>
        </p:nvSpPr>
        <p:spPr bwMode="auto">
          <a:xfrm>
            <a:off x="898654" y="4366311"/>
            <a:ext cx="5046290" cy="4105635"/>
          </a:xfrm>
          <a:prstGeom prst="rect">
            <a:avLst/>
          </a:prstGeom>
          <a:noFill/>
          <a:ln>
            <a:miter lim="800000"/>
            <a:headEnd/>
            <a:tailEnd/>
          </a:ln>
        </p:spPr>
        <p:txBody>
          <a:bodyPr/>
          <a:lstStyle/>
          <a:p>
            <a:endParaRPr lang="en-US">
              <a:latin typeface="Times New Roman"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1198563" y="717550"/>
            <a:ext cx="4516437" cy="3387725"/>
          </a:xfrm>
          <a:noFill/>
          <a:ln/>
        </p:spPr>
      </p:sp>
      <p:sp>
        <p:nvSpPr>
          <p:cNvPr id="56323" name="Rectangle 3"/>
          <p:cNvSpPr>
            <a:spLocks noGrp="1" noChangeArrowheads="1"/>
          </p:cNvSpPr>
          <p:nvPr>
            <p:ph type="body" idx="1"/>
          </p:nvPr>
        </p:nvSpPr>
        <p:spPr bwMode="auto">
          <a:xfrm>
            <a:off x="898654" y="4366311"/>
            <a:ext cx="5046290" cy="4105635"/>
          </a:xfrm>
          <a:prstGeom prst="rect">
            <a:avLst/>
          </a:prstGeom>
          <a:noFill/>
          <a:ln>
            <a:miter lim="800000"/>
            <a:headEnd/>
            <a:tailEnd/>
          </a:ln>
        </p:spPr>
        <p:txBody>
          <a:bodyPr/>
          <a:lstStyle/>
          <a:p>
            <a:endParaRPr lang="en-US">
              <a:latin typeface="Times New Roman"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miter lim="800000"/>
            <a:headEnd/>
            <a:tailEnd/>
          </a:ln>
        </p:spPr>
        <p:txBody>
          <a:bodyPr/>
          <a:lstStyle/>
          <a:p>
            <a:fld id="{F8FA0055-AD75-494B-A44F-0D4224E3CF8E}" type="slidenum">
              <a:rPr lang="fa-IR" altLang="en-US" smtClean="0">
                <a:latin typeface="Times New Roman" charset="0"/>
                <a:cs typeface="Times New Roman" charset="0"/>
              </a:rPr>
              <a:pPr/>
              <a:t>182</a:t>
            </a:fld>
            <a:endParaRPr lang="en-US" altLang="en-US">
              <a:latin typeface="Times New Roman" charset="0"/>
              <a:cs typeface="Times New Roman"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miter lim="800000"/>
            <a:headEnd/>
            <a:tailEnd/>
          </a:ln>
        </p:spPr>
        <p:txBody>
          <a:bodyPr/>
          <a:lstStyle/>
          <a:p>
            <a:fld id="{5B4BF617-CC85-4FFB-9FB6-2730F71C5477}" type="slidenum">
              <a:rPr lang="fa-IR" altLang="en-US" smtClean="0">
                <a:latin typeface="Times New Roman" charset="0"/>
                <a:cs typeface="Times New Roman" charset="0"/>
              </a:rPr>
              <a:pPr/>
              <a:t>183</a:t>
            </a:fld>
            <a:endParaRPr lang="en-US" altLang="en-US">
              <a:latin typeface="Times New Roman" charset="0"/>
              <a:cs typeface="Times New Roman"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miter lim="800000"/>
            <a:headEnd/>
            <a:tailEnd/>
          </a:ln>
        </p:spPr>
        <p:txBody>
          <a:bodyPr/>
          <a:lstStyle/>
          <a:p>
            <a:fld id="{C937BE95-1173-4DDE-BA5E-67D7A548F158}" type="slidenum">
              <a:rPr lang="fa-IR" altLang="en-US" smtClean="0">
                <a:latin typeface="Times New Roman" charset="0"/>
                <a:cs typeface="Times New Roman" charset="0"/>
              </a:rPr>
              <a:pPr/>
              <a:t>184</a:t>
            </a:fld>
            <a:endParaRPr lang="en-US" altLang="en-US">
              <a:latin typeface="Times New Roman" charset="0"/>
              <a:cs typeface="Times New Roman"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miter lim="800000"/>
            <a:headEnd/>
            <a:tailEnd/>
          </a:ln>
        </p:spPr>
        <p:txBody>
          <a:bodyPr/>
          <a:lstStyle/>
          <a:p>
            <a:fld id="{76FCE1E0-EE75-4668-AF1D-A70B19578E89}" type="slidenum">
              <a:rPr lang="fa-IR" altLang="en-US" smtClean="0">
                <a:latin typeface="Times New Roman" charset="0"/>
                <a:cs typeface="Times New Roman" charset="0"/>
              </a:rPr>
              <a:pPr/>
              <a:t>185</a:t>
            </a:fld>
            <a:endParaRPr lang="en-US" altLang="en-US">
              <a:latin typeface="Times New Roman" charset="0"/>
              <a:cs typeface="Times New Roman"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FE428CF3-6E25-43E7-BFB3-4C2374227DDD}" type="slidenum">
              <a:rPr lang="en-US"/>
              <a:pPr/>
              <a:t>192</a:t>
            </a:fld>
            <a:endParaRPr lang="en-US"/>
          </a:p>
        </p:txBody>
      </p:sp>
      <p:sp>
        <p:nvSpPr>
          <p:cNvPr id="73731" name="Rectangle 2"/>
          <p:cNvSpPr>
            <a:spLocks noGrp="1" noRot="1" noChangeAspect="1" noChangeArrowheads="1" noTextEdit="1"/>
          </p:cNvSpPr>
          <p:nvPr>
            <p:ph type="sldImg"/>
          </p:nvPr>
        </p:nvSpPr>
        <p:spPr>
          <a:xfrm>
            <a:off x="1150938" y="692150"/>
            <a:ext cx="4556125" cy="3416300"/>
          </a:xfrm>
          <a:ln/>
        </p:spPr>
      </p:sp>
      <p:sp>
        <p:nvSpPr>
          <p:cNvPr id="73732"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09899C7F-33DE-4C3B-B9A7-A06CC2381F69}" type="slidenum">
              <a:rPr lang="en-US"/>
              <a:pPr/>
              <a:t>201</a:t>
            </a:fld>
            <a:endParaRPr lang="en-US"/>
          </a:p>
        </p:txBody>
      </p:sp>
      <p:sp>
        <p:nvSpPr>
          <p:cNvPr id="114691" name="Rectangle 2"/>
          <p:cNvSpPr>
            <a:spLocks noGrp="1" noRot="1" noChangeAspect="1" noChangeArrowheads="1" noTextEdit="1"/>
          </p:cNvSpPr>
          <p:nvPr>
            <p:ph type="sldImg"/>
          </p:nvPr>
        </p:nvSpPr>
        <p:spPr>
          <a:xfrm>
            <a:off x="1150938" y="692150"/>
            <a:ext cx="4556125" cy="3416300"/>
          </a:xfrm>
          <a:ln/>
        </p:spPr>
      </p:sp>
      <p:sp>
        <p:nvSpPr>
          <p:cNvPr id="114692"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miter lim="800000"/>
            <a:headEnd/>
            <a:tailEnd/>
          </a:ln>
        </p:spPr>
        <p:txBody>
          <a:bodyPr/>
          <a:lstStyle/>
          <a:p>
            <a:fld id="{00ED04AC-96D0-43A0-9E17-DBC6499F5B56}" type="slidenum">
              <a:rPr lang="fa-IR" altLang="en-US" smtClean="0">
                <a:latin typeface="Times New Roman" charset="0"/>
                <a:cs typeface="Times New Roman" charset="0"/>
              </a:rPr>
              <a:pPr/>
              <a:t>202</a:t>
            </a:fld>
            <a:endParaRPr lang="en-US" altLang="en-US">
              <a:latin typeface="Times New Roman" charset="0"/>
              <a:cs typeface="Times New Roman"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miter lim="800000"/>
            <a:headEnd/>
            <a:tailEnd/>
          </a:ln>
        </p:spPr>
        <p:txBody>
          <a:bodyPr/>
          <a:lstStyle/>
          <a:p>
            <a:fld id="{627508BF-5BD3-4335-9EA8-3EBA3FD93388}" type="slidenum">
              <a:rPr lang="fa-IR" altLang="en-US" smtClean="0">
                <a:latin typeface="Times New Roman" charset="0"/>
                <a:cs typeface="Times New Roman" charset="0"/>
              </a:rPr>
              <a:pPr/>
              <a:t>203</a:t>
            </a:fld>
            <a:endParaRPr lang="en-US" altLang="en-US">
              <a:latin typeface="Times New Roman" charset="0"/>
              <a:cs typeface="Times New Roman"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miter lim="800000"/>
            <a:headEnd/>
            <a:tailEnd/>
          </a:ln>
        </p:spPr>
        <p:txBody>
          <a:bodyPr/>
          <a:lstStyle/>
          <a:p>
            <a:fld id="{07F42DA5-C385-4A7C-8D93-8C92F99F72DE}" type="slidenum">
              <a:rPr lang="fa-IR" altLang="en-US" smtClean="0">
                <a:latin typeface="Times New Roman" charset="0"/>
                <a:cs typeface="Times New Roman" charset="0"/>
              </a:rPr>
              <a:pPr/>
              <a:t>204</a:t>
            </a:fld>
            <a:endParaRPr lang="en-US" altLang="en-US">
              <a:latin typeface="Times New Roman" charset="0"/>
              <a:cs typeface="Times New Roman"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miter lim="800000"/>
            <a:headEnd/>
            <a:tailEnd/>
          </a:ln>
        </p:spPr>
        <p:txBody>
          <a:bodyPr/>
          <a:lstStyle/>
          <a:p>
            <a:fld id="{4742CB37-C72B-4CF4-B43C-6F42FF693452}" type="slidenum">
              <a:rPr lang="fa-IR" altLang="en-US" smtClean="0">
                <a:latin typeface="Times New Roman" charset="0"/>
                <a:cs typeface="Times New Roman" charset="0"/>
              </a:rPr>
              <a:pPr/>
              <a:t>205</a:t>
            </a:fld>
            <a:endParaRPr lang="en-US" altLang="en-US">
              <a:latin typeface="Times New Roman" charset="0"/>
              <a:cs typeface="Times New Roman"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miter lim="800000"/>
            <a:headEnd/>
            <a:tailEnd/>
          </a:ln>
        </p:spPr>
        <p:txBody>
          <a:bodyPr/>
          <a:lstStyle/>
          <a:p>
            <a:fld id="{AA3B5538-D323-4DFD-93E2-29FBD98E6BDE}" type="slidenum">
              <a:rPr lang="fa-IR" altLang="en-US" smtClean="0">
                <a:latin typeface="Times New Roman" charset="0"/>
                <a:cs typeface="Times New Roman" charset="0"/>
              </a:rPr>
              <a:pPr/>
              <a:t>206</a:t>
            </a:fld>
            <a:endParaRPr lang="en-US" altLang="en-US">
              <a:latin typeface="Times New Roman" charset="0"/>
              <a:cs typeface="Times New Roman"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miter lim="800000"/>
            <a:headEnd/>
            <a:tailEnd/>
          </a:ln>
        </p:spPr>
        <p:txBody>
          <a:bodyPr/>
          <a:lstStyle/>
          <a:p>
            <a:fld id="{ED759C46-A8B9-46D7-9DDC-B1874FB9B5E7}" type="slidenum">
              <a:rPr lang="fa-IR" altLang="en-US" smtClean="0">
                <a:latin typeface="Times New Roman" charset="0"/>
                <a:cs typeface="Times New Roman" charset="0"/>
              </a:rPr>
              <a:pPr/>
              <a:t>207</a:t>
            </a:fld>
            <a:endParaRPr lang="en-US" altLang="en-US">
              <a:latin typeface="Times New Roman" charset="0"/>
              <a:cs typeface="Times New Roman"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miter lim="800000"/>
            <a:headEnd/>
            <a:tailEnd/>
          </a:ln>
        </p:spPr>
        <p:txBody>
          <a:bodyPr/>
          <a:lstStyle/>
          <a:p>
            <a:fld id="{58A0536A-8409-427A-B074-5DECB5597C7B}" type="slidenum">
              <a:rPr lang="fa-IR" altLang="en-US" smtClean="0">
                <a:latin typeface="Times New Roman" charset="0"/>
                <a:cs typeface="Times New Roman" charset="0"/>
              </a:rPr>
              <a:pPr/>
              <a:t>208</a:t>
            </a:fld>
            <a:endParaRPr lang="en-US" altLang="en-US">
              <a:latin typeface="Times New Roman" charset="0"/>
              <a:cs typeface="Times New Roman"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miter lim="800000"/>
            <a:headEnd/>
            <a:tailEnd/>
          </a:ln>
        </p:spPr>
        <p:txBody>
          <a:bodyPr/>
          <a:lstStyle/>
          <a:p>
            <a:fld id="{CC646784-EACA-4B97-B87B-9504822DB51E}" type="slidenum">
              <a:rPr lang="fa-IR" altLang="en-US" smtClean="0">
                <a:latin typeface="Times New Roman" charset="0"/>
                <a:cs typeface="Times New Roman" charset="0"/>
              </a:rPr>
              <a:pPr/>
              <a:t>209</a:t>
            </a:fld>
            <a:endParaRPr lang="en-US" altLang="en-US">
              <a:latin typeface="Times New Roman" charset="0"/>
              <a:cs typeface="Times New Roman"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miter lim="800000"/>
            <a:headEnd/>
            <a:tailEnd/>
          </a:ln>
        </p:spPr>
        <p:txBody>
          <a:bodyPr/>
          <a:lstStyle/>
          <a:p>
            <a:fld id="{7A27D8F0-D8FF-48F3-883A-1D7F31E1735E}" type="slidenum">
              <a:rPr lang="fa-IR" altLang="en-US" smtClean="0">
                <a:latin typeface="Times New Roman" charset="0"/>
                <a:cs typeface="Times New Roman" charset="0"/>
              </a:rPr>
              <a:pPr/>
              <a:t>210</a:t>
            </a:fld>
            <a:endParaRPr lang="en-US" altLang="en-US">
              <a:latin typeface="Times New Roman" charset="0"/>
              <a:cs typeface="Times New Roman"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p:spPr>
        <p:txBody>
          <a:bodyPr/>
          <a:lstStyle/>
          <a:p>
            <a:pPr eaLnBrk="1" hangingPunct="1"/>
            <a:endParaRPr lang="en-US" altLang="en-US">
              <a:latin typeface="Times New Roman"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A24FB81-E351-4039-A96E-8CAE2D996E9C}" type="slidenum">
              <a:rPr lang="en-US"/>
              <a:pPr/>
              <a:t>221</a:t>
            </a:fld>
            <a:endParaRPr lang="en-US"/>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i="1" dirty="0"/>
              <a:t>h</a:t>
            </a:r>
            <a:r>
              <a:rPr lang="en-US" sz="1200" dirty="0"/>
              <a:t> = number of pairs of queens that are attacking each other, either directly or indirectly </a:t>
            </a:r>
            <a:endParaRPr lang="en-US" dirty="0"/>
          </a:p>
        </p:txBody>
      </p:sp>
      <p:sp>
        <p:nvSpPr>
          <p:cNvPr id="4" name="Slide Number Placeholder 3"/>
          <p:cNvSpPr>
            <a:spLocks noGrp="1"/>
          </p:cNvSpPr>
          <p:nvPr>
            <p:ph type="sldNum" sz="quarter" idx="10"/>
          </p:nvPr>
        </p:nvSpPr>
        <p:spPr/>
        <p:txBody>
          <a:bodyPr/>
          <a:lstStyle/>
          <a:p>
            <a:fld id="{7FD0347B-CD8C-450E-AC68-BAC6E1EC82BC}" type="slidenum">
              <a:rPr lang="en-US" smtClean="0"/>
              <a:pPr/>
              <a:t>225</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a:solidFill>
                  <a:schemeClr val="tx1"/>
                </a:solidFill>
                <a:latin typeface="+mn-lt"/>
                <a:ea typeface="+mn-ea"/>
                <a:cs typeface="+mn-cs"/>
              </a:rPr>
              <a:t>All possible arrangements of a collection of things, where the order is important.</a:t>
            </a:r>
            <a:br>
              <a:rPr lang="en-US" dirty="0"/>
            </a:br>
            <a:br>
              <a:rPr lang="en-US" dirty="0"/>
            </a:br>
            <a:r>
              <a:rPr lang="en-US" sz="1200" b="0" i="0" kern="1200" dirty="0">
                <a:solidFill>
                  <a:schemeClr val="tx1"/>
                </a:solidFill>
                <a:latin typeface="+mn-lt"/>
                <a:ea typeface="+mn-ea"/>
                <a:cs typeface="+mn-cs"/>
              </a:rPr>
              <a:t>Example: You want to visit the homes of three friends Alex ("a"), Betty ("b") and Chandra ("c"), but haven't decided in what order. What choices do you have?</a:t>
            </a:r>
            <a:br>
              <a:rPr lang="en-US" dirty="0"/>
            </a:br>
            <a:br>
              <a:rPr lang="en-US" dirty="0"/>
            </a:br>
            <a:r>
              <a:rPr lang="en-US" sz="1200" b="0" i="0" kern="1200" dirty="0">
                <a:solidFill>
                  <a:schemeClr val="tx1"/>
                </a:solidFill>
                <a:latin typeface="+mn-lt"/>
                <a:ea typeface="+mn-ea"/>
                <a:cs typeface="+mn-cs"/>
              </a:rPr>
              <a:t>Answer: {</a:t>
            </a:r>
            <a:r>
              <a:rPr lang="en-US" sz="1200" b="0" i="0" kern="1200" dirty="0" err="1">
                <a:solidFill>
                  <a:schemeClr val="tx1"/>
                </a:solidFill>
                <a:latin typeface="+mn-lt"/>
                <a:ea typeface="+mn-ea"/>
                <a:cs typeface="+mn-cs"/>
              </a:rPr>
              <a:t>a,b,c</a:t>
            </a:r>
            <a:r>
              <a:rPr lang="en-US" sz="1200" b="0" i="0" kern="1200" dirty="0">
                <a:solidFill>
                  <a:schemeClr val="tx1"/>
                </a:solidFill>
                <a:latin typeface="+mn-lt"/>
                <a:ea typeface="+mn-ea"/>
                <a:cs typeface="+mn-cs"/>
              </a:rPr>
              <a:t>} {</a:t>
            </a:r>
            <a:r>
              <a:rPr lang="en-US" sz="1200" b="0" i="0" kern="1200" dirty="0" err="1">
                <a:solidFill>
                  <a:schemeClr val="tx1"/>
                </a:solidFill>
                <a:latin typeface="+mn-lt"/>
                <a:ea typeface="+mn-ea"/>
                <a:cs typeface="+mn-cs"/>
              </a:rPr>
              <a:t>a,c,b</a:t>
            </a:r>
            <a:r>
              <a:rPr lang="en-US" sz="1200" b="0" i="0" kern="1200" dirty="0">
                <a:solidFill>
                  <a:schemeClr val="tx1"/>
                </a:solidFill>
                <a:latin typeface="+mn-lt"/>
                <a:ea typeface="+mn-ea"/>
                <a:cs typeface="+mn-cs"/>
              </a:rPr>
              <a:t>} {</a:t>
            </a:r>
            <a:r>
              <a:rPr lang="en-US" sz="1200" b="0" i="0" kern="1200" dirty="0" err="1">
                <a:solidFill>
                  <a:schemeClr val="tx1"/>
                </a:solidFill>
                <a:latin typeface="+mn-lt"/>
                <a:ea typeface="+mn-ea"/>
                <a:cs typeface="+mn-cs"/>
              </a:rPr>
              <a:t>b,a,c</a:t>
            </a:r>
            <a:r>
              <a:rPr lang="en-US" sz="1200" b="0" i="0" kern="1200" dirty="0">
                <a:solidFill>
                  <a:schemeClr val="tx1"/>
                </a:solidFill>
                <a:latin typeface="+mn-lt"/>
                <a:ea typeface="+mn-ea"/>
                <a:cs typeface="+mn-cs"/>
              </a:rPr>
              <a:t>} {</a:t>
            </a:r>
            <a:r>
              <a:rPr lang="en-US" sz="1200" b="0" i="0" kern="1200" dirty="0" err="1">
                <a:solidFill>
                  <a:schemeClr val="tx1"/>
                </a:solidFill>
                <a:latin typeface="+mn-lt"/>
                <a:ea typeface="+mn-ea"/>
                <a:cs typeface="+mn-cs"/>
              </a:rPr>
              <a:t>b,c,a</a:t>
            </a:r>
            <a:r>
              <a:rPr lang="en-US" sz="1200" b="0" i="0" kern="1200" dirty="0">
                <a:solidFill>
                  <a:schemeClr val="tx1"/>
                </a:solidFill>
                <a:latin typeface="+mn-lt"/>
                <a:ea typeface="+mn-ea"/>
                <a:cs typeface="+mn-cs"/>
              </a:rPr>
              <a:t>} {</a:t>
            </a:r>
            <a:r>
              <a:rPr lang="en-US" sz="1200" b="0" i="0" kern="1200" dirty="0" err="1">
                <a:solidFill>
                  <a:schemeClr val="tx1"/>
                </a:solidFill>
                <a:latin typeface="+mn-lt"/>
                <a:ea typeface="+mn-ea"/>
                <a:cs typeface="+mn-cs"/>
              </a:rPr>
              <a:t>c,a,b</a:t>
            </a:r>
            <a:r>
              <a:rPr lang="en-US" sz="1200" b="0" i="0" kern="1200" dirty="0">
                <a:solidFill>
                  <a:schemeClr val="tx1"/>
                </a:solidFill>
                <a:latin typeface="+mn-lt"/>
                <a:ea typeface="+mn-ea"/>
                <a:cs typeface="+mn-cs"/>
              </a:rPr>
              <a:t>} {</a:t>
            </a:r>
            <a:r>
              <a:rPr lang="en-US" sz="1200" b="0" i="0" kern="1200" dirty="0" err="1">
                <a:solidFill>
                  <a:schemeClr val="tx1"/>
                </a:solidFill>
                <a:latin typeface="+mn-lt"/>
                <a:ea typeface="+mn-ea"/>
                <a:cs typeface="+mn-cs"/>
              </a:rPr>
              <a:t>c,b,a</a:t>
            </a:r>
            <a:r>
              <a:rPr lang="en-US" sz="1200" b="0" i="0" kern="1200" dirty="0">
                <a:solidFill>
                  <a:schemeClr val="tx1"/>
                </a:solidFill>
                <a:latin typeface="+mn-lt"/>
                <a:ea typeface="+mn-ea"/>
                <a:cs typeface="+mn-cs"/>
              </a:rPr>
              <a:t>} (Consider</a:t>
            </a:r>
            <a:r>
              <a:rPr lang="en-US" sz="1200" b="0" i="0" kern="1200" baseline="0" dirty="0">
                <a:solidFill>
                  <a:schemeClr val="tx1"/>
                </a:solidFill>
                <a:latin typeface="+mn-lt"/>
                <a:ea typeface="+mn-ea"/>
                <a:cs typeface="+mn-cs"/>
              </a:rPr>
              <a:t> all nodes firstly visited)</a:t>
            </a:r>
            <a:br>
              <a:rPr lang="en-US" dirty="0"/>
            </a:br>
            <a:br>
              <a:rPr lang="en-US" dirty="0"/>
            </a:br>
            <a:r>
              <a:rPr lang="en-US" sz="1200" b="0" i="0" kern="1200" dirty="0">
                <a:solidFill>
                  <a:schemeClr val="tx1"/>
                </a:solidFill>
                <a:latin typeface="+mn-lt"/>
                <a:ea typeface="+mn-ea"/>
                <a:cs typeface="+mn-cs"/>
              </a:rPr>
              <a:t>If the order does </a:t>
            </a:r>
            <a:r>
              <a:rPr lang="en-US" sz="1200" b="1" i="0" kern="1200" dirty="0">
                <a:solidFill>
                  <a:schemeClr val="tx1"/>
                </a:solidFill>
                <a:latin typeface="+mn-lt"/>
                <a:ea typeface="+mn-ea"/>
                <a:cs typeface="+mn-cs"/>
              </a:rPr>
              <a:t>not</a:t>
            </a:r>
            <a:r>
              <a:rPr lang="en-US" sz="1200" b="0" i="0" kern="1200" dirty="0">
                <a:solidFill>
                  <a:schemeClr val="tx1"/>
                </a:solidFill>
                <a:latin typeface="+mn-lt"/>
                <a:ea typeface="+mn-ea"/>
                <a:cs typeface="+mn-cs"/>
              </a:rPr>
              <a:t> matter, it is a Combination</a:t>
            </a:r>
            <a:endParaRPr lang="en-US" dirty="0"/>
          </a:p>
        </p:txBody>
      </p:sp>
      <p:sp>
        <p:nvSpPr>
          <p:cNvPr id="4" name="Slide Number Placeholder 3"/>
          <p:cNvSpPr>
            <a:spLocks noGrp="1"/>
          </p:cNvSpPr>
          <p:nvPr>
            <p:ph type="sldNum" sz="quarter" idx="10"/>
          </p:nvPr>
        </p:nvSpPr>
        <p:spPr/>
        <p:txBody>
          <a:bodyPr/>
          <a:lstStyle/>
          <a:p>
            <a:fld id="{7FD0347B-CD8C-450E-AC68-BAC6E1EC82BC}" type="slidenum">
              <a:rPr lang="en-US" smtClean="0"/>
              <a:pPr/>
              <a:t>226</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 </a:t>
            </a:r>
            <a:r>
              <a:rPr lang="en-US" dirty="0" err="1"/>
              <a:t>neighbourhood</a:t>
            </a:r>
            <a:r>
              <a:rPr lang="en-US" dirty="0"/>
              <a:t> of a point</a:t>
            </a:r>
            <a:r>
              <a:rPr lang="en-US" baseline="0" dirty="0"/>
              <a:t> is a set of region containing the point, where one can attain that point without leaving the region. For a given set state </a:t>
            </a:r>
          </a:p>
          <a:p>
            <a:r>
              <a:rPr lang="en-US" baseline="0" dirty="0"/>
              <a:t>S(s E S), a set N(s) represents </a:t>
            </a:r>
            <a:r>
              <a:rPr lang="en-US" baseline="0" dirty="0" err="1"/>
              <a:t>neighbouring</a:t>
            </a:r>
            <a:r>
              <a:rPr lang="en-US" baseline="0" dirty="0"/>
              <a:t> solutions that can be attained in the given region. This N(s) is </a:t>
            </a:r>
            <a:r>
              <a:rPr lang="en-US" baseline="0" dirty="0" err="1"/>
              <a:t>neighbourhood</a:t>
            </a:r>
            <a:r>
              <a:rPr lang="en-US" baseline="0" dirty="0"/>
              <a:t> of s.</a:t>
            </a:r>
          </a:p>
          <a:p>
            <a:endParaRPr lang="en-US" baseline="0" dirty="0"/>
          </a:p>
          <a:p>
            <a:r>
              <a:rPr lang="en-US" baseline="0" dirty="0"/>
              <a:t>Tour is a cycle that visit each node exactly once.</a:t>
            </a:r>
            <a:endParaRPr lang="en-US" dirty="0"/>
          </a:p>
        </p:txBody>
      </p:sp>
      <p:sp>
        <p:nvSpPr>
          <p:cNvPr id="4" name="Slide Number Placeholder 3"/>
          <p:cNvSpPr>
            <a:spLocks noGrp="1"/>
          </p:cNvSpPr>
          <p:nvPr>
            <p:ph type="sldNum" sz="quarter" idx="10"/>
          </p:nvPr>
        </p:nvSpPr>
        <p:spPr/>
        <p:txBody>
          <a:bodyPr/>
          <a:lstStyle/>
          <a:p>
            <a:fld id="{7FD0347B-CD8C-450E-AC68-BAC6E1EC82BC}" type="slidenum">
              <a:rPr lang="en-US" smtClean="0"/>
              <a:pPr/>
              <a:t>227</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D36EAEC5-4A8F-491C-909B-6943118F8ACC}" type="slidenum">
              <a:rPr lang="en-US"/>
              <a:pPr/>
              <a:t>231</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873206C6-1524-43D3-A073-58831EC226E0}" type="slidenum">
              <a:rPr lang="en-US"/>
              <a:pPr/>
              <a:t>233</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65898514-E00C-43AD-88EC-6222A618286A}" type="slidenum">
              <a:rPr lang="en-US"/>
              <a:pPr/>
              <a:t>234</a:t>
            </a:fld>
            <a:endParaRPr 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Vicinity : area near to surrounding space.</a:t>
            </a:r>
          </a:p>
        </p:txBody>
      </p:sp>
      <p:sp>
        <p:nvSpPr>
          <p:cNvPr id="4" name="Slide Number Placeholder 3"/>
          <p:cNvSpPr>
            <a:spLocks noGrp="1"/>
          </p:cNvSpPr>
          <p:nvPr>
            <p:ph type="sldNum" sz="quarter" idx="10"/>
          </p:nvPr>
        </p:nvSpPr>
        <p:spPr/>
        <p:txBody>
          <a:bodyPr/>
          <a:lstStyle/>
          <a:p>
            <a:fld id="{7FD0347B-CD8C-450E-AC68-BAC6E1EC82BC}" type="slidenum">
              <a:rPr lang="en-US" smtClean="0"/>
              <a:pPr/>
              <a:t>236</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74C57D25-8B0B-4050-A441-26A092F8208D}" type="slidenum">
              <a:rPr lang="en-US"/>
              <a:pPr/>
              <a:t>237</a:t>
            </a:fld>
            <a:endParaRPr 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98E06F64-9941-4693-993A-97CB0AF05ABB}" type="slidenum">
              <a:rPr lang="en-US"/>
              <a:pPr/>
              <a:t>241</a:t>
            </a:fld>
            <a:endParaRPr lang="en-US"/>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Payoff(benefits received)</a:t>
            </a:r>
          </a:p>
        </p:txBody>
      </p:sp>
      <p:sp>
        <p:nvSpPr>
          <p:cNvPr id="4" name="Slide Number Placeholder 3"/>
          <p:cNvSpPr>
            <a:spLocks noGrp="1"/>
          </p:cNvSpPr>
          <p:nvPr>
            <p:ph type="sldNum" sz="quarter" idx="10"/>
          </p:nvPr>
        </p:nvSpPr>
        <p:spPr/>
        <p:txBody>
          <a:bodyPr/>
          <a:lstStyle/>
          <a:p>
            <a:fld id="{7FD0347B-CD8C-450E-AC68-BAC6E1EC82BC}" type="slidenum">
              <a:rPr lang="en-US" smtClean="0"/>
              <a:pPr/>
              <a:t>256</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4294967295"/>
          </p:nvPr>
        </p:nvSpPr>
        <p:spPr bwMode="auto">
          <a:xfrm>
            <a:off x="3884414" y="8685894"/>
            <a:ext cx="2972098" cy="456595"/>
          </a:xfrm>
          <a:prstGeom prst="rect">
            <a:avLst/>
          </a:prstGeom>
          <a:noFill/>
          <a:ln>
            <a:miter lim="800000"/>
            <a:headEnd/>
            <a:tailEnd/>
          </a:ln>
        </p:spPr>
        <p:txBody>
          <a:bodyPr lIns="91432" tIns="45716" rIns="91432" bIns="45716"/>
          <a:lstStyle/>
          <a:p>
            <a:fld id="{16DC3A9B-3E80-4532-B370-09D13D7120E6}" type="slidenum">
              <a:rPr lang="en-US" altLang="en-US"/>
              <a:pPr/>
              <a:t>259</a:t>
            </a:fld>
            <a:endParaRPr lang="en-US" alt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w="9525"/>
        </p:spPr>
        <p:txBody>
          <a:bodyPr/>
          <a:lstStyle/>
          <a:p>
            <a:pPr marL="228246" indent="-228246"/>
            <a:endParaRPr lang="en-GB"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4294967295"/>
          </p:nvPr>
        </p:nvSpPr>
        <p:spPr bwMode="auto">
          <a:xfrm>
            <a:off x="3884414" y="8685894"/>
            <a:ext cx="2972098" cy="456595"/>
          </a:xfrm>
          <a:prstGeom prst="rect">
            <a:avLst/>
          </a:prstGeom>
          <a:noFill/>
          <a:ln>
            <a:miter lim="800000"/>
            <a:headEnd/>
            <a:tailEnd/>
          </a:ln>
        </p:spPr>
        <p:txBody>
          <a:bodyPr lIns="91432" tIns="45716" rIns="91432" bIns="45716"/>
          <a:lstStyle/>
          <a:p>
            <a:fld id="{3CAFD1D9-1E76-4FE5-960A-66B0CA57DD60}" type="slidenum">
              <a:rPr lang="en-US" altLang="en-US"/>
              <a:pPr/>
              <a:t>260</a:t>
            </a:fld>
            <a:endParaRPr lang="en-US" alt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w="9525"/>
        </p:spPr>
        <p:txBody>
          <a:bodyPr/>
          <a:lstStyle/>
          <a:p>
            <a:r>
              <a:rPr lang="en-US" sz="1200" b="0" i="0" kern="1200" dirty="0">
                <a:solidFill>
                  <a:schemeClr val="tx1"/>
                </a:solidFill>
                <a:latin typeface="+mn-lt"/>
                <a:ea typeface="+mn-ea"/>
                <a:cs typeface="+mn-cs"/>
              </a:rPr>
              <a:t>Adversary : a person, group, or force that opposes or attacks; opponent; enemy</a:t>
            </a:r>
            <a:endParaRPr lang="en-US"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Explicit representation : clearly developed representation.</a:t>
            </a:r>
          </a:p>
        </p:txBody>
      </p:sp>
      <p:sp>
        <p:nvSpPr>
          <p:cNvPr id="4" name="Slide Number Placeholder 3"/>
          <p:cNvSpPr>
            <a:spLocks noGrp="1"/>
          </p:cNvSpPr>
          <p:nvPr>
            <p:ph type="sldNum" sz="quarter" idx="10"/>
          </p:nvPr>
        </p:nvSpPr>
        <p:spPr/>
        <p:txBody>
          <a:bodyPr/>
          <a:lstStyle/>
          <a:p>
            <a:fld id="{7FD0347B-CD8C-450E-AC68-BAC6E1EC82BC}" type="slidenum">
              <a:rPr lang="en-US" smtClean="0"/>
              <a:pPr/>
              <a:t>262</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1"/>
          <p:cNvSpPr>
            <a:spLocks noGrp="1" noRot="1" noChangeAspect="1" noChangeArrowheads="1" noTextEdit="1"/>
          </p:cNvSpPr>
          <p:nvPr>
            <p:ph type="sldImg"/>
          </p:nvPr>
        </p:nvSpPr>
        <p:spPr>
          <a:ln/>
        </p:spPr>
      </p:sp>
      <p:sp>
        <p:nvSpPr>
          <p:cNvPr id="63491" name="Rectangle 2"/>
          <p:cNvSpPr txBox="1">
            <a:spLocks noGrp="1" noChangeArrowheads="1"/>
          </p:cNvSpPr>
          <p:nvPr>
            <p:ph type="body" idx="1"/>
          </p:nvPr>
        </p:nvSpPr>
        <p:spPr>
          <a:noFill/>
          <a:ln/>
        </p:spPr>
        <p:txBody>
          <a:bodyPr wrap="none" anchor="ct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11"/>
          <p:cNvSpPr>
            <a:spLocks noGrp="1" noChangeArrowheads="1"/>
          </p:cNvSpPr>
          <p:nvPr>
            <p:ph type="sldNum"/>
          </p:nvPr>
        </p:nvSpPr>
        <p:spPr>
          <a:ln/>
        </p:spPr>
        <p:txBody>
          <a:bodyPr/>
          <a:lstStyle/>
          <a:p>
            <a:fld id="{10A1D522-EDB1-4754-BCC2-BC7757F24076}" type="slidenum">
              <a:rPr lang="en-US"/>
              <a:pPr/>
              <a:t>278</a:t>
            </a:fld>
            <a:endParaRPr lang="en-US"/>
          </a:p>
        </p:txBody>
      </p:sp>
      <p:sp>
        <p:nvSpPr>
          <p:cNvPr id="29697"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9698" name="Text Box 2"/>
          <p:cNvSpPr txBox="1">
            <a:spLocks noChangeArrowheads="1"/>
          </p:cNvSpPr>
          <p:nvPr/>
        </p:nvSpPr>
        <p:spPr bwMode="auto">
          <a:xfrm>
            <a:off x="685800" y="4343400"/>
            <a:ext cx="5486400" cy="4114800"/>
          </a:xfrm>
          <a:prstGeom prst="rect">
            <a:avLst/>
          </a:prstGeom>
          <a:noFill/>
          <a:ln w="9525" cap="flat">
            <a:noFill/>
            <a:round/>
            <a:headEnd/>
            <a:tailEnd/>
          </a:ln>
          <a:effectLst/>
        </p:spPr>
        <p:txBody>
          <a:bodyPr wrap="none" anchor="ctr"/>
          <a:lstStyle/>
          <a:p>
            <a:endParaRPr lang="en-US"/>
          </a:p>
        </p:txBody>
      </p:sp>
      <p:sp>
        <p:nvSpPr>
          <p:cNvPr id="29699" name="Text Box 3"/>
          <p:cNvSpPr txBox="1">
            <a:spLocks noChangeArrowheads="1"/>
          </p:cNvSpPr>
          <p:nvPr/>
        </p:nvSpPr>
        <p:spPr bwMode="auto">
          <a:xfrm>
            <a:off x="3884613" y="8685213"/>
            <a:ext cx="2971800" cy="457200"/>
          </a:xfrm>
          <a:prstGeom prst="rect">
            <a:avLst/>
          </a:prstGeom>
          <a:noFill/>
          <a:ln w="9525" cap="flat">
            <a:noFill/>
            <a:round/>
            <a:headEnd/>
            <a:tailEnd/>
          </a:ln>
          <a:effectLst/>
        </p:spPr>
        <p:txBody>
          <a:bodyPr lIns="90000" tIns="46800" rIns="90000" bIns="46800" anchor="b"/>
          <a:lstStyle/>
          <a:p>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0DEA40AC-1386-45A5-ADF8-295B25C6CEA2}" type="slidenum">
              <a:rPr lang="en-US" sz="1200">
                <a:solidFill>
                  <a:srgbClr val="000000"/>
                </a:solidFill>
                <a:latin typeface="Calibri" pitchFamily="34" charset="0"/>
              </a:rPr>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t>278</a:t>
            </a:fld>
            <a:endParaRPr lang="en-US" sz="1200">
              <a:solidFill>
                <a:srgbClr val="000000"/>
              </a:solidFill>
              <a:latin typeface="Calibri"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11"/>
          <p:cNvSpPr>
            <a:spLocks noGrp="1" noChangeArrowheads="1"/>
          </p:cNvSpPr>
          <p:nvPr>
            <p:ph type="sldNum"/>
          </p:nvPr>
        </p:nvSpPr>
        <p:spPr>
          <a:ln/>
        </p:spPr>
        <p:txBody>
          <a:bodyPr/>
          <a:lstStyle/>
          <a:p>
            <a:fld id="{C66BE020-DA51-4495-BFBC-5395FF17D225}" type="slidenum">
              <a:rPr lang="en-US"/>
              <a:pPr/>
              <a:t>279</a:t>
            </a:fld>
            <a:endParaRPr lang="en-US"/>
          </a:p>
        </p:txBody>
      </p:sp>
      <p:sp>
        <p:nvSpPr>
          <p:cNvPr id="30721"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0722" name="Text Box 2"/>
          <p:cNvSpPr txBox="1">
            <a:spLocks noChangeArrowheads="1"/>
          </p:cNvSpPr>
          <p:nvPr/>
        </p:nvSpPr>
        <p:spPr bwMode="auto">
          <a:xfrm>
            <a:off x="685800" y="4343400"/>
            <a:ext cx="5486400" cy="4114800"/>
          </a:xfrm>
          <a:prstGeom prst="rect">
            <a:avLst/>
          </a:prstGeom>
          <a:noFill/>
          <a:ln w="9525" cap="flat">
            <a:noFill/>
            <a:round/>
            <a:headEnd/>
            <a:tailEnd/>
          </a:ln>
          <a:effectLst/>
        </p:spPr>
        <p:txBody>
          <a:bodyPr wrap="none" anchor="ctr"/>
          <a:lstStyle/>
          <a:p>
            <a:endParaRPr lang="en-US"/>
          </a:p>
        </p:txBody>
      </p:sp>
      <p:sp>
        <p:nvSpPr>
          <p:cNvPr id="30723" name="Text Box 3"/>
          <p:cNvSpPr txBox="1">
            <a:spLocks noChangeArrowheads="1"/>
          </p:cNvSpPr>
          <p:nvPr/>
        </p:nvSpPr>
        <p:spPr bwMode="auto">
          <a:xfrm>
            <a:off x="3884613" y="8685213"/>
            <a:ext cx="2971800" cy="457200"/>
          </a:xfrm>
          <a:prstGeom prst="rect">
            <a:avLst/>
          </a:prstGeom>
          <a:noFill/>
          <a:ln w="9525" cap="flat">
            <a:noFill/>
            <a:round/>
            <a:headEnd/>
            <a:tailEnd/>
          </a:ln>
          <a:effectLst/>
        </p:spPr>
        <p:txBody>
          <a:bodyPr lIns="90000" tIns="46800" rIns="90000" bIns="46800" anchor="b"/>
          <a:lstStyle/>
          <a:p>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3015C466-A626-4CFB-8EE5-930CA13B238F}" type="slidenum">
              <a:rPr lang="en-US" sz="1200">
                <a:solidFill>
                  <a:srgbClr val="000000"/>
                </a:solidFill>
                <a:latin typeface="Calibri" pitchFamily="34" charset="0"/>
              </a:rPr>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t>279</a:t>
            </a:fld>
            <a:endParaRPr lang="en-US" sz="1200">
              <a:solidFill>
                <a:srgbClr val="000000"/>
              </a:solidFill>
              <a:latin typeface="Calibri"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a:solidFill>
                  <a:schemeClr val="tx1"/>
                </a:solidFill>
                <a:latin typeface="+mn-lt"/>
                <a:ea typeface="+mn-ea"/>
                <a:cs typeface="+mn-cs"/>
              </a:rPr>
              <a:t>Assume we have evaluated, using depth first search down to node I. This means we can </a:t>
            </a:r>
            <a:r>
              <a:rPr lang="en-US" sz="1200" b="0" i="0" kern="1200" dirty="0" err="1">
                <a:solidFill>
                  <a:schemeClr val="tx1"/>
                </a:solidFill>
                <a:latin typeface="+mn-lt"/>
                <a:ea typeface="+mn-ea"/>
                <a:cs typeface="+mn-cs"/>
              </a:rPr>
              <a:t>maximise</a:t>
            </a:r>
            <a:r>
              <a:rPr lang="en-US" sz="1200" b="0" i="0" kern="1200" dirty="0">
                <a:solidFill>
                  <a:schemeClr val="tx1"/>
                </a:solidFill>
                <a:latin typeface="+mn-lt"/>
                <a:ea typeface="+mn-ea"/>
                <a:cs typeface="+mn-cs"/>
              </a:rPr>
              <a:t> node D to a value of 6. If we now continue the search we will eventually evaluate node J and assign it a value of 8. At this point we do not need to evaluate K (or any of its siblings); for the following </a:t>
            </a:r>
            <a:r>
              <a:rPr lang="en-US" sz="1200" b="0" i="0" kern="1200" dirty="0" err="1">
                <a:solidFill>
                  <a:schemeClr val="tx1"/>
                </a:solidFill>
                <a:latin typeface="+mn-lt"/>
                <a:ea typeface="+mn-ea"/>
                <a:cs typeface="+mn-cs"/>
              </a:rPr>
              <a:t>reasons.Node</a:t>
            </a:r>
            <a:r>
              <a:rPr lang="en-US" sz="1200" b="0" i="0" kern="1200" dirty="0">
                <a:solidFill>
                  <a:schemeClr val="tx1"/>
                </a:solidFill>
                <a:latin typeface="+mn-lt"/>
                <a:ea typeface="+mn-ea"/>
                <a:cs typeface="+mn-cs"/>
              </a:rPr>
              <a:t> E already has a value of at least 8 (as MAX is trying to </a:t>
            </a:r>
            <a:r>
              <a:rPr lang="en-US" sz="1200" b="0" i="0" kern="1200" dirty="0" err="1">
                <a:solidFill>
                  <a:schemeClr val="tx1"/>
                </a:solidFill>
                <a:latin typeface="+mn-lt"/>
                <a:ea typeface="+mn-ea"/>
                <a:cs typeface="+mn-cs"/>
              </a:rPr>
              <a:t>maximise</a:t>
            </a:r>
            <a:r>
              <a:rPr lang="en-US" sz="1200" b="0" i="0" kern="1200" dirty="0">
                <a:solidFill>
                  <a:schemeClr val="tx1"/>
                </a:solidFill>
                <a:latin typeface="+mn-lt"/>
                <a:ea typeface="+mn-ea"/>
                <a:cs typeface="+mn-cs"/>
              </a:rPr>
              <a:t> this value so it cannot take on a smaller value).</a:t>
            </a:r>
          </a:p>
          <a:p>
            <a:r>
              <a:rPr lang="en-US" sz="1200" b="0" i="0" kern="1200" dirty="0">
                <a:solidFill>
                  <a:schemeClr val="tx1"/>
                </a:solidFill>
                <a:latin typeface="+mn-lt"/>
                <a:ea typeface="+mn-ea"/>
                <a:cs typeface="+mn-cs"/>
              </a:rPr>
              <a:t>Node E is already greater than node D and, as MIN will be trying to </a:t>
            </a:r>
            <a:r>
              <a:rPr lang="en-US" sz="1200" b="0" i="0" kern="1200" dirty="0" err="1">
                <a:solidFill>
                  <a:schemeClr val="tx1"/>
                </a:solidFill>
                <a:latin typeface="+mn-lt"/>
                <a:ea typeface="+mn-ea"/>
                <a:cs typeface="+mn-cs"/>
              </a:rPr>
              <a:t>minimise</a:t>
            </a:r>
            <a:r>
              <a:rPr lang="en-US" sz="1200" b="0" i="0" kern="1200" dirty="0">
                <a:solidFill>
                  <a:schemeClr val="tx1"/>
                </a:solidFill>
                <a:latin typeface="+mn-lt"/>
                <a:ea typeface="+mn-ea"/>
                <a:cs typeface="+mn-cs"/>
              </a:rPr>
              <a:t> these two values, it is always going to choose D over E.</a:t>
            </a:r>
          </a:p>
          <a:p>
            <a:r>
              <a:rPr lang="en-US" sz="1200" b="0" i="0" kern="1200" dirty="0">
                <a:solidFill>
                  <a:schemeClr val="tx1"/>
                </a:solidFill>
                <a:latin typeface="+mn-lt"/>
                <a:ea typeface="+mn-ea"/>
                <a:cs typeface="+mn-cs"/>
              </a:rPr>
              <a:t>Therefore, we can cut off the search at this point (shown an the diagram).</a:t>
            </a:r>
          </a:p>
          <a:p>
            <a:r>
              <a:rPr lang="en-US" sz="1200" b="0" i="0" kern="1200" dirty="0">
                <a:solidFill>
                  <a:schemeClr val="tx1"/>
                </a:solidFill>
                <a:latin typeface="+mn-lt"/>
                <a:ea typeface="+mn-ea"/>
                <a:cs typeface="+mn-cs"/>
              </a:rPr>
              <a:t>Similarly, we can cut of the search from node G downwards.</a:t>
            </a:r>
            <a:br>
              <a:rPr lang="en-US" sz="1200" b="0" i="0" kern="1200" dirty="0">
                <a:solidFill>
                  <a:schemeClr val="tx1"/>
                </a:solidFill>
                <a:latin typeface="+mn-lt"/>
                <a:ea typeface="+mn-ea"/>
                <a:cs typeface="+mn-cs"/>
              </a:rPr>
            </a:br>
            <a:endParaRPr lang="en-US" sz="1200" b="0" i="0" kern="1200" dirty="0">
              <a:solidFill>
                <a:schemeClr val="tx1"/>
              </a:solidFill>
              <a:latin typeface="+mn-lt"/>
              <a:ea typeface="+mn-ea"/>
              <a:cs typeface="+mn-cs"/>
            </a:endParaRPr>
          </a:p>
          <a:p>
            <a:r>
              <a:rPr lang="en-US" sz="1200" b="0" i="0" kern="1200" dirty="0">
                <a:solidFill>
                  <a:schemeClr val="tx1"/>
                </a:solidFill>
                <a:latin typeface="+mn-lt"/>
                <a:ea typeface="+mn-ea"/>
                <a:cs typeface="+mn-cs"/>
              </a:rPr>
              <a:t>Having evaluated F to 2, C cannot be more than this value (as C is trying to </a:t>
            </a:r>
            <a:r>
              <a:rPr lang="en-US" sz="1200" b="0" i="0" kern="1200" dirty="0" err="1">
                <a:solidFill>
                  <a:schemeClr val="tx1"/>
                </a:solidFill>
                <a:latin typeface="+mn-lt"/>
                <a:ea typeface="+mn-ea"/>
                <a:cs typeface="+mn-cs"/>
              </a:rPr>
              <a:t>minimise</a:t>
            </a:r>
            <a:r>
              <a:rPr lang="en-US" sz="1200" b="0" i="0" kern="1200" dirty="0">
                <a:solidFill>
                  <a:schemeClr val="tx1"/>
                </a:solidFill>
                <a:latin typeface="+mn-lt"/>
                <a:ea typeface="+mn-ea"/>
                <a:cs typeface="+mn-cs"/>
              </a:rPr>
              <a:t>).</a:t>
            </a:r>
          </a:p>
          <a:p>
            <a:r>
              <a:rPr lang="en-US" sz="1200" b="0" i="0" kern="1200" dirty="0">
                <a:solidFill>
                  <a:schemeClr val="tx1"/>
                </a:solidFill>
                <a:latin typeface="+mn-lt"/>
                <a:ea typeface="+mn-ea"/>
                <a:cs typeface="+mn-cs"/>
              </a:rPr>
              <a:t>B is already greater than 2.</a:t>
            </a:r>
          </a:p>
          <a:p>
            <a:r>
              <a:rPr lang="en-US" sz="1200" b="0" i="0" kern="1200" dirty="0">
                <a:solidFill>
                  <a:schemeClr val="tx1"/>
                </a:solidFill>
                <a:latin typeface="+mn-lt"/>
                <a:ea typeface="+mn-ea"/>
                <a:cs typeface="+mn-cs"/>
              </a:rPr>
              <a:t>Therefore, MAX is always going to prefer B over C, so we cannot cut off the rest of the search below C.</a:t>
            </a:r>
          </a:p>
          <a:p>
            <a:r>
              <a:rPr lang="en-US" sz="1200" b="0" i="0" kern="1200" dirty="0">
                <a:solidFill>
                  <a:schemeClr val="tx1"/>
                </a:solidFill>
                <a:latin typeface="+mn-lt"/>
                <a:ea typeface="+mn-ea"/>
                <a:cs typeface="+mn-cs"/>
              </a:rPr>
              <a:t>The improvements we can get with alpha-beta searching depends on the problem being considered and the order in which the nodes are expanded. At worst, it will perform the same as </a:t>
            </a:r>
            <a:r>
              <a:rPr lang="en-US" sz="1200" b="0" i="0" kern="1200" dirty="0" err="1">
                <a:solidFill>
                  <a:schemeClr val="tx1"/>
                </a:solidFill>
                <a:latin typeface="+mn-lt"/>
                <a:ea typeface="+mn-ea"/>
                <a:cs typeface="+mn-cs"/>
              </a:rPr>
              <a:t>minimax</a:t>
            </a:r>
            <a:r>
              <a:rPr lang="en-US" sz="1200" b="0" i="0" kern="1200" dirty="0">
                <a:solidFill>
                  <a:schemeClr val="tx1"/>
                </a:solidFill>
                <a:latin typeface="+mn-lt"/>
                <a:ea typeface="+mn-ea"/>
                <a:cs typeface="+mn-cs"/>
              </a:rPr>
              <a:t> (i.e. no pruning will be possible). At best, alpha-beta pruning can effectively double the search space.</a:t>
            </a:r>
          </a:p>
          <a:p>
            <a:endParaRPr lang="en-US" dirty="0"/>
          </a:p>
        </p:txBody>
      </p:sp>
      <p:sp>
        <p:nvSpPr>
          <p:cNvPr id="4" name="Slide Number Placeholder 3"/>
          <p:cNvSpPr>
            <a:spLocks noGrp="1"/>
          </p:cNvSpPr>
          <p:nvPr>
            <p:ph type="sldNum" sz="quarter" idx="10"/>
          </p:nvPr>
        </p:nvSpPr>
        <p:spPr/>
        <p:txBody>
          <a:bodyPr/>
          <a:lstStyle/>
          <a:p>
            <a:fld id="{7FD0347B-CD8C-450E-AC68-BAC6E1EC82BC}" type="slidenum">
              <a:rPr lang="en-US" smtClean="0"/>
              <a:pPr/>
              <a:t>286</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FD0347B-CD8C-450E-AC68-BAC6E1EC82BC}" type="slidenum">
              <a:rPr lang="en-US" smtClean="0"/>
              <a:pPr/>
              <a:t>290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B650E312-19BC-4A54-83FC-F4C8C370DBDC}" type="datetimeFigureOut">
              <a:rPr lang="en-US" smtClean="0"/>
              <a:pPr/>
              <a:t>2/4/2025</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30FB3BE-D8A9-4695-A2FF-D991AC621D88}"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B650E312-19BC-4A54-83FC-F4C8C370DBDC}" type="datetimeFigureOut">
              <a:rPr lang="en-US" smtClean="0"/>
              <a:pPr/>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D30FB3BE-D8A9-4695-A2FF-D991AC621D88}"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650E312-19BC-4A54-83FC-F4C8C370DBDC}" type="datetimeFigureOut">
              <a:rPr lang="en-US" smtClean="0"/>
              <a:pPr/>
              <a:t>2/4/2025</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30FB3BE-D8A9-4695-A2FF-D991AC621D88}"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fld id="{B650E312-19BC-4A54-83FC-F4C8C370DBDC}" type="datetimeFigureOut">
              <a:rPr lang="en-US" smtClean="0"/>
              <a:pPr/>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0FB3BE-D8A9-4695-A2FF-D991AC621D88}"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650E312-19BC-4A54-83FC-F4C8C370DBDC}" type="datetimeFigureOut">
              <a:rPr lang="en-US" smtClean="0"/>
              <a:pPr/>
              <a:t>2/4/2025</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D30FB3BE-D8A9-4695-A2FF-D991AC621D88}"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650E312-19BC-4A54-83FC-F4C8C370DBDC}" type="datetimeFigureOut">
              <a:rPr lang="en-US" smtClean="0"/>
              <a:pPr/>
              <a:t>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D30FB3BE-D8A9-4695-A2FF-D991AC621D8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650E312-19BC-4A54-83FC-F4C8C370DBDC}" type="datetimeFigureOut">
              <a:rPr lang="en-US" smtClean="0"/>
              <a:pPr/>
              <a:t>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D30FB3BE-D8A9-4695-A2FF-D991AC621D8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D30FB3BE-D8A9-4695-A2FF-D991AC621D88}"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650E312-19BC-4A54-83FC-F4C8C370DBDC}" type="datetimeFigureOut">
              <a:rPr lang="en-US" smtClean="0"/>
              <a:pPr/>
              <a:t>2/4/2025</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D30FB3BE-D8A9-4695-A2FF-D991AC621D88}"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B650E312-19BC-4A54-83FC-F4C8C370DBDC}" type="datetimeFigureOut">
              <a:rPr lang="en-US" smtClean="0"/>
              <a:pPr/>
              <a:t>2/4/2025</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650E312-19BC-4A54-83FC-F4C8C370DBDC}" type="datetimeFigureOut">
              <a:rPr lang="en-US" smtClean="0"/>
              <a:pPr/>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0FB3BE-D8A9-4695-A2FF-D991AC621D88}"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D30FB3BE-D8A9-4695-A2FF-D991AC621D88}"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650E312-19BC-4A54-83FC-F4C8C370DBDC}" type="datetimeFigureOut">
              <a:rPr lang="en-US" smtClean="0"/>
              <a:pPr/>
              <a:t>2/4/2025</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p:txBody>
          <a:bodyPr/>
          <a:lstStyle>
            <a:lvl1pPr>
              <a:defRPr/>
            </a:lvl1pPr>
          </a:lstStyle>
          <a:p>
            <a:fld id="{3948454D-102A-4ABC-B9C3-0D34DA795786}" type="datetime1">
              <a:rPr lang="en-US"/>
              <a:pPr/>
              <a:t>2/4/2025</a:t>
            </a:fld>
            <a:endParaRPr lang="en-US"/>
          </a:p>
        </p:txBody>
      </p:sp>
      <p:sp>
        <p:nvSpPr>
          <p:cNvPr id="7" name="Footer Placeholder 6"/>
          <p:cNvSpPr>
            <a:spLocks noGrp="1"/>
          </p:cNvSpPr>
          <p:nvPr>
            <p:ph type="ftr" sz="quarter" idx="11"/>
          </p:nvPr>
        </p:nvSpPr>
        <p:spPr/>
        <p:txBody>
          <a:bodyPr/>
          <a:lstStyle>
            <a:lvl1pPr>
              <a:defRPr>
                <a:latin typeface="Times New Roman" pitchFamily="-109" charset="0"/>
              </a:defRPr>
            </a:lvl1pPr>
          </a:lstStyle>
          <a:p>
            <a:pPr>
              <a:defRPr/>
            </a:pPr>
            <a:r>
              <a:rPr lang="en-US"/>
              <a:t>CSCI 5582 Fall 2002</a:t>
            </a:r>
          </a:p>
        </p:txBody>
      </p:sp>
      <p:sp>
        <p:nvSpPr>
          <p:cNvPr id="8" name="Slide Number Placeholder 7"/>
          <p:cNvSpPr>
            <a:spLocks noGrp="1"/>
          </p:cNvSpPr>
          <p:nvPr>
            <p:ph type="sldNum" sz="quarter" idx="12"/>
          </p:nvPr>
        </p:nvSpPr>
        <p:spPr/>
        <p:txBody>
          <a:bodyPr/>
          <a:lstStyle>
            <a:lvl1pPr>
              <a:defRPr/>
            </a:lvl1pPr>
          </a:lstStyle>
          <a:p>
            <a:fld id="{651A285A-FCA5-4B55-9278-A060F98763C1}"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B650E312-19BC-4A54-83FC-F4C8C370DBDC}" type="datetimeFigureOut">
              <a:rPr lang="en-US" smtClean="0"/>
              <a:pPr/>
              <a:t>2/4/2025</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D30FB3BE-D8A9-4695-A2FF-D991AC621D88}"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69.emf"/><Relationship Id="rId18" Type="http://schemas.openxmlformats.org/officeDocument/2006/relationships/oleObject" Target="../embeddings/oleObject11.bin"/><Relationship Id="rId26" Type="http://schemas.openxmlformats.org/officeDocument/2006/relationships/oleObject" Target="../embeddings/oleObject15.bin"/><Relationship Id="rId3" Type="http://schemas.openxmlformats.org/officeDocument/2006/relationships/image" Target="../media/image64.emf"/><Relationship Id="rId21" Type="http://schemas.openxmlformats.org/officeDocument/2006/relationships/image" Target="../media/image73.emf"/><Relationship Id="rId7" Type="http://schemas.openxmlformats.org/officeDocument/2006/relationships/image" Target="../media/image66.emf"/><Relationship Id="rId12" Type="http://schemas.openxmlformats.org/officeDocument/2006/relationships/oleObject" Target="../embeddings/oleObject8.bin"/><Relationship Id="rId17" Type="http://schemas.openxmlformats.org/officeDocument/2006/relationships/image" Target="../media/image71.emf"/><Relationship Id="rId25" Type="http://schemas.openxmlformats.org/officeDocument/2006/relationships/image" Target="../media/image75.emf"/><Relationship Id="rId2" Type="http://schemas.openxmlformats.org/officeDocument/2006/relationships/oleObject" Target="../embeddings/oleObject3.bin"/><Relationship Id="rId16" Type="http://schemas.openxmlformats.org/officeDocument/2006/relationships/oleObject" Target="../embeddings/oleObject10.bin"/><Relationship Id="rId20"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5.bin"/><Relationship Id="rId11" Type="http://schemas.openxmlformats.org/officeDocument/2006/relationships/image" Target="../media/image68.emf"/><Relationship Id="rId24" Type="http://schemas.openxmlformats.org/officeDocument/2006/relationships/oleObject" Target="../embeddings/oleObject14.bin"/><Relationship Id="rId5" Type="http://schemas.openxmlformats.org/officeDocument/2006/relationships/image" Target="../media/image65.emf"/><Relationship Id="rId15" Type="http://schemas.openxmlformats.org/officeDocument/2006/relationships/image" Target="../media/image70.emf"/><Relationship Id="rId23" Type="http://schemas.openxmlformats.org/officeDocument/2006/relationships/image" Target="../media/image74.emf"/><Relationship Id="rId10" Type="http://schemas.openxmlformats.org/officeDocument/2006/relationships/oleObject" Target="../embeddings/oleObject7.bin"/><Relationship Id="rId19" Type="http://schemas.openxmlformats.org/officeDocument/2006/relationships/image" Target="../media/image72.emf"/><Relationship Id="rId4" Type="http://schemas.openxmlformats.org/officeDocument/2006/relationships/oleObject" Target="../embeddings/oleObject4.bin"/><Relationship Id="rId9" Type="http://schemas.openxmlformats.org/officeDocument/2006/relationships/image" Target="../media/image67.emf"/><Relationship Id="rId14" Type="http://schemas.openxmlformats.org/officeDocument/2006/relationships/oleObject" Target="../embeddings/oleObject9.bin"/><Relationship Id="rId22" Type="http://schemas.openxmlformats.org/officeDocument/2006/relationships/oleObject" Target="../embeddings/oleObject13.bin"/><Relationship Id="rId27" Type="http://schemas.openxmlformats.org/officeDocument/2006/relationships/image" Target="../media/image76.emf"/></Relationships>
</file>

<file path=ppt/slides/_rels/slide19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2819400"/>
            <a:ext cx="7620000" cy="1752600"/>
          </a:xfrm>
        </p:spPr>
        <p:txBody>
          <a:bodyPr>
            <a:normAutofit/>
          </a:bodyPr>
          <a:lstStyle/>
          <a:p>
            <a:r>
              <a:rPr lang="en-US" sz="3600" b="1"/>
              <a:t>Problem-solving</a:t>
            </a:r>
            <a:endParaRPr lang="en-US" sz="3600" dirty="0"/>
          </a:p>
        </p:txBody>
      </p:sp>
      <p:sp>
        <p:nvSpPr>
          <p:cNvPr id="2" name="Title 1"/>
          <p:cNvSpPr>
            <a:spLocks noGrp="1"/>
          </p:cNvSpPr>
          <p:nvPr>
            <p:ph type="ctrTitle"/>
          </p:nvPr>
        </p:nvSpPr>
        <p:spPr/>
        <p:txBody>
          <a:bodyPr/>
          <a:lstStyle/>
          <a:p>
            <a:r>
              <a:rPr lang="en-US" dirty="0"/>
              <a:t>UNIT-II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sz="quarter" idx="1"/>
          </p:nvPr>
        </p:nvSpPr>
        <p:spPr>
          <a:xfrm>
            <a:off x="301752" y="1752600"/>
            <a:ext cx="8503920" cy="4346448"/>
          </a:xfrm>
        </p:spPr>
        <p:txBody>
          <a:bodyPr/>
          <a:lstStyle/>
          <a:p>
            <a:r>
              <a:rPr lang="en-US" dirty="0"/>
              <a:t>Problem solving process, Problem analysis and representation, Problem space and search</a:t>
            </a:r>
          </a:p>
          <a:p>
            <a:r>
              <a:rPr lang="en-US" dirty="0"/>
              <a:t>Toy problems, real world problems, Problem reduction methods</a:t>
            </a:r>
          </a:p>
          <a:p>
            <a:r>
              <a:rPr lang="en-US" dirty="0"/>
              <a:t>General Search algorithms, Uninformed Search methods, Informed (Heuristic) Search </a:t>
            </a:r>
          </a:p>
          <a:p>
            <a:r>
              <a:rPr lang="en-US" dirty="0"/>
              <a:t>Best first, Greedy, A* search methods, Heuristic Functions, AO*</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sz="quarter" idx="1"/>
          </p:nvPr>
        </p:nvSpPr>
        <p:spPr/>
        <p:txBody>
          <a:bodyPr/>
          <a:lstStyle/>
          <a:p>
            <a:r>
              <a:rPr lang="en-US" dirty="0"/>
              <a:t>Local Search Algorithms and optimization problems</a:t>
            </a:r>
          </a:p>
          <a:p>
            <a:r>
              <a:rPr lang="en-US" dirty="0"/>
              <a:t>Adversarial search methods(Game Theory): Important concepts of Game theory, Game theory and knowledge structure</a:t>
            </a:r>
          </a:p>
          <a:p>
            <a:r>
              <a:rPr lang="en-US" dirty="0"/>
              <a:t>Game as a search problem, Alpha-Beta Pruning, Stochastic Games</a:t>
            </a:r>
          </a:p>
          <a:p>
            <a:r>
              <a:rPr lang="en-US" dirty="0"/>
              <a:t>Constraint Satisfaction Problem, CSP as search problem</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5800" y="304800"/>
            <a:ext cx="7772400" cy="685800"/>
          </a:xfrm>
        </p:spPr>
        <p:txBody>
          <a:bodyPr>
            <a:normAutofit/>
          </a:bodyPr>
          <a:lstStyle/>
          <a:p>
            <a:pPr eaLnBrk="1" hangingPunct="1"/>
            <a:r>
              <a:rPr lang="en-GB" dirty="0"/>
              <a:t>Monkey &amp; Bananas Problem </a:t>
            </a:r>
          </a:p>
        </p:txBody>
      </p:sp>
      <p:sp>
        <p:nvSpPr>
          <p:cNvPr id="4099" name="Rectangle 3"/>
          <p:cNvSpPr>
            <a:spLocks noGrp="1" noChangeArrowheads="1"/>
          </p:cNvSpPr>
          <p:nvPr>
            <p:ph type="body" sz="half" idx="1"/>
          </p:nvPr>
        </p:nvSpPr>
        <p:spPr>
          <a:xfrm>
            <a:off x="381000" y="1523999"/>
            <a:ext cx="8439150" cy="4784725"/>
          </a:xfrm>
        </p:spPr>
        <p:txBody>
          <a:bodyPr/>
          <a:lstStyle/>
          <a:p>
            <a:pPr algn="just" eaLnBrk="1" hangingPunct="1"/>
            <a:r>
              <a:rPr lang="en-GB" sz="2000" dirty="0"/>
              <a:t>A hungry monkey is in a room. Suspended from the roof, just out of his reach, is a bunch of bananas. In the corner of the room is a box. The monkey desperately wants the bananas but he can’t reach them. What shall he do?</a:t>
            </a:r>
          </a:p>
          <a:p>
            <a:pPr algn="just" eaLnBrk="1" hangingPunct="1"/>
            <a:endParaRPr lang="en-GB" sz="2000" dirty="0"/>
          </a:p>
          <a:p>
            <a:pPr algn="just" eaLnBrk="1" hangingPunct="1"/>
            <a:endParaRPr lang="en-GB" sz="1800" dirty="0"/>
          </a:p>
          <a:p>
            <a:pPr algn="just" eaLnBrk="1" hangingPunct="1"/>
            <a:endParaRPr lang="en-GB" sz="1800" dirty="0"/>
          </a:p>
          <a:p>
            <a:pPr algn="just" eaLnBrk="1" hangingPunct="1"/>
            <a:endParaRPr lang="en-GB" sz="1800" dirty="0"/>
          </a:p>
          <a:p>
            <a:pPr algn="just" eaLnBrk="1" hangingPunct="1"/>
            <a:endParaRPr lang="en-GB" sz="1800" dirty="0"/>
          </a:p>
          <a:p>
            <a:pPr algn="just" eaLnBrk="1" hangingPunct="1"/>
            <a:endParaRPr lang="en-GB" sz="1800" dirty="0"/>
          </a:p>
          <a:p>
            <a:pPr algn="just" eaLnBrk="1" hangingPunct="1"/>
            <a:endParaRPr lang="en-GB" sz="1800" dirty="0"/>
          </a:p>
          <a:p>
            <a:pPr algn="just" eaLnBrk="1" hangingPunct="1"/>
            <a:endParaRPr lang="en-GB" sz="1800" dirty="0"/>
          </a:p>
          <a:p>
            <a:pPr algn="just" eaLnBrk="1" hangingPunct="1"/>
            <a:endParaRPr lang="en-GB" sz="1800" dirty="0"/>
          </a:p>
          <a:p>
            <a:pPr algn="just" eaLnBrk="1" hangingPunct="1"/>
            <a:endParaRPr lang="en-GB" sz="800" dirty="0"/>
          </a:p>
        </p:txBody>
      </p:sp>
      <p:pic>
        <p:nvPicPr>
          <p:cNvPr id="4100" name="Picture 10" descr="mandb"/>
          <p:cNvPicPr>
            <a:picLocks noGrp="1" noChangeAspect="1" noChangeArrowheads="1"/>
          </p:cNvPicPr>
          <p:nvPr>
            <p:ph sz="quarter" idx="2"/>
          </p:nvPr>
        </p:nvPicPr>
        <p:blipFill>
          <a:blip r:embed="rId2"/>
          <a:srcRect/>
          <a:stretch>
            <a:fillRect/>
          </a:stretch>
        </p:blipFill>
        <p:spPr>
          <a:xfrm>
            <a:off x="2433638" y="2819400"/>
            <a:ext cx="4860925" cy="3276601"/>
          </a:xfr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title"/>
          </p:nvPr>
        </p:nvSpPr>
        <p:spPr>
          <a:xfrm>
            <a:off x="457200" y="188913"/>
            <a:ext cx="8435975" cy="801687"/>
          </a:xfrm>
        </p:spPr>
        <p:txBody>
          <a:bodyPr/>
          <a:lstStyle/>
          <a:p>
            <a:pPr eaLnBrk="1" hangingPunct="1"/>
            <a:r>
              <a:rPr lang="en-GB" sz="4000" dirty="0"/>
              <a:t>Monkey &amp; Bananas Problem</a:t>
            </a:r>
          </a:p>
        </p:txBody>
      </p:sp>
      <p:pic>
        <p:nvPicPr>
          <p:cNvPr id="5124" name="Picture 4" descr="mandb2"/>
          <p:cNvPicPr>
            <a:picLocks noGrp="1" noChangeAspect="1" noChangeArrowheads="1"/>
          </p:cNvPicPr>
          <p:nvPr>
            <p:ph sz="quarter" idx="1"/>
          </p:nvPr>
        </p:nvPicPr>
        <p:blipFill>
          <a:blip r:embed="rId2"/>
          <a:stretch>
            <a:fillRect/>
          </a:stretch>
        </p:blipFill>
        <p:spPr>
          <a:xfrm>
            <a:off x="1810544" y="1527175"/>
            <a:ext cx="5486400" cy="4572000"/>
          </a:xfrm>
          <a:noFill/>
        </p:spPr>
      </p:pic>
      <p:sp>
        <p:nvSpPr>
          <p:cNvPr id="5123" name="Rectangle 8"/>
          <p:cNvSpPr>
            <a:spLocks noGrp="1" noChangeArrowheads="1"/>
          </p:cNvSpPr>
          <p:nvPr>
            <p:ph type="body" idx="4294967295"/>
          </p:nvPr>
        </p:nvSpPr>
        <p:spPr>
          <a:xfrm>
            <a:off x="784225" y="1600200"/>
            <a:ext cx="8359775" cy="4876800"/>
          </a:xfrm>
        </p:spPr>
        <p:txBody>
          <a:bodyPr>
            <a:normAutofit fontScale="92500" lnSpcReduction="10000"/>
          </a:bodyPr>
          <a:lstStyle/>
          <a:p>
            <a:pPr algn="just" eaLnBrk="1" hangingPunct="1"/>
            <a:r>
              <a:rPr lang="en-GB" sz="2000" dirty="0"/>
              <a:t>After several unsuccessful attempts to reach the bananas, the monkey walks to the box, pushes it under the bananas, climbs on the box, picks the bananas and eats them.</a:t>
            </a:r>
          </a:p>
          <a:p>
            <a:pPr algn="just" eaLnBrk="1" hangingPunct="1"/>
            <a:endParaRPr lang="en-GB" sz="2000" dirty="0"/>
          </a:p>
          <a:p>
            <a:pPr algn="just" eaLnBrk="1" hangingPunct="1"/>
            <a:endParaRPr lang="en-GB" sz="2000" dirty="0"/>
          </a:p>
          <a:p>
            <a:pPr algn="just" eaLnBrk="1" hangingPunct="1"/>
            <a:endParaRPr lang="en-GB" sz="2000" dirty="0"/>
          </a:p>
          <a:p>
            <a:pPr algn="just" eaLnBrk="1" hangingPunct="1"/>
            <a:endParaRPr lang="en-GB" sz="2000" dirty="0"/>
          </a:p>
          <a:p>
            <a:pPr algn="just" eaLnBrk="1" hangingPunct="1"/>
            <a:endParaRPr lang="en-GB" dirty="0"/>
          </a:p>
          <a:p>
            <a:pPr algn="just" eaLnBrk="1" hangingPunct="1"/>
            <a:endParaRPr lang="en-GB" sz="2000" dirty="0"/>
          </a:p>
          <a:p>
            <a:pPr algn="just" eaLnBrk="1" hangingPunct="1"/>
            <a:endParaRPr lang="en-GB" sz="2000" dirty="0"/>
          </a:p>
          <a:p>
            <a:pPr algn="just" eaLnBrk="1" hangingPunct="1"/>
            <a:endParaRPr lang="en-GB" sz="2000" dirty="0"/>
          </a:p>
          <a:p>
            <a:pPr algn="just" eaLnBrk="1" hangingPunct="1"/>
            <a:endParaRPr lang="en-GB" sz="2000" dirty="0"/>
          </a:p>
          <a:p>
            <a:pPr algn="just" eaLnBrk="1" hangingPunct="1"/>
            <a:endParaRPr lang="en-GB" sz="2000" dirty="0"/>
          </a:p>
          <a:p>
            <a:pPr algn="just" eaLnBrk="1" hangingPunct="1"/>
            <a:r>
              <a:rPr lang="en-GB" sz="2000" dirty="0"/>
              <a:t>The hungry monkey is now a happy monkey.</a:t>
            </a:r>
          </a:p>
          <a:p>
            <a:pPr eaLnBrk="1" hangingPunct="1"/>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GB" dirty="0"/>
              <a:t>Planning</a:t>
            </a:r>
          </a:p>
        </p:txBody>
      </p:sp>
      <p:sp>
        <p:nvSpPr>
          <p:cNvPr id="6147" name="Rectangle 3"/>
          <p:cNvSpPr>
            <a:spLocks noGrp="1" noChangeArrowheads="1"/>
          </p:cNvSpPr>
          <p:nvPr>
            <p:ph sz="quarter" idx="1"/>
          </p:nvPr>
        </p:nvSpPr>
        <p:spPr>
          <a:xfrm>
            <a:off x="304800" y="1600200"/>
            <a:ext cx="8588375" cy="4708524"/>
          </a:xfrm>
        </p:spPr>
        <p:txBody>
          <a:bodyPr/>
          <a:lstStyle/>
          <a:p>
            <a:pPr eaLnBrk="1" hangingPunct="1">
              <a:lnSpc>
                <a:spcPct val="90000"/>
              </a:lnSpc>
            </a:pPr>
            <a:r>
              <a:rPr lang="en-GB" sz="2800" dirty="0"/>
              <a:t>To solve this problem the monkey needed to devise a plan, </a:t>
            </a:r>
            <a:r>
              <a:rPr lang="en-GB" sz="2800" i="1" dirty="0">
                <a:solidFill>
                  <a:srgbClr val="0000FF"/>
                </a:solidFill>
              </a:rPr>
              <a:t>a sequence of actions that would allow him to reach the desired goal.</a:t>
            </a:r>
          </a:p>
          <a:p>
            <a:pPr eaLnBrk="1" hangingPunct="1">
              <a:lnSpc>
                <a:spcPct val="90000"/>
              </a:lnSpc>
            </a:pPr>
            <a:r>
              <a:rPr lang="en-GB" sz="2800" dirty="0"/>
              <a:t>Planning is an important part of many different AI applications, such as robotics and intelligent agents.</a:t>
            </a:r>
          </a:p>
          <a:p>
            <a:pPr eaLnBrk="1" hangingPunct="1">
              <a:lnSpc>
                <a:spcPct val="90000"/>
              </a:lnSpc>
            </a:pPr>
            <a:r>
              <a:rPr lang="en-GB" sz="2800" dirty="0"/>
              <a:t>To be able to plan, a system needs to be able to reason about the individual and cumulative effects of a series of actions. This is a skill that is only observed in a few animal species and only mastered by humans.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GB" dirty="0"/>
              <a:t>Planning vs. Problem Solving</a:t>
            </a:r>
          </a:p>
        </p:txBody>
      </p:sp>
      <p:sp>
        <p:nvSpPr>
          <p:cNvPr id="7171" name="Rectangle 3"/>
          <p:cNvSpPr>
            <a:spLocks noGrp="1" noChangeArrowheads="1"/>
          </p:cNvSpPr>
          <p:nvPr>
            <p:ph sz="quarter" idx="1"/>
          </p:nvPr>
        </p:nvSpPr>
        <p:spPr/>
        <p:txBody>
          <a:bodyPr>
            <a:normAutofit/>
          </a:bodyPr>
          <a:lstStyle/>
          <a:p>
            <a:pPr marL="457200" indent="-457200" eaLnBrk="1" hangingPunct="1">
              <a:lnSpc>
                <a:spcPct val="90000"/>
              </a:lnSpc>
            </a:pPr>
            <a:r>
              <a:rPr lang="en-GB" dirty="0"/>
              <a:t>Planning is a special case of Problem Solving (Search). </a:t>
            </a:r>
          </a:p>
          <a:p>
            <a:pPr marL="457200" indent="-457200" eaLnBrk="1" hangingPunct="1">
              <a:lnSpc>
                <a:spcPct val="90000"/>
              </a:lnSpc>
            </a:pPr>
            <a:endParaRPr lang="en-GB" sz="900" dirty="0"/>
          </a:p>
          <a:p>
            <a:pPr marL="457200" indent="-457200" eaLnBrk="1" hangingPunct="1">
              <a:lnSpc>
                <a:spcPct val="90000"/>
              </a:lnSpc>
            </a:pPr>
            <a:r>
              <a:rPr lang="en-GB" dirty="0"/>
              <a:t>Problem solving searches a </a:t>
            </a:r>
            <a:r>
              <a:rPr lang="en-GB" i="1" dirty="0">
                <a:solidFill>
                  <a:srgbClr val="0000FF"/>
                </a:solidFill>
              </a:rPr>
              <a:t>state-space</a:t>
            </a:r>
            <a:r>
              <a:rPr lang="en-GB" dirty="0"/>
              <a:t> of possible </a:t>
            </a:r>
            <a:r>
              <a:rPr lang="en-GB" i="1" dirty="0">
                <a:solidFill>
                  <a:srgbClr val="0000FF"/>
                </a:solidFill>
              </a:rPr>
              <a:t>actions</a:t>
            </a:r>
            <a:r>
              <a:rPr lang="en-GB" dirty="0"/>
              <a:t>, starting from an </a:t>
            </a:r>
            <a:r>
              <a:rPr lang="en-GB" i="1" dirty="0">
                <a:solidFill>
                  <a:srgbClr val="0000FF"/>
                </a:solidFill>
              </a:rPr>
              <a:t>initial state</a:t>
            </a:r>
            <a:r>
              <a:rPr lang="en-GB" dirty="0"/>
              <a:t> and following any path that it believes will lead it  the </a:t>
            </a:r>
            <a:r>
              <a:rPr lang="en-GB" i="1" dirty="0">
                <a:solidFill>
                  <a:srgbClr val="0000FF"/>
                </a:solidFill>
              </a:rPr>
              <a:t>goal state</a:t>
            </a:r>
            <a:r>
              <a:rPr lang="en-GB" dirty="0"/>
              <a:t>.</a:t>
            </a:r>
          </a:p>
          <a:p>
            <a:pPr marL="457200" indent="-457200" eaLnBrk="1" hangingPunct="1">
              <a:lnSpc>
                <a:spcPct val="90000"/>
              </a:lnSpc>
            </a:pPr>
            <a:endParaRPr lang="en-GB" dirty="0"/>
          </a:p>
          <a:p>
            <a:pPr marL="457200" indent="-457200" eaLnBrk="1" hangingPunct="1">
              <a:lnSpc>
                <a:spcPct val="90000"/>
              </a:lnSpc>
            </a:pPr>
            <a:r>
              <a:rPr lang="en-GB" dirty="0"/>
              <a:t>Recording the actions along the path from the initial state to the goal state gives you a plan.</a:t>
            </a:r>
          </a:p>
          <a:p>
            <a:pPr marL="457200" indent="-457200" eaLnBrk="1" hangingPunct="1">
              <a:lnSpc>
                <a:spcPct val="90000"/>
              </a:lnSpc>
            </a:pPr>
            <a:endParaRPr lang="en-GB" sz="900" dirty="0"/>
          </a:p>
          <a:p>
            <a:pPr marL="457200" indent="-457200" eaLnBrk="1" hangingPunct="1">
              <a:lnSpc>
                <a:spcPct val="90000"/>
              </a:lnSpc>
            </a:pPr>
            <a:endParaRPr lang="en-GB"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p:txBody>
          <a:bodyPr rIns="132080"/>
          <a:lstStyle/>
          <a:p>
            <a:pPr indent="0" eaLnBrk="1" hangingPunct="1"/>
            <a:r>
              <a:rPr lang="en-US" dirty="0"/>
              <a:t>Problem solving</a:t>
            </a:r>
          </a:p>
        </p:txBody>
      </p:sp>
      <p:sp>
        <p:nvSpPr>
          <p:cNvPr id="3075" name="Rectangle 2"/>
          <p:cNvSpPr>
            <a:spLocks noGrp="1" noChangeArrowheads="1"/>
          </p:cNvSpPr>
          <p:nvPr>
            <p:ph sz="quarter" idx="1"/>
          </p:nvPr>
        </p:nvSpPr>
        <p:spPr/>
        <p:txBody>
          <a:bodyPr rIns="132080"/>
          <a:lstStyle/>
          <a:p>
            <a:pPr eaLnBrk="1" hangingPunct="1"/>
            <a:r>
              <a:rPr lang="en-US" dirty="0"/>
              <a:t>We want:</a:t>
            </a:r>
          </a:p>
          <a:p>
            <a:pPr marL="782638" lvl="1" eaLnBrk="1" hangingPunct="1"/>
            <a:r>
              <a:rPr lang="en-US" dirty="0"/>
              <a:t>To automatically solve a problem</a:t>
            </a:r>
          </a:p>
          <a:p>
            <a:pPr marL="782638" lvl="1" eaLnBrk="1" hangingPunct="1"/>
            <a:endParaRPr lang="en-US" dirty="0"/>
          </a:p>
          <a:p>
            <a:pPr eaLnBrk="1" hangingPunct="1"/>
            <a:r>
              <a:rPr lang="en-US" dirty="0"/>
              <a:t>We need:</a:t>
            </a:r>
          </a:p>
          <a:p>
            <a:pPr marL="782638" lvl="1" eaLnBrk="1" hangingPunct="1"/>
            <a:r>
              <a:rPr lang="en-US" dirty="0"/>
              <a:t>A representation of the problem</a:t>
            </a:r>
          </a:p>
          <a:p>
            <a:pPr marL="782638" lvl="1" eaLnBrk="1" hangingPunct="1"/>
            <a:r>
              <a:rPr lang="en-US" dirty="0"/>
              <a:t>Algorithms that use some strategy to solve the problem defined in that representation</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title"/>
          </p:nvPr>
        </p:nvSpPr>
        <p:spPr/>
        <p:txBody>
          <a:bodyPr rIns="130174"/>
          <a:lstStyle/>
          <a:p>
            <a:pPr indent="0" eaLnBrk="1" hangingPunct="1">
              <a:defRPr/>
            </a:pPr>
            <a:r>
              <a:rPr lang="en-US" dirty="0"/>
              <a:t>Problem-Solving Agents</a:t>
            </a:r>
          </a:p>
        </p:txBody>
      </p:sp>
      <p:sp>
        <p:nvSpPr>
          <p:cNvPr id="15365" name="Rectangle 4"/>
          <p:cNvSpPr>
            <a:spLocks noGrp="1" noChangeArrowheads="1"/>
          </p:cNvSpPr>
          <p:nvPr>
            <p:ph sz="quarter" idx="1"/>
          </p:nvPr>
        </p:nvSpPr>
        <p:spPr/>
        <p:txBody>
          <a:bodyPr rIns="130174"/>
          <a:lstStyle/>
          <a:p>
            <a:pPr eaLnBrk="1" hangingPunct="1"/>
            <a:r>
              <a:rPr lang="en-US" dirty="0"/>
              <a:t>Agents whose task it is to solve a particular problem</a:t>
            </a:r>
          </a:p>
          <a:p>
            <a:pPr marL="723900" lvl="1" eaLnBrk="1" hangingPunct="1"/>
            <a:r>
              <a:rPr lang="en-US" dirty="0"/>
              <a:t>Goal formulation</a:t>
            </a:r>
          </a:p>
          <a:p>
            <a:pPr marL="1066800" lvl="2" eaLnBrk="1" hangingPunct="1"/>
            <a:r>
              <a:rPr lang="en-US" dirty="0"/>
              <a:t>what is the goal state</a:t>
            </a:r>
          </a:p>
          <a:p>
            <a:pPr marL="1066800" lvl="2" eaLnBrk="1" hangingPunct="1"/>
            <a:r>
              <a:rPr lang="en-US" dirty="0"/>
              <a:t>what are important characteristics of the goal state</a:t>
            </a:r>
          </a:p>
          <a:p>
            <a:pPr marL="1066800" lvl="2" eaLnBrk="1" hangingPunct="1"/>
            <a:r>
              <a:rPr lang="en-US" dirty="0"/>
              <a:t>how does the agent know that it has reached the goal</a:t>
            </a:r>
          </a:p>
          <a:p>
            <a:pPr marL="1066800" lvl="2" eaLnBrk="1" hangingPunct="1"/>
            <a:r>
              <a:rPr lang="en-US" dirty="0"/>
              <a:t>are there several possible goal states</a:t>
            </a:r>
          </a:p>
          <a:p>
            <a:pPr marL="1409700" lvl="3" eaLnBrk="1" hangingPunct="1"/>
            <a:r>
              <a:rPr lang="en-US" dirty="0"/>
              <a:t>are they equal or are some more preferable</a:t>
            </a:r>
          </a:p>
          <a:p>
            <a:pPr marL="723900" lvl="1" eaLnBrk="1" hangingPunct="1"/>
            <a:r>
              <a:rPr lang="en-US" dirty="0"/>
              <a:t>Problem formulation</a:t>
            </a:r>
          </a:p>
          <a:p>
            <a:pPr marL="1066800" lvl="2" eaLnBrk="1" hangingPunct="1"/>
            <a:r>
              <a:rPr lang="en-US" dirty="0"/>
              <a:t>what are the possible states of the world relevant for solving the problem</a:t>
            </a:r>
          </a:p>
          <a:p>
            <a:pPr marL="1066800" lvl="2" eaLnBrk="1" hangingPunct="1"/>
            <a:r>
              <a:rPr lang="en-US" dirty="0"/>
              <a:t>what information is accessible to the agent</a:t>
            </a:r>
          </a:p>
          <a:p>
            <a:pPr marL="1066800" lvl="2" eaLnBrk="1" hangingPunct="1"/>
            <a:r>
              <a:rPr lang="en-US" dirty="0"/>
              <a:t>how can the agent progress from state to state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p:txBody>
          <a:bodyPr rIns="130174"/>
          <a:lstStyle/>
          <a:p>
            <a:pPr indent="0" eaLnBrk="1" hangingPunct="1">
              <a:defRPr/>
            </a:pPr>
            <a:r>
              <a:rPr lang="en-US" dirty="0"/>
              <a:t>Problem Formulation</a:t>
            </a:r>
          </a:p>
        </p:txBody>
      </p:sp>
      <p:sp>
        <p:nvSpPr>
          <p:cNvPr id="16389" name="Rectangle 4"/>
          <p:cNvSpPr>
            <a:spLocks noGrp="1" noChangeArrowheads="1"/>
          </p:cNvSpPr>
          <p:nvPr>
            <p:ph sz="quarter" idx="1"/>
          </p:nvPr>
        </p:nvSpPr>
        <p:spPr/>
        <p:txBody>
          <a:bodyPr rIns="130174"/>
          <a:lstStyle/>
          <a:p>
            <a:pPr eaLnBrk="1" hangingPunct="1"/>
            <a:r>
              <a:rPr lang="en-US" dirty="0"/>
              <a:t>Formal specification for the task of the agent</a:t>
            </a:r>
          </a:p>
          <a:p>
            <a:pPr marL="723900" lvl="1" eaLnBrk="1" hangingPunct="1"/>
            <a:r>
              <a:rPr lang="en-US" dirty="0"/>
              <a:t>goal specification</a:t>
            </a:r>
          </a:p>
          <a:p>
            <a:pPr marL="723900" lvl="1" eaLnBrk="1" hangingPunct="1"/>
            <a:r>
              <a:rPr lang="en-US" dirty="0"/>
              <a:t>states of the world</a:t>
            </a:r>
          </a:p>
          <a:p>
            <a:pPr marL="723900" lvl="1" eaLnBrk="1" hangingPunct="1"/>
            <a:r>
              <a:rPr lang="en-US" dirty="0"/>
              <a:t>actions of the agent</a:t>
            </a:r>
          </a:p>
          <a:p>
            <a:pPr eaLnBrk="1" hangingPunct="1"/>
            <a:r>
              <a:rPr lang="en-US" dirty="0"/>
              <a:t>Identify the type of the problem</a:t>
            </a:r>
          </a:p>
          <a:p>
            <a:pPr marL="723900" lvl="1" eaLnBrk="1" hangingPunct="1"/>
            <a:r>
              <a:rPr lang="en-US" dirty="0"/>
              <a:t>what knowledge does the agent have about the state of the world and the consequences of its own actions</a:t>
            </a:r>
          </a:p>
          <a:p>
            <a:pPr marL="723900" lvl="1" eaLnBrk="1" hangingPunct="1"/>
            <a:r>
              <a:rPr lang="en-US" dirty="0"/>
              <a:t>does the execution of the task require up-to-date information</a:t>
            </a:r>
          </a:p>
          <a:p>
            <a:pPr marL="1066800" lvl="2" eaLnBrk="1" hangingPunct="1"/>
            <a:r>
              <a:rPr lang="en-US" dirty="0"/>
              <a:t>sensing is necessary during the execution</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3" name="Rectangle 3"/>
          <p:cNvSpPr>
            <a:spLocks noGrp="1" noChangeArrowheads="1"/>
          </p:cNvSpPr>
          <p:nvPr>
            <p:ph type="title"/>
          </p:nvPr>
        </p:nvSpPr>
        <p:spPr/>
        <p:txBody>
          <a:bodyPr rIns="130174"/>
          <a:lstStyle/>
          <a:p>
            <a:pPr indent="0" eaLnBrk="1" hangingPunct="1">
              <a:defRPr/>
            </a:pPr>
            <a:r>
              <a:rPr lang="en-US" dirty="0"/>
              <a:t>Problem Types</a:t>
            </a:r>
          </a:p>
        </p:txBody>
      </p:sp>
      <p:sp>
        <p:nvSpPr>
          <p:cNvPr id="17413" name="Rectangle 4"/>
          <p:cNvSpPr>
            <a:spLocks noGrp="1" noChangeArrowheads="1"/>
          </p:cNvSpPr>
          <p:nvPr>
            <p:ph sz="quarter" idx="1"/>
          </p:nvPr>
        </p:nvSpPr>
        <p:spPr/>
        <p:txBody>
          <a:bodyPr rIns="130174">
            <a:normAutofit fontScale="92500"/>
          </a:bodyPr>
          <a:lstStyle/>
          <a:p>
            <a:pPr marL="723900" lvl="1" eaLnBrk="1" hangingPunct="1"/>
            <a:r>
              <a:rPr lang="en-US" dirty="0"/>
              <a:t>single-state problems</a:t>
            </a:r>
          </a:p>
          <a:p>
            <a:pPr marL="1066800" lvl="2" eaLnBrk="1" hangingPunct="1"/>
            <a:r>
              <a:rPr lang="en-US" dirty="0"/>
              <a:t>accessible world and knowledge of its actions allow the agent to know which state it will be in after a sequence of actions</a:t>
            </a:r>
          </a:p>
          <a:p>
            <a:pPr marL="723900" lvl="1" eaLnBrk="1" hangingPunct="1"/>
            <a:r>
              <a:rPr lang="en-US" dirty="0"/>
              <a:t>multiple-state problems</a:t>
            </a:r>
          </a:p>
          <a:p>
            <a:pPr marL="1066800" lvl="2" eaLnBrk="1" hangingPunct="1"/>
            <a:r>
              <a:rPr lang="en-US" dirty="0"/>
              <a:t>the world is only partially accessible, and the agent has to consider several possible states as the outcome of a sequence of actions</a:t>
            </a:r>
          </a:p>
          <a:p>
            <a:pPr marL="723900" lvl="1" eaLnBrk="1" hangingPunct="1"/>
            <a:r>
              <a:rPr lang="en-US" dirty="0"/>
              <a:t>contingency problems</a:t>
            </a:r>
          </a:p>
          <a:p>
            <a:pPr marL="1066800" lvl="2" eaLnBrk="1" hangingPunct="1"/>
            <a:r>
              <a:rPr lang="en-US" dirty="0"/>
              <a:t>at some points in the sequence of actions, sensing may be required to decide which action to take; this leads to a tree of sequences</a:t>
            </a:r>
          </a:p>
          <a:p>
            <a:pPr marL="723900" lvl="1" eaLnBrk="1" hangingPunct="1"/>
            <a:r>
              <a:rPr lang="en-US" dirty="0"/>
              <a:t>exploration problems</a:t>
            </a:r>
          </a:p>
          <a:p>
            <a:pPr marL="1066800" lvl="2" eaLnBrk="1" hangingPunct="1"/>
            <a:r>
              <a:rPr lang="en-US" dirty="0"/>
              <a:t>the agent doesn’t know the outcome of its actions, and must experiment to discover states of the world and outcomes of actions</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p:cNvSpPr>
          <p:nvPr/>
        </p:nvSpPr>
        <p:spPr bwMode="auto">
          <a:xfrm>
            <a:off x="6021388" y="6477000"/>
            <a:ext cx="2984500" cy="377825"/>
          </a:xfrm>
          <a:prstGeom prst="rect">
            <a:avLst/>
          </a:prstGeom>
          <a:noFill/>
          <a:ln w="12700">
            <a:noFill/>
            <a:miter lim="800000"/>
            <a:headEnd/>
            <a:tailEnd/>
          </a:ln>
        </p:spPr>
        <p:txBody>
          <a:bodyPr lIns="0" tIns="0" rIns="39686" bIns="0"/>
          <a:lstStyle/>
          <a:p>
            <a:pPr marL="38100" algn="r"/>
            <a:r>
              <a:rPr lang="en-US" sz="1400" dirty="0">
                <a:solidFill>
                  <a:schemeClr val="tx1"/>
                </a:solidFill>
                <a:latin typeface="Arial Bold" charset="0"/>
                <a:cs typeface="Arial Bold" charset="0"/>
                <a:sym typeface="Arial Bold" charset="0"/>
              </a:rPr>
              <a:t>  </a:t>
            </a:r>
          </a:p>
        </p:txBody>
      </p:sp>
      <p:sp>
        <p:nvSpPr>
          <p:cNvPr id="21507" name="Rectangle 3"/>
          <p:cNvSpPr>
            <a:spLocks noGrp="1" noChangeArrowheads="1"/>
          </p:cNvSpPr>
          <p:nvPr>
            <p:ph type="title"/>
          </p:nvPr>
        </p:nvSpPr>
        <p:spPr/>
        <p:txBody>
          <a:bodyPr rIns="130174"/>
          <a:lstStyle/>
          <a:p>
            <a:pPr indent="0" eaLnBrk="1" hangingPunct="1">
              <a:defRPr/>
            </a:pPr>
            <a:r>
              <a:rPr lang="en-US" dirty="0"/>
              <a:t>Problem representation and analysis</a:t>
            </a:r>
          </a:p>
        </p:txBody>
      </p:sp>
      <p:sp>
        <p:nvSpPr>
          <p:cNvPr id="18437" name="Rectangle 4"/>
          <p:cNvSpPr>
            <a:spLocks noGrp="1" noChangeArrowheads="1"/>
          </p:cNvSpPr>
          <p:nvPr>
            <p:ph sz="quarter" idx="1"/>
          </p:nvPr>
        </p:nvSpPr>
        <p:spPr/>
        <p:txBody>
          <a:bodyPr rIns="130174">
            <a:normAutofit fontScale="92500" lnSpcReduction="10000"/>
          </a:bodyPr>
          <a:lstStyle/>
          <a:p>
            <a:pPr eaLnBrk="1" hangingPunct="1"/>
            <a:r>
              <a:rPr lang="en-US" dirty="0"/>
              <a:t>Problems with a readily available formal specification</a:t>
            </a:r>
          </a:p>
          <a:p>
            <a:pPr marL="723900" lvl="1" eaLnBrk="1" hangingPunct="1"/>
            <a:r>
              <a:rPr lang="en-US" dirty="0"/>
              <a:t>initial state</a:t>
            </a:r>
          </a:p>
          <a:p>
            <a:pPr marL="1066800" lvl="2" eaLnBrk="1" hangingPunct="1"/>
            <a:r>
              <a:rPr lang="en-US" dirty="0"/>
              <a:t>starting point from which the agent sets out</a:t>
            </a:r>
          </a:p>
          <a:p>
            <a:pPr marL="723900" lvl="1" eaLnBrk="1" hangingPunct="1"/>
            <a:r>
              <a:rPr lang="en-US" dirty="0"/>
              <a:t>actions (operators, successor functions)</a:t>
            </a:r>
          </a:p>
          <a:p>
            <a:pPr marL="1066800" lvl="2" eaLnBrk="1" hangingPunct="1"/>
            <a:r>
              <a:rPr lang="en-US" dirty="0"/>
              <a:t>describe the set of possible actions</a:t>
            </a:r>
          </a:p>
          <a:p>
            <a:pPr marL="723900" lvl="1" eaLnBrk="1" hangingPunct="1"/>
            <a:r>
              <a:rPr lang="en-US" dirty="0"/>
              <a:t>state space</a:t>
            </a:r>
          </a:p>
          <a:p>
            <a:pPr marL="1066800" lvl="2" eaLnBrk="1" hangingPunct="1"/>
            <a:r>
              <a:rPr lang="en-US" dirty="0"/>
              <a:t>set of all states reachable from the initial state by any sequence of actions</a:t>
            </a:r>
          </a:p>
          <a:p>
            <a:pPr marL="723900" lvl="1" eaLnBrk="1" hangingPunct="1"/>
            <a:r>
              <a:rPr lang="en-US" dirty="0"/>
              <a:t>path </a:t>
            </a:r>
          </a:p>
          <a:p>
            <a:pPr marL="1066800" lvl="2" eaLnBrk="1" hangingPunct="1"/>
            <a:r>
              <a:rPr lang="en-US" dirty="0"/>
              <a:t>sequence of actions leading from one state in the state space to another</a:t>
            </a:r>
          </a:p>
          <a:p>
            <a:pPr marL="723900" lvl="1" eaLnBrk="1" hangingPunct="1"/>
            <a:r>
              <a:rPr lang="en-US" dirty="0"/>
              <a:t>goal test</a:t>
            </a:r>
          </a:p>
          <a:p>
            <a:pPr marL="1066800" lvl="2" eaLnBrk="1" hangingPunct="1"/>
            <a:r>
              <a:rPr lang="en-US" dirty="0"/>
              <a:t>determines if a given state is the goal state</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title"/>
          </p:nvPr>
        </p:nvSpPr>
        <p:spPr/>
        <p:txBody>
          <a:bodyPr rIns="130174"/>
          <a:lstStyle/>
          <a:p>
            <a:pPr>
              <a:defRPr/>
            </a:pPr>
            <a:r>
              <a:rPr lang="en-US" dirty="0"/>
              <a:t>Problem representation and analysis</a:t>
            </a:r>
          </a:p>
        </p:txBody>
      </p:sp>
      <p:sp>
        <p:nvSpPr>
          <p:cNvPr id="19461" name="Rectangle 4"/>
          <p:cNvSpPr>
            <a:spLocks noGrp="1" noChangeArrowheads="1"/>
          </p:cNvSpPr>
          <p:nvPr>
            <p:ph sz="quarter" idx="1"/>
          </p:nvPr>
        </p:nvSpPr>
        <p:spPr/>
        <p:txBody>
          <a:bodyPr rIns="130174"/>
          <a:lstStyle/>
          <a:p>
            <a:pPr marL="723900" lvl="1" eaLnBrk="1" hangingPunct="1"/>
            <a:r>
              <a:rPr lang="en-US" dirty="0"/>
              <a:t>solution</a:t>
            </a:r>
          </a:p>
          <a:p>
            <a:pPr marL="1066800" lvl="2" eaLnBrk="1" hangingPunct="1"/>
            <a:r>
              <a:rPr lang="en-US" dirty="0"/>
              <a:t>path from the initial state to a goal state</a:t>
            </a:r>
          </a:p>
          <a:p>
            <a:pPr marL="723900" lvl="1" eaLnBrk="1" hangingPunct="1"/>
            <a:r>
              <a:rPr lang="en-US" dirty="0"/>
              <a:t>search cost</a:t>
            </a:r>
          </a:p>
          <a:p>
            <a:pPr marL="1066800" lvl="2" eaLnBrk="1" hangingPunct="1"/>
            <a:r>
              <a:rPr lang="en-US" dirty="0"/>
              <a:t>time and memory required to calculate a solution</a:t>
            </a:r>
          </a:p>
          <a:p>
            <a:pPr marL="723900" lvl="1" eaLnBrk="1" hangingPunct="1"/>
            <a:r>
              <a:rPr lang="en-US" dirty="0"/>
              <a:t>path cost</a:t>
            </a:r>
          </a:p>
          <a:p>
            <a:pPr marL="1066800" lvl="2" eaLnBrk="1" hangingPunct="1"/>
            <a:r>
              <a:rPr lang="en-US" dirty="0"/>
              <a:t>determines the expenses of the agent for executing the actions in a path</a:t>
            </a:r>
          </a:p>
          <a:p>
            <a:pPr marL="1066800" lvl="2" eaLnBrk="1" hangingPunct="1"/>
            <a:r>
              <a:rPr lang="en-US" dirty="0"/>
              <a:t>sum of the costs of the individual actions in a path</a:t>
            </a:r>
          </a:p>
          <a:p>
            <a:pPr marL="723900" lvl="1" eaLnBrk="1" hangingPunct="1"/>
            <a:r>
              <a:rPr lang="en-US" dirty="0"/>
              <a:t>total cost</a:t>
            </a:r>
          </a:p>
          <a:p>
            <a:pPr marL="1066800" lvl="2" eaLnBrk="1" hangingPunct="1"/>
            <a:r>
              <a:rPr lang="en-US" dirty="0"/>
              <a:t>sum of search cost and path cost</a:t>
            </a:r>
          </a:p>
          <a:p>
            <a:pPr marL="1066800" lvl="2" eaLnBrk="1" hangingPunct="1"/>
            <a:r>
              <a:rPr lang="en-US" dirty="0"/>
              <a:t>overall cost for finding a solution</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 simple problem solving agent</a:t>
            </a:r>
          </a:p>
        </p:txBody>
      </p:sp>
      <p:pic>
        <p:nvPicPr>
          <p:cNvPr id="116738" name="Picture 2"/>
          <p:cNvPicPr>
            <a:picLocks noGrp="1" noChangeAspect="1" noChangeArrowheads="1"/>
          </p:cNvPicPr>
          <p:nvPr>
            <p:ph sz="quarter" idx="1"/>
          </p:nvPr>
        </p:nvPicPr>
        <p:blipFill>
          <a:blip r:embed="rId2"/>
          <a:srcRect/>
          <a:stretch>
            <a:fillRect/>
          </a:stretch>
        </p:blipFill>
        <p:spPr bwMode="auto">
          <a:xfrm>
            <a:off x="762000" y="1524000"/>
            <a:ext cx="7571362" cy="45720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Analysis and Representation</a:t>
            </a:r>
          </a:p>
        </p:txBody>
      </p:sp>
      <p:sp>
        <p:nvSpPr>
          <p:cNvPr id="3" name="Content Placeholder 2"/>
          <p:cNvSpPr>
            <a:spLocks noGrp="1"/>
          </p:cNvSpPr>
          <p:nvPr>
            <p:ph sz="quarter" idx="1"/>
          </p:nvPr>
        </p:nvSpPr>
        <p:spPr/>
        <p:txBody>
          <a:bodyPr>
            <a:normAutofit lnSpcReduction="10000"/>
          </a:bodyPr>
          <a:lstStyle/>
          <a:p>
            <a:r>
              <a:rPr lang="en-US" b="1" dirty="0"/>
              <a:t>Initial State:</a:t>
            </a:r>
            <a:r>
              <a:rPr lang="en-US" dirty="0"/>
              <a:t> The initial state that the agent starts in.</a:t>
            </a:r>
          </a:p>
          <a:p>
            <a:r>
              <a:rPr lang="en-US" b="1" dirty="0"/>
              <a:t>Action: </a:t>
            </a:r>
            <a:r>
              <a:rPr lang="en-US" dirty="0"/>
              <a:t>Description of possible actions available to the agent.</a:t>
            </a:r>
          </a:p>
          <a:p>
            <a:r>
              <a:rPr lang="en-US" b="1" dirty="0"/>
              <a:t>Successor function </a:t>
            </a:r>
            <a:r>
              <a:rPr lang="en-US" dirty="0"/>
              <a:t>: It </a:t>
            </a:r>
            <a:r>
              <a:rPr lang="en-US" sz="2400" dirty="0"/>
              <a:t>is a description of possible actions, a set of operators. This function returns a set of &lt;action, successor&gt;ordered pair.</a:t>
            </a:r>
          </a:p>
          <a:p>
            <a:r>
              <a:rPr lang="en-US" b="1" dirty="0"/>
              <a:t>State Space: </a:t>
            </a:r>
            <a:r>
              <a:rPr lang="en-US" dirty="0"/>
              <a:t>The set of all states reachable from the initial state.</a:t>
            </a:r>
          </a:p>
          <a:p>
            <a:pPr>
              <a:buNone/>
            </a:pPr>
            <a:r>
              <a:rPr lang="en-US" dirty="0"/>
              <a:t>       </a:t>
            </a:r>
            <a:r>
              <a:rPr lang="en-US" sz="2000" dirty="0">
                <a:solidFill>
                  <a:schemeClr val="bg2">
                    <a:lumMod val="50000"/>
                  </a:schemeClr>
                </a:solidFill>
              </a:rPr>
              <a:t>State space forms a graph in which nodes are states and arcs between nodes are actions.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Analysis and Representation</a:t>
            </a:r>
          </a:p>
        </p:txBody>
      </p:sp>
      <p:sp>
        <p:nvSpPr>
          <p:cNvPr id="3" name="Content Placeholder 2"/>
          <p:cNvSpPr>
            <a:spLocks noGrp="1"/>
          </p:cNvSpPr>
          <p:nvPr>
            <p:ph sz="quarter" idx="1"/>
          </p:nvPr>
        </p:nvSpPr>
        <p:spPr>
          <a:xfrm>
            <a:off x="301752" y="1527048"/>
            <a:ext cx="8503920" cy="4949952"/>
          </a:xfrm>
        </p:spPr>
        <p:txBody>
          <a:bodyPr>
            <a:normAutofit fontScale="92500"/>
          </a:bodyPr>
          <a:lstStyle/>
          <a:p>
            <a:r>
              <a:rPr lang="en-US" b="1" dirty="0"/>
              <a:t>Path : </a:t>
            </a:r>
            <a:r>
              <a:rPr lang="en-US" dirty="0"/>
              <a:t>A path in the state space is a sequence of states connected by a sequence of actions.</a:t>
            </a:r>
          </a:p>
          <a:p>
            <a:r>
              <a:rPr lang="en-US" b="1" dirty="0"/>
              <a:t>Goal Test: </a:t>
            </a:r>
            <a:r>
              <a:rPr lang="en-US" dirty="0"/>
              <a:t>It determines whether a given state is goal state.</a:t>
            </a:r>
          </a:p>
          <a:p>
            <a:r>
              <a:rPr lang="en-US" b="1" dirty="0"/>
              <a:t>Path cost: </a:t>
            </a:r>
            <a:r>
              <a:rPr lang="en-US" dirty="0"/>
              <a:t>It is a function that assigns a numeric cost to each path.</a:t>
            </a:r>
          </a:p>
          <a:p>
            <a:pPr>
              <a:buNone/>
            </a:pPr>
            <a:r>
              <a:rPr lang="en-US" dirty="0"/>
              <a:t>             </a:t>
            </a:r>
            <a:r>
              <a:rPr lang="en-US" sz="2800" dirty="0">
                <a:solidFill>
                  <a:schemeClr val="bg2">
                    <a:lumMod val="50000"/>
                  </a:schemeClr>
                </a:solidFill>
              </a:rPr>
              <a:t>Cost of path can be described as the sum of the cost of the individual actions along the path.</a:t>
            </a:r>
          </a:p>
          <a:p>
            <a:pPr>
              <a:buNone/>
            </a:pPr>
            <a:endParaRPr lang="en-US" dirty="0"/>
          </a:p>
          <a:p>
            <a:r>
              <a:rPr lang="en-US" b="1" dirty="0"/>
              <a:t>Solution: </a:t>
            </a:r>
            <a:r>
              <a:rPr lang="en-US" dirty="0"/>
              <a:t>A path from the initial state to a goal state.</a:t>
            </a:r>
          </a:p>
          <a:p>
            <a:pPr>
              <a:buNone/>
            </a:pPr>
            <a:r>
              <a:rPr lang="en-US" dirty="0"/>
              <a:t>         </a:t>
            </a:r>
            <a:endParaRPr lang="en-US" sz="2000" dirty="0">
              <a:solidFill>
                <a:schemeClr val="bg2">
                  <a:lumMod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2000" y="0"/>
            <a:ext cx="7772400" cy="990600"/>
          </a:xfrm>
        </p:spPr>
        <p:txBody>
          <a:bodyPr/>
          <a:lstStyle/>
          <a:p>
            <a:r>
              <a:rPr lang="en-US" dirty="0"/>
              <a:t>The Monkey &amp; Bananas Problem</a:t>
            </a:r>
          </a:p>
        </p:txBody>
      </p:sp>
      <p:sp>
        <p:nvSpPr>
          <p:cNvPr id="3075" name="Rectangle 3"/>
          <p:cNvSpPr>
            <a:spLocks noGrp="1" noChangeArrowheads="1"/>
          </p:cNvSpPr>
          <p:nvPr>
            <p:ph sz="quarter" idx="1"/>
          </p:nvPr>
        </p:nvSpPr>
        <p:spPr>
          <a:xfrm>
            <a:off x="457200" y="1524000"/>
            <a:ext cx="8686800" cy="1828800"/>
          </a:xfrm>
        </p:spPr>
        <p:txBody>
          <a:bodyPr>
            <a:normAutofit fontScale="92500" lnSpcReduction="20000"/>
          </a:bodyPr>
          <a:lstStyle/>
          <a:p>
            <a:pPr>
              <a:lnSpc>
                <a:spcPct val="80000"/>
              </a:lnSpc>
            </a:pPr>
            <a:r>
              <a:rPr lang="en-US" sz="2400" dirty="0"/>
              <a:t>A monkey is in a cage and bananas are suspended from the </a:t>
            </a:r>
          </a:p>
          <a:p>
            <a:pPr>
              <a:lnSpc>
                <a:spcPct val="80000"/>
              </a:lnSpc>
              <a:buNone/>
            </a:pPr>
            <a:r>
              <a:rPr lang="en-US" sz="2400" dirty="0"/>
              <a:t>    ceiling, the monkey wants to eat a banana but cannot reach</a:t>
            </a:r>
          </a:p>
          <a:p>
            <a:pPr>
              <a:lnSpc>
                <a:spcPct val="80000"/>
              </a:lnSpc>
              <a:buNone/>
            </a:pPr>
            <a:r>
              <a:rPr lang="en-US" sz="2400" dirty="0"/>
              <a:t>    them </a:t>
            </a:r>
          </a:p>
          <a:p>
            <a:pPr lvl="1">
              <a:lnSpc>
                <a:spcPct val="80000"/>
              </a:lnSpc>
            </a:pPr>
            <a:r>
              <a:rPr lang="en-US" sz="2000" dirty="0"/>
              <a:t>in the room are a chair and a stick</a:t>
            </a:r>
          </a:p>
          <a:p>
            <a:pPr lvl="1">
              <a:lnSpc>
                <a:spcPct val="80000"/>
              </a:lnSpc>
            </a:pPr>
            <a:r>
              <a:rPr lang="en-US" sz="2000" dirty="0"/>
              <a:t>if the monkey stands on the chair and waves the stick, he can knock a banana down to eat it</a:t>
            </a:r>
          </a:p>
          <a:p>
            <a:pPr lvl="1">
              <a:lnSpc>
                <a:spcPct val="80000"/>
              </a:lnSpc>
            </a:pPr>
            <a:r>
              <a:rPr lang="en-US" sz="2000" dirty="0"/>
              <a:t>what are the actions the monkey should take?</a:t>
            </a:r>
          </a:p>
        </p:txBody>
      </p:sp>
      <p:pic>
        <p:nvPicPr>
          <p:cNvPr id="3076" name="Picture 4"/>
          <p:cNvPicPr>
            <a:picLocks noChangeAspect="1" noChangeArrowheads="1"/>
          </p:cNvPicPr>
          <p:nvPr/>
        </p:nvPicPr>
        <p:blipFill>
          <a:blip r:embed="rId2"/>
          <a:srcRect/>
          <a:stretch>
            <a:fillRect/>
          </a:stretch>
        </p:blipFill>
        <p:spPr bwMode="auto">
          <a:xfrm>
            <a:off x="457200" y="3276600"/>
            <a:ext cx="5459413" cy="2971800"/>
          </a:xfrm>
          <a:prstGeom prst="rect">
            <a:avLst/>
          </a:prstGeom>
          <a:noFill/>
          <a:ln w="9525">
            <a:noFill/>
            <a:miter lim="800000"/>
            <a:headEnd/>
            <a:tailEnd/>
          </a:ln>
        </p:spPr>
      </p:pic>
      <p:sp>
        <p:nvSpPr>
          <p:cNvPr id="3077" name="Text Box 5"/>
          <p:cNvSpPr txBox="1">
            <a:spLocks noChangeArrowheads="1"/>
          </p:cNvSpPr>
          <p:nvPr/>
        </p:nvSpPr>
        <p:spPr bwMode="auto">
          <a:xfrm>
            <a:off x="6156325" y="2971800"/>
            <a:ext cx="2654894" cy="3477875"/>
          </a:xfrm>
          <a:prstGeom prst="rect">
            <a:avLst/>
          </a:prstGeom>
          <a:noFill/>
          <a:ln w="12700">
            <a:noFill/>
            <a:miter lim="800000"/>
            <a:headEnd/>
            <a:tailEnd/>
          </a:ln>
        </p:spPr>
        <p:txBody>
          <a:bodyPr wrap="square">
            <a:spAutoFit/>
          </a:bodyPr>
          <a:lstStyle/>
          <a:p>
            <a:r>
              <a:rPr lang="en-US" sz="2000" b="1" dirty="0"/>
              <a:t>Initial state:</a:t>
            </a:r>
          </a:p>
          <a:p>
            <a:r>
              <a:rPr lang="en-US" sz="2000" b="0" dirty="0"/>
              <a:t>    monkey on ground</a:t>
            </a:r>
          </a:p>
          <a:p>
            <a:r>
              <a:rPr lang="en-US" sz="2000" b="0" dirty="0"/>
              <a:t>    with empty hand</a:t>
            </a:r>
          </a:p>
          <a:p>
            <a:r>
              <a:rPr lang="en-US" sz="2000" b="0" dirty="0"/>
              <a:t>    bananas suspended</a:t>
            </a:r>
          </a:p>
          <a:p>
            <a:r>
              <a:rPr lang="en-US" sz="2000" b="1" dirty="0"/>
              <a:t>Goal state:</a:t>
            </a:r>
          </a:p>
          <a:p>
            <a:r>
              <a:rPr lang="en-US" sz="2000" b="0" dirty="0"/>
              <a:t>    monkey eating </a:t>
            </a:r>
          </a:p>
          <a:p>
            <a:r>
              <a:rPr lang="en-US" sz="2000" b="1" dirty="0"/>
              <a:t>Actions:</a:t>
            </a:r>
          </a:p>
          <a:p>
            <a:r>
              <a:rPr lang="en-US" sz="2000" b="0" dirty="0"/>
              <a:t>    climb chair/get off</a:t>
            </a:r>
          </a:p>
          <a:p>
            <a:r>
              <a:rPr lang="en-US" sz="2000" b="0" dirty="0"/>
              <a:t>    grab X</a:t>
            </a:r>
          </a:p>
          <a:p>
            <a:r>
              <a:rPr lang="en-US" sz="2000" b="0" dirty="0"/>
              <a:t>    wave X</a:t>
            </a:r>
          </a:p>
          <a:p>
            <a:r>
              <a:rPr lang="en-US" sz="2000" b="0" dirty="0"/>
              <a:t>    eat 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8-puzzle</a:t>
            </a:r>
          </a:p>
        </p:txBody>
      </p:sp>
      <p:pic>
        <p:nvPicPr>
          <p:cNvPr id="4" name="Picture 4" descr="8puzzle"/>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600200" y="2209801"/>
            <a:ext cx="5082381" cy="26844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noChangeArrowheads="1"/>
          </p:cNvSpPr>
          <p:nvPr>
            <p:ph type="title"/>
          </p:nvPr>
        </p:nvSpPr>
        <p:spPr/>
        <p:txBody>
          <a:bodyPr rIns="132080"/>
          <a:lstStyle/>
          <a:p>
            <a:pPr indent="0" eaLnBrk="1" hangingPunct="1"/>
            <a:r>
              <a:rPr lang="en-US" dirty="0"/>
              <a:t>Example: 8-puzzle</a:t>
            </a:r>
          </a:p>
        </p:txBody>
      </p:sp>
      <p:sp>
        <p:nvSpPr>
          <p:cNvPr id="11267" name="Rectangle 2"/>
          <p:cNvSpPr>
            <a:spLocks noGrp="1" noChangeArrowheads="1"/>
          </p:cNvSpPr>
          <p:nvPr>
            <p:ph sz="quarter" idx="1"/>
          </p:nvPr>
        </p:nvSpPr>
        <p:spPr/>
        <p:txBody>
          <a:bodyPr rIns="132080"/>
          <a:lstStyle/>
          <a:p>
            <a:pPr eaLnBrk="1" hangingPunct="1">
              <a:lnSpc>
                <a:spcPct val="90000"/>
              </a:lnSpc>
            </a:pPr>
            <a:r>
              <a:rPr lang="en-US" b="1" dirty="0"/>
              <a:t>State space</a:t>
            </a:r>
            <a:r>
              <a:rPr lang="en-US" dirty="0"/>
              <a:t>: configuration of the eight tiles on the board</a:t>
            </a:r>
          </a:p>
          <a:p>
            <a:pPr eaLnBrk="1" hangingPunct="1">
              <a:lnSpc>
                <a:spcPct val="90000"/>
              </a:lnSpc>
            </a:pPr>
            <a:r>
              <a:rPr lang="en-US" b="1" dirty="0"/>
              <a:t>Initial state</a:t>
            </a:r>
            <a:r>
              <a:rPr lang="en-US" dirty="0"/>
              <a:t>: any configuration</a:t>
            </a:r>
          </a:p>
          <a:p>
            <a:pPr eaLnBrk="1" hangingPunct="1">
              <a:lnSpc>
                <a:spcPct val="90000"/>
              </a:lnSpc>
            </a:pPr>
            <a:r>
              <a:rPr lang="en-US" b="1" dirty="0"/>
              <a:t>Goal state</a:t>
            </a:r>
            <a:r>
              <a:rPr lang="en-US" dirty="0"/>
              <a:t>: tiles in a specific order</a:t>
            </a:r>
          </a:p>
          <a:p>
            <a:pPr eaLnBrk="1" hangingPunct="1">
              <a:lnSpc>
                <a:spcPct val="90000"/>
              </a:lnSpc>
            </a:pPr>
            <a:r>
              <a:rPr lang="en-US" b="1" dirty="0"/>
              <a:t>Operators or actions</a:t>
            </a:r>
            <a:r>
              <a:rPr lang="en-US" dirty="0"/>
              <a:t>: “blank moves”</a:t>
            </a:r>
          </a:p>
          <a:p>
            <a:pPr marL="782638" lvl="1" eaLnBrk="1" hangingPunct="1">
              <a:lnSpc>
                <a:spcPct val="90000"/>
              </a:lnSpc>
            </a:pPr>
            <a:r>
              <a:rPr lang="en-US" dirty="0"/>
              <a:t>Condition: the move is within the board</a:t>
            </a:r>
          </a:p>
          <a:p>
            <a:pPr marL="782638" lvl="1" eaLnBrk="1" hangingPunct="1">
              <a:lnSpc>
                <a:spcPct val="90000"/>
              </a:lnSpc>
            </a:pPr>
            <a:r>
              <a:rPr lang="en-US" dirty="0"/>
              <a:t>Transformation: blank moves </a:t>
            </a:r>
            <a:r>
              <a:rPr lang="en-US" i="1" dirty="0"/>
              <a:t>Left</a:t>
            </a:r>
            <a:r>
              <a:rPr lang="en-US" dirty="0"/>
              <a:t>, </a:t>
            </a:r>
            <a:r>
              <a:rPr lang="en-US" i="1" dirty="0"/>
              <a:t>Right</a:t>
            </a:r>
            <a:r>
              <a:rPr lang="en-US" dirty="0"/>
              <a:t>, </a:t>
            </a:r>
            <a:r>
              <a:rPr lang="en-US" i="1" dirty="0"/>
              <a:t>Up</a:t>
            </a:r>
            <a:r>
              <a:rPr lang="en-US" dirty="0"/>
              <a:t>, or </a:t>
            </a:r>
            <a:r>
              <a:rPr lang="en-US" i="1" dirty="0"/>
              <a:t>Down</a:t>
            </a:r>
          </a:p>
          <a:p>
            <a:pPr eaLnBrk="1" hangingPunct="1">
              <a:lnSpc>
                <a:spcPct val="90000"/>
              </a:lnSpc>
            </a:pPr>
            <a:r>
              <a:rPr lang="en-US" b="1" dirty="0"/>
              <a:t>Solution</a:t>
            </a:r>
            <a:r>
              <a:rPr lang="en-US" dirty="0"/>
              <a:t>: optimal sequence of operators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ChangeArrowheads="1"/>
          </p:cNvSpPr>
          <p:nvPr>
            <p:ph type="title"/>
          </p:nvPr>
        </p:nvSpPr>
        <p:spPr>
          <a:xfrm>
            <a:off x="301752" y="228600"/>
            <a:ext cx="8534400" cy="914400"/>
          </a:xfrm>
        </p:spPr>
        <p:txBody>
          <a:bodyPr rIns="132080">
            <a:normAutofit fontScale="90000"/>
          </a:bodyPr>
          <a:lstStyle/>
          <a:p>
            <a:pPr indent="0" eaLnBrk="1" hangingPunct="1"/>
            <a:r>
              <a:rPr lang="en-US" dirty="0"/>
              <a:t>Example: </a:t>
            </a:r>
            <a:r>
              <a:rPr lang="en-US" i="1" dirty="0"/>
              <a:t>n</a:t>
            </a:r>
            <a:r>
              <a:rPr lang="en-US" dirty="0"/>
              <a:t> queens</a:t>
            </a:r>
            <a:br>
              <a:rPr lang="en-US" dirty="0"/>
            </a:br>
            <a:r>
              <a:rPr lang="en-US" dirty="0"/>
              <a:t>(n = 4, n = 8)</a:t>
            </a:r>
          </a:p>
        </p:txBody>
      </p:sp>
      <p:pic>
        <p:nvPicPr>
          <p:cNvPr id="12291" name="Picture 2"/>
          <p:cNvPicPr>
            <a:picLocks noChangeArrowheads="1"/>
          </p:cNvPicPr>
          <p:nvPr/>
        </p:nvPicPr>
        <p:blipFill>
          <a:blip r:embed="rId3"/>
          <a:srcRect/>
          <a:stretch>
            <a:fillRect/>
          </a:stretch>
        </p:blipFill>
        <p:spPr bwMode="auto">
          <a:xfrm>
            <a:off x="-144463" y="1371600"/>
            <a:ext cx="4932363" cy="5486400"/>
          </a:xfrm>
          <a:prstGeom prst="rect">
            <a:avLst/>
          </a:prstGeom>
          <a:noFill/>
          <a:ln w="9525">
            <a:noFill/>
            <a:miter lim="800000"/>
            <a:headEnd/>
            <a:tailEnd/>
          </a:ln>
        </p:spPr>
      </p:pic>
      <p:pic>
        <p:nvPicPr>
          <p:cNvPr id="12292" name="Picture 3"/>
          <p:cNvPicPr>
            <a:picLocks noChangeArrowheads="1"/>
          </p:cNvPicPr>
          <p:nvPr/>
        </p:nvPicPr>
        <p:blipFill>
          <a:blip r:embed="rId4"/>
          <a:srcRect t="3848" b="15567"/>
          <a:stretch>
            <a:fillRect/>
          </a:stretch>
        </p:blipFill>
        <p:spPr bwMode="auto">
          <a:xfrm>
            <a:off x="4643438" y="1600200"/>
            <a:ext cx="4321175" cy="4924425"/>
          </a:xfrm>
          <a:prstGeom prst="rect">
            <a:avLst/>
          </a:prstGeom>
          <a:noFill/>
          <a:ln w="9525">
            <a:noFill/>
            <a:miter lim="800000"/>
            <a:headEnd/>
            <a:tailEnd/>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a:xfrm>
            <a:off x="301752" y="228600"/>
            <a:ext cx="8534400" cy="914400"/>
          </a:xfrm>
        </p:spPr>
        <p:txBody>
          <a:bodyPr rIns="132080">
            <a:normAutofit fontScale="90000"/>
          </a:bodyPr>
          <a:lstStyle/>
          <a:p>
            <a:pPr indent="0" eaLnBrk="1" hangingPunct="1"/>
            <a:r>
              <a:rPr lang="en-US" dirty="0"/>
              <a:t>Example: </a:t>
            </a:r>
            <a:r>
              <a:rPr lang="en-US" i="1" dirty="0"/>
              <a:t>n</a:t>
            </a:r>
            <a:r>
              <a:rPr lang="en-US" dirty="0"/>
              <a:t> queens</a:t>
            </a:r>
            <a:br>
              <a:rPr lang="en-US" dirty="0"/>
            </a:br>
            <a:r>
              <a:rPr lang="en-US" dirty="0"/>
              <a:t>(n = 4, n = 8)</a:t>
            </a:r>
          </a:p>
        </p:txBody>
      </p:sp>
      <p:sp>
        <p:nvSpPr>
          <p:cNvPr id="13315" name="Rectangle 2"/>
          <p:cNvSpPr>
            <a:spLocks noGrp="1" noChangeArrowheads="1"/>
          </p:cNvSpPr>
          <p:nvPr>
            <p:ph sz="quarter" idx="1"/>
          </p:nvPr>
        </p:nvSpPr>
        <p:spPr/>
        <p:txBody>
          <a:bodyPr rIns="132080"/>
          <a:lstStyle/>
          <a:p>
            <a:pPr eaLnBrk="1" hangingPunct="1">
              <a:lnSpc>
                <a:spcPct val="80000"/>
              </a:lnSpc>
            </a:pPr>
            <a:r>
              <a:rPr lang="en-US" sz="2700" b="1" dirty="0"/>
              <a:t>State space</a:t>
            </a:r>
            <a:r>
              <a:rPr lang="en-US" sz="2700" dirty="0"/>
              <a:t>: configurations from 0 to n queens on the board with only one queen per row and column</a:t>
            </a:r>
          </a:p>
          <a:p>
            <a:pPr eaLnBrk="1" hangingPunct="1">
              <a:lnSpc>
                <a:spcPct val="80000"/>
              </a:lnSpc>
            </a:pPr>
            <a:r>
              <a:rPr lang="en-US" sz="2700" b="1" dirty="0"/>
              <a:t>Initial state</a:t>
            </a:r>
            <a:r>
              <a:rPr lang="en-US" sz="2700" dirty="0"/>
              <a:t>: configuration without queens on the board</a:t>
            </a:r>
          </a:p>
          <a:p>
            <a:pPr eaLnBrk="1" hangingPunct="1">
              <a:lnSpc>
                <a:spcPct val="80000"/>
              </a:lnSpc>
            </a:pPr>
            <a:r>
              <a:rPr lang="en-US" sz="2700" b="1" dirty="0"/>
              <a:t>Goal state</a:t>
            </a:r>
            <a:r>
              <a:rPr lang="en-US" sz="2700" dirty="0"/>
              <a:t>: configuration with n queens such that no queen attacks any other</a:t>
            </a:r>
          </a:p>
          <a:p>
            <a:pPr eaLnBrk="1" hangingPunct="1">
              <a:lnSpc>
                <a:spcPct val="80000"/>
              </a:lnSpc>
            </a:pPr>
            <a:r>
              <a:rPr lang="en-US" sz="2700" b="1" dirty="0"/>
              <a:t>Operators or actions</a:t>
            </a:r>
            <a:r>
              <a:rPr lang="en-US" sz="2700" dirty="0"/>
              <a:t>: place a queen on the board</a:t>
            </a:r>
          </a:p>
          <a:p>
            <a:pPr marL="782638" lvl="1" eaLnBrk="1" hangingPunct="1">
              <a:lnSpc>
                <a:spcPct val="80000"/>
              </a:lnSpc>
              <a:buClr>
                <a:srgbClr val="000000"/>
              </a:buClr>
              <a:buSzPct val="60000"/>
              <a:buFont typeface="Wingdings" charset="2"/>
              <a:buChar char="q"/>
            </a:pPr>
            <a:r>
              <a:rPr lang="en-US" sz="2500" dirty="0"/>
              <a:t>Condition: the new queen is not attacked by any other already placed </a:t>
            </a:r>
          </a:p>
          <a:p>
            <a:pPr marL="782638" lvl="1" eaLnBrk="1" hangingPunct="1">
              <a:lnSpc>
                <a:spcPct val="80000"/>
              </a:lnSpc>
              <a:buClr>
                <a:srgbClr val="000000"/>
              </a:buClr>
              <a:buSzPct val="60000"/>
              <a:buFont typeface="Wingdings" charset="2"/>
              <a:buChar char="q"/>
            </a:pPr>
            <a:r>
              <a:rPr lang="en-US" sz="2500" dirty="0"/>
              <a:t>Transformation: place a new queen in a particular square of the board</a:t>
            </a:r>
          </a:p>
          <a:p>
            <a:pPr eaLnBrk="1" hangingPunct="1">
              <a:lnSpc>
                <a:spcPct val="80000"/>
              </a:lnSpc>
            </a:pPr>
            <a:r>
              <a:rPr lang="en-US" sz="2700" b="1" dirty="0"/>
              <a:t>Solution</a:t>
            </a:r>
            <a:r>
              <a:rPr lang="en-US" sz="2700" dirty="0"/>
              <a:t>: one solution (cost is not considered)</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noChangeArrowheads="1"/>
          </p:cNvSpPr>
          <p:nvPr>
            <p:ph type="title"/>
          </p:nvPr>
        </p:nvSpPr>
        <p:spPr/>
        <p:txBody>
          <a:bodyPr rIns="132080"/>
          <a:lstStyle/>
          <a:p>
            <a:pPr indent="0" eaLnBrk="1" hangingPunct="1"/>
            <a:r>
              <a:rPr lang="en-US" dirty="0"/>
              <a:t>Example: holiday in Romania</a:t>
            </a:r>
          </a:p>
        </p:txBody>
      </p:sp>
      <p:sp>
        <p:nvSpPr>
          <p:cNvPr id="16387" name="Rectangle 2"/>
          <p:cNvSpPr>
            <a:spLocks noGrp="1" noChangeArrowheads="1"/>
          </p:cNvSpPr>
          <p:nvPr>
            <p:ph sz="quarter" idx="1"/>
          </p:nvPr>
        </p:nvSpPr>
        <p:spPr/>
        <p:txBody>
          <a:bodyPr rIns="132080"/>
          <a:lstStyle/>
          <a:p>
            <a:pPr eaLnBrk="1" hangingPunct="1"/>
            <a:r>
              <a:rPr lang="en-US" sz="3300" dirty="0"/>
              <a:t>On holiday in Romania; currently in Arad</a:t>
            </a:r>
          </a:p>
          <a:p>
            <a:pPr eaLnBrk="1" hangingPunct="1"/>
            <a:r>
              <a:rPr lang="en-US" sz="3300" dirty="0"/>
              <a:t>Flight leaves tomorrow from Bucharest at 12:00</a:t>
            </a:r>
          </a:p>
          <a:p>
            <a:pPr eaLnBrk="1" hangingPunct="1"/>
            <a:r>
              <a:rPr lang="en-US" sz="3300" dirty="0"/>
              <a:t>Let’s configure this to be an AI problem.</a:t>
            </a:r>
          </a:p>
          <a:p>
            <a:r>
              <a:rPr lang="en-US" dirty="0"/>
              <a:t>What’s the problem?</a:t>
            </a:r>
          </a:p>
          <a:p>
            <a:pPr marL="782638" lvl="1"/>
            <a:r>
              <a:rPr lang="en-US" dirty="0"/>
              <a:t>Accomplish a </a:t>
            </a:r>
            <a:r>
              <a:rPr lang="en-US" i="1" dirty="0"/>
              <a:t>goal</a:t>
            </a:r>
          </a:p>
          <a:p>
            <a:pPr marL="1182688" lvl="2">
              <a:buClr>
                <a:srgbClr val="000000"/>
              </a:buClr>
              <a:buFont typeface="Arial" charset="0"/>
              <a:buChar char="•"/>
            </a:pPr>
            <a:r>
              <a:rPr lang="en-US" dirty="0"/>
              <a:t>Reach Bucharest by 12:00</a:t>
            </a:r>
          </a:p>
          <a:p>
            <a:pPr eaLnBrk="1" hangingPunct="1"/>
            <a:endParaRPr lang="en-US" sz="3300"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p:nvPr>
        </p:nvSpPr>
        <p:spPr/>
        <p:txBody>
          <a:bodyPr rIns="132080"/>
          <a:lstStyle/>
          <a:p>
            <a:pPr indent="0" eaLnBrk="1" hangingPunct="1"/>
            <a:r>
              <a:rPr lang="en-US" dirty="0"/>
              <a:t>Romania</a:t>
            </a:r>
          </a:p>
        </p:txBody>
      </p:sp>
      <p:sp>
        <p:nvSpPr>
          <p:cNvPr id="20483" name="Rectangle 2"/>
          <p:cNvSpPr>
            <a:spLocks noGrp="1" noChangeArrowheads="1"/>
          </p:cNvSpPr>
          <p:nvPr>
            <p:ph sz="quarter" idx="1"/>
          </p:nvPr>
        </p:nvSpPr>
        <p:spPr/>
        <p:txBody>
          <a:bodyPr rIns="132080"/>
          <a:lstStyle/>
          <a:p>
            <a:pPr eaLnBrk="1" hangingPunct="1"/>
            <a:endParaRPr lang="en-US" dirty="0"/>
          </a:p>
        </p:txBody>
      </p:sp>
      <p:pic>
        <p:nvPicPr>
          <p:cNvPr id="20484" name="Picture 3"/>
          <p:cNvPicPr>
            <a:picLocks noChangeArrowheads="1"/>
          </p:cNvPicPr>
          <p:nvPr/>
        </p:nvPicPr>
        <p:blipFill>
          <a:blip r:embed="rId3"/>
          <a:srcRect/>
          <a:stretch>
            <a:fillRect/>
          </a:stretch>
        </p:blipFill>
        <p:spPr bwMode="auto">
          <a:xfrm>
            <a:off x="304800" y="1524000"/>
            <a:ext cx="8570913" cy="5005388"/>
          </a:xfrm>
          <a:prstGeom prst="rect">
            <a:avLst/>
          </a:prstGeom>
          <a:noFill/>
          <a:ln w="38100">
            <a:solidFill>
              <a:schemeClr val="tx1"/>
            </a:solidFill>
            <a:miter lim="800000"/>
            <a:headEnd/>
            <a:tailEnd/>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sp>
        <p:nvSpPr>
          <p:cNvPr id="3" name="Content Placeholder 2"/>
          <p:cNvSpPr>
            <a:spLocks noGrp="1"/>
          </p:cNvSpPr>
          <p:nvPr>
            <p:ph sz="quarter" idx="1"/>
          </p:nvPr>
        </p:nvSpPr>
        <p:spPr/>
        <p:txBody>
          <a:bodyPr>
            <a:normAutofit/>
          </a:bodyPr>
          <a:lstStyle/>
          <a:p>
            <a:r>
              <a:rPr lang="en-US" dirty="0"/>
              <a:t>On holiday in Romania; currently in Arad</a:t>
            </a:r>
          </a:p>
          <a:p>
            <a:r>
              <a:rPr lang="en-US" b="1" dirty="0"/>
              <a:t>Formulate goal:</a:t>
            </a:r>
          </a:p>
          <a:p>
            <a:pPr>
              <a:buNone/>
            </a:pPr>
            <a:r>
              <a:rPr lang="en-US" dirty="0"/>
              <a:t>    be in Bucharest</a:t>
            </a:r>
          </a:p>
          <a:p>
            <a:r>
              <a:rPr lang="en-US" b="1" dirty="0"/>
              <a:t>Formulate problem:</a:t>
            </a:r>
          </a:p>
          <a:p>
            <a:pPr>
              <a:buNone/>
            </a:pPr>
            <a:r>
              <a:rPr lang="en-US" dirty="0"/>
              <a:t>   states: various cities</a:t>
            </a:r>
          </a:p>
          <a:p>
            <a:pPr>
              <a:buNone/>
            </a:pPr>
            <a:r>
              <a:rPr lang="en-US" dirty="0"/>
              <a:t>   actions: drive between cities</a:t>
            </a:r>
          </a:p>
          <a:p>
            <a:r>
              <a:rPr lang="en-US" b="1" dirty="0"/>
              <a:t>Find solution:</a:t>
            </a:r>
          </a:p>
          <a:p>
            <a:pPr>
              <a:buNone/>
            </a:pPr>
            <a:r>
              <a:rPr lang="en-US" dirty="0"/>
              <a:t>    sequence of cities, e.g., Arad, Sibiu, </a:t>
            </a:r>
            <a:r>
              <a:rPr lang="en-US" dirty="0" err="1"/>
              <a:t>Fagaras</a:t>
            </a:r>
            <a:r>
              <a:rPr lang="en-US" dirty="0"/>
              <a:t>, Bucharest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Rot="1"/>
          </p:cNvGrpSpPr>
          <p:nvPr/>
        </p:nvGrpSpPr>
        <p:grpSpPr bwMode="auto">
          <a:xfrm>
            <a:off x="373063" y="1524000"/>
            <a:ext cx="8059737" cy="4821238"/>
            <a:chOff x="0" y="0"/>
            <a:chExt cx="5077" cy="2797"/>
          </a:xfrm>
        </p:grpSpPr>
        <p:sp>
          <p:nvSpPr>
            <p:cNvPr id="21508" name="Rectangle 3"/>
            <p:cNvSpPr>
              <a:spLocks noChangeArrowheads="1"/>
            </p:cNvSpPr>
            <p:nvPr/>
          </p:nvSpPr>
          <p:spPr bwMode="auto">
            <a:xfrm>
              <a:off x="0" y="0"/>
              <a:ext cx="2645" cy="428"/>
            </a:xfrm>
            <a:prstGeom prst="rect">
              <a:avLst/>
            </a:prstGeom>
            <a:noFill/>
            <a:ln w="9525">
              <a:noFill/>
              <a:miter lim="800000"/>
              <a:headEnd/>
              <a:tailEnd/>
            </a:ln>
          </p:spPr>
          <p:txBody>
            <a:bodyPr lIns="50800" tIns="50800" rIns="50800" bIns="50800" anchor="ctr"/>
            <a:lstStyle/>
            <a:p>
              <a:pPr marL="39688" algn="r">
                <a:buSzPct val="100000"/>
                <a:buFont typeface="Thonburi" charset="0"/>
                <a:buNone/>
              </a:pPr>
              <a:r>
                <a:rPr lang="en-US" sz="2800">
                  <a:solidFill>
                    <a:schemeClr val="tx1"/>
                  </a:solidFill>
                  <a:cs typeface="Arial" charset="0"/>
                </a:rPr>
                <a:t>A state space</a:t>
              </a:r>
            </a:p>
          </p:txBody>
        </p:sp>
        <p:sp>
          <p:nvSpPr>
            <p:cNvPr id="21509" name="Rectangle 4"/>
            <p:cNvSpPr>
              <a:spLocks noChangeArrowheads="1"/>
            </p:cNvSpPr>
            <p:nvPr/>
          </p:nvSpPr>
          <p:spPr bwMode="auto">
            <a:xfrm>
              <a:off x="2645" y="0"/>
              <a:ext cx="2432" cy="428"/>
            </a:xfrm>
            <a:prstGeom prst="rect">
              <a:avLst/>
            </a:prstGeom>
            <a:noFill/>
            <a:ln w="9525">
              <a:noFill/>
              <a:miter lim="800000"/>
              <a:headEnd/>
              <a:tailEnd/>
            </a:ln>
          </p:spPr>
          <p:txBody>
            <a:bodyPr lIns="50800" tIns="50800" rIns="50800" bIns="50800" anchor="ctr"/>
            <a:lstStyle/>
            <a:p>
              <a:pPr marL="39688">
                <a:buSzPct val="100000"/>
                <a:buFont typeface="Thonburi" charset="0"/>
                <a:buNone/>
              </a:pPr>
              <a:r>
                <a:rPr lang="en-US" sz="2100" b="1" i="1">
                  <a:solidFill>
                    <a:schemeClr val="tx1"/>
                  </a:solidFill>
                  <a:cs typeface="Arial" charset="0"/>
                </a:rPr>
                <a:t>Which cities could you be in?</a:t>
              </a:r>
            </a:p>
          </p:txBody>
        </p:sp>
        <p:sp>
          <p:nvSpPr>
            <p:cNvPr id="21510" name="Rectangle 5"/>
            <p:cNvSpPr>
              <a:spLocks noChangeArrowheads="1"/>
            </p:cNvSpPr>
            <p:nvPr/>
          </p:nvSpPr>
          <p:spPr bwMode="auto">
            <a:xfrm>
              <a:off x="0" y="428"/>
              <a:ext cx="2645" cy="426"/>
            </a:xfrm>
            <a:prstGeom prst="rect">
              <a:avLst/>
            </a:prstGeom>
            <a:noFill/>
            <a:ln w="9525">
              <a:noFill/>
              <a:miter lim="800000"/>
              <a:headEnd/>
              <a:tailEnd/>
            </a:ln>
          </p:spPr>
          <p:txBody>
            <a:bodyPr lIns="50800" tIns="50800" rIns="50800" bIns="50800" anchor="ctr"/>
            <a:lstStyle/>
            <a:p>
              <a:pPr marL="39688" algn="r">
                <a:buSzPct val="100000"/>
                <a:buFont typeface="Thonburi" charset="0"/>
                <a:buNone/>
              </a:pPr>
              <a:r>
                <a:rPr lang="en-US" sz="2800">
                  <a:solidFill>
                    <a:schemeClr val="tx1"/>
                  </a:solidFill>
                  <a:cs typeface="Arial" charset="0"/>
                </a:rPr>
                <a:t>An initial state</a:t>
              </a:r>
            </a:p>
          </p:txBody>
        </p:sp>
        <p:sp>
          <p:nvSpPr>
            <p:cNvPr id="21511" name="Rectangle 6"/>
            <p:cNvSpPr>
              <a:spLocks noChangeArrowheads="1"/>
            </p:cNvSpPr>
            <p:nvPr/>
          </p:nvSpPr>
          <p:spPr bwMode="auto">
            <a:xfrm>
              <a:off x="2645" y="428"/>
              <a:ext cx="2432" cy="426"/>
            </a:xfrm>
            <a:prstGeom prst="rect">
              <a:avLst/>
            </a:prstGeom>
            <a:noFill/>
            <a:ln w="9525">
              <a:noFill/>
              <a:miter lim="800000"/>
              <a:headEnd/>
              <a:tailEnd/>
            </a:ln>
          </p:spPr>
          <p:txBody>
            <a:bodyPr lIns="50800" tIns="50800" rIns="50800" bIns="50800" anchor="ctr"/>
            <a:lstStyle/>
            <a:p>
              <a:pPr marL="39688">
                <a:buSzPct val="100000"/>
                <a:buFont typeface="Thonburi" charset="0"/>
                <a:buNone/>
              </a:pPr>
              <a:r>
                <a:rPr lang="en-US" sz="2100" b="1" i="1" dirty="0">
                  <a:solidFill>
                    <a:schemeClr val="tx1"/>
                  </a:solidFill>
                  <a:cs typeface="Arial" charset="0"/>
                </a:rPr>
                <a:t>Which city do you start from?</a:t>
              </a:r>
            </a:p>
          </p:txBody>
        </p:sp>
        <p:sp>
          <p:nvSpPr>
            <p:cNvPr id="21512" name="Rectangle 7"/>
            <p:cNvSpPr>
              <a:spLocks noChangeArrowheads="1"/>
            </p:cNvSpPr>
            <p:nvPr/>
          </p:nvSpPr>
          <p:spPr bwMode="auto">
            <a:xfrm>
              <a:off x="0" y="854"/>
              <a:ext cx="2645" cy="440"/>
            </a:xfrm>
            <a:prstGeom prst="rect">
              <a:avLst/>
            </a:prstGeom>
            <a:noFill/>
            <a:ln w="9525">
              <a:noFill/>
              <a:miter lim="800000"/>
              <a:headEnd/>
              <a:tailEnd/>
            </a:ln>
          </p:spPr>
          <p:txBody>
            <a:bodyPr lIns="50800" tIns="50800" rIns="50800" bIns="50800" anchor="ctr"/>
            <a:lstStyle/>
            <a:p>
              <a:pPr marL="39688" algn="r">
                <a:buSzPct val="100000"/>
                <a:buFont typeface="Thonburi" charset="0"/>
                <a:buNone/>
              </a:pPr>
              <a:r>
                <a:rPr lang="en-US" sz="2800" dirty="0">
                  <a:solidFill>
                    <a:schemeClr val="tx1"/>
                  </a:solidFill>
                  <a:cs typeface="Arial" charset="0"/>
                </a:rPr>
                <a:t>A goal state</a:t>
              </a:r>
            </a:p>
          </p:txBody>
        </p:sp>
        <p:sp>
          <p:nvSpPr>
            <p:cNvPr id="21513" name="Rectangle 8"/>
            <p:cNvSpPr>
              <a:spLocks noChangeArrowheads="1"/>
            </p:cNvSpPr>
            <p:nvPr/>
          </p:nvSpPr>
          <p:spPr bwMode="auto">
            <a:xfrm>
              <a:off x="2645" y="854"/>
              <a:ext cx="2432" cy="440"/>
            </a:xfrm>
            <a:prstGeom prst="rect">
              <a:avLst/>
            </a:prstGeom>
            <a:noFill/>
            <a:ln w="9525">
              <a:noFill/>
              <a:miter lim="800000"/>
              <a:headEnd/>
              <a:tailEnd/>
            </a:ln>
          </p:spPr>
          <p:txBody>
            <a:bodyPr lIns="50800" tIns="50800" rIns="50800" bIns="50800" anchor="ctr"/>
            <a:lstStyle/>
            <a:p>
              <a:pPr marL="39688">
                <a:buSzPct val="100000"/>
                <a:buFont typeface="Thonburi" charset="0"/>
                <a:buNone/>
              </a:pPr>
              <a:r>
                <a:rPr lang="en-US" sz="2100" b="1" i="1">
                  <a:solidFill>
                    <a:schemeClr val="tx1"/>
                  </a:solidFill>
                  <a:cs typeface="Arial" charset="0"/>
                </a:rPr>
                <a:t>Which city do you aim to reach?</a:t>
              </a:r>
            </a:p>
          </p:txBody>
        </p:sp>
        <p:sp>
          <p:nvSpPr>
            <p:cNvPr id="21514" name="Rectangle 9"/>
            <p:cNvSpPr>
              <a:spLocks noChangeArrowheads="1"/>
            </p:cNvSpPr>
            <p:nvPr/>
          </p:nvSpPr>
          <p:spPr bwMode="auto">
            <a:xfrm>
              <a:off x="0" y="1294"/>
              <a:ext cx="2645" cy="679"/>
            </a:xfrm>
            <a:prstGeom prst="rect">
              <a:avLst/>
            </a:prstGeom>
            <a:noFill/>
            <a:ln w="9525">
              <a:noFill/>
              <a:miter lim="800000"/>
              <a:headEnd/>
              <a:tailEnd/>
            </a:ln>
          </p:spPr>
          <p:txBody>
            <a:bodyPr lIns="50800" tIns="50800" rIns="50800" bIns="50800" anchor="ctr"/>
            <a:lstStyle/>
            <a:p>
              <a:pPr marL="39688" algn="r">
                <a:buSzPct val="100000"/>
                <a:buFont typeface="Thonburi" charset="0"/>
                <a:buNone/>
              </a:pPr>
              <a:r>
                <a:rPr lang="en-US" sz="2800" dirty="0">
                  <a:solidFill>
                    <a:schemeClr val="tx1"/>
                  </a:solidFill>
                  <a:cs typeface="Arial" charset="0"/>
                </a:rPr>
                <a:t>A function defining state transitions</a:t>
              </a:r>
            </a:p>
          </p:txBody>
        </p:sp>
        <p:sp>
          <p:nvSpPr>
            <p:cNvPr id="21515" name="Rectangle 10"/>
            <p:cNvSpPr>
              <a:spLocks noChangeArrowheads="1"/>
            </p:cNvSpPr>
            <p:nvPr/>
          </p:nvSpPr>
          <p:spPr bwMode="auto">
            <a:xfrm>
              <a:off x="2645" y="1294"/>
              <a:ext cx="2432" cy="679"/>
            </a:xfrm>
            <a:prstGeom prst="rect">
              <a:avLst/>
            </a:prstGeom>
            <a:noFill/>
            <a:ln w="9525">
              <a:noFill/>
              <a:miter lim="800000"/>
              <a:headEnd/>
              <a:tailEnd/>
            </a:ln>
          </p:spPr>
          <p:txBody>
            <a:bodyPr lIns="50800" tIns="50800" rIns="50800" bIns="50800" anchor="ctr"/>
            <a:lstStyle/>
            <a:p>
              <a:pPr marL="39688">
                <a:buSzPct val="100000"/>
                <a:buFont typeface="Thonburi" charset="0"/>
                <a:buNone/>
              </a:pPr>
              <a:r>
                <a:rPr lang="en-US" sz="2100" b="1" i="1">
                  <a:solidFill>
                    <a:schemeClr val="tx1"/>
                  </a:solidFill>
                  <a:cs typeface="Arial" charset="0"/>
                </a:rPr>
                <a:t>When in city foo, the following cities can be reached</a:t>
              </a:r>
            </a:p>
          </p:txBody>
        </p:sp>
        <p:sp>
          <p:nvSpPr>
            <p:cNvPr id="21516" name="Rectangle 11"/>
            <p:cNvSpPr>
              <a:spLocks noChangeArrowheads="1"/>
            </p:cNvSpPr>
            <p:nvPr/>
          </p:nvSpPr>
          <p:spPr bwMode="auto">
            <a:xfrm>
              <a:off x="0" y="1973"/>
              <a:ext cx="2645" cy="824"/>
            </a:xfrm>
            <a:prstGeom prst="rect">
              <a:avLst/>
            </a:prstGeom>
            <a:noFill/>
            <a:ln w="9525">
              <a:noFill/>
              <a:miter lim="800000"/>
              <a:headEnd/>
              <a:tailEnd/>
            </a:ln>
          </p:spPr>
          <p:txBody>
            <a:bodyPr lIns="50800" tIns="50800" rIns="50800" bIns="50800" anchor="ctr"/>
            <a:lstStyle/>
            <a:p>
              <a:pPr marL="39688" algn="r">
                <a:buSzPct val="100000"/>
                <a:buFont typeface="Thonburi" charset="0"/>
                <a:buNone/>
              </a:pPr>
              <a:r>
                <a:rPr lang="en-US" sz="2800">
                  <a:solidFill>
                    <a:schemeClr val="tx1"/>
                  </a:solidFill>
                  <a:cs typeface="Arial" charset="0"/>
                </a:rPr>
                <a:t>A function defining the “cost” of a state sequence</a:t>
              </a:r>
            </a:p>
          </p:txBody>
        </p:sp>
        <p:sp>
          <p:nvSpPr>
            <p:cNvPr id="21517" name="Rectangle 12"/>
            <p:cNvSpPr>
              <a:spLocks noChangeArrowheads="1"/>
            </p:cNvSpPr>
            <p:nvPr/>
          </p:nvSpPr>
          <p:spPr bwMode="auto">
            <a:xfrm>
              <a:off x="2645" y="1973"/>
              <a:ext cx="2432" cy="824"/>
            </a:xfrm>
            <a:prstGeom prst="rect">
              <a:avLst/>
            </a:prstGeom>
            <a:noFill/>
            <a:ln w="9525">
              <a:noFill/>
              <a:miter lim="800000"/>
              <a:headEnd/>
              <a:tailEnd/>
            </a:ln>
          </p:spPr>
          <p:txBody>
            <a:bodyPr lIns="50800" tIns="50800" rIns="50800" bIns="50800" anchor="ctr"/>
            <a:lstStyle/>
            <a:p>
              <a:pPr marL="39688">
                <a:buSzPct val="100000"/>
                <a:buFont typeface="Thonburi" charset="0"/>
                <a:buNone/>
              </a:pPr>
              <a:r>
                <a:rPr lang="en-US" sz="2100" b="1" i="1">
                  <a:solidFill>
                    <a:schemeClr val="tx1"/>
                  </a:solidFill>
                  <a:cs typeface="Arial" charset="0"/>
                </a:rPr>
                <a:t>How long does it take to travel through a city sequence?</a:t>
              </a:r>
            </a:p>
          </p:txBody>
        </p:sp>
        <p:sp>
          <p:nvSpPr>
            <p:cNvPr id="21518" name="Line 13"/>
            <p:cNvSpPr>
              <a:spLocks noChangeShapeType="1"/>
            </p:cNvSpPr>
            <p:nvPr/>
          </p:nvSpPr>
          <p:spPr bwMode="auto">
            <a:xfrm>
              <a:off x="2645" y="854"/>
              <a:ext cx="2432" cy="0"/>
            </a:xfrm>
            <a:prstGeom prst="line">
              <a:avLst/>
            </a:prstGeom>
            <a:noFill/>
            <a:ln w="12700" cap="sq">
              <a:noFill/>
              <a:round/>
              <a:headEnd/>
              <a:tailEnd/>
            </a:ln>
          </p:spPr>
          <p:txBody>
            <a:bodyPr/>
            <a:lstStyle/>
            <a:p>
              <a:endParaRPr lang="en-US"/>
            </a:p>
          </p:txBody>
        </p:sp>
        <p:sp>
          <p:nvSpPr>
            <p:cNvPr id="21519" name="Line 14"/>
            <p:cNvSpPr>
              <a:spLocks noChangeShapeType="1"/>
            </p:cNvSpPr>
            <p:nvPr/>
          </p:nvSpPr>
          <p:spPr bwMode="auto">
            <a:xfrm>
              <a:off x="2645" y="1294"/>
              <a:ext cx="2432" cy="0"/>
            </a:xfrm>
            <a:prstGeom prst="line">
              <a:avLst/>
            </a:prstGeom>
            <a:noFill/>
            <a:ln w="12700" cap="sq">
              <a:noFill/>
              <a:round/>
              <a:headEnd/>
              <a:tailEnd/>
            </a:ln>
          </p:spPr>
          <p:txBody>
            <a:bodyPr/>
            <a:lstStyle/>
            <a:p>
              <a:endParaRPr lang="en-US"/>
            </a:p>
          </p:txBody>
        </p:sp>
        <p:sp>
          <p:nvSpPr>
            <p:cNvPr id="21520" name="Line 15"/>
            <p:cNvSpPr>
              <a:spLocks noChangeShapeType="1"/>
            </p:cNvSpPr>
            <p:nvPr/>
          </p:nvSpPr>
          <p:spPr bwMode="auto">
            <a:xfrm>
              <a:off x="0" y="1973"/>
              <a:ext cx="2645" cy="0"/>
            </a:xfrm>
            <a:prstGeom prst="line">
              <a:avLst/>
            </a:prstGeom>
            <a:noFill/>
            <a:ln w="12700" cap="sq">
              <a:noFill/>
              <a:round/>
              <a:headEnd/>
              <a:tailEnd/>
            </a:ln>
          </p:spPr>
          <p:txBody>
            <a:bodyPr/>
            <a:lstStyle/>
            <a:p>
              <a:endParaRPr lang="en-US"/>
            </a:p>
          </p:txBody>
        </p:sp>
        <p:sp>
          <p:nvSpPr>
            <p:cNvPr id="21521" name="Line 16"/>
            <p:cNvSpPr>
              <a:spLocks noChangeShapeType="1"/>
            </p:cNvSpPr>
            <p:nvPr/>
          </p:nvSpPr>
          <p:spPr bwMode="auto">
            <a:xfrm>
              <a:off x="2645" y="0"/>
              <a:ext cx="0" cy="428"/>
            </a:xfrm>
            <a:prstGeom prst="line">
              <a:avLst/>
            </a:prstGeom>
            <a:noFill/>
            <a:ln w="12700" cap="sq">
              <a:noFill/>
              <a:round/>
              <a:headEnd/>
              <a:tailEnd/>
            </a:ln>
          </p:spPr>
          <p:txBody>
            <a:bodyPr/>
            <a:lstStyle/>
            <a:p>
              <a:endParaRPr lang="en-US"/>
            </a:p>
          </p:txBody>
        </p:sp>
        <p:sp>
          <p:nvSpPr>
            <p:cNvPr id="21522" name="Line 17"/>
            <p:cNvSpPr>
              <a:spLocks noChangeShapeType="1"/>
            </p:cNvSpPr>
            <p:nvPr/>
          </p:nvSpPr>
          <p:spPr bwMode="auto">
            <a:xfrm>
              <a:off x="2645" y="428"/>
              <a:ext cx="0" cy="426"/>
            </a:xfrm>
            <a:prstGeom prst="line">
              <a:avLst/>
            </a:prstGeom>
            <a:noFill/>
            <a:ln w="12700" cap="sq">
              <a:noFill/>
              <a:round/>
              <a:headEnd/>
              <a:tailEnd/>
            </a:ln>
          </p:spPr>
          <p:txBody>
            <a:bodyPr/>
            <a:lstStyle/>
            <a:p>
              <a:endParaRPr lang="en-US"/>
            </a:p>
          </p:txBody>
        </p:sp>
        <p:sp>
          <p:nvSpPr>
            <p:cNvPr id="21523" name="Line 18"/>
            <p:cNvSpPr>
              <a:spLocks noChangeShapeType="1"/>
            </p:cNvSpPr>
            <p:nvPr/>
          </p:nvSpPr>
          <p:spPr bwMode="auto">
            <a:xfrm>
              <a:off x="2645" y="854"/>
              <a:ext cx="0" cy="440"/>
            </a:xfrm>
            <a:prstGeom prst="line">
              <a:avLst/>
            </a:prstGeom>
            <a:noFill/>
            <a:ln w="12700" cap="sq">
              <a:noFill/>
              <a:round/>
              <a:headEnd/>
              <a:tailEnd/>
            </a:ln>
          </p:spPr>
          <p:txBody>
            <a:bodyPr/>
            <a:lstStyle/>
            <a:p>
              <a:endParaRPr lang="en-US"/>
            </a:p>
          </p:txBody>
        </p:sp>
        <p:sp>
          <p:nvSpPr>
            <p:cNvPr id="21524" name="Line 19"/>
            <p:cNvSpPr>
              <a:spLocks noChangeShapeType="1"/>
            </p:cNvSpPr>
            <p:nvPr/>
          </p:nvSpPr>
          <p:spPr bwMode="auto">
            <a:xfrm>
              <a:off x="2645" y="1294"/>
              <a:ext cx="0" cy="679"/>
            </a:xfrm>
            <a:prstGeom prst="line">
              <a:avLst/>
            </a:prstGeom>
            <a:noFill/>
            <a:ln w="12700" cap="sq">
              <a:noFill/>
              <a:round/>
              <a:headEnd/>
              <a:tailEnd/>
            </a:ln>
          </p:spPr>
          <p:txBody>
            <a:bodyPr/>
            <a:lstStyle/>
            <a:p>
              <a:endParaRPr lang="en-US"/>
            </a:p>
          </p:txBody>
        </p:sp>
        <p:sp>
          <p:nvSpPr>
            <p:cNvPr id="21525" name="Line 20"/>
            <p:cNvSpPr>
              <a:spLocks noChangeShapeType="1"/>
            </p:cNvSpPr>
            <p:nvPr/>
          </p:nvSpPr>
          <p:spPr bwMode="auto">
            <a:xfrm>
              <a:off x="2645" y="1973"/>
              <a:ext cx="0" cy="824"/>
            </a:xfrm>
            <a:prstGeom prst="line">
              <a:avLst/>
            </a:prstGeom>
            <a:noFill/>
            <a:ln w="12700" cap="sq">
              <a:noFill/>
              <a:round/>
              <a:headEnd/>
              <a:tailEnd/>
            </a:ln>
          </p:spPr>
          <p:txBody>
            <a:bodyPr/>
            <a:lstStyle/>
            <a:p>
              <a:endParaRPr lang="en-US"/>
            </a:p>
          </p:txBody>
        </p:sp>
        <p:sp>
          <p:nvSpPr>
            <p:cNvPr id="21526" name="Line 21"/>
            <p:cNvSpPr>
              <a:spLocks noChangeShapeType="1"/>
            </p:cNvSpPr>
            <p:nvPr/>
          </p:nvSpPr>
          <p:spPr bwMode="auto">
            <a:xfrm>
              <a:off x="2645" y="1973"/>
              <a:ext cx="2432" cy="0"/>
            </a:xfrm>
            <a:prstGeom prst="line">
              <a:avLst/>
            </a:prstGeom>
            <a:noFill/>
            <a:ln w="12700" cap="sq">
              <a:noFill/>
              <a:round/>
              <a:headEnd/>
              <a:tailEnd/>
            </a:ln>
          </p:spPr>
          <p:txBody>
            <a:bodyPr/>
            <a:lstStyle/>
            <a:p>
              <a:endParaRPr lang="en-US"/>
            </a:p>
          </p:txBody>
        </p:sp>
        <p:sp>
          <p:nvSpPr>
            <p:cNvPr id="21527" name="Line 22"/>
            <p:cNvSpPr>
              <a:spLocks noChangeShapeType="1"/>
            </p:cNvSpPr>
            <p:nvPr/>
          </p:nvSpPr>
          <p:spPr bwMode="auto">
            <a:xfrm>
              <a:off x="0" y="428"/>
              <a:ext cx="2645" cy="0"/>
            </a:xfrm>
            <a:prstGeom prst="line">
              <a:avLst/>
            </a:prstGeom>
            <a:noFill/>
            <a:ln w="12700" cap="sq">
              <a:noFill/>
              <a:round/>
              <a:headEnd/>
              <a:tailEnd/>
            </a:ln>
          </p:spPr>
          <p:txBody>
            <a:bodyPr/>
            <a:lstStyle/>
            <a:p>
              <a:endParaRPr lang="en-US"/>
            </a:p>
          </p:txBody>
        </p:sp>
        <p:sp>
          <p:nvSpPr>
            <p:cNvPr id="21528" name="Line 23"/>
            <p:cNvSpPr>
              <a:spLocks noChangeShapeType="1"/>
            </p:cNvSpPr>
            <p:nvPr/>
          </p:nvSpPr>
          <p:spPr bwMode="auto">
            <a:xfrm>
              <a:off x="2645" y="428"/>
              <a:ext cx="2432" cy="0"/>
            </a:xfrm>
            <a:prstGeom prst="line">
              <a:avLst/>
            </a:prstGeom>
            <a:noFill/>
            <a:ln w="12700" cap="sq">
              <a:noFill/>
              <a:round/>
              <a:headEnd/>
              <a:tailEnd/>
            </a:ln>
          </p:spPr>
          <p:txBody>
            <a:bodyPr/>
            <a:lstStyle/>
            <a:p>
              <a:endParaRPr lang="en-US"/>
            </a:p>
          </p:txBody>
        </p:sp>
        <p:sp>
          <p:nvSpPr>
            <p:cNvPr id="21529" name="Line 24"/>
            <p:cNvSpPr>
              <a:spLocks noChangeShapeType="1"/>
            </p:cNvSpPr>
            <p:nvPr/>
          </p:nvSpPr>
          <p:spPr bwMode="auto">
            <a:xfrm>
              <a:off x="0" y="854"/>
              <a:ext cx="2645" cy="0"/>
            </a:xfrm>
            <a:prstGeom prst="line">
              <a:avLst/>
            </a:prstGeom>
            <a:noFill/>
            <a:ln w="12700" cap="sq">
              <a:noFill/>
              <a:round/>
              <a:headEnd/>
              <a:tailEnd/>
            </a:ln>
          </p:spPr>
          <p:txBody>
            <a:bodyPr/>
            <a:lstStyle/>
            <a:p>
              <a:endParaRPr lang="en-US"/>
            </a:p>
          </p:txBody>
        </p:sp>
        <p:sp>
          <p:nvSpPr>
            <p:cNvPr id="21530" name="Line 25"/>
            <p:cNvSpPr>
              <a:spLocks noChangeShapeType="1"/>
            </p:cNvSpPr>
            <p:nvPr/>
          </p:nvSpPr>
          <p:spPr bwMode="auto">
            <a:xfrm>
              <a:off x="0" y="1294"/>
              <a:ext cx="2645" cy="0"/>
            </a:xfrm>
            <a:prstGeom prst="line">
              <a:avLst/>
            </a:prstGeom>
            <a:noFill/>
            <a:ln w="12700" cap="sq">
              <a:noFill/>
              <a:round/>
              <a:headEnd/>
              <a:tailEnd/>
            </a:ln>
          </p:spPr>
          <p:txBody>
            <a:bodyPr/>
            <a:lstStyle/>
            <a:p>
              <a:endParaRPr lang="en-US"/>
            </a:p>
          </p:txBody>
        </p:sp>
        <p:sp>
          <p:nvSpPr>
            <p:cNvPr id="21531" name="Line 26"/>
            <p:cNvSpPr>
              <a:spLocks noChangeShapeType="1"/>
            </p:cNvSpPr>
            <p:nvPr/>
          </p:nvSpPr>
          <p:spPr bwMode="auto">
            <a:xfrm>
              <a:off x="0" y="0"/>
              <a:ext cx="2645" cy="0"/>
            </a:xfrm>
            <a:prstGeom prst="line">
              <a:avLst/>
            </a:prstGeom>
            <a:noFill/>
            <a:ln w="12700" cap="sq">
              <a:noFill/>
              <a:round/>
              <a:headEnd/>
              <a:tailEnd/>
            </a:ln>
          </p:spPr>
          <p:txBody>
            <a:bodyPr/>
            <a:lstStyle/>
            <a:p>
              <a:endParaRPr lang="en-US"/>
            </a:p>
          </p:txBody>
        </p:sp>
        <p:sp>
          <p:nvSpPr>
            <p:cNvPr id="21532" name="Line 27"/>
            <p:cNvSpPr>
              <a:spLocks noChangeShapeType="1"/>
            </p:cNvSpPr>
            <p:nvPr/>
          </p:nvSpPr>
          <p:spPr bwMode="auto">
            <a:xfrm>
              <a:off x="5077" y="1973"/>
              <a:ext cx="0" cy="824"/>
            </a:xfrm>
            <a:prstGeom prst="line">
              <a:avLst/>
            </a:prstGeom>
            <a:noFill/>
            <a:ln w="12700" cap="sq">
              <a:noFill/>
              <a:round/>
              <a:headEnd/>
              <a:tailEnd/>
            </a:ln>
          </p:spPr>
          <p:txBody>
            <a:bodyPr/>
            <a:lstStyle/>
            <a:p>
              <a:endParaRPr lang="en-US"/>
            </a:p>
          </p:txBody>
        </p:sp>
        <p:sp>
          <p:nvSpPr>
            <p:cNvPr id="21533" name="Line 28"/>
            <p:cNvSpPr>
              <a:spLocks noChangeShapeType="1"/>
            </p:cNvSpPr>
            <p:nvPr/>
          </p:nvSpPr>
          <p:spPr bwMode="auto">
            <a:xfrm>
              <a:off x="2645" y="0"/>
              <a:ext cx="2432" cy="0"/>
            </a:xfrm>
            <a:prstGeom prst="line">
              <a:avLst/>
            </a:prstGeom>
            <a:noFill/>
            <a:ln w="12700" cap="sq">
              <a:noFill/>
              <a:round/>
              <a:headEnd/>
              <a:tailEnd/>
            </a:ln>
          </p:spPr>
          <p:txBody>
            <a:bodyPr/>
            <a:lstStyle/>
            <a:p>
              <a:endParaRPr lang="en-US"/>
            </a:p>
          </p:txBody>
        </p:sp>
        <p:sp>
          <p:nvSpPr>
            <p:cNvPr id="21534" name="Line 29"/>
            <p:cNvSpPr>
              <a:spLocks noChangeShapeType="1"/>
            </p:cNvSpPr>
            <p:nvPr/>
          </p:nvSpPr>
          <p:spPr bwMode="auto">
            <a:xfrm>
              <a:off x="0" y="2797"/>
              <a:ext cx="2645" cy="0"/>
            </a:xfrm>
            <a:prstGeom prst="line">
              <a:avLst/>
            </a:prstGeom>
            <a:noFill/>
            <a:ln w="12700" cap="sq">
              <a:noFill/>
              <a:round/>
              <a:headEnd/>
              <a:tailEnd/>
            </a:ln>
          </p:spPr>
          <p:txBody>
            <a:bodyPr/>
            <a:lstStyle/>
            <a:p>
              <a:endParaRPr lang="en-US"/>
            </a:p>
          </p:txBody>
        </p:sp>
        <p:sp>
          <p:nvSpPr>
            <p:cNvPr id="21535" name="Line 30"/>
            <p:cNvSpPr>
              <a:spLocks noChangeShapeType="1"/>
            </p:cNvSpPr>
            <p:nvPr/>
          </p:nvSpPr>
          <p:spPr bwMode="auto">
            <a:xfrm>
              <a:off x="2645" y="2797"/>
              <a:ext cx="2432" cy="0"/>
            </a:xfrm>
            <a:prstGeom prst="line">
              <a:avLst/>
            </a:prstGeom>
            <a:noFill/>
            <a:ln w="12700" cap="sq">
              <a:noFill/>
              <a:round/>
              <a:headEnd/>
              <a:tailEnd/>
            </a:ln>
          </p:spPr>
          <p:txBody>
            <a:bodyPr/>
            <a:lstStyle/>
            <a:p>
              <a:endParaRPr lang="en-US"/>
            </a:p>
          </p:txBody>
        </p:sp>
        <p:sp>
          <p:nvSpPr>
            <p:cNvPr id="21536" name="Line 31"/>
            <p:cNvSpPr>
              <a:spLocks noChangeShapeType="1"/>
            </p:cNvSpPr>
            <p:nvPr/>
          </p:nvSpPr>
          <p:spPr bwMode="auto">
            <a:xfrm>
              <a:off x="0" y="0"/>
              <a:ext cx="0" cy="428"/>
            </a:xfrm>
            <a:prstGeom prst="line">
              <a:avLst/>
            </a:prstGeom>
            <a:noFill/>
            <a:ln w="12700" cap="sq">
              <a:noFill/>
              <a:round/>
              <a:headEnd/>
              <a:tailEnd/>
            </a:ln>
          </p:spPr>
          <p:txBody>
            <a:bodyPr/>
            <a:lstStyle/>
            <a:p>
              <a:endParaRPr lang="en-US"/>
            </a:p>
          </p:txBody>
        </p:sp>
        <p:sp>
          <p:nvSpPr>
            <p:cNvPr id="21537" name="Line 32"/>
            <p:cNvSpPr>
              <a:spLocks noChangeShapeType="1"/>
            </p:cNvSpPr>
            <p:nvPr/>
          </p:nvSpPr>
          <p:spPr bwMode="auto">
            <a:xfrm>
              <a:off x="0" y="428"/>
              <a:ext cx="0" cy="426"/>
            </a:xfrm>
            <a:prstGeom prst="line">
              <a:avLst/>
            </a:prstGeom>
            <a:noFill/>
            <a:ln w="12700" cap="sq">
              <a:noFill/>
              <a:round/>
              <a:headEnd/>
              <a:tailEnd/>
            </a:ln>
          </p:spPr>
          <p:txBody>
            <a:bodyPr/>
            <a:lstStyle/>
            <a:p>
              <a:endParaRPr lang="en-US"/>
            </a:p>
          </p:txBody>
        </p:sp>
        <p:sp>
          <p:nvSpPr>
            <p:cNvPr id="21538" name="Line 33"/>
            <p:cNvSpPr>
              <a:spLocks noChangeShapeType="1"/>
            </p:cNvSpPr>
            <p:nvPr/>
          </p:nvSpPr>
          <p:spPr bwMode="auto">
            <a:xfrm>
              <a:off x="0" y="854"/>
              <a:ext cx="0" cy="440"/>
            </a:xfrm>
            <a:prstGeom prst="line">
              <a:avLst/>
            </a:prstGeom>
            <a:noFill/>
            <a:ln w="12700" cap="sq">
              <a:noFill/>
              <a:round/>
              <a:headEnd/>
              <a:tailEnd/>
            </a:ln>
          </p:spPr>
          <p:txBody>
            <a:bodyPr/>
            <a:lstStyle/>
            <a:p>
              <a:endParaRPr lang="en-US"/>
            </a:p>
          </p:txBody>
        </p:sp>
        <p:sp>
          <p:nvSpPr>
            <p:cNvPr id="21539" name="Line 34"/>
            <p:cNvSpPr>
              <a:spLocks noChangeShapeType="1"/>
            </p:cNvSpPr>
            <p:nvPr/>
          </p:nvSpPr>
          <p:spPr bwMode="auto">
            <a:xfrm>
              <a:off x="0" y="1294"/>
              <a:ext cx="0" cy="679"/>
            </a:xfrm>
            <a:prstGeom prst="line">
              <a:avLst/>
            </a:prstGeom>
            <a:noFill/>
            <a:ln w="12700" cap="sq">
              <a:noFill/>
              <a:round/>
              <a:headEnd/>
              <a:tailEnd/>
            </a:ln>
          </p:spPr>
          <p:txBody>
            <a:bodyPr/>
            <a:lstStyle/>
            <a:p>
              <a:endParaRPr lang="en-US"/>
            </a:p>
          </p:txBody>
        </p:sp>
        <p:sp>
          <p:nvSpPr>
            <p:cNvPr id="21540" name="Line 35"/>
            <p:cNvSpPr>
              <a:spLocks noChangeShapeType="1"/>
            </p:cNvSpPr>
            <p:nvPr/>
          </p:nvSpPr>
          <p:spPr bwMode="auto">
            <a:xfrm>
              <a:off x="0" y="1973"/>
              <a:ext cx="0" cy="824"/>
            </a:xfrm>
            <a:prstGeom prst="line">
              <a:avLst/>
            </a:prstGeom>
            <a:noFill/>
            <a:ln w="12700" cap="sq">
              <a:noFill/>
              <a:round/>
              <a:headEnd/>
              <a:tailEnd/>
            </a:ln>
          </p:spPr>
          <p:txBody>
            <a:bodyPr/>
            <a:lstStyle/>
            <a:p>
              <a:endParaRPr lang="en-US"/>
            </a:p>
          </p:txBody>
        </p:sp>
        <p:sp>
          <p:nvSpPr>
            <p:cNvPr id="21541" name="Line 36"/>
            <p:cNvSpPr>
              <a:spLocks noChangeShapeType="1"/>
            </p:cNvSpPr>
            <p:nvPr/>
          </p:nvSpPr>
          <p:spPr bwMode="auto">
            <a:xfrm>
              <a:off x="5077" y="0"/>
              <a:ext cx="0" cy="428"/>
            </a:xfrm>
            <a:prstGeom prst="line">
              <a:avLst/>
            </a:prstGeom>
            <a:noFill/>
            <a:ln w="12700" cap="sq">
              <a:noFill/>
              <a:round/>
              <a:headEnd/>
              <a:tailEnd/>
            </a:ln>
          </p:spPr>
          <p:txBody>
            <a:bodyPr/>
            <a:lstStyle/>
            <a:p>
              <a:endParaRPr lang="en-US"/>
            </a:p>
          </p:txBody>
        </p:sp>
        <p:sp>
          <p:nvSpPr>
            <p:cNvPr id="21542" name="Line 37"/>
            <p:cNvSpPr>
              <a:spLocks noChangeShapeType="1"/>
            </p:cNvSpPr>
            <p:nvPr/>
          </p:nvSpPr>
          <p:spPr bwMode="auto">
            <a:xfrm>
              <a:off x="5077" y="428"/>
              <a:ext cx="0" cy="426"/>
            </a:xfrm>
            <a:prstGeom prst="line">
              <a:avLst/>
            </a:prstGeom>
            <a:noFill/>
            <a:ln w="12700" cap="sq">
              <a:noFill/>
              <a:round/>
              <a:headEnd/>
              <a:tailEnd/>
            </a:ln>
          </p:spPr>
          <p:txBody>
            <a:bodyPr/>
            <a:lstStyle/>
            <a:p>
              <a:endParaRPr lang="en-US"/>
            </a:p>
          </p:txBody>
        </p:sp>
        <p:sp>
          <p:nvSpPr>
            <p:cNvPr id="21543" name="Line 38"/>
            <p:cNvSpPr>
              <a:spLocks noChangeShapeType="1"/>
            </p:cNvSpPr>
            <p:nvPr/>
          </p:nvSpPr>
          <p:spPr bwMode="auto">
            <a:xfrm>
              <a:off x="5077" y="854"/>
              <a:ext cx="0" cy="440"/>
            </a:xfrm>
            <a:prstGeom prst="line">
              <a:avLst/>
            </a:prstGeom>
            <a:noFill/>
            <a:ln w="12700" cap="sq">
              <a:noFill/>
              <a:round/>
              <a:headEnd/>
              <a:tailEnd/>
            </a:ln>
          </p:spPr>
          <p:txBody>
            <a:bodyPr/>
            <a:lstStyle/>
            <a:p>
              <a:endParaRPr lang="en-US"/>
            </a:p>
          </p:txBody>
        </p:sp>
        <p:sp>
          <p:nvSpPr>
            <p:cNvPr id="21544" name="Line 39"/>
            <p:cNvSpPr>
              <a:spLocks noChangeShapeType="1"/>
            </p:cNvSpPr>
            <p:nvPr/>
          </p:nvSpPr>
          <p:spPr bwMode="auto">
            <a:xfrm>
              <a:off x="5077" y="1294"/>
              <a:ext cx="0" cy="679"/>
            </a:xfrm>
            <a:prstGeom prst="line">
              <a:avLst/>
            </a:prstGeom>
            <a:noFill/>
            <a:ln w="12700" cap="sq">
              <a:noFill/>
              <a:round/>
              <a:headEnd/>
              <a:tailEnd/>
            </a:ln>
          </p:spPr>
          <p:txBody>
            <a:bodyPr/>
            <a:lstStyle/>
            <a:p>
              <a:endParaRPr lang="en-US"/>
            </a:p>
          </p:txBody>
        </p:sp>
      </p:grpSp>
      <p:sp>
        <p:nvSpPr>
          <p:cNvPr id="21507" name="Rectangle 1"/>
          <p:cNvSpPr>
            <a:spLocks noGrp="1" noChangeArrowheads="1"/>
          </p:cNvSpPr>
          <p:nvPr>
            <p:ph type="title"/>
          </p:nvPr>
        </p:nvSpPr>
        <p:spPr/>
        <p:txBody>
          <a:bodyPr rIns="132080"/>
          <a:lstStyle/>
          <a:p>
            <a:pPr indent="0" eaLnBrk="1" hangingPunct="1"/>
            <a:r>
              <a:rPr lang="en-US"/>
              <a:t>More concrete problem definition</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representation</a:t>
            </a:r>
          </a:p>
        </p:txBody>
      </p:sp>
      <p:sp>
        <p:nvSpPr>
          <p:cNvPr id="3" name="Content Placeholder 2"/>
          <p:cNvSpPr>
            <a:spLocks noGrp="1"/>
          </p:cNvSpPr>
          <p:nvPr>
            <p:ph sz="quarter" idx="1"/>
          </p:nvPr>
        </p:nvSpPr>
        <p:spPr/>
        <p:txBody>
          <a:bodyPr>
            <a:normAutofit fontScale="85000" lnSpcReduction="20000"/>
          </a:bodyPr>
          <a:lstStyle/>
          <a:p>
            <a:r>
              <a:rPr lang="en-US" dirty="0"/>
              <a:t>A problem is defined by following components:</a:t>
            </a:r>
          </a:p>
          <a:p>
            <a:r>
              <a:rPr lang="en-US" b="1" dirty="0"/>
              <a:t>initial state </a:t>
            </a:r>
            <a:r>
              <a:rPr lang="en-US" dirty="0"/>
              <a:t>e.g., \In(Arad)"</a:t>
            </a:r>
          </a:p>
          <a:p>
            <a:r>
              <a:rPr lang="en-US" b="1" dirty="0"/>
              <a:t>actions</a:t>
            </a:r>
            <a:r>
              <a:rPr lang="en-US" dirty="0"/>
              <a:t>, Actions(s) returns the actions applicable in s.</a:t>
            </a:r>
          </a:p>
          <a:p>
            <a:pPr>
              <a:buNone/>
            </a:pPr>
            <a:r>
              <a:rPr lang="en-US" dirty="0"/>
              <a:t>    </a:t>
            </a:r>
            <a:r>
              <a:rPr lang="en-US" dirty="0" err="1"/>
              <a:t>e.g</a:t>
            </a:r>
            <a:r>
              <a:rPr lang="en-US" dirty="0"/>
              <a:t>, In Arad, the applicable actions are</a:t>
            </a:r>
          </a:p>
          <a:p>
            <a:pPr>
              <a:buNone/>
            </a:pPr>
            <a:r>
              <a:rPr lang="en-US" dirty="0"/>
              <a:t>    Go(Sibiu), Go(Timisoara), Go(</a:t>
            </a:r>
            <a:r>
              <a:rPr lang="en-US" dirty="0" err="1"/>
              <a:t>Zerind</a:t>
            </a:r>
            <a:r>
              <a:rPr lang="en-US" dirty="0"/>
              <a:t>)</a:t>
            </a:r>
          </a:p>
          <a:p>
            <a:r>
              <a:rPr lang="en-US" b="1" dirty="0"/>
              <a:t>goal test</a:t>
            </a:r>
            <a:r>
              <a:rPr lang="en-US" dirty="0"/>
              <a:t>, can be</a:t>
            </a:r>
          </a:p>
          <a:p>
            <a:pPr>
              <a:buNone/>
            </a:pPr>
            <a:r>
              <a:rPr lang="en-US" dirty="0"/>
              <a:t>     explicit, e.g., x = \In Bucharest"</a:t>
            </a:r>
          </a:p>
          <a:p>
            <a:pPr>
              <a:buNone/>
            </a:pPr>
            <a:r>
              <a:rPr lang="en-US" dirty="0"/>
              <a:t>     implicit, e.g., x = \In a city with an international airport"</a:t>
            </a:r>
          </a:p>
          <a:p>
            <a:r>
              <a:rPr lang="en-US" b="1" dirty="0"/>
              <a:t>path cost</a:t>
            </a:r>
            <a:r>
              <a:rPr lang="en-US" dirty="0"/>
              <a:t> </a:t>
            </a:r>
          </a:p>
          <a:p>
            <a:pPr>
              <a:buNone/>
            </a:pPr>
            <a:r>
              <a:rPr lang="en-US" dirty="0"/>
              <a:t>    e.g., sum of distances, number of actions executed, etc.</a:t>
            </a:r>
          </a:p>
          <a:p>
            <a:r>
              <a:rPr lang="en-US" dirty="0"/>
              <a:t>A</a:t>
            </a:r>
            <a:r>
              <a:rPr lang="en-US" b="1" dirty="0"/>
              <a:t> solution </a:t>
            </a:r>
            <a:r>
              <a:rPr lang="en-US" dirty="0"/>
              <a:t>is a sequence of actions leading from the initial</a:t>
            </a:r>
          </a:p>
          <a:p>
            <a:pPr>
              <a:buNone/>
            </a:pPr>
            <a:r>
              <a:rPr lang="en-US" dirty="0"/>
              <a:t>    state to a goal state.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ja-JP">
                <a:ea typeface="ＭＳ Ｐゴシック" pitchFamily="34" charset="-128"/>
              </a:rPr>
              <a:t>Example  Problems</a:t>
            </a:r>
          </a:p>
        </p:txBody>
      </p:sp>
      <p:sp>
        <p:nvSpPr>
          <p:cNvPr id="23553" name="Slide Number Placeholder 5"/>
          <p:cNvSpPr>
            <a:spLocks noGrp="1"/>
          </p:cNvSpPr>
          <p:nvPr>
            <p:ph type="sldNum" sz="quarter" idx="12"/>
          </p:nvPr>
        </p:nvSpPr>
        <p:spPr>
          <a:noFill/>
        </p:spPr>
        <p:txBody>
          <a:bodyPr/>
          <a:lstStyle/>
          <a:p>
            <a:fld id="{093F3067-3BA2-463B-9FF5-F5684F409630}" type="slidenum">
              <a:rPr lang="en-US"/>
              <a:pPr/>
              <a:t>27</a:t>
            </a:fld>
            <a:endParaRPr lang="en-US"/>
          </a:p>
        </p:txBody>
      </p:sp>
      <p:sp>
        <p:nvSpPr>
          <p:cNvPr id="23555" name="Rectangle 3"/>
          <p:cNvSpPr>
            <a:spLocks noGrp="1" noChangeArrowheads="1"/>
          </p:cNvSpPr>
          <p:nvPr>
            <p:ph sz="quarter" idx="1"/>
          </p:nvPr>
        </p:nvSpPr>
        <p:spPr/>
        <p:txBody>
          <a:bodyPr/>
          <a:lstStyle/>
          <a:p>
            <a:pPr eaLnBrk="1" hangingPunct="1">
              <a:lnSpc>
                <a:spcPct val="90000"/>
              </a:lnSpc>
            </a:pPr>
            <a:r>
              <a:rPr lang="en-US" altLang="ja-JP" sz="2400" b="1" u="sng" dirty="0">
                <a:ea typeface="ＭＳ Ｐゴシック" pitchFamily="34" charset="-128"/>
              </a:rPr>
              <a:t>Toy problems</a:t>
            </a:r>
          </a:p>
          <a:p>
            <a:pPr lvl="1" eaLnBrk="1" hangingPunct="1">
              <a:lnSpc>
                <a:spcPct val="90000"/>
              </a:lnSpc>
            </a:pPr>
            <a:r>
              <a:rPr lang="en-US" altLang="ja-JP" sz="2000" dirty="0">
                <a:ea typeface="ＭＳ Ｐゴシック" pitchFamily="34" charset="-128"/>
              </a:rPr>
              <a:t>Illustrate/test various problem-solving methods</a:t>
            </a:r>
          </a:p>
          <a:p>
            <a:pPr lvl="1" eaLnBrk="1" hangingPunct="1">
              <a:lnSpc>
                <a:spcPct val="90000"/>
              </a:lnSpc>
            </a:pPr>
            <a:r>
              <a:rPr lang="en-US" altLang="ja-JP" sz="2000" dirty="0">
                <a:ea typeface="ＭＳ Ｐゴシック" pitchFamily="34" charset="-128"/>
              </a:rPr>
              <a:t>Exact description</a:t>
            </a:r>
          </a:p>
          <a:p>
            <a:pPr lvl="1" eaLnBrk="1" hangingPunct="1">
              <a:lnSpc>
                <a:spcPct val="90000"/>
              </a:lnSpc>
            </a:pPr>
            <a:r>
              <a:rPr lang="en-US" altLang="ja-JP" sz="2000" dirty="0">
                <a:ea typeface="ＭＳ Ｐゴシック" pitchFamily="34" charset="-128"/>
              </a:rPr>
              <a:t>Can be used to compare performance</a:t>
            </a:r>
          </a:p>
          <a:p>
            <a:pPr lvl="1" eaLnBrk="1" hangingPunct="1">
              <a:lnSpc>
                <a:spcPct val="90000"/>
              </a:lnSpc>
            </a:pPr>
            <a:r>
              <a:rPr lang="en-US" altLang="ja-JP" sz="2000" i="1" dirty="0">
                <a:solidFill>
                  <a:srgbClr val="0000FF"/>
                </a:solidFill>
                <a:ea typeface="ＭＳ Ｐゴシック" pitchFamily="34" charset="-128"/>
              </a:rPr>
              <a:t>Examples</a:t>
            </a:r>
            <a:r>
              <a:rPr lang="en-US" altLang="ja-JP" sz="2000" dirty="0">
                <a:ea typeface="ＭＳ Ｐゴシック" pitchFamily="34" charset="-128"/>
              </a:rPr>
              <a:t>: 8-puzzle, 8-queens problem, Crypt arithmetic, Vacuum world</a:t>
            </a:r>
          </a:p>
          <a:p>
            <a:pPr eaLnBrk="1" hangingPunct="1">
              <a:lnSpc>
                <a:spcPct val="90000"/>
              </a:lnSpc>
            </a:pPr>
            <a:r>
              <a:rPr lang="en-US" altLang="ja-JP" sz="2400" b="1" u="sng" dirty="0">
                <a:ea typeface="ＭＳ Ｐゴシック" pitchFamily="34" charset="-128"/>
              </a:rPr>
              <a:t>Real-world problem</a:t>
            </a:r>
          </a:p>
          <a:p>
            <a:pPr lvl="1" eaLnBrk="1" hangingPunct="1">
              <a:lnSpc>
                <a:spcPct val="90000"/>
              </a:lnSpc>
            </a:pPr>
            <a:r>
              <a:rPr lang="en-US" altLang="ja-JP" sz="2000" dirty="0">
                <a:ea typeface="ＭＳ Ｐゴシック" pitchFamily="34" charset="-128"/>
              </a:rPr>
              <a:t>More difficult</a:t>
            </a:r>
          </a:p>
          <a:p>
            <a:pPr lvl="1" eaLnBrk="1" hangingPunct="1">
              <a:lnSpc>
                <a:spcPct val="90000"/>
              </a:lnSpc>
            </a:pPr>
            <a:r>
              <a:rPr lang="en-US" altLang="ja-JP" sz="2000" i="1" dirty="0">
                <a:solidFill>
                  <a:srgbClr val="0000FF"/>
                </a:solidFill>
                <a:ea typeface="ＭＳ Ｐゴシック" pitchFamily="34" charset="-128"/>
              </a:rPr>
              <a:t>Examples</a:t>
            </a:r>
            <a:r>
              <a:rPr lang="en-US" altLang="ja-JP" sz="2000" dirty="0">
                <a:ea typeface="ＭＳ Ｐゴシック" pitchFamily="34" charset="-128"/>
              </a:rPr>
              <a:t>: Route finding, VLSI layout, Robot navigation, Assembly sequencing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5"/>
          <p:cNvSpPr>
            <a:spLocks noGrp="1" noChangeArrowheads="1"/>
          </p:cNvSpPr>
          <p:nvPr>
            <p:ph type="title"/>
          </p:nvPr>
        </p:nvSpPr>
        <p:spPr>
          <a:xfrm>
            <a:off x="685800" y="0"/>
            <a:ext cx="7772400" cy="1219200"/>
          </a:xfrm>
        </p:spPr>
        <p:txBody>
          <a:bodyPr>
            <a:normAutofit fontScale="90000"/>
          </a:bodyPr>
          <a:lstStyle/>
          <a:p>
            <a:pPr eaLnBrk="1" hangingPunct="1"/>
            <a:r>
              <a:rPr lang="en-US" altLang="ja-JP" sz="4000" dirty="0">
                <a:ea typeface="ＭＳ Ｐゴシック" pitchFamily="34" charset="-128"/>
              </a:rPr>
              <a:t>Toy Problems</a:t>
            </a:r>
            <a:br>
              <a:rPr lang="en-US" altLang="ja-JP" sz="4000" dirty="0">
                <a:ea typeface="ＭＳ Ｐゴシック" pitchFamily="34" charset="-128"/>
              </a:rPr>
            </a:br>
            <a:r>
              <a:rPr lang="en-US" altLang="ja-JP" sz="4000" i="1" dirty="0">
                <a:ea typeface="ＭＳ Ｐゴシック" pitchFamily="34" charset="-128"/>
              </a:rPr>
              <a:t>The vacuum world</a:t>
            </a:r>
            <a:endParaRPr lang="en-US" altLang="ja-JP" sz="4000" dirty="0">
              <a:ea typeface="ＭＳ Ｐゴシック" pitchFamily="34" charset="-128"/>
            </a:endParaRPr>
          </a:p>
        </p:txBody>
      </p:sp>
      <p:sp>
        <p:nvSpPr>
          <p:cNvPr id="25604" name="Rectangle 6"/>
          <p:cNvSpPr>
            <a:spLocks noGrp="1" noChangeArrowheads="1"/>
          </p:cNvSpPr>
          <p:nvPr>
            <p:ph type="body" sz="half" idx="1"/>
          </p:nvPr>
        </p:nvSpPr>
        <p:spPr>
          <a:xfrm>
            <a:off x="304800" y="1447800"/>
            <a:ext cx="4191000" cy="4648200"/>
          </a:xfrm>
        </p:spPr>
        <p:txBody>
          <a:bodyPr/>
          <a:lstStyle/>
          <a:p>
            <a:pPr eaLnBrk="1" hangingPunct="1"/>
            <a:r>
              <a:rPr lang="en-US" altLang="ja-JP" sz="2400" u="sng" dirty="0">
                <a:ea typeface="ＭＳ Ｐゴシック" pitchFamily="34" charset="-128"/>
              </a:rPr>
              <a:t>The vacuum world</a:t>
            </a:r>
          </a:p>
          <a:p>
            <a:pPr lvl="1" eaLnBrk="1" hangingPunct="1"/>
            <a:r>
              <a:rPr lang="en-US" altLang="ja-JP" sz="2000" dirty="0">
                <a:ea typeface="ＭＳ Ｐゴシック" pitchFamily="34" charset="-128"/>
              </a:rPr>
              <a:t>The world has only two </a:t>
            </a:r>
            <a:r>
              <a:rPr lang="en-US" altLang="ja-JP" sz="2000" i="1" dirty="0">
                <a:solidFill>
                  <a:srgbClr val="0000FF"/>
                </a:solidFill>
                <a:ea typeface="ＭＳ Ｐゴシック" pitchFamily="34" charset="-128"/>
              </a:rPr>
              <a:t>locations</a:t>
            </a:r>
          </a:p>
          <a:p>
            <a:pPr lvl="1" eaLnBrk="1" hangingPunct="1"/>
            <a:r>
              <a:rPr lang="en-US" altLang="ja-JP" sz="2000" dirty="0">
                <a:ea typeface="ＭＳ Ｐゴシック" pitchFamily="34" charset="-128"/>
              </a:rPr>
              <a:t>Each location may or may not contain </a:t>
            </a:r>
            <a:r>
              <a:rPr lang="en-US" altLang="ja-JP" sz="2000" i="1" dirty="0">
                <a:solidFill>
                  <a:srgbClr val="0000FF"/>
                </a:solidFill>
                <a:ea typeface="ＭＳ Ｐゴシック" pitchFamily="34" charset="-128"/>
              </a:rPr>
              <a:t>dirt</a:t>
            </a:r>
          </a:p>
          <a:p>
            <a:pPr lvl="1" eaLnBrk="1" hangingPunct="1"/>
            <a:r>
              <a:rPr lang="en-US" altLang="ja-JP" sz="2000" dirty="0">
                <a:ea typeface="ＭＳ Ｐゴシック" pitchFamily="34" charset="-128"/>
              </a:rPr>
              <a:t>The agent may be in one location or the other</a:t>
            </a:r>
          </a:p>
          <a:p>
            <a:pPr lvl="1" eaLnBrk="1" hangingPunct="1"/>
            <a:r>
              <a:rPr lang="en-US" altLang="ja-JP" sz="2000" dirty="0">
                <a:ea typeface="ＭＳ Ｐゴシック" pitchFamily="34" charset="-128"/>
              </a:rPr>
              <a:t>8 possible </a:t>
            </a:r>
            <a:r>
              <a:rPr lang="en-US" altLang="ja-JP" sz="2000" i="1" dirty="0">
                <a:solidFill>
                  <a:srgbClr val="0000FF"/>
                </a:solidFill>
                <a:ea typeface="ＭＳ Ｐゴシック" pitchFamily="34" charset="-128"/>
              </a:rPr>
              <a:t>world states</a:t>
            </a:r>
          </a:p>
          <a:p>
            <a:pPr lvl="1" eaLnBrk="1" hangingPunct="1"/>
            <a:r>
              <a:rPr lang="en-US" altLang="ja-JP" sz="2000" dirty="0">
                <a:ea typeface="ＭＳ Ｐゴシック" pitchFamily="34" charset="-128"/>
              </a:rPr>
              <a:t>Three possible actions: </a:t>
            </a:r>
            <a:r>
              <a:rPr lang="en-US" altLang="ja-JP" sz="2000" i="1" dirty="0">
                <a:solidFill>
                  <a:srgbClr val="0000FF"/>
                </a:solidFill>
                <a:ea typeface="ＭＳ Ｐゴシック" pitchFamily="34" charset="-128"/>
              </a:rPr>
              <a:t>Left, Right, Suck</a:t>
            </a:r>
          </a:p>
          <a:p>
            <a:pPr lvl="1" eaLnBrk="1" hangingPunct="1"/>
            <a:r>
              <a:rPr lang="en-US" altLang="ja-JP" sz="2000" i="1" dirty="0">
                <a:solidFill>
                  <a:srgbClr val="0000FF"/>
                </a:solidFill>
                <a:ea typeface="ＭＳ Ｐゴシック" pitchFamily="34" charset="-128"/>
              </a:rPr>
              <a:t>Goal</a:t>
            </a:r>
            <a:r>
              <a:rPr lang="en-US" altLang="ja-JP" sz="2000" dirty="0">
                <a:ea typeface="ＭＳ Ｐゴシック" pitchFamily="34" charset="-128"/>
              </a:rPr>
              <a:t>: clean up all the dirt</a:t>
            </a:r>
          </a:p>
        </p:txBody>
      </p:sp>
      <p:pic>
        <p:nvPicPr>
          <p:cNvPr id="25605" name="Picture 7" descr="HH02332_[1]"/>
          <p:cNvPicPr>
            <a:picLocks noGrp="1" noChangeAspect="1" noChangeArrowheads="1"/>
          </p:cNvPicPr>
          <p:nvPr>
            <p:ph sz="quarter" idx="2"/>
          </p:nvPr>
        </p:nvPicPr>
        <p:blipFill>
          <a:blip r:embed="rId3"/>
          <a:srcRect/>
          <a:stretch>
            <a:fillRect/>
          </a:stretch>
        </p:blipFill>
        <p:spPr>
          <a:xfrm>
            <a:off x="5362575" y="2057400"/>
            <a:ext cx="504825" cy="355600"/>
          </a:xfrm>
          <a:noFill/>
        </p:spPr>
      </p:pic>
      <p:pic>
        <p:nvPicPr>
          <p:cNvPr id="25621" name="Picture 37" descr="HH02332_[1]"/>
          <p:cNvPicPr>
            <a:picLocks noGrp="1" noChangeAspect="1" noChangeArrowheads="1"/>
          </p:cNvPicPr>
          <p:nvPr>
            <p:ph sz="quarter" idx="3"/>
          </p:nvPr>
        </p:nvPicPr>
        <p:blipFill>
          <a:blip r:embed="rId3"/>
          <a:srcRect/>
          <a:stretch>
            <a:fillRect/>
          </a:stretch>
        </p:blipFill>
        <p:spPr>
          <a:xfrm>
            <a:off x="8250238" y="2057400"/>
            <a:ext cx="436562" cy="307975"/>
          </a:xfrm>
          <a:noFill/>
        </p:spPr>
      </p:pic>
      <p:sp>
        <p:nvSpPr>
          <p:cNvPr id="25601" name="Slide Number Placeholder 7"/>
          <p:cNvSpPr>
            <a:spLocks noGrp="1"/>
          </p:cNvSpPr>
          <p:nvPr>
            <p:ph type="sldNum" sz="quarter" idx="12"/>
          </p:nvPr>
        </p:nvSpPr>
        <p:spPr>
          <a:noFill/>
        </p:spPr>
        <p:txBody>
          <a:bodyPr/>
          <a:lstStyle/>
          <a:p>
            <a:fld id="{0B5DCDDF-194E-4C5A-B6AF-9AC6BAFC3A9B}" type="slidenum">
              <a:rPr lang="en-US"/>
              <a:pPr/>
              <a:t>28</a:t>
            </a:fld>
            <a:endParaRPr lang="en-US"/>
          </a:p>
        </p:txBody>
      </p:sp>
      <p:grpSp>
        <p:nvGrpSpPr>
          <p:cNvPr id="2" name="Group 2"/>
          <p:cNvGrpSpPr>
            <a:grpSpLocks/>
          </p:cNvGrpSpPr>
          <p:nvPr/>
        </p:nvGrpSpPr>
        <p:grpSpPr bwMode="auto">
          <a:xfrm>
            <a:off x="5219700" y="1989138"/>
            <a:ext cx="1584325" cy="720725"/>
            <a:chOff x="1292" y="3612"/>
            <a:chExt cx="998" cy="454"/>
          </a:xfrm>
        </p:grpSpPr>
        <p:sp>
          <p:nvSpPr>
            <p:cNvPr id="25682" name="Rectangle 3"/>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5683" name="Line 4"/>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3" name="Group 8"/>
          <p:cNvGrpSpPr>
            <a:grpSpLocks/>
          </p:cNvGrpSpPr>
          <p:nvPr/>
        </p:nvGrpSpPr>
        <p:grpSpPr bwMode="auto">
          <a:xfrm>
            <a:off x="7307263" y="2997200"/>
            <a:ext cx="1584325" cy="720725"/>
            <a:chOff x="1292" y="3612"/>
            <a:chExt cx="998" cy="454"/>
          </a:xfrm>
        </p:grpSpPr>
        <p:sp>
          <p:nvSpPr>
            <p:cNvPr id="25680" name="Rectangle 9"/>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5681" name="Line 10"/>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4" name="Group 11"/>
          <p:cNvGrpSpPr>
            <a:grpSpLocks/>
          </p:cNvGrpSpPr>
          <p:nvPr/>
        </p:nvGrpSpPr>
        <p:grpSpPr bwMode="auto">
          <a:xfrm>
            <a:off x="5219700" y="2997200"/>
            <a:ext cx="1584325" cy="720725"/>
            <a:chOff x="1292" y="3612"/>
            <a:chExt cx="998" cy="454"/>
          </a:xfrm>
        </p:grpSpPr>
        <p:sp>
          <p:nvSpPr>
            <p:cNvPr id="25678" name="Rectangle 12"/>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5679" name="Line 13"/>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5" name="Group 14"/>
          <p:cNvGrpSpPr>
            <a:grpSpLocks/>
          </p:cNvGrpSpPr>
          <p:nvPr/>
        </p:nvGrpSpPr>
        <p:grpSpPr bwMode="auto">
          <a:xfrm>
            <a:off x="7307263" y="4005263"/>
            <a:ext cx="1584325" cy="720725"/>
            <a:chOff x="1292" y="3612"/>
            <a:chExt cx="998" cy="454"/>
          </a:xfrm>
        </p:grpSpPr>
        <p:sp>
          <p:nvSpPr>
            <p:cNvPr id="25676" name="Rectangle 15"/>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5677" name="Line 16"/>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6" name="Group 17"/>
          <p:cNvGrpSpPr>
            <a:grpSpLocks/>
          </p:cNvGrpSpPr>
          <p:nvPr/>
        </p:nvGrpSpPr>
        <p:grpSpPr bwMode="auto">
          <a:xfrm>
            <a:off x="5219700" y="4005263"/>
            <a:ext cx="1584325" cy="720725"/>
            <a:chOff x="1292" y="3612"/>
            <a:chExt cx="998" cy="454"/>
          </a:xfrm>
        </p:grpSpPr>
        <p:sp>
          <p:nvSpPr>
            <p:cNvPr id="25674" name="Rectangle 18"/>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5675" name="Line 19"/>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7" name="Group 20"/>
          <p:cNvGrpSpPr>
            <a:grpSpLocks/>
          </p:cNvGrpSpPr>
          <p:nvPr/>
        </p:nvGrpSpPr>
        <p:grpSpPr bwMode="auto">
          <a:xfrm>
            <a:off x="7307263" y="5013325"/>
            <a:ext cx="1584325" cy="720725"/>
            <a:chOff x="1292" y="3612"/>
            <a:chExt cx="998" cy="454"/>
          </a:xfrm>
        </p:grpSpPr>
        <p:sp>
          <p:nvSpPr>
            <p:cNvPr id="25672" name="Rectangle 21"/>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5673" name="Line 22"/>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8" name="Group 23"/>
          <p:cNvGrpSpPr>
            <a:grpSpLocks/>
          </p:cNvGrpSpPr>
          <p:nvPr/>
        </p:nvGrpSpPr>
        <p:grpSpPr bwMode="auto">
          <a:xfrm>
            <a:off x="5219700" y="5013325"/>
            <a:ext cx="1584325" cy="720725"/>
            <a:chOff x="1292" y="3612"/>
            <a:chExt cx="998" cy="454"/>
          </a:xfrm>
        </p:grpSpPr>
        <p:sp>
          <p:nvSpPr>
            <p:cNvPr id="25670" name="Rectangle 24"/>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5671" name="Line 25"/>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9" name="Group 26"/>
          <p:cNvGrpSpPr>
            <a:grpSpLocks/>
          </p:cNvGrpSpPr>
          <p:nvPr/>
        </p:nvGrpSpPr>
        <p:grpSpPr bwMode="auto">
          <a:xfrm>
            <a:off x="7307263" y="1989138"/>
            <a:ext cx="1584325" cy="720725"/>
            <a:chOff x="1292" y="3612"/>
            <a:chExt cx="998" cy="454"/>
          </a:xfrm>
        </p:grpSpPr>
        <p:sp>
          <p:nvSpPr>
            <p:cNvPr id="25668" name="Rectangle 27"/>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5669" name="Line 28"/>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sp>
        <p:nvSpPr>
          <p:cNvPr id="25613" name="Text Box 29"/>
          <p:cNvSpPr txBox="1">
            <a:spLocks noChangeArrowheads="1"/>
          </p:cNvSpPr>
          <p:nvPr/>
        </p:nvSpPr>
        <p:spPr bwMode="auto">
          <a:xfrm>
            <a:off x="4859338" y="2133600"/>
            <a:ext cx="336550" cy="457200"/>
          </a:xfrm>
          <a:prstGeom prst="rect">
            <a:avLst/>
          </a:prstGeom>
          <a:noFill/>
          <a:ln w="9525">
            <a:noFill/>
            <a:miter lim="800000"/>
            <a:headEnd/>
            <a:tailEnd/>
          </a:ln>
        </p:spPr>
        <p:txBody>
          <a:bodyPr wrap="none">
            <a:spAutoFit/>
          </a:bodyPr>
          <a:lstStyle/>
          <a:p>
            <a:pPr algn="ctr">
              <a:spcBef>
                <a:spcPct val="20000"/>
              </a:spcBef>
            </a:pPr>
            <a:r>
              <a:rPr kumimoji="1" lang="en-US" altLang="ja-JP"/>
              <a:t>1</a:t>
            </a:r>
          </a:p>
        </p:txBody>
      </p:sp>
      <p:sp>
        <p:nvSpPr>
          <p:cNvPr id="25614" name="Text Box 30"/>
          <p:cNvSpPr txBox="1">
            <a:spLocks noChangeArrowheads="1"/>
          </p:cNvSpPr>
          <p:nvPr/>
        </p:nvSpPr>
        <p:spPr bwMode="auto">
          <a:xfrm>
            <a:off x="6946900" y="2133600"/>
            <a:ext cx="336550" cy="457200"/>
          </a:xfrm>
          <a:prstGeom prst="rect">
            <a:avLst/>
          </a:prstGeom>
          <a:noFill/>
          <a:ln w="9525">
            <a:noFill/>
            <a:miter lim="800000"/>
            <a:headEnd/>
            <a:tailEnd/>
          </a:ln>
        </p:spPr>
        <p:txBody>
          <a:bodyPr wrap="none">
            <a:spAutoFit/>
          </a:bodyPr>
          <a:lstStyle/>
          <a:p>
            <a:pPr algn="ctr">
              <a:spcBef>
                <a:spcPct val="20000"/>
              </a:spcBef>
            </a:pPr>
            <a:r>
              <a:rPr kumimoji="1" lang="en-US" altLang="ja-JP"/>
              <a:t>2</a:t>
            </a:r>
          </a:p>
        </p:txBody>
      </p:sp>
      <p:sp>
        <p:nvSpPr>
          <p:cNvPr id="25615" name="Rectangle 31"/>
          <p:cNvSpPr>
            <a:spLocks noChangeArrowheads="1"/>
          </p:cNvSpPr>
          <p:nvPr/>
        </p:nvSpPr>
        <p:spPr bwMode="auto">
          <a:xfrm>
            <a:off x="6946900" y="3141663"/>
            <a:ext cx="336550" cy="457200"/>
          </a:xfrm>
          <a:prstGeom prst="rect">
            <a:avLst/>
          </a:prstGeom>
          <a:noFill/>
          <a:ln w="9525">
            <a:noFill/>
            <a:miter lim="800000"/>
            <a:headEnd/>
            <a:tailEnd/>
          </a:ln>
        </p:spPr>
        <p:txBody>
          <a:bodyPr>
            <a:spAutoFit/>
          </a:bodyPr>
          <a:lstStyle/>
          <a:p>
            <a:pPr algn="ctr">
              <a:spcBef>
                <a:spcPct val="20000"/>
              </a:spcBef>
            </a:pPr>
            <a:r>
              <a:rPr kumimoji="1" lang="en-US" altLang="ja-JP"/>
              <a:t>4</a:t>
            </a:r>
          </a:p>
        </p:txBody>
      </p:sp>
      <p:sp>
        <p:nvSpPr>
          <p:cNvPr id="25616" name="Text Box 32"/>
          <p:cNvSpPr txBox="1">
            <a:spLocks noChangeArrowheads="1"/>
          </p:cNvSpPr>
          <p:nvPr/>
        </p:nvSpPr>
        <p:spPr bwMode="auto">
          <a:xfrm>
            <a:off x="4859338" y="3141663"/>
            <a:ext cx="336550" cy="457200"/>
          </a:xfrm>
          <a:prstGeom prst="rect">
            <a:avLst/>
          </a:prstGeom>
          <a:noFill/>
          <a:ln w="9525">
            <a:noFill/>
            <a:miter lim="800000"/>
            <a:headEnd/>
            <a:tailEnd/>
          </a:ln>
        </p:spPr>
        <p:txBody>
          <a:bodyPr wrap="none">
            <a:spAutoFit/>
          </a:bodyPr>
          <a:lstStyle/>
          <a:p>
            <a:pPr algn="ctr">
              <a:spcBef>
                <a:spcPct val="20000"/>
              </a:spcBef>
            </a:pPr>
            <a:r>
              <a:rPr kumimoji="1" lang="en-US" altLang="ja-JP"/>
              <a:t>3</a:t>
            </a:r>
          </a:p>
        </p:txBody>
      </p:sp>
      <p:sp>
        <p:nvSpPr>
          <p:cNvPr id="25617" name="Text Box 33"/>
          <p:cNvSpPr txBox="1">
            <a:spLocks noChangeArrowheads="1"/>
          </p:cNvSpPr>
          <p:nvPr/>
        </p:nvSpPr>
        <p:spPr bwMode="auto">
          <a:xfrm>
            <a:off x="4859338" y="4149725"/>
            <a:ext cx="336550" cy="457200"/>
          </a:xfrm>
          <a:prstGeom prst="rect">
            <a:avLst/>
          </a:prstGeom>
          <a:noFill/>
          <a:ln w="9525">
            <a:noFill/>
            <a:miter lim="800000"/>
            <a:headEnd/>
            <a:tailEnd/>
          </a:ln>
        </p:spPr>
        <p:txBody>
          <a:bodyPr wrap="none">
            <a:spAutoFit/>
          </a:bodyPr>
          <a:lstStyle/>
          <a:p>
            <a:pPr algn="ctr">
              <a:spcBef>
                <a:spcPct val="20000"/>
              </a:spcBef>
            </a:pPr>
            <a:r>
              <a:rPr kumimoji="1" lang="en-US" altLang="ja-JP"/>
              <a:t>5</a:t>
            </a:r>
          </a:p>
        </p:txBody>
      </p:sp>
      <p:sp>
        <p:nvSpPr>
          <p:cNvPr id="25618" name="Text Box 34"/>
          <p:cNvSpPr txBox="1">
            <a:spLocks noChangeArrowheads="1"/>
          </p:cNvSpPr>
          <p:nvPr/>
        </p:nvSpPr>
        <p:spPr bwMode="auto">
          <a:xfrm>
            <a:off x="6924675" y="4097338"/>
            <a:ext cx="336550" cy="457200"/>
          </a:xfrm>
          <a:prstGeom prst="rect">
            <a:avLst/>
          </a:prstGeom>
          <a:noFill/>
          <a:ln w="9525">
            <a:noFill/>
            <a:miter lim="800000"/>
            <a:headEnd/>
            <a:tailEnd/>
          </a:ln>
        </p:spPr>
        <p:txBody>
          <a:bodyPr wrap="none">
            <a:spAutoFit/>
          </a:bodyPr>
          <a:lstStyle/>
          <a:p>
            <a:pPr algn="ctr">
              <a:spcBef>
                <a:spcPct val="20000"/>
              </a:spcBef>
            </a:pPr>
            <a:r>
              <a:rPr kumimoji="1" lang="en-US" altLang="ja-JP"/>
              <a:t>6</a:t>
            </a:r>
          </a:p>
        </p:txBody>
      </p:sp>
      <p:sp>
        <p:nvSpPr>
          <p:cNvPr id="25619" name="Text Box 35"/>
          <p:cNvSpPr txBox="1">
            <a:spLocks noChangeArrowheads="1"/>
          </p:cNvSpPr>
          <p:nvPr/>
        </p:nvSpPr>
        <p:spPr bwMode="auto">
          <a:xfrm>
            <a:off x="4835525" y="5105400"/>
            <a:ext cx="336550" cy="457200"/>
          </a:xfrm>
          <a:prstGeom prst="rect">
            <a:avLst/>
          </a:prstGeom>
          <a:noFill/>
          <a:ln w="9525">
            <a:noFill/>
            <a:miter lim="800000"/>
            <a:headEnd/>
            <a:tailEnd/>
          </a:ln>
        </p:spPr>
        <p:txBody>
          <a:bodyPr wrap="none">
            <a:spAutoFit/>
          </a:bodyPr>
          <a:lstStyle/>
          <a:p>
            <a:pPr algn="ctr">
              <a:spcBef>
                <a:spcPct val="20000"/>
              </a:spcBef>
            </a:pPr>
            <a:r>
              <a:rPr kumimoji="1" lang="en-US" altLang="ja-JP"/>
              <a:t>7</a:t>
            </a:r>
          </a:p>
        </p:txBody>
      </p:sp>
      <p:sp>
        <p:nvSpPr>
          <p:cNvPr id="25620" name="Text Box 36"/>
          <p:cNvSpPr txBox="1">
            <a:spLocks noChangeArrowheads="1"/>
          </p:cNvSpPr>
          <p:nvPr/>
        </p:nvSpPr>
        <p:spPr bwMode="auto">
          <a:xfrm>
            <a:off x="6924675" y="5105400"/>
            <a:ext cx="336550" cy="457200"/>
          </a:xfrm>
          <a:prstGeom prst="rect">
            <a:avLst/>
          </a:prstGeom>
          <a:noFill/>
          <a:ln w="9525">
            <a:noFill/>
            <a:miter lim="800000"/>
            <a:headEnd/>
            <a:tailEnd/>
          </a:ln>
        </p:spPr>
        <p:txBody>
          <a:bodyPr wrap="none">
            <a:spAutoFit/>
          </a:bodyPr>
          <a:lstStyle/>
          <a:p>
            <a:pPr algn="ctr">
              <a:spcBef>
                <a:spcPct val="20000"/>
              </a:spcBef>
            </a:pPr>
            <a:r>
              <a:rPr kumimoji="1" lang="en-US" altLang="ja-JP"/>
              <a:t>8</a:t>
            </a:r>
          </a:p>
        </p:txBody>
      </p:sp>
      <p:pic>
        <p:nvPicPr>
          <p:cNvPr id="25622" name="Picture 38" descr="HH02332_[1]"/>
          <p:cNvPicPr>
            <a:picLocks noChangeAspect="1" noChangeArrowheads="1"/>
          </p:cNvPicPr>
          <p:nvPr/>
        </p:nvPicPr>
        <p:blipFill>
          <a:blip r:embed="rId3"/>
          <a:srcRect/>
          <a:stretch>
            <a:fillRect/>
          </a:stretch>
        </p:blipFill>
        <p:spPr bwMode="auto">
          <a:xfrm>
            <a:off x="5364163" y="3068638"/>
            <a:ext cx="504825" cy="355600"/>
          </a:xfrm>
          <a:prstGeom prst="rect">
            <a:avLst/>
          </a:prstGeom>
          <a:noFill/>
          <a:ln w="9525">
            <a:noFill/>
            <a:miter lim="800000"/>
            <a:headEnd/>
            <a:tailEnd/>
          </a:ln>
        </p:spPr>
      </p:pic>
      <p:pic>
        <p:nvPicPr>
          <p:cNvPr id="25623" name="Picture 39" descr="HH02332_[1]"/>
          <p:cNvPicPr>
            <a:picLocks noChangeAspect="1" noChangeArrowheads="1"/>
          </p:cNvPicPr>
          <p:nvPr/>
        </p:nvPicPr>
        <p:blipFill>
          <a:blip r:embed="rId3"/>
          <a:srcRect/>
          <a:stretch>
            <a:fillRect/>
          </a:stretch>
        </p:blipFill>
        <p:spPr bwMode="auto">
          <a:xfrm>
            <a:off x="5364163" y="4076700"/>
            <a:ext cx="504825" cy="355600"/>
          </a:xfrm>
          <a:prstGeom prst="rect">
            <a:avLst/>
          </a:prstGeom>
          <a:noFill/>
          <a:ln w="9525">
            <a:noFill/>
            <a:miter lim="800000"/>
            <a:headEnd/>
            <a:tailEnd/>
          </a:ln>
        </p:spPr>
      </p:pic>
      <p:pic>
        <p:nvPicPr>
          <p:cNvPr id="25624" name="Picture 40" descr="HH02332_[1]"/>
          <p:cNvPicPr>
            <a:picLocks noChangeAspect="1" noChangeArrowheads="1"/>
          </p:cNvPicPr>
          <p:nvPr/>
        </p:nvPicPr>
        <p:blipFill>
          <a:blip r:embed="rId3"/>
          <a:srcRect/>
          <a:stretch>
            <a:fillRect/>
          </a:stretch>
        </p:blipFill>
        <p:spPr bwMode="auto">
          <a:xfrm>
            <a:off x="5364163" y="5084763"/>
            <a:ext cx="504825" cy="355600"/>
          </a:xfrm>
          <a:prstGeom prst="rect">
            <a:avLst/>
          </a:prstGeom>
          <a:noFill/>
          <a:ln w="9525">
            <a:noFill/>
            <a:miter lim="800000"/>
            <a:headEnd/>
            <a:tailEnd/>
          </a:ln>
        </p:spPr>
      </p:pic>
      <p:pic>
        <p:nvPicPr>
          <p:cNvPr id="25625" name="Picture 41" descr="HH02332_[1]"/>
          <p:cNvPicPr>
            <a:picLocks noChangeAspect="1" noChangeArrowheads="1"/>
          </p:cNvPicPr>
          <p:nvPr/>
        </p:nvPicPr>
        <p:blipFill>
          <a:blip r:embed="rId3"/>
          <a:srcRect/>
          <a:stretch>
            <a:fillRect/>
          </a:stretch>
        </p:blipFill>
        <p:spPr bwMode="auto">
          <a:xfrm>
            <a:off x="8243888" y="3068638"/>
            <a:ext cx="504825" cy="355600"/>
          </a:xfrm>
          <a:prstGeom prst="rect">
            <a:avLst/>
          </a:prstGeom>
          <a:noFill/>
          <a:ln w="9525">
            <a:noFill/>
            <a:miter lim="800000"/>
            <a:headEnd/>
            <a:tailEnd/>
          </a:ln>
        </p:spPr>
      </p:pic>
      <p:pic>
        <p:nvPicPr>
          <p:cNvPr id="25626" name="Picture 42" descr="HH02332_[1]"/>
          <p:cNvPicPr>
            <a:picLocks noChangeAspect="1" noChangeArrowheads="1"/>
          </p:cNvPicPr>
          <p:nvPr/>
        </p:nvPicPr>
        <p:blipFill>
          <a:blip r:embed="rId3"/>
          <a:srcRect/>
          <a:stretch>
            <a:fillRect/>
          </a:stretch>
        </p:blipFill>
        <p:spPr bwMode="auto">
          <a:xfrm>
            <a:off x="8243888" y="4076700"/>
            <a:ext cx="504825" cy="355600"/>
          </a:xfrm>
          <a:prstGeom prst="rect">
            <a:avLst/>
          </a:prstGeom>
          <a:noFill/>
          <a:ln w="9525">
            <a:noFill/>
            <a:miter lim="800000"/>
            <a:headEnd/>
            <a:tailEnd/>
          </a:ln>
        </p:spPr>
      </p:pic>
      <p:pic>
        <p:nvPicPr>
          <p:cNvPr id="25627" name="Picture 43" descr="HH02332_[1]"/>
          <p:cNvPicPr>
            <a:picLocks noChangeAspect="1" noChangeArrowheads="1"/>
          </p:cNvPicPr>
          <p:nvPr/>
        </p:nvPicPr>
        <p:blipFill>
          <a:blip r:embed="rId3"/>
          <a:srcRect/>
          <a:stretch>
            <a:fillRect/>
          </a:stretch>
        </p:blipFill>
        <p:spPr bwMode="auto">
          <a:xfrm>
            <a:off x="8243888" y="5084763"/>
            <a:ext cx="504825" cy="355600"/>
          </a:xfrm>
          <a:prstGeom prst="rect">
            <a:avLst/>
          </a:prstGeom>
          <a:noFill/>
          <a:ln w="9525">
            <a:noFill/>
            <a:miter lim="800000"/>
            <a:headEnd/>
            <a:tailEnd/>
          </a:ln>
        </p:spPr>
      </p:pic>
      <p:grpSp>
        <p:nvGrpSpPr>
          <p:cNvPr id="10" name="Group 44"/>
          <p:cNvGrpSpPr>
            <a:grpSpLocks/>
          </p:cNvGrpSpPr>
          <p:nvPr/>
        </p:nvGrpSpPr>
        <p:grpSpPr bwMode="auto">
          <a:xfrm>
            <a:off x="5364163" y="2492375"/>
            <a:ext cx="574675" cy="142875"/>
            <a:chOff x="3379" y="1570"/>
            <a:chExt cx="362" cy="90"/>
          </a:xfrm>
        </p:grpSpPr>
        <p:pic>
          <p:nvPicPr>
            <p:cNvPr id="25664" name="Picture 45"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5665" name="Picture 46"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5666" name="Picture 47"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5667" name="Picture 48"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1" name="Group 49"/>
          <p:cNvGrpSpPr>
            <a:grpSpLocks/>
          </p:cNvGrpSpPr>
          <p:nvPr/>
        </p:nvGrpSpPr>
        <p:grpSpPr bwMode="auto">
          <a:xfrm>
            <a:off x="6084888" y="2492375"/>
            <a:ext cx="574675" cy="142875"/>
            <a:chOff x="3379" y="1570"/>
            <a:chExt cx="362" cy="90"/>
          </a:xfrm>
        </p:grpSpPr>
        <p:pic>
          <p:nvPicPr>
            <p:cNvPr id="25660" name="Picture 50"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5661" name="Picture 51"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5662" name="Picture 52"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5663" name="Picture 53"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2" name="Group 54"/>
          <p:cNvGrpSpPr>
            <a:grpSpLocks/>
          </p:cNvGrpSpPr>
          <p:nvPr/>
        </p:nvGrpSpPr>
        <p:grpSpPr bwMode="auto">
          <a:xfrm>
            <a:off x="7451725" y="2492375"/>
            <a:ext cx="574675" cy="142875"/>
            <a:chOff x="3379" y="1570"/>
            <a:chExt cx="362" cy="90"/>
          </a:xfrm>
        </p:grpSpPr>
        <p:pic>
          <p:nvPicPr>
            <p:cNvPr id="25656" name="Picture 55"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5657" name="Picture 56"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5658" name="Picture 57"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5659" name="Picture 58"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3" name="Group 59"/>
          <p:cNvGrpSpPr>
            <a:grpSpLocks/>
          </p:cNvGrpSpPr>
          <p:nvPr/>
        </p:nvGrpSpPr>
        <p:grpSpPr bwMode="auto">
          <a:xfrm>
            <a:off x="8172450" y="2492375"/>
            <a:ext cx="574675" cy="142875"/>
            <a:chOff x="3379" y="1570"/>
            <a:chExt cx="362" cy="90"/>
          </a:xfrm>
        </p:grpSpPr>
        <p:pic>
          <p:nvPicPr>
            <p:cNvPr id="25652" name="Picture 60"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5653" name="Picture 61"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5654" name="Picture 62"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5655" name="Picture 63"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4" name="Group 64"/>
          <p:cNvGrpSpPr>
            <a:grpSpLocks/>
          </p:cNvGrpSpPr>
          <p:nvPr/>
        </p:nvGrpSpPr>
        <p:grpSpPr bwMode="auto">
          <a:xfrm>
            <a:off x="5364163" y="3500438"/>
            <a:ext cx="574675" cy="142875"/>
            <a:chOff x="3379" y="1570"/>
            <a:chExt cx="362" cy="90"/>
          </a:xfrm>
        </p:grpSpPr>
        <p:pic>
          <p:nvPicPr>
            <p:cNvPr id="25648" name="Picture 65"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5649" name="Picture 66"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5650" name="Picture 67"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5651" name="Picture 68"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5" name="Group 69"/>
          <p:cNvGrpSpPr>
            <a:grpSpLocks/>
          </p:cNvGrpSpPr>
          <p:nvPr/>
        </p:nvGrpSpPr>
        <p:grpSpPr bwMode="auto">
          <a:xfrm>
            <a:off x="7451725" y="3500438"/>
            <a:ext cx="574675" cy="142875"/>
            <a:chOff x="3379" y="1570"/>
            <a:chExt cx="362" cy="90"/>
          </a:xfrm>
        </p:grpSpPr>
        <p:pic>
          <p:nvPicPr>
            <p:cNvPr id="25644" name="Picture 70"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5645" name="Picture 71"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5646" name="Picture 72"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5647" name="Picture 73"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6" name="Group 74"/>
          <p:cNvGrpSpPr>
            <a:grpSpLocks/>
          </p:cNvGrpSpPr>
          <p:nvPr/>
        </p:nvGrpSpPr>
        <p:grpSpPr bwMode="auto">
          <a:xfrm>
            <a:off x="6156325" y="4508500"/>
            <a:ext cx="574675" cy="142875"/>
            <a:chOff x="3379" y="1570"/>
            <a:chExt cx="362" cy="90"/>
          </a:xfrm>
        </p:grpSpPr>
        <p:pic>
          <p:nvPicPr>
            <p:cNvPr id="25640" name="Picture 75"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5641" name="Picture 76"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5642" name="Picture 77"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5643" name="Picture 78"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7" name="Group 79"/>
          <p:cNvGrpSpPr>
            <a:grpSpLocks/>
          </p:cNvGrpSpPr>
          <p:nvPr/>
        </p:nvGrpSpPr>
        <p:grpSpPr bwMode="auto">
          <a:xfrm>
            <a:off x="8243888" y="4508500"/>
            <a:ext cx="574675" cy="142875"/>
            <a:chOff x="3379" y="1570"/>
            <a:chExt cx="362" cy="90"/>
          </a:xfrm>
        </p:grpSpPr>
        <p:pic>
          <p:nvPicPr>
            <p:cNvPr id="25636" name="Picture 80"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5637" name="Picture 81"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5638" name="Picture 82"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5639" name="Picture 83"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01752" y="228600"/>
            <a:ext cx="8534400" cy="990600"/>
          </a:xfrm>
        </p:spPr>
        <p:txBody>
          <a:bodyPr>
            <a:normAutofit fontScale="90000"/>
          </a:bodyPr>
          <a:lstStyle/>
          <a:p>
            <a:pPr eaLnBrk="1" hangingPunct="1"/>
            <a:r>
              <a:rPr lang="en-US" altLang="ja-JP" sz="4000" dirty="0">
                <a:ea typeface="ＭＳ Ｐゴシック" pitchFamily="34" charset="-128"/>
              </a:rPr>
              <a:t>Toy Problems</a:t>
            </a:r>
            <a:br>
              <a:rPr lang="en-US" altLang="ja-JP" sz="4000" dirty="0">
                <a:ea typeface="ＭＳ Ｐゴシック" pitchFamily="34" charset="-128"/>
              </a:rPr>
            </a:br>
            <a:r>
              <a:rPr lang="en-US" altLang="ja-JP" sz="4000" i="1" dirty="0">
                <a:ea typeface="ＭＳ Ｐゴシック" pitchFamily="34" charset="-128"/>
              </a:rPr>
              <a:t>The vacuum world</a:t>
            </a:r>
          </a:p>
        </p:txBody>
      </p:sp>
      <p:sp>
        <p:nvSpPr>
          <p:cNvPr id="27649" name="Slide Number Placeholder 5"/>
          <p:cNvSpPr>
            <a:spLocks noGrp="1"/>
          </p:cNvSpPr>
          <p:nvPr>
            <p:ph type="sldNum" sz="quarter" idx="12"/>
          </p:nvPr>
        </p:nvSpPr>
        <p:spPr>
          <a:noFill/>
        </p:spPr>
        <p:txBody>
          <a:bodyPr/>
          <a:lstStyle/>
          <a:p>
            <a:fld id="{644C6050-52E2-4388-836B-9ABF9DB89B2F}" type="slidenum">
              <a:rPr lang="en-US"/>
              <a:pPr/>
              <a:t>29</a:t>
            </a:fld>
            <a:endParaRPr lang="en-US"/>
          </a:p>
        </p:txBody>
      </p:sp>
      <p:sp>
        <p:nvSpPr>
          <p:cNvPr id="112643" name="Rectangle 3"/>
          <p:cNvSpPr>
            <a:spLocks noGrp="1" noChangeArrowheads="1"/>
          </p:cNvSpPr>
          <p:nvPr>
            <p:ph sz="quarter" idx="1"/>
          </p:nvPr>
        </p:nvSpPr>
        <p:spPr>
          <a:xfrm>
            <a:off x="381000" y="1600201"/>
            <a:ext cx="8077200" cy="1600199"/>
          </a:xfrm>
        </p:spPr>
        <p:txBody>
          <a:bodyPr>
            <a:normAutofit lnSpcReduction="10000"/>
          </a:bodyPr>
          <a:lstStyle/>
          <a:p>
            <a:pPr lvl="1" eaLnBrk="1" hangingPunct="1">
              <a:lnSpc>
                <a:spcPct val="90000"/>
              </a:lnSpc>
            </a:pPr>
            <a:r>
              <a:rPr lang="en-US" altLang="ja-JP" sz="2400" i="1" dirty="0">
                <a:solidFill>
                  <a:srgbClr val="0000FF"/>
                </a:solidFill>
                <a:ea typeface="ＭＳ Ｐゴシック" pitchFamily="34" charset="-128"/>
              </a:rPr>
              <a:t>States</a:t>
            </a:r>
            <a:r>
              <a:rPr lang="en-US" altLang="ja-JP" sz="2400" dirty="0">
                <a:ea typeface="ＭＳ Ｐゴシック" pitchFamily="34" charset="-128"/>
              </a:rPr>
              <a:t>: one of the 8 states given earlier</a:t>
            </a:r>
          </a:p>
          <a:p>
            <a:pPr lvl="1" eaLnBrk="1" hangingPunct="1">
              <a:lnSpc>
                <a:spcPct val="90000"/>
              </a:lnSpc>
            </a:pPr>
            <a:r>
              <a:rPr lang="en-US" altLang="ja-JP" sz="2400" i="1" dirty="0">
                <a:solidFill>
                  <a:srgbClr val="0000FF"/>
                </a:solidFill>
                <a:ea typeface="ＭＳ Ｐゴシック" pitchFamily="34" charset="-128"/>
              </a:rPr>
              <a:t>Operators</a:t>
            </a:r>
            <a:r>
              <a:rPr lang="en-US" altLang="ja-JP" sz="2400" dirty="0">
                <a:ea typeface="ＭＳ Ｐゴシック" pitchFamily="34" charset="-128"/>
              </a:rPr>
              <a:t>: move left, move right, suck</a:t>
            </a:r>
          </a:p>
          <a:p>
            <a:pPr lvl="1" eaLnBrk="1" hangingPunct="1">
              <a:lnSpc>
                <a:spcPct val="90000"/>
              </a:lnSpc>
            </a:pPr>
            <a:r>
              <a:rPr lang="en-US" altLang="ja-JP" sz="2400" i="1" dirty="0">
                <a:solidFill>
                  <a:srgbClr val="0000FF"/>
                </a:solidFill>
                <a:ea typeface="ＭＳ Ｐゴシック" pitchFamily="34" charset="-128"/>
              </a:rPr>
              <a:t>Goal test</a:t>
            </a:r>
            <a:r>
              <a:rPr lang="en-US" altLang="ja-JP" sz="2400" dirty="0">
                <a:ea typeface="ＭＳ Ｐゴシック" pitchFamily="34" charset="-128"/>
              </a:rPr>
              <a:t>: no dirt left in any square</a:t>
            </a:r>
          </a:p>
          <a:p>
            <a:pPr lvl="1" eaLnBrk="1" hangingPunct="1">
              <a:lnSpc>
                <a:spcPct val="90000"/>
              </a:lnSpc>
            </a:pPr>
            <a:r>
              <a:rPr lang="en-US" altLang="ja-JP" sz="2400" i="1" dirty="0">
                <a:solidFill>
                  <a:srgbClr val="0000FF"/>
                </a:solidFill>
                <a:ea typeface="ＭＳ Ｐゴシック" pitchFamily="34" charset="-128"/>
              </a:rPr>
              <a:t>Path cost</a:t>
            </a:r>
            <a:r>
              <a:rPr lang="en-US" altLang="ja-JP" sz="2400" dirty="0">
                <a:ea typeface="ＭＳ Ｐゴシック" pitchFamily="34" charset="-128"/>
              </a:rPr>
              <a:t>: each action costs one</a:t>
            </a:r>
            <a:endParaRPr lang="en-US" altLang="ja-JP" sz="2400" b="1" dirty="0">
              <a:ea typeface="ＭＳ Ｐゴシック" pitchFamily="34" charset="-128"/>
            </a:endParaRPr>
          </a:p>
        </p:txBody>
      </p:sp>
      <p:grpSp>
        <p:nvGrpSpPr>
          <p:cNvPr id="2" name="Group 100"/>
          <p:cNvGrpSpPr>
            <a:grpSpLocks/>
          </p:cNvGrpSpPr>
          <p:nvPr/>
        </p:nvGrpSpPr>
        <p:grpSpPr bwMode="auto">
          <a:xfrm>
            <a:off x="304801" y="3352800"/>
            <a:ext cx="8534399" cy="3505200"/>
            <a:chOff x="703" y="2160"/>
            <a:chExt cx="4899" cy="1974"/>
          </a:xfrm>
        </p:grpSpPr>
        <p:grpSp>
          <p:nvGrpSpPr>
            <p:cNvPr id="3" name="Group 4"/>
            <p:cNvGrpSpPr>
              <a:grpSpLocks/>
            </p:cNvGrpSpPr>
            <p:nvPr/>
          </p:nvGrpSpPr>
          <p:grpSpPr bwMode="auto">
            <a:xfrm>
              <a:off x="1973" y="2160"/>
              <a:ext cx="998" cy="454"/>
              <a:chOff x="1292" y="3612"/>
              <a:chExt cx="998" cy="454"/>
            </a:xfrm>
          </p:grpSpPr>
          <p:sp>
            <p:nvSpPr>
              <p:cNvPr id="27747" name="Rectangle 5"/>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7748" name="Line 6"/>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pic>
          <p:nvPicPr>
            <p:cNvPr id="27654" name="Picture 7" descr="HH02332_[1]"/>
            <p:cNvPicPr>
              <a:picLocks noChangeAspect="1" noChangeArrowheads="1"/>
            </p:cNvPicPr>
            <p:nvPr/>
          </p:nvPicPr>
          <p:blipFill>
            <a:blip r:embed="rId3"/>
            <a:srcRect/>
            <a:stretch>
              <a:fillRect/>
            </a:stretch>
          </p:blipFill>
          <p:spPr bwMode="auto">
            <a:xfrm>
              <a:off x="2064" y="2205"/>
              <a:ext cx="318" cy="224"/>
            </a:xfrm>
            <a:prstGeom prst="rect">
              <a:avLst/>
            </a:prstGeom>
            <a:noFill/>
            <a:ln w="9525">
              <a:noFill/>
              <a:miter lim="800000"/>
              <a:headEnd/>
              <a:tailEnd/>
            </a:ln>
          </p:spPr>
        </p:pic>
        <p:grpSp>
          <p:nvGrpSpPr>
            <p:cNvPr id="4" name="Group 8"/>
            <p:cNvGrpSpPr>
              <a:grpSpLocks/>
            </p:cNvGrpSpPr>
            <p:nvPr/>
          </p:nvGrpSpPr>
          <p:grpSpPr bwMode="auto">
            <a:xfrm>
              <a:off x="4604" y="2795"/>
              <a:ext cx="998" cy="454"/>
              <a:chOff x="1292" y="3612"/>
              <a:chExt cx="998" cy="454"/>
            </a:xfrm>
          </p:grpSpPr>
          <p:sp>
            <p:nvSpPr>
              <p:cNvPr id="27745" name="Rectangle 9"/>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7746" name="Line 10"/>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5" name="Group 11"/>
            <p:cNvGrpSpPr>
              <a:grpSpLocks/>
            </p:cNvGrpSpPr>
            <p:nvPr/>
          </p:nvGrpSpPr>
          <p:grpSpPr bwMode="auto">
            <a:xfrm>
              <a:off x="3334" y="2795"/>
              <a:ext cx="998" cy="454"/>
              <a:chOff x="1292" y="3612"/>
              <a:chExt cx="998" cy="454"/>
            </a:xfrm>
          </p:grpSpPr>
          <p:sp>
            <p:nvSpPr>
              <p:cNvPr id="27743" name="Rectangle 12"/>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7744" name="Line 13"/>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6" name="Group 14"/>
            <p:cNvGrpSpPr>
              <a:grpSpLocks/>
            </p:cNvGrpSpPr>
            <p:nvPr/>
          </p:nvGrpSpPr>
          <p:grpSpPr bwMode="auto">
            <a:xfrm>
              <a:off x="1973" y="2795"/>
              <a:ext cx="998" cy="454"/>
              <a:chOff x="1292" y="3612"/>
              <a:chExt cx="998" cy="454"/>
            </a:xfrm>
          </p:grpSpPr>
          <p:sp>
            <p:nvSpPr>
              <p:cNvPr id="27741" name="Rectangle 15"/>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7742" name="Line 16"/>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7" name="Group 17"/>
            <p:cNvGrpSpPr>
              <a:grpSpLocks/>
            </p:cNvGrpSpPr>
            <p:nvPr/>
          </p:nvGrpSpPr>
          <p:grpSpPr bwMode="auto">
            <a:xfrm>
              <a:off x="703" y="2795"/>
              <a:ext cx="998" cy="454"/>
              <a:chOff x="1292" y="3612"/>
              <a:chExt cx="998" cy="454"/>
            </a:xfrm>
          </p:grpSpPr>
          <p:sp>
            <p:nvSpPr>
              <p:cNvPr id="27739" name="Rectangle 18"/>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7740" name="Line 19"/>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8" name="Group 20"/>
            <p:cNvGrpSpPr>
              <a:grpSpLocks/>
            </p:cNvGrpSpPr>
            <p:nvPr/>
          </p:nvGrpSpPr>
          <p:grpSpPr bwMode="auto">
            <a:xfrm>
              <a:off x="3334" y="3475"/>
              <a:ext cx="998" cy="454"/>
              <a:chOff x="1292" y="3612"/>
              <a:chExt cx="998" cy="454"/>
            </a:xfrm>
          </p:grpSpPr>
          <p:sp>
            <p:nvSpPr>
              <p:cNvPr id="27737" name="Rectangle 21"/>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7738" name="Line 22"/>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9" name="Group 23"/>
            <p:cNvGrpSpPr>
              <a:grpSpLocks/>
            </p:cNvGrpSpPr>
            <p:nvPr/>
          </p:nvGrpSpPr>
          <p:grpSpPr bwMode="auto">
            <a:xfrm>
              <a:off x="1973" y="3475"/>
              <a:ext cx="998" cy="454"/>
              <a:chOff x="1292" y="3612"/>
              <a:chExt cx="998" cy="454"/>
            </a:xfrm>
          </p:grpSpPr>
          <p:sp>
            <p:nvSpPr>
              <p:cNvPr id="27735" name="Rectangle 24"/>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7736" name="Line 25"/>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grpSp>
          <p:nvGrpSpPr>
            <p:cNvPr id="10" name="Group 26"/>
            <p:cNvGrpSpPr>
              <a:grpSpLocks/>
            </p:cNvGrpSpPr>
            <p:nvPr/>
          </p:nvGrpSpPr>
          <p:grpSpPr bwMode="auto">
            <a:xfrm>
              <a:off x="3334" y="2160"/>
              <a:ext cx="998" cy="454"/>
              <a:chOff x="1292" y="3612"/>
              <a:chExt cx="998" cy="454"/>
            </a:xfrm>
          </p:grpSpPr>
          <p:sp>
            <p:nvSpPr>
              <p:cNvPr id="27733" name="Rectangle 27"/>
              <p:cNvSpPr>
                <a:spLocks noChangeArrowheads="1"/>
              </p:cNvSpPr>
              <p:nvPr/>
            </p:nvSpPr>
            <p:spPr bwMode="auto">
              <a:xfrm>
                <a:off x="1292" y="3612"/>
                <a:ext cx="998" cy="454"/>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27734" name="Line 28"/>
              <p:cNvSpPr>
                <a:spLocks noChangeShapeType="1"/>
              </p:cNvSpPr>
              <p:nvPr/>
            </p:nvSpPr>
            <p:spPr bwMode="auto">
              <a:xfrm>
                <a:off x="1791" y="3612"/>
                <a:ext cx="0" cy="454"/>
              </a:xfrm>
              <a:prstGeom prst="line">
                <a:avLst/>
              </a:prstGeom>
              <a:noFill/>
              <a:ln w="9525">
                <a:solidFill>
                  <a:schemeClr val="tx1"/>
                </a:solidFill>
                <a:round/>
                <a:headEnd/>
                <a:tailEnd/>
              </a:ln>
            </p:spPr>
            <p:txBody>
              <a:bodyPr wrap="none"/>
              <a:lstStyle/>
              <a:p>
                <a:endParaRPr lang="en-US"/>
              </a:p>
            </p:txBody>
          </p:sp>
        </p:grpSp>
        <p:pic>
          <p:nvPicPr>
            <p:cNvPr id="27662" name="Picture 29" descr="HH02332_[1]"/>
            <p:cNvPicPr>
              <a:picLocks noChangeAspect="1" noChangeArrowheads="1"/>
            </p:cNvPicPr>
            <p:nvPr/>
          </p:nvPicPr>
          <p:blipFill>
            <a:blip r:embed="rId3"/>
            <a:srcRect/>
            <a:stretch>
              <a:fillRect/>
            </a:stretch>
          </p:blipFill>
          <p:spPr bwMode="auto">
            <a:xfrm>
              <a:off x="3924" y="2205"/>
              <a:ext cx="275" cy="194"/>
            </a:xfrm>
            <a:prstGeom prst="rect">
              <a:avLst/>
            </a:prstGeom>
            <a:noFill/>
            <a:ln w="9525">
              <a:noFill/>
              <a:miter lim="800000"/>
              <a:headEnd/>
              <a:tailEnd/>
            </a:ln>
          </p:spPr>
        </p:pic>
        <p:pic>
          <p:nvPicPr>
            <p:cNvPr id="27663" name="Picture 30" descr="HH02332_[1]"/>
            <p:cNvPicPr>
              <a:picLocks noChangeAspect="1" noChangeArrowheads="1"/>
            </p:cNvPicPr>
            <p:nvPr/>
          </p:nvPicPr>
          <p:blipFill>
            <a:blip r:embed="rId3"/>
            <a:srcRect/>
            <a:stretch>
              <a:fillRect/>
            </a:stretch>
          </p:blipFill>
          <p:spPr bwMode="auto">
            <a:xfrm>
              <a:off x="3425" y="2840"/>
              <a:ext cx="318" cy="224"/>
            </a:xfrm>
            <a:prstGeom prst="rect">
              <a:avLst/>
            </a:prstGeom>
            <a:noFill/>
            <a:ln w="9525">
              <a:noFill/>
              <a:miter lim="800000"/>
              <a:headEnd/>
              <a:tailEnd/>
            </a:ln>
          </p:spPr>
        </p:pic>
        <p:pic>
          <p:nvPicPr>
            <p:cNvPr id="27664" name="Picture 31" descr="HH02332_[1]"/>
            <p:cNvPicPr>
              <a:picLocks noChangeAspect="1" noChangeArrowheads="1"/>
            </p:cNvPicPr>
            <p:nvPr/>
          </p:nvPicPr>
          <p:blipFill>
            <a:blip r:embed="rId3"/>
            <a:srcRect/>
            <a:stretch>
              <a:fillRect/>
            </a:stretch>
          </p:blipFill>
          <p:spPr bwMode="auto">
            <a:xfrm>
              <a:off x="794" y="2840"/>
              <a:ext cx="318" cy="224"/>
            </a:xfrm>
            <a:prstGeom prst="rect">
              <a:avLst/>
            </a:prstGeom>
            <a:noFill/>
            <a:ln w="9525">
              <a:noFill/>
              <a:miter lim="800000"/>
              <a:headEnd/>
              <a:tailEnd/>
            </a:ln>
          </p:spPr>
        </p:pic>
        <p:pic>
          <p:nvPicPr>
            <p:cNvPr id="27665" name="Picture 32" descr="HH02332_[1]"/>
            <p:cNvPicPr>
              <a:picLocks noChangeAspect="1" noChangeArrowheads="1"/>
            </p:cNvPicPr>
            <p:nvPr/>
          </p:nvPicPr>
          <p:blipFill>
            <a:blip r:embed="rId3"/>
            <a:srcRect/>
            <a:stretch>
              <a:fillRect/>
            </a:stretch>
          </p:blipFill>
          <p:spPr bwMode="auto">
            <a:xfrm>
              <a:off x="2064" y="3520"/>
              <a:ext cx="318" cy="224"/>
            </a:xfrm>
            <a:prstGeom prst="rect">
              <a:avLst/>
            </a:prstGeom>
            <a:noFill/>
            <a:ln w="9525">
              <a:noFill/>
              <a:miter lim="800000"/>
              <a:headEnd/>
              <a:tailEnd/>
            </a:ln>
          </p:spPr>
        </p:pic>
        <p:pic>
          <p:nvPicPr>
            <p:cNvPr id="27666" name="Picture 33" descr="HH02332_[1]"/>
            <p:cNvPicPr>
              <a:picLocks noChangeAspect="1" noChangeArrowheads="1"/>
            </p:cNvPicPr>
            <p:nvPr/>
          </p:nvPicPr>
          <p:blipFill>
            <a:blip r:embed="rId3"/>
            <a:srcRect/>
            <a:stretch>
              <a:fillRect/>
            </a:stretch>
          </p:blipFill>
          <p:spPr bwMode="auto">
            <a:xfrm>
              <a:off x="5194" y="2840"/>
              <a:ext cx="318" cy="224"/>
            </a:xfrm>
            <a:prstGeom prst="rect">
              <a:avLst/>
            </a:prstGeom>
            <a:noFill/>
            <a:ln w="9525">
              <a:noFill/>
              <a:miter lim="800000"/>
              <a:headEnd/>
              <a:tailEnd/>
            </a:ln>
          </p:spPr>
        </p:pic>
        <p:pic>
          <p:nvPicPr>
            <p:cNvPr id="27667" name="Picture 34" descr="HH02332_[1]"/>
            <p:cNvPicPr>
              <a:picLocks noChangeAspect="1" noChangeArrowheads="1"/>
            </p:cNvPicPr>
            <p:nvPr/>
          </p:nvPicPr>
          <p:blipFill>
            <a:blip r:embed="rId3"/>
            <a:srcRect/>
            <a:stretch>
              <a:fillRect/>
            </a:stretch>
          </p:blipFill>
          <p:spPr bwMode="auto">
            <a:xfrm>
              <a:off x="2563" y="2840"/>
              <a:ext cx="318" cy="224"/>
            </a:xfrm>
            <a:prstGeom prst="rect">
              <a:avLst/>
            </a:prstGeom>
            <a:noFill/>
            <a:ln w="9525">
              <a:noFill/>
              <a:miter lim="800000"/>
              <a:headEnd/>
              <a:tailEnd/>
            </a:ln>
          </p:spPr>
        </p:pic>
        <p:pic>
          <p:nvPicPr>
            <p:cNvPr id="27668" name="Picture 35" descr="HH02332_[1]"/>
            <p:cNvPicPr>
              <a:picLocks noChangeAspect="1" noChangeArrowheads="1"/>
            </p:cNvPicPr>
            <p:nvPr/>
          </p:nvPicPr>
          <p:blipFill>
            <a:blip r:embed="rId3"/>
            <a:srcRect/>
            <a:stretch>
              <a:fillRect/>
            </a:stretch>
          </p:blipFill>
          <p:spPr bwMode="auto">
            <a:xfrm>
              <a:off x="3924" y="3520"/>
              <a:ext cx="318" cy="224"/>
            </a:xfrm>
            <a:prstGeom prst="rect">
              <a:avLst/>
            </a:prstGeom>
            <a:noFill/>
            <a:ln w="9525">
              <a:noFill/>
              <a:miter lim="800000"/>
              <a:headEnd/>
              <a:tailEnd/>
            </a:ln>
          </p:spPr>
        </p:pic>
        <p:grpSp>
          <p:nvGrpSpPr>
            <p:cNvPr id="11" name="Group 36"/>
            <p:cNvGrpSpPr>
              <a:grpSpLocks/>
            </p:cNvGrpSpPr>
            <p:nvPr/>
          </p:nvGrpSpPr>
          <p:grpSpPr bwMode="auto">
            <a:xfrm>
              <a:off x="2064" y="2477"/>
              <a:ext cx="362" cy="90"/>
              <a:chOff x="3379" y="1570"/>
              <a:chExt cx="362" cy="90"/>
            </a:xfrm>
          </p:grpSpPr>
          <p:pic>
            <p:nvPicPr>
              <p:cNvPr id="27729" name="Picture 37"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7730" name="Picture 38"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7731" name="Picture 39"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7732" name="Picture 40"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2" name="Group 41"/>
            <p:cNvGrpSpPr>
              <a:grpSpLocks/>
            </p:cNvGrpSpPr>
            <p:nvPr/>
          </p:nvGrpSpPr>
          <p:grpSpPr bwMode="auto">
            <a:xfrm>
              <a:off x="2518" y="2477"/>
              <a:ext cx="362" cy="90"/>
              <a:chOff x="3379" y="1570"/>
              <a:chExt cx="362" cy="90"/>
            </a:xfrm>
          </p:grpSpPr>
          <p:pic>
            <p:nvPicPr>
              <p:cNvPr id="27725" name="Picture 42"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7726" name="Picture 43"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7727" name="Picture 44"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7728" name="Picture 45"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3" name="Group 46"/>
            <p:cNvGrpSpPr>
              <a:grpSpLocks/>
            </p:cNvGrpSpPr>
            <p:nvPr/>
          </p:nvGrpSpPr>
          <p:grpSpPr bwMode="auto">
            <a:xfrm>
              <a:off x="3425" y="2477"/>
              <a:ext cx="362" cy="90"/>
              <a:chOff x="3379" y="1570"/>
              <a:chExt cx="362" cy="90"/>
            </a:xfrm>
          </p:grpSpPr>
          <p:pic>
            <p:nvPicPr>
              <p:cNvPr id="27721" name="Picture 47"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7722" name="Picture 48"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7723" name="Picture 49"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7724" name="Picture 50"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4" name="Group 51"/>
            <p:cNvGrpSpPr>
              <a:grpSpLocks/>
            </p:cNvGrpSpPr>
            <p:nvPr/>
          </p:nvGrpSpPr>
          <p:grpSpPr bwMode="auto">
            <a:xfrm>
              <a:off x="3879" y="2477"/>
              <a:ext cx="362" cy="90"/>
              <a:chOff x="3379" y="1570"/>
              <a:chExt cx="362" cy="90"/>
            </a:xfrm>
          </p:grpSpPr>
          <p:pic>
            <p:nvPicPr>
              <p:cNvPr id="27717" name="Picture 52"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7718" name="Picture 53"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7719" name="Picture 54"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7720" name="Picture 55"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5" name="Group 56"/>
            <p:cNvGrpSpPr>
              <a:grpSpLocks/>
            </p:cNvGrpSpPr>
            <p:nvPr/>
          </p:nvGrpSpPr>
          <p:grpSpPr bwMode="auto">
            <a:xfrm>
              <a:off x="3425" y="3112"/>
              <a:ext cx="362" cy="90"/>
              <a:chOff x="3379" y="1570"/>
              <a:chExt cx="362" cy="90"/>
            </a:xfrm>
          </p:grpSpPr>
          <p:pic>
            <p:nvPicPr>
              <p:cNvPr id="27713" name="Picture 57"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7714" name="Picture 58"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7715" name="Picture 59"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7716" name="Picture 60"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6" name="Group 61"/>
            <p:cNvGrpSpPr>
              <a:grpSpLocks/>
            </p:cNvGrpSpPr>
            <p:nvPr/>
          </p:nvGrpSpPr>
          <p:grpSpPr bwMode="auto">
            <a:xfrm>
              <a:off x="4695" y="3112"/>
              <a:ext cx="362" cy="90"/>
              <a:chOff x="3379" y="1570"/>
              <a:chExt cx="362" cy="90"/>
            </a:xfrm>
          </p:grpSpPr>
          <p:pic>
            <p:nvPicPr>
              <p:cNvPr id="27709" name="Picture 62"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7710" name="Picture 63"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7711" name="Picture 64"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7712" name="Picture 65"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7" name="Group 66"/>
            <p:cNvGrpSpPr>
              <a:grpSpLocks/>
            </p:cNvGrpSpPr>
            <p:nvPr/>
          </p:nvGrpSpPr>
          <p:grpSpPr bwMode="auto">
            <a:xfrm>
              <a:off x="1293" y="3112"/>
              <a:ext cx="362" cy="90"/>
              <a:chOff x="3379" y="1570"/>
              <a:chExt cx="362" cy="90"/>
            </a:xfrm>
          </p:grpSpPr>
          <p:pic>
            <p:nvPicPr>
              <p:cNvPr id="27705" name="Picture 67"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7706" name="Picture 68"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7707" name="Picture 69"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7708" name="Picture 70"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grpSp>
          <p:nvGrpSpPr>
            <p:cNvPr id="18" name="Group 71"/>
            <p:cNvGrpSpPr>
              <a:grpSpLocks/>
            </p:cNvGrpSpPr>
            <p:nvPr/>
          </p:nvGrpSpPr>
          <p:grpSpPr bwMode="auto">
            <a:xfrm>
              <a:off x="2563" y="3112"/>
              <a:ext cx="362" cy="90"/>
              <a:chOff x="3379" y="1570"/>
              <a:chExt cx="362" cy="90"/>
            </a:xfrm>
          </p:grpSpPr>
          <p:pic>
            <p:nvPicPr>
              <p:cNvPr id="27701" name="Picture 72" descr="BD15272_[1]"/>
              <p:cNvPicPr>
                <a:picLocks noChangeAspect="1" noChangeArrowheads="1"/>
              </p:cNvPicPr>
              <p:nvPr/>
            </p:nvPicPr>
            <p:blipFill>
              <a:blip r:embed="rId4"/>
              <a:srcRect/>
              <a:stretch>
                <a:fillRect/>
              </a:stretch>
            </p:blipFill>
            <p:spPr bwMode="auto">
              <a:xfrm>
                <a:off x="3379" y="1570"/>
                <a:ext cx="90" cy="90"/>
              </a:xfrm>
              <a:prstGeom prst="rect">
                <a:avLst/>
              </a:prstGeom>
              <a:noFill/>
              <a:ln w="9525">
                <a:noFill/>
                <a:miter lim="800000"/>
                <a:headEnd/>
                <a:tailEnd/>
              </a:ln>
            </p:spPr>
          </p:pic>
          <p:pic>
            <p:nvPicPr>
              <p:cNvPr id="27702" name="Picture 73" descr="BD15272_[1]"/>
              <p:cNvPicPr>
                <a:picLocks noChangeAspect="1" noChangeArrowheads="1"/>
              </p:cNvPicPr>
              <p:nvPr/>
            </p:nvPicPr>
            <p:blipFill>
              <a:blip r:embed="rId4"/>
              <a:srcRect/>
              <a:stretch>
                <a:fillRect/>
              </a:stretch>
            </p:blipFill>
            <p:spPr bwMode="auto">
              <a:xfrm>
                <a:off x="3470" y="1570"/>
                <a:ext cx="90" cy="90"/>
              </a:xfrm>
              <a:prstGeom prst="rect">
                <a:avLst/>
              </a:prstGeom>
              <a:noFill/>
              <a:ln w="9525">
                <a:noFill/>
                <a:miter lim="800000"/>
                <a:headEnd/>
                <a:tailEnd/>
              </a:ln>
            </p:spPr>
          </p:pic>
          <p:pic>
            <p:nvPicPr>
              <p:cNvPr id="27703" name="Picture 74" descr="BD15272_[1]"/>
              <p:cNvPicPr>
                <a:picLocks noChangeAspect="1" noChangeArrowheads="1"/>
              </p:cNvPicPr>
              <p:nvPr/>
            </p:nvPicPr>
            <p:blipFill>
              <a:blip r:embed="rId4"/>
              <a:srcRect/>
              <a:stretch>
                <a:fillRect/>
              </a:stretch>
            </p:blipFill>
            <p:spPr bwMode="auto">
              <a:xfrm>
                <a:off x="3560" y="1570"/>
                <a:ext cx="90" cy="90"/>
              </a:xfrm>
              <a:prstGeom prst="rect">
                <a:avLst/>
              </a:prstGeom>
              <a:noFill/>
              <a:ln w="9525">
                <a:noFill/>
                <a:miter lim="800000"/>
                <a:headEnd/>
                <a:tailEnd/>
              </a:ln>
            </p:spPr>
          </p:pic>
          <p:pic>
            <p:nvPicPr>
              <p:cNvPr id="27704" name="Picture 75" descr="BD15272_[1]"/>
              <p:cNvPicPr>
                <a:picLocks noChangeAspect="1" noChangeArrowheads="1"/>
              </p:cNvPicPr>
              <p:nvPr/>
            </p:nvPicPr>
            <p:blipFill>
              <a:blip r:embed="rId4"/>
              <a:srcRect/>
              <a:stretch>
                <a:fillRect/>
              </a:stretch>
            </p:blipFill>
            <p:spPr bwMode="auto">
              <a:xfrm>
                <a:off x="3651" y="1570"/>
                <a:ext cx="90" cy="90"/>
              </a:xfrm>
              <a:prstGeom prst="rect">
                <a:avLst/>
              </a:prstGeom>
              <a:noFill/>
              <a:ln w="9525">
                <a:noFill/>
                <a:miter lim="800000"/>
                <a:headEnd/>
                <a:tailEnd/>
              </a:ln>
            </p:spPr>
          </p:pic>
        </p:grpSp>
        <p:sp>
          <p:nvSpPr>
            <p:cNvPr id="27677" name="Line 76"/>
            <p:cNvSpPr>
              <a:spLocks noChangeShapeType="1"/>
            </p:cNvSpPr>
            <p:nvPr/>
          </p:nvSpPr>
          <p:spPr bwMode="auto">
            <a:xfrm>
              <a:off x="2971" y="2251"/>
              <a:ext cx="363" cy="0"/>
            </a:xfrm>
            <a:prstGeom prst="line">
              <a:avLst/>
            </a:prstGeom>
            <a:noFill/>
            <a:ln w="9525">
              <a:solidFill>
                <a:schemeClr val="tx1"/>
              </a:solidFill>
              <a:round/>
              <a:headEnd/>
              <a:tailEnd type="triangle" w="med" len="med"/>
            </a:ln>
          </p:spPr>
          <p:txBody>
            <a:bodyPr wrap="none"/>
            <a:lstStyle/>
            <a:p>
              <a:endParaRPr lang="en-US"/>
            </a:p>
          </p:txBody>
        </p:sp>
        <p:sp>
          <p:nvSpPr>
            <p:cNvPr id="27678" name="Line 77"/>
            <p:cNvSpPr>
              <a:spLocks noChangeShapeType="1"/>
            </p:cNvSpPr>
            <p:nvPr/>
          </p:nvSpPr>
          <p:spPr bwMode="auto">
            <a:xfrm flipH="1">
              <a:off x="2971" y="2523"/>
              <a:ext cx="363" cy="0"/>
            </a:xfrm>
            <a:prstGeom prst="line">
              <a:avLst/>
            </a:prstGeom>
            <a:noFill/>
            <a:ln w="9525">
              <a:solidFill>
                <a:schemeClr val="tx1"/>
              </a:solidFill>
              <a:round/>
              <a:headEnd/>
              <a:tailEnd type="triangle" w="med" len="med"/>
            </a:ln>
          </p:spPr>
          <p:txBody>
            <a:bodyPr wrap="none"/>
            <a:lstStyle/>
            <a:p>
              <a:endParaRPr lang="en-US"/>
            </a:p>
          </p:txBody>
        </p:sp>
        <p:sp>
          <p:nvSpPr>
            <p:cNvPr id="27679" name="Line 78"/>
            <p:cNvSpPr>
              <a:spLocks noChangeShapeType="1"/>
            </p:cNvSpPr>
            <p:nvPr/>
          </p:nvSpPr>
          <p:spPr bwMode="auto">
            <a:xfrm>
              <a:off x="1701" y="2886"/>
              <a:ext cx="272" cy="0"/>
            </a:xfrm>
            <a:prstGeom prst="line">
              <a:avLst/>
            </a:prstGeom>
            <a:noFill/>
            <a:ln w="9525">
              <a:solidFill>
                <a:schemeClr val="tx1"/>
              </a:solidFill>
              <a:round/>
              <a:headEnd/>
              <a:tailEnd type="triangle" w="med" len="med"/>
            </a:ln>
          </p:spPr>
          <p:txBody>
            <a:bodyPr wrap="none"/>
            <a:lstStyle/>
            <a:p>
              <a:endParaRPr lang="en-US"/>
            </a:p>
          </p:txBody>
        </p:sp>
        <p:sp>
          <p:nvSpPr>
            <p:cNvPr id="27680" name="Line 79"/>
            <p:cNvSpPr>
              <a:spLocks noChangeShapeType="1"/>
            </p:cNvSpPr>
            <p:nvPr/>
          </p:nvSpPr>
          <p:spPr bwMode="auto">
            <a:xfrm flipH="1">
              <a:off x="1701" y="3158"/>
              <a:ext cx="272" cy="0"/>
            </a:xfrm>
            <a:prstGeom prst="line">
              <a:avLst/>
            </a:prstGeom>
            <a:noFill/>
            <a:ln w="9525">
              <a:solidFill>
                <a:schemeClr val="tx1"/>
              </a:solidFill>
              <a:round/>
              <a:headEnd/>
              <a:tailEnd type="triangle" w="med" len="med"/>
            </a:ln>
          </p:spPr>
          <p:txBody>
            <a:bodyPr wrap="none"/>
            <a:lstStyle/>
            <a:p>
              <a:endParaRPr lang="en-US"/>
            </a:p>
          </p:txBody>
        </p:sp>
        <p:sp>
          <p:nvSpPr>
            <p:cNvPr id="27681" name="Line 80"/>
            <p:cNvSpPr>
              <a:spLocks noChangeShapeType="1"/>
            </p:cNvSpPr>
            <p:nvPr/>
          </p:nvSpPr>
          <p:spPr bwMode="auto">
            <a:xfrm>
              <a:off x="4332" y="2886"/>
              <a:ext cx="272" cy="0"/>
            </a:xfrm>
            <a:prstGeom prst="line">
              <a:avLst/>
            </a:prstGeom>
            <a:noFill/>
            <a:ln w="9525">
              <a:solidFill>
                <a:schemeClr val="tx1"/>
              </a:solidFill>
              <a:round/>
              <a:headEnd/>
              <a:tailEnd type="triangle" w="med" len="med"/>
            </a:ln>
          </p:spPr>
          <p:txBody>
            <a:bodyPr wrap="none"/>
            <a:lstStyle/>
            <a:p>
              <a:endParaRPr lang="en-US"/>
            </a:p>
          </p:txBody>
        </p:sp>
        <p:sp>
          <p:nvSpPr>
            <p:cNvPr id="27682" name="Line 81"/>
            <p:cNvSpPr>
              <a:spLocks noChangeShapeType="1"/>
            </p:cNvSpPr>
            <p:nvPr/>
          </p:nvSpPr>
          <p:spPr bwMode="auto">
            <a:xfrm flipH="1">
              <a:off x="4332" y="3158"/>
              <a:ext cx="272" cy="0"/>
            </a:xfrm>
            <a:prstGeom prst="line">
              <a:avLst/>
            </a:prstGeom>
            <a:noFill/>
            <a:ln w="9525">
              <a:solidFill>
                <a:schemeClr val="tx1"/>
              </a:solidFill>
              <a:round/>
              <a:headEnd/>
              <a:tailEnd type="triangle" w="med" len="med"/>
            </a:ln>
          </p:spPr>
          <p:txBody>
            <a:bodyPr wrap="none"/>
            <a:lstStyle/>
            <a:p>
              <a:endParaRPr lang="en-US"/>
            </a:p>
          </p:txBody>
        </p:sp>
        <p:sp>
          <p:nvSpPr>
            <p:cNvPr id="27683" name="Line 82"/>
            <p:cNvSpPr>
              <a:spLocks noChangeShapeType="1"/>
            </p:cNvSpPr>
            <p:nvPr/>
          </p:nvSpPr>
          <p:spPr bwMode="auto">
            <a:xfrm flipH="1">
              <a:off x="1701" y="2614"/>
              <a:ext cx="272" cy="181"/>
            </a:xfrm>
            <a:prstGeom prst="line">
              <a:avLst/>
            </a:prstGeom>
            <a:noFill/>
            <a:ln w="9525">
              <a:solidFill>
                <a:schemeClr val="tx1"/>
              </a:solidFill>
              <a:round/>
              <a:headEnd/>
              <a:tailEnd type="triangle" w="med" len="med"/>
            </a:ln>
          </p:spPr>
          <p:txBody>
            <a:bodyPr wrap="none"/>
            <a:lstStyle/>
            <a:p>
              <a:endParaRPr lang="en-US"/>
            </a:p>
          </p:txBody>
        </p:sp>
        <p:sp>
          <p:nvSpPr>
            <p:cNvPr id="27684" name="Line 83"/>
            <p:cNvSpPr>
              <a:spLocks noChangeShapeType="1"/>
            </p:cNvSpPr>
            <p:nvPr/>
          </p:nvSpPr>
          <p:spPr bwMode="auto">
            <a:xfrm>
              <a:off x="4332" y="2614"/>
              <a:ext cx="272" cy="181"/>
            </a:xfrm>
            <a:prstGeom prst="line">
              <a:avLst/>
            </a:prstGeom>
            <a:noFill/>
            <a:ln w="9525">
              <a:solidFill>
                <a:schemeClr val="tx1"/>
              </a:solidFill>
              <a:round/>
              <a:headEnd/>
              <a:tailEnd type="triangle" w="med" len="med"/>
            </a:ln>
          </p:spPr>
          <p:txBody>
            <a:bodyPr wrap="none"/>
            <a:lstStyle/>
            <a:p>
              <a:endParaRPr lang="en-US"/>
            </a:p>
          </p:txBody>
        </p:sp>
        <p:sp>
          <p:nvSpPr>
            <p:cNvPr id="27685" name="Line 84"/>
            <p:cNvSpPr>
              <a:spLocks noChangeShapeType="1"/>
            </p:cNvSpPr>
            <p:nvPr/>
          </p:nvSpPr>
          <p:spPr bwMode="auto">
            <a:xfrm flipH="1">
              <a:off x="2971" y="3249"/>
              <a:ext cx="363" cy="226"/>
            </a:xfrm>
            <a:prstGeom prst="line">
              <a:avLst/>
            </a:prstGeom>
            <a:noFill/>
            <a:ln w="9525">
              <a:solidFill>
                <a:schemeClr val="tx1"/>
              </a:solidFill>
              <a:round/>
              <a:headEnd/>
              <a:tailEnd type="triangle" w="med" len="med"/>
            </a:ln>
          </p:spPr>
          <p:txBody>
            <a:bodyPr wrap="none"/>
            <a:lstStyle/>
            <a:p>
              <a:endParaRPr lang="en-US"/>
            </a:p>
          </p:txBody>
        </p:sp>
        <p:sp>
          <p:nvSpPr>
            <p:cNvPr id="27686" name="Line 85"/>
            <p:cNvSpPr>
              <a:spLocks noChangeShapeType="1"/>
            </p:cNvSpPr>
            <p:nvPr/>
          </p:nvSpPr>
          <p:spPr bwMode="auto">
            <a:xfrm>
              <a:off x="2971" y="3249"/>
              <a:ext cx="363" cy="226"/>
            </a:xfrm>
            <a:prstGeom prst="line">
              <a:avLst/>
            </a:prstGeom>
            <a:noFill/>
            <a:ln w="9525">
              <a:solidFill>
                <a:schemeClr val="tx1"/>
              </a:solidFill>
              <a:round/>
              <a:headEnd/>
              <a:tailEnd type="triangle" w="med" len="med"/>
            </a:ln>
          </p:spPr>
          <p:txBody>
            <a:bodyPr wrap="none"/>
            <a:lstStyle/>
            <a:p>
              <a:endParaRPr lang="en-US"/>
            </a:p>
          </p:txBody>
        </p:sp>
        <p:sp>
          <p:nvSpPr>
            <p:cNvPr id="27687" name="Line 86"/>
            <p:cNvSpPr>
              <a:spLocks noChangeShapeType="1"/>
            </p:cNvSpPr>
            <p:nvPr/>
          </p:nvSpPr>
          <p:spPr bwMode="auto">
            <a:xfrm>
              <a:off x="2971" y="3566"/>
              <a:ext cx="363" cy="0"/>
            </a:xfrm>
            <a:prstGeom prst="line">
              <a:avLst/>
            </a:prstGeom>
            <a:noFill/>
            <a:ln w="9525">
              <a:solidFill>
                <a:schemeClr val="tx1"/>
              </a:solidFill>
              <a:round/>
              <a:headEnd/>
              <a:tailEnd type="triangle" w="med" len="med"/>
            </a:ln>
          </p:spPr>
          <p:txBody>
            <a:bodyPr wrap="none"/>
            <a:lstStyle/>
            <a:p>
              <a:endParaRPr lang="en-US"/>
            </a:p>
          </p:txBody>
        </p:sp>
        <p:sp>
          <p:nvSpPr>
            <p:cNvPr id="27688" name="Line 87"/>
            <p:cNvSpPr>
              <a:spLocks noChangeShapeType="1"/>
            </p:cNvSpPr>
            <p:nvPr/>
          </p:nvSpPr>
          <p:spPr bwMode="auto">
            <a:xfrm flipH="1">
              <a:off x="2971" y="3838"/>
              <a:ext cx="363" cy="0"/>
            </a:xfrm>
            <a:prstGeom prst="line">
              <a:avLst/>
            </a:prstGeom>
            <a:noFill/>
            <a:ln w="9525">
              <a:solidFill>
                <a:schemeClr val="tx1"/>
              </a:solidFill>
              <a:round/>
              <a:headEnd/>
              <a:tailEnd type="triangle" w="med" len="med"/>
            </a:ln>
          </p:spPr>
          <p:txBody>
            <a:bodyPr wrap="none"/>
            <a:lstStyle/>
            <a:p>
              <a:endParaRPr lang="en-US"/>
            </a:p>
          </p:txBody>
        </p:sp>
        <p:sp>
          <p:nvSpPr>
            <p:cNvPr id="27689" name="Text Box 88"/>
            <p:cNvSpPr txBox="1">
              <a:spLocks noChangeArrowheads="1"/>
            </p:cNvSpPr>
            <p:nvPr/>
          </p:nvSpPr>
          <p:spPr bwMode="auto">
            <a:xfrm>
              <a:off x="1689" y="2431"/>
              <a:ext cx="205" cy="250"/>
            </a:xfrm>
            <a:prstGeom prst="rect">
              <a:avLst/>
            </a:prstGeom>
            <a:noFill/>
            <a:ln w="9525">
              <a:noFill/>
              <a:miter lim="800000"/>
              <a:headEnd/>
              <a:tailEnd/>
            </a:ln>
          </p:spPr>
          <p:txBody>
            <a:bodyPr wrap="none">
              <a:spAutoFit/>
            </a:bodyPr>
            <a:lstStyle/>
            <a:p>
              <a:pPr algn="ctr">
                <a:spcBef>
                  <a:spcPct val="20000"/>
                </a:spcBef>
              </a:pPr>
              <a:r>
                <a:rPr kumimoji="1" lang="en-US" altLang="ja-JP" sz="2000"/>
                <a:t>S</a:t>
              </a:r>
            </a:p>
          </p:txBody>
        </p:sp>
        <p:sp>
          <p:nvSpPr>
            <p:cNvPr id="27690" name="Text Box 89"/>
            <p:cNvSpPr txBox="1">
              <a:spLocks noChangeArrowheads="1"/>
            </p:cNvSpPr>
            <p:nvPr/>
          </p:nvSpPr>
          <p:spPr bwMode="auto">
            <a:xfrm>
              <a:off x="1701" y="2840"/>
              <a:ext cx="244" cy="250"/>
            </a:xfrm>
            <a:prstGeom prst="rect">
              <a:avLst/>
            </a:prstGeom>
            <a:noFill/>
            <a:ln w="9525">
              <a:noFill/>
              <a:miter lim="800000"/>
              <a:headEnd/>
              <a:tailEnd/>
            </a:ln>
          </p:spPr>
          <p:txBody>
            <a:bodyPr>
              <a:spAutoFit/>
            </a:bodyPr>
            <a:lstStyle/>
            <a:p>
              <a:pPr algn="ctr">
                <a:spcBef>
                  <a:spcPct val="20000"/>
                </a:spcBef>
              </a:pPr>
              <a:r>
                <a:rPr kumimoji="1" lang="en-US" altLang="ja-JP" sz="2000"/>
                <a:t>R</a:t>
              </a:r>
            </a:p>
          </p:txBody>
        </p:sp>
        <p:sp>
          <p:nvSpPr>
            <p:cNvPr id="27691" name="Text Box 90"/>
            <p:cNvSpPr txBox="1">
              <a:spLocks noChangeArrowheads="1"/>
            </p:cNvSpPr>
            <p:nvPr/>
          </p:nvSpPr>
          <p:spPr bwMode="auto">
            <a:xfrm>
              <a:off x="1746" y="3158"/>
              <a:ext cx="214" cy="250"/>
            </a:xfrm>
            <a:prstGeom prst="rect">
              <a:avLst/>
            </a:prstGeom>
            <a:noFill/>
            <a:ln w="9525">
              <a:noFill/>
              <a:miter lim="800000"/>
              <a:headEnd/>
              <a:tailEnd/>
            </a:ln>
          </p:spPr>
          <p:txBody>
            <a:bodyPr wrap="none">
              <a:spAutoFit/>
            </a:bodyPr>
            <a:lstStyle/>
            <a:p>
              <a:pPr algn="ctr">
                <a:spcBef>
                  <a:spcPct val="20000"/>
                </a:spcBef>
              </a:pPr>
              <a:r>
                <a:rPr kumimoji="1" lang="en-US" altLang="ja-JP" sz="2000"/>
                <a:t>L</a:t>
              </a:r>
            </a:p>
          </p:txBody>
        </p:sp>
        <p:sp>
          <p:nvSpPr>
            <p:cNvPr id="27692" name="Text Box 91"/>
            <p:cNvSpPr txBox="1">
              <a:spLocks noChangeArrowheads="1"/>
            </p:cNvSpPr>
            <p:nvPr/>
          </p:nvSpPr>
          <p:spPr bwMode="auto">
            <a:xfrm>
              <a:off x="4468" y="2432"/>
              <a:ext cx="205" cy="250"/>
            </a:xfrm>
            <a:prstGeom prst="rect">
              <a:avLst/>
            </a:prstGeom>
            <a:noFill/>
            <a:ln w="9525">
              <a:noFill/>
              <a:miter lim="800000"/>
              <a:headEnd/>
              <a:tailEnd/>
            </a:ln>
          </p:spPr>
          <p:txBody>
            <a:bodyPr wrap="none">
              <a:spAutoFit/>
            </a:bodyPr>
            <a:lstStyle/>
            <a:p>
              <a:pPr algn="ctr">
                <a:spcBef>
                  <a:spcPct val="20000"/>
                </a:spcBef>
              </a:pPr>
              <a:r>
                <a:rPr kumimoji="1" lang="en-US" altLang="ja-JP" sz="2000"/>
                <a:t>S</a:t>
              </a:r>
            </a:p>
          </p:txBody>
        </p:sp>
        <p:sp>
          <p:nvSpPr>
            <p:cNvPr id="27693" name="Text Box 92"/>
            <p:cNvSpPr txBox="1">
              <a:spLocks noChangeArrowheads="1"/>
            </p:cNvSpPr>
            <p:nvPr/>
          </p:nvSpPr>
          <p:spPr bwMode="auto">
            <a:xfrm>
              <a:off x="3107" y="3067"/>
              <a:ext cx="205" cy="250"/>
            </a:xfrm>
            <a:prstGeom prst="rect">
              <a:avLst/>
            </a:prstGeom>
            <a:noFill/>
            <a:ln w="9525">
              <a:noFill/>
              <a:miter lim="800000"/>
              <a:headEnd/>
              <a:tailEnd/>
            </a:ln>
          </p:spPr>
          <p:txBody>
            <a:bodyPr wrap="none">
              <a:spAutoFit/>
            </a:bodyPr>
            <a:lstStyle/>
            <a:p>
              <a:pPr algn="ctr">
                <a:spcBef>
                  <a:spcPct val="20000"/>
                </a:spcBef>
              </a:pPr>
              <a:r>
                <a:rPr kumimoji="1" lang="en-US" altLang="ja-JP" sz="2000"/>
                <a:t>S</a:t>
              </a:r>
            </a:p>
          </p:txBody>
        </p:sp>
        <p:sp>
          <p:nvSpPr>
            <p:cNvPr id="27694" name="Text Box 93"/>
            <p:cNvSpPr txBox="1">
              <a:spLocks noChangeArrowheads="1"/>
            </p:cNvSpPr>
            <p:nvPr/>
          </p:nvSpPr>
          <p:spPr bwMode="auto">
            <a:xfrm>
              <a:off x="2971" y="3067"/>
              <a:ext cx="205" cy="250"/>
            </a:xfrm>
            <a:prstGeom prst="rect">
              <a:avLst/>
            </a:prstGeom>
            <a:noFill/>
            <a:ln w="9525">
              <a:noFill/>
              <a:miter lim="800000"/>
              <a:headEnd/>
              <a:tailEnd/>
            </a:ln>
          </p:spPr>
          <p:txBody>
            <a:bodyPr wrap="none">
              <a:spAutoFit/>
            </a:bodyPr>
            <a:lstStyle/>
            <a:p>
              <a:pPr algn="ctr">
                <a:spcBef>
                  <a:spcPct val="20000"/>
                </a:spcBef>
              </a:pPr>
              <a:r>
                <a:rPr kumimoji="1" lang="en-US" altLang="ja-JP" sz="2000"/>
                <a:t>S</a:t>
              </a:r>
            </a:p>
          </p:txBody>
        </p:sp>
        <p:sp>
          <p:nvSpPr>
            <p:cNvPr id="27695" name="Text Box 94"/>
            <p:cNvSpPr txBox="1">
              <a:spLocks noChangeArrowheads="1"/>
            </p:cNvSpPr>
            <p:nvPr/>
          </p:nvSpPr>
          <p:spPr bwMode="auto">
            <a:xfrm>
              <a:off x="3016" y="2251"/>
              <a:ext cx="244" cy="250"/>
            </a:xfrm>
            <a:prstGeom prst="rect">
              <a:avLst/>
            </a:prstGeom>
            <a:noFill/>
            <a:ln w="9525">
              <a:noFill/>
              <a:miter lim="800000"/>
              <a:headEnd/>
              <a:tailEnd/>
            </a:ln>
          </p:spPr>
          <p:txBody>
            <a:bodyPr>
              <a:spAutoFit/>
            </a:bodyPr>
            <a:lstStyle/>
            <a:p>
              <a:pPr algn="ctr">
                <a:spcBef>
                  <a:spcPct val="20000"/>
                </a:spcBef>
              </a:pPr>
              <a:r>
                <a:rPr kumimoji="1" lang="en-US" altLang="ja-JP" sz="2000" dirty="0"/>
                <a:t>R</a:t>
              </a:r>
            </a:p>
          </p:txBody>
        </p:sp>
        <p:sp>
          <p:nvSpPr>
            <p:cNvPr id="27696" name="Text Box 95"/>
            <p:cNvSpPr txBox="1">
              <a:spLocks noChangeArrowheads="1"/>
            </p:cNvSpPr>
            <p:nvPr/>
          </p:nvSpPr>
          <p:spPr bwMode="auto">
            <a:xfrm>
              <a:off x="4332" y="2886"/>
              <a:ext cx="244" cy="250"/>
            </a:xfrm>
            <a:prstGeom prst="rect">
              <a:avLst/>
            </a:prstGeom>
            <a:noFill/>
            <a:ln w="9525">
              <a:noFill/>
              <a:miter lim="800000"/>
              <a:headEnd/>
              <a:tailEnd/>
            </a:ln>
          </p:spPr>
          <p:txBody>
            <a:bodyPr>
              <a:spAutoFit/>
            </a:bodyPr>
            <a:lstStyle/>
            <a:p>
              <a:pPr algn="ctr">
                <a:spcBef>
                  <a:spcPct val="20000"/>
                </a:spcBef>
              </a:pPr>
              <a:r>
                <a:rPr kumimoji="1" lang="en-US" altLang="ja-JP" sz="2000"/>
                <a:t>R</a:t>
              </a:r>
            </a:p>
          </p:txBody>
        </p:sp>
        <p:sp>
          <p:nvSpPr>
            <p:cNvPr id="27697" name="Text Box 96"/>
            <p:cNvSpPr txBox="1">
              <a:spLocks noChangeArrowheads="1"/>
            </p:cNvSpPr>
            <p:nvPr/>
          </p:nvSpPr>
          <p:spPr bwMode="auto">
            <a:xfrm>
              <a:off x="3016" y="3566"/>
              <a:ext cx="244" cy="250"/>
            </a:xfrm>
            <a:prstGeom prst="rect">
              <a:avLst/>
            </a:prstGeom>
            <a:noFill/>
            <a:ln w="9525">
              <a:noFill/>
              <a:miter lim="800000"/>
              <a:headEnd/>
              <a:tailEnd/>
            </a:ln>
          </p:spPr>
          <p:txBody>
            <a:bodyPr>
              <a:spAutoFit/>
            </a:bodyPr>
            <a:lstStyle/>
            <a:p>
              <a:pPr algn="ctr">
                <a:spcBef>
                  <a:spcPct val="20000"/>
                </a:spcBef>
              </a:pPr>
              <a:r>
                <a:rPr kumimoji="1" lang="en-US" altLang="ja-JP" sz="2000"/>
                <a:t>R</a:t>
              </a:r>
            </a:p>
          </p:txBody>
        </p:sp>
        <p:sp>
          <p:nvSpPr>
            <p:cNvPr id="27698" name="Text Box 97"/>
            <p:cNvSpPr txBox="1">
              <a:spLocks noChangeArrowheads="1"/>
            </p:cNvSpPr>
            <p:nvPr/>
          </p:nvSpPr>
          <p:spPr bwMode="auto">
            <a:xfrm>
              <a:off x="3061" y="2523"/>
              <a:ext cx="214" cy="250"/>
            </a:xfrm>
            <a:prstGeom prst="rect">
              <a:avLst/>
            </a:prstGeom>
            <a:noFill/>
            <a:ln w="9525">
              <a:noFill/>
              <a:miter lim="800000"/>
              <a:headEnd/>
              <a:tailEnd/>
            </a:ln>
          </p:spPr>
          <p:txBody>
            <a:bodyPr wrap="none">
              <a:spAutoFit/>
            </a:bodyPr>
            <a:lstStyle/>
            <a:p>
              <a:pPr algn="ctr">
                <a:spcBef>
                  <a:spcPct val="20000"/>
                </a:spcBef>
              </a:pPr>
              <a:r>
                <a:rPr kumimoji="1" lang="en-US" altLang="ja-JP" sz="2000"/>
                <a:t>L</a:t>
              </a:r>
            </a:p>
          </p:txBody>
        </p:sp>
        <p:sp>
          <p:nvSpPr>
            <p:cNvPr id="27699" name="Text Box 98"/>
            <p:cNvSpPr txBox="1">
              <a:spLocks noChangeArrowheads="1"/>
            </p:cNvSpPr>
            <p:nvPr/>
          </p:nvSpPr>
          <p:spPr bwMode="auto">
            <a:xfrm>
              <a:off x="4377" y="3158"/>
              <a:ext cx="214" cy="250"/>
            </a:xfrm>
            <a:prstGeom prst="rect">
              <a:avLst/>
            </a:prstGeom>
            <a:noFill/>
            <a:ln w="9525">
              <a:noFill/>
              <a:miter lim="800000"/>
              <a:headEnd/>
              <a:tailEnd/>
            </a:ln>
          </p:spPr>
          <p:txBody>
            <a:bodyPr wrap="none">
              <a:spAutoFit/>
            </a:bodyPr>
            <a:lstStyle/>
            <a:p>
              <a:pPr algn="ctr">
                <a:spcBef>
                  <a:spcPct val="20000"/>
                </a:spcBef>
              </a:pPr>
              <a:r>
                <a:rPr kumimoji="1" lang="en-US" altLang="ja-JP" sz="2000"/>
                <a:t>L</a:t>
              </a:r>
            </a:p>
          </p:txBody>
        </p:sp>
        <p:sp>
          <p:nvSpPr>
            <p:cNvPr id="27700" name="Text Box 99"/>
            <p:cNvSpPr txBox="1">
              <a:spLocks noChangeArrowheads="1"/>
            </p:cNvSpPr>
            <p:nvPr/>
          </p:nvSpPr>
          <p:spPr bwMode="auto">
            <a:xfrm>
              <a:off x="3061" y="3884"/>
              <a:ext cx="214" cy="250"/>
            </a:xfrm>
            <a:prstGeom prst="rect">
              <a:avLst/>
            </a:prstGeom>
            <a:noFill/>
            <a:ln w="9525">
              <a:noFill/>
              <a:miter lim="800000"/>
              <a:headEnd/>
              <a:tailEnd/>
            </a:ln>
          </p:spPr>
          <p:txBody>
            <a:bodyPr wrap="none">
              <a:spAutoFit/>
            </a:bodyPr>
            <a:lstStyle/>
            <a:p>
              <a:pPr algn="ctr">
                <a:spcBef>
                  <a:spcPct val="20000"/>
                </a:spcBef>
              </a:pPr>
              <a:r>
                <a:rPr kumimoji="1" lang="en-US" altLang="ja-JP" sz="2000"/>
                <a:t>L</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26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26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126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title"/>
          </p:nvPr>
        </p:nvSpPr>
        <p:spPr>
          <a:ln/>
        </p:spPr>
        <p:txBody>
          <a:bodyPr rIns="130174"/>
          <a:lstStyle/>
          <a:p>
            <a:r>
              <a:rPr lang="en-US"/>
              <a:t>Simple Vacuum World</a:t>
            </a:r>
          </a:p>
        </p:txBody>
      </p:sp>
      <p:sp>
        <p:nvSpPr>
          <p:cNvPr id="35844" name="Rectangle 4"/>
          <p:cNvSpPr>
            <a:spLocks noGrp="1" noChangeArrowheads="1"/>
          </p:cNvSpPr>
          <p:nvPr>
            <p:ph sz="quarter" idx="1"/>
          </p:nvPr>
        </p:nvSpPr>
        <p:spPr>
          <a:ln/>
        </p:spPr>
        <p:txBody>
          <a:bodyPr rIns="130174"/>
          <a:lstStyle/>
          <a:p>
            <a:r>
              <a:rPr lang="en-US" sz="2000" b="1" dirty="0"/>
              <a:t>states</a:t>
            </a:r>
          </a:p>
          <a:p>
            <a:pPr marL="723900" lvl="1"/>
            <a:r>
              <a:rPr lang="en-US" sz="1800" dirty="0"/>
              <a:t>two locations</a:t>
            </a:r>
          </a:p>
          <a:p>
            <a:pPr marL="723900" lvl="1"/>
            <a:r>
              <a:rPr lang="en-US" sz="1800" dirty="0"/>
              <a:t>dirty, clean</a:t>
            </a:r>
          </a:p>
          <a:p>
            <a:r>
              <a:rPr lang="en-US" sz="2000" b="1" dirty="0"/>
              <a:t>initial state</a:t>
            </a:r>
          </a:p>
          <a:p>
            <a:pPr marL="723900" lvl="1"/>
            <a:r>
              <a:rPr lang="en-US" sz="1800" dirty="0"/>
              <a:t>any legitimate state</a:t>
            </a:r>
          </a:p>
          <a:p>
            <a:r>
              <a:rPr lang="en-US" sz="2000" b="1" dirty="0"/>
              <a:t>successor function</a:t>
            </a:r>
            <a:r>
              <a:rPr lang="en-US" sz="2000" dirty="0"/>
              <a:t> (operators)</a:t>
            </a:r>
          </a:p>
          <a:p>
            <a:pPr marL="723900" lvl="1"/>
            <a:r>
              <a:rPr lang="en-US" sz="1800" dirty="0"/>
              <a:t>left, right, suck</a:t>
            </a:r>
          </a:p>
          <a:p>
            <a:r>
              <a:rPr lang="en-US" sz="2000" b="1" dirty="0"/>
              <a:t>goal test</a:t>
            </a:r>
          </a:p>
          <a:p>
            <a:pPr marL="723900" lvl="1"/>
            <a:r>
              <a:rPr lang="en-US" sz="1800" dirty="0"/>
              <a:t>all squares clean</a:t>
            </a:r>
          </a:p>
          <a:p>
            <a:r>
              <a:rPr lang="en-US" sz="2000" b="1" dirty="0"/>
              <a:t>path cost</a:t>
            </a:r>
          </a:p>
          <a:p>
            <a:pPr marL="723900" lvl="1"/>
            <a:r>
              <a:rPr lang="en-US" sz="1800" dirty="0"/>
              <a:t>one unit per action</a:t>
            </a:r>
          </a:p>
          <a:p>
            <a:pPr marL="723900" lvl="1"/>
            <a:endParaRPr lang="en-US" sz="1800"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title"/>
          </p:nvPr>
        </p:nvSpPr>
        <p:spPr>
          <a:ln/>
        </p:spPr>
        <p:txBody>
          <a:bodyPr rIns="130174"/>
          <a:lstStyle/>
          <a:p>
            <a:r>
              <a:rPr lang="en-US"/>
              <a:t>Example: The 8-puzzle</a:t>
            </a:r>
          </a:p>
        </p:txBody>
      </p:sp>
      <p:pic>
        <p:nvPicPr>
          <p:cNvPr id="37893" name="Picture 5"/>
          <p:cNvPicPr>
            <a:picLocks noChangeArrowheads="1"/>
          </p:cNvPicPr>
          <p:nvPr/>
        </p:nvPicPr>
        <p:blipFill>
          <a:blip r:embed="rId2"/>
          <a:srcRect/>
          <a:stretch>
            <a:fillRect/>
          </a:stretch>
        </p:blipFill>
        <p:spPr bwMode="auto">
          <a:xfrm>
            <a:off x="1600200" y="2057400"/>
            <a:ext cx="5410200" cy="3048000"/>
          </a:xfrm>
          <a:prstGeom prst="rect">
            <a:avLst/>
          </a:prstGeom>
          <a:noFill/>
          <a:ln w="12700" cap="flat">
            <a:noFill/>
            <a:round/>
            <a:headEnd/>
            <a:tailEnd/>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title"/>
          </p:nvPr>
        </p:nvSpPr>
        <p:spPr>
          <a:ln/>
        </p:spPr>
        <p:txBody>
          <a:bodyPr rIns="130174"/>
          <a:lstStyle/>
          <a:p>
            <a:r>
              <a:rPr lang="en-US"/>
              <a:t>8-Puzzle</a:t>
            </a:r>
          </a:p>
        </p:txBody>
      </p:sp>
      <p:sp>
        <p:nvSpPr>
          <p:cNvPr id="38916" name="Rectangle 4"/>
          <p:cNvSpPr>
            <a:spLocks noGrp="1" noChangeArrowheads="1"/>
          </p:cNvSpPr>
          <p:nvPr>
            <p:ph sz="quarter" idx="1"/>
          </p:nvPr>
        </p:nvSpPr>
        <p:spPr>
          <a:xfrm>
            <a:off x="228600" y="1447800"/>
            <a:ext cx="8699500" cy="5067300"/>
          </a:xfrm>
          <a:ln/>
        </p:spPr>
        <p:txBody>
          <a:bodyPr rIns="130174"/>
          <a:lstStyle/>
          <a:p>
            <a:pPr>
              <a:lnSpc>
                <a:spcPct val="90000"/>
              </a:lnSpc>
              <a:spcBef>
                <a:spcPct val="0"/>
              </a:spcBef>
            </a:pPr>
            <a:r>
              <a:rPr lang="en-US" sz="2200" b="1" dirty="0"/>
              <a:t>states</a:t>
            </a:r>
          </a:p>
          <a:p>
            <a:pPr marL="723900" lvl="1">
              <a:lnSpc>
                <a:spcPct val="90000"/>
              </a:lnSpc>
              <a:spcBef>
                <a:spcPts val="563"/>
              </a:spcBef>
            </a:pPr>
            <a:r>
              <a:rPr lang="en-US" sz="1800" dirty="0"/>
              <a:t>location of tiles (including blank tile)</a:t>
            </a:r>
          </a:p>
          <a:p>
            <a:pPr>
              <a:lnSpc>
                <a:spcPct val="90000"/>
              </a:lnSpc>
              <a:spcBef>
                <a:spcPts val="563"/>
              </a:spcBef>
            </a:pPr>
            <a:r>
              <a:rPr lang="en-US" sz="2200" b="1" dirty="0"/>
              <a:t>initial state</a:t>
            </a:r>
          </a:p>
          <a:p>
            <a:pPr marL="723900" lvl="1">
              <a:lnSpc>
                <a:spcPct val="90000"/>
              </a:lnSpc>
              <a:spcBef>
                <a:spcPts val="563"/>
              </a:spcBef>
            </a:pPr>
            <a:r>
              <a:rPr lang="en-US" sz="1800" dirty="0"/>
              <a:t>any legitimate configuration</a:t>
            </a:r>
          </a:p>
          <a:p>
            <a:pPr>
              <a:lnSpc>
                <a:spcPct val="90000"/>
              </a:lnSpc>
              <a:spcBef>
                <a:spcPts val="563"/>
              </a:spcBef>
            </a:pPr>
            <a:r>
              <a:rPr lang="en-US" sz="2200" b="1" dirty="0"/>
              <a:t>successor function (operators)</a:t>
            </a:r>
          </a:p>
          <a:p>
            <a:pPr marL="723900" lvl="1">
              <a:lnSpc>
                <a:spcPct val="90000"/>
              </a:lnSpc>
              <a:spcBef>
                <a:spcPts val="563"/>
              </a:spcBef>
            </a:pPr>
            <a:r>
              <a:rPr lang="en-US" sz="1800" dirty="0"/>
              <a:t>move tile</a:t>
            </a:r>
          </a:p>
          <a:p>
            <a:pPr marL="723900" lvl="1">
              <a:lnSpc>
                <a:spcPct val="90000"/>
              </a:lnSpc>
              <a:spcBef>
                <a:spcPts val="563"/>
              </a:spcBef>
            </a:pPr>
            <a:r>
              <a:rPr lang="en-US" sz="1800" dirty="0"/>
              <a:t>alternatively: move blank</a:t>
            </a:r>
          </a:p>
          <a:p>
            <a:pPr>
              <a:lnSpc>
                <a:spcPct val="90000"/>
              </a:lnSpc>
              <a:spcBef>
                <a:spcPts val="563"/>
              </a:spcBef>
            </a:pPr>
            <a:r>
              <a:rPr lang="en-US" sz="2200" b="1" dirty="0"/>
              <a:t>goal test</a:t>
            </a:r>
          </a:p>
          <a:p>
            <a:pPr marL="723900" lvl="1">
              <a:lnSpc>
                <a:spcPct val="90000"/>
              </a:lnSpc>
              <a:spcBef>
                <a:spcPts val="563"/>
              </a:spcBef>
            </a:pPr>
            <a:r>
              <a:rPr lang="en-US" sz="1800" dirty="0"/>
              <a:t>any legitimate configuration of tiles</a:t>
            </a:r>
          </a:p>
          <a:p>
            <a:pPr>
              <a:lnSpc>
                <a:spcPct val="90000"/>
              </a:lnSpc>
              <a:spcBef>
                <a:spcPts val="563"/>
              </a:spcBef>
            </a:pPr>
            <a:r>
              <a:rPr lang="en-US" sz="2200" b="1" dirty="0"/>
              <a:t>path cost</a:t>
            </a:r>
          </a:p>
          <a:p>
            <a:pPr marL="723900" lvl="1">
              <a:lnSpc>
                <a:spcPct val="90000"/>
              </a:lnSpc>
              <a:spcBef>
                <a:spcPts val="563"/>
              </a:spcBef>
            </a:pPr>
            <a:r>
              <a:rPr lang="en-US" sz="1800" dirty="0"/>
              <a:t>one unit per move</a:t>
            </a:r>
          </a:p>
          <a:p>
            <a:pPr>
              <a:lnSpc>
                <a:spcPct val="90000"/>
              </a:lnSpc>
              <a:spcBef>
                <a:spcPts val="563"/>
              </a:spcBef>
              <a:buFont typeface="Wingdings" pitchFamily="2" charset="2"/>
              <a:buNone/>
            </a:pPr>
            <a:endParaRPr lang="en-US" sz="1600"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title"/>
          </p:nvPr>
        </p:nvSpPr>
        <p:spPr>
          <a:ln/>
        </p:spPr>
        <p:txBody>
          <a:bodyPr rIns="130174"/>
          <a:lstStyle/>
          <a:p>
            <a:r>
              <a:rPr lang="en-US"/>
              <a:t>Example: </a:t>
            </a:r>
            <a:r>
              <a:rPr lang="en-US">
                <a:latin typeface="Arial Italic" charset="0"/>
                <a:cs typeface="Arial Italic" charset="0"/>
                <a:sym typeface="Arial Italic" charset="0"/>
              </a:rPr>
              <a:t>n</a:t>
            </a:r>
            <a:r>
              <a:rPr lang="en-US"/>
              <a:t>-queens</a:t>
            </a:r>
          </a:p>
        </p:txBody>
      </p:sp>
      <p:sp>
        <p:nvSpPr>
          <p:cNvPr id="39940" name="Rectangle 4"/>
          <p:cNvSpPr>
            <a:spLocks noGrp="1" noChangeArrowheads="1"/>
          </p:cNvSpPr>
          <p:nvPr>
            <p:ph sz="quarter" idx="1"/>
          </p:nvPr>
        </p:nvSpPr>
        <p:spPr>
          <a:ln/>
        </p:spPr>
        <p:txBody>
          <a:bodyPr rIns="130174"/>
          <a:lstStyle/>
          <a:p>
            <a:r>
              <a:rPr lang="en-US"/>
              <a:t>Put </a:t>
            </a:r>
            <a:r>
              <a:rPr lang="en-US">
                <a:latin typeface="Arial Italic" charset="0"/>
                <a:cs typeface="Arial Italic" charset="0"/>
                <a:sym typeface="Arial Italic" charset="0"/>
              </a:rPr>
              <a:t>n</a:t>
            </a:r>
            <a:r>
              <a:rPr lang="en-US"/>
              <a:t> queens on an </a:t>
            </a:r>
            <a:r>
              <a:rPr lang="en-US">
                <a:latin typeface="Arial Italic" charset="0"/>
                <a:cs typeface="Arial Italic" charset="0"/>
                <a:sym typeface="Arial Italic" charset="0"/>
              </a:rPr>
              <a:t>n × n</a:t>
            </a:r>
            <a:r>
              <a:rPr lang="en-US"/>
              <a:t> board with no two queens on the same row, column, or diagonal</a:t>
            </a:r>
            <a:br>
              <a:rPr lang="en-US"/>
            </a:br>
            <a:endParaRPr lang="en-US"/>
          </a:p>
        </p:txBody>
      </p:sp>
      <p:pic>
        <p:nvPicPr>
          <p:cNvPr id="39941" name="Picture 5"/>
          <p:cNvPicPr>
            <a:picLocks noChangeArrowheads="1"/>
          </p:cNvPicPr>
          <p:nvPr/>
        </p:nvPicPr>
        <p:blipFill>
          <a:blip r:embed="rId2"/>
          <a:srcRect/>
          <a:stretch>
            <a:fillRect/>
          </a:stretch>
        </p:blipFill>
        <p:spPr bwMode="auto">
          <a:xfrm>
            <a:off x="685800" y="2743200"/>
            <a:ext cx="7467600" cy="2165350"/>
          </a:xfrm>
          <a:prstGeom prst="rect">
            <a:avLst/>
          </a:prstGeom>
          <a:noFill/>
          <a:ln w="9525" cap="flat">
            <a:noFill/>
            <a:miter lim="800000"/>
            <a:headEnd/>
            <a:tailEnd/>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title"/>
          </p:nvPr>
        </p:nvSpPr>
        <p:spPr>
          <a:ln/>
        </p:spPr>
        <p:txBody>
          <a:bodyPr rIns="130174"/>
          <a:lstStyle/>
          <a:p>
            <a:r>
              <a:rPr lang="en-US"/>
              <a:t>8-Queens</a:t>
            </a:r>
          </a:p>
        </p:txBody>
      </p:sp>
      <p:sp>
        <p:nvSpPr>
          <p:cNvPr id="40965" name="Rectangle 5"/>
          <p:cNvSpPr>
            <a:spLocks/>
          </p:cNvSpPr>
          <p:nvPr/>
        </p:nvSpPr>
        <p:spPr bwMode="auto">
          <a:xfrm>
            <a:off x="609600" y="1676400"/>
            <a:ext cx="8470900" cy="4686300"/>
          </a:xfrm>
          <a:prstGeom prst="rect">
            <a:avLst/>
          </a:prstGeom>
          <a:noFill/>
          <a:ln w="12700" cap="flat">
            <a:noFill/>
            <a:miter lim="800000"/>
            <a:headEnd type="none" w="med" len="med"/>
            <a:tailEnd type="none" w="med" len="med"/>
          </a:ln>
        </p:spPr>
        <p:txBody>
          <a:bodyPr lIns="0" tIns="0" rIns="39686" bIns="0"/>
          <a:lstStyle/>
          <a:p>
            <a:pPr marL="323850" indent="-285750">
              <a:lnSpc>
                <a:spcPct val="90000"/>
              </a:lnSpc>
              <a:spcBef>
                <a:spcPts val="413"/>
              </a:spcBef>
              <a:buClr>
                <a:srgbClr val="FC0128"/>
              </a:buClr>
              <a:buSzPct val="75000"/>
              <a:buFont typeface="Wingdings" pitchFamily="2" charset="2"/>
              <a:buChar char="u"/>
            </a:pPr>
            <a:r>
              <a:rPr lang="en-US" sz="2400" b="1" dirty="0">
                <a:solidFill>
                  <a:schemeClr val="tx1"/>
                </a:solidFill>
                <a:latin typeface="Arial" pitchFamily="34" charset="0"/>
                <a:cs typeface="Arial" pitchFamily="34" charset="0"/>
                <a:sym typeface="Arial" pitchFamily="34" charset="0"/>
              </a:rPr>
              <a:t>states</a:t>
            </a:r>
          </a:p>
          <a:p>
            <a:pPr marL="323850" indent="-285750">
              <a:lnSpc>
                <a:spcPct val="90000"/>
              </a:lnSpc>
              <a:spcBef>
                <a:spcPts val="350"/>
              </a:spcBef>
              <a:buClr>
                <a:srgbClr val="FF3399"/>
              </a:buClr>
              <a:buSzPct val="64000"/>
            </a:pPr>
            <a:r>
              <a:rPr lang="en-US" sz="2400" dirty="0">
                <a:solidFill>
                  <a:schemeClr val="tx1"/>
                </a:solidFill>
                <a:latin typeface="Arial" pitchFamily="34" charset="0"/>
                <a:cs typeface="Arial" pitchFamily="34" charset="0"/>
                <a:sym typeface="Arial" pitchFamily="34" charset="0"/>
              </a:rPr>
              <a:t>      arrangement of 8 queens on the board</a:t>
            </a:r>
          </a:p>
          <a:p>
            <a:pPr marL="323850" indent="-285750">
              <a:lnSpc>
                <a:spcPct val="90000"/>
              </a:lnSpc>
              <a:spcBef>
                <a:spcPts val="413"/>
              </a:spcBef>
              <a:buClr>
                <a:srgbClr val="FC0128"/>
              </a:buClr>
              <a:buSzPct val="75000"/>
              <a:buFont typeface="Wingdings" pitchFamily="2" charset="2"/>
              <a:buChar char="u"/>
            </a:pPr>
            <a:r>
              <a:rPr lang="en-US" sz="2400" b="1" dirty="0">
                <a:solidFill>
                  <a:schemeClr val="tx1"/>
                </a:solidFill>
                <a:latin typeface="Arial" pitchFamily="34" charset="0"/>
                <a:cs typeface="Arial" pitchFamily="34" charset="0"/>
                <a:sym typeface="Arial" pitchFamily="34" charset="0"/>
              </a:rPr>
              <a:t>initial state</a:t>
            </a:r>
          </a:p>
          <a:p>
            <a:pPr marL="323850" indent="-285750">
              <a:lnSpc>
                <a:spcPct val="90000"/>
              </a:lnSpc>
              <a:spcBef>
                <a:spcPts val="413"/>
              </a:spcBef>
              <a:buClr>
                <a:srgbClr val="FC0128"/>
              </a:buClr>
              <a:buSzPct val="75000"/>
            </a:pPr>
            <a:r>
              <a:rPr lang="en-US" sz="2400" dirty="0"/>
              <a:t>       configuration without queens on the board</a:t>
            </a:r>
            <a:endParaRPr lang="en-US" sz="2400" b="1" dirty="0">
              <a:solidFill>
                <a:schemeClr val="tx1"/>
              </a:solidFill>
              <a:latin typeface="Arial" pitchFamily="34" charset="0"/>
              <a:cs typeface="Arial" pitchFamily="34" charset="0"/>
              <a:sym typeface="Arial" pitchFamily="34" charset="0"/>
            </a:endParaRPr>
          </a:p>
          <a:p>
            <a:pPr marL="323850" indent="-285750">
              <a:lnSpc>
                <a:spcPct val="90000"/>
              </a:lnSpc>
              <a:spcBef>
                <a:spcPts val="413"/>
              </a:spcBef>
              <a:buClr>
                <a:srgbClr val="FC0128"/>
              </a:buClr>
              <a:buSzPct val="75000"/>
              <a:buFont typeface="Wingdings" pitchFamily="2" charset="2"/>
              <a:buChar char="u"/>
            </a:pPr>
            <a:r>
              <a:rPr lang="en-US" sz="2400" b="1" dirty="0">
                <a:solidFill>
                  <a:schemeClr val="tx1"/>
                </a:solidFill>
                <a:latin typeface="Arial" pitchFamily="34" charset="0"/>
                <a:cs typeface="Arial" pitchFamily="34" charset="0"/>
                <a:sym typeface="Arial" pitchFamily="34" charset="0"/>
              </a:rPr>
              <a:t>successor function (operators)</a:t>
            </a:r>
          </a:p>
          <a:p>
            <a:pPr marL="323850" indent="-285750">
              <a:lnSpc>
                <a:spcPct val="90000"/>
              </a:lnSpc>
              <a:spcBef>
                <a:spcPts val="350"/>
              </a:spcBef>
              <a:buClr>
                <a:srgbClr val="FF3399"/>
              </a:buClr>
              <a:buSzPct val="64000"/>
            </a:pPr>
            <a:r>
              <a:rPr lang="en-US" sz="2400" dirty="0">
                <a:solidFill>
                  <a:schemeClr val="tx1"/>
                </a:solidFill>
                <a:latin typeface="Arial" pitchFamily="34" charset="0"/>
                <a:cs typeface="Arial" pitchFamily="34" charset="0"/>
                <a:sym typeface="Arial" pitchFamily="34" charset="0"/>
              </a:rPr>
              <a:t>      move a queen to a different square</a:t>
            </a:r>
          </a:p>
          <a:p>
            <a:pPr marL="323850" indent="-285750">
              <a:lnSpc>
                <a:spcPct val="90000"/>
              </a:lnSpc>
              <a:spcBef>
                <a:spcPts val="413"/>
              </a:spcBef>
              <a:buClr>
                <a:srgbClr val="FC0128"/>
              </a:buClr>
              <a:buSzPct val="75000"/>
              <a:buFont typeface="Wingdings" pitchFamily="2" charset="2"/>
              <a:buChar char="u"/>
            </a:pPr>
            <a:r>
              <a:rPr lang="en-US" sz="2400" b="1" dirty="0">
                <a:solidFill>
                  <a:schemeClr val="tx1"/>
                </a:solidFill>
                <a:latin typeface="Arial" pitchFamily="34" charset="0"/>
                <a:cs typeface="Arial" pitchFamily="34" charset="0"/>
                <a:sym typeface="Arial" pitchFamily="34" charset="0"/>
              </a:rPr>
              <a:t>goal test</a:t>
            </a:r>
          </a:p>
          <a:p>
            <a:pPr marL="323850" indent="-285750">
              <a:lnSpc>
                <a:spcPct val="90000"/>
              </a:lnSpc>
              <a:spcBef>
                <a:spcPts val="350"/>
              </a:spcBef>
              <a:buClr>
                <a:srgbClr val="FF3399"/>
              </a:buClr>
              <a:buSzPct val="64000"/>
            </a:pPr>
            <a:r>
              <a:rPr lang="en-US" sz="2400" dirty="0">
                <a:solidFill>
                  <a:schemeClr val="tx1"/>
                </a:solidFill>
                <a:latin typeface="Arial" pitchFamily="34" charset="0"/>
                <a:cs typeface="Arial" pitchFamily="34" charset="0"/>
                <a:sym typeface="Arial" pitchFamily="34" charset="0"/>
              </a:rPr>
              <a:t>      no queen attacked</a:t>
            </a:r>
          </a:p>
          <a:p>
            <a:pPr marL="323850" indent="-285750">
              <a:lnSpc>
                <a:spcPct val="90000"/>
              </a:lnSpc>
              <a:spcBef>
                <a:spcPts val="413"/>
              </a:spcBef>
              <a:buClr>
                <a:srgbClr val="FC0128"/>
              </a:buClr>
              <a:buSzPct val="75000"/>
              <a:buFont typeface="Wingdings" pitchFamily="2" charset="2"/>
              <a:buChar char="u"/>
            </a:pPr>
            <a:r>
              <a:rPr lang="en-US" sz="2400" b="1" dirty="0">
                <a:solidFill>
                  <a:schemeClr val="tx1"/>
                </a:solidFill>
                <a:latin typeface="Arial" pitchFamily="34" charset="0"/>
                <a:cs typeface="Arial" pitchFamily="34" charset="0"/>
                <a:sym typeface="Arial" pitchFamily="34" charset="0"/>
              </a:rPr>
              <a:t>path cost</a:t>
            </a:r>
          </a:p>
          <a:p>
            <a:pPr marL="323850" indent="-285750">
              <a:lnSpc>
                <a:spcPct val="90000"/>
              </a:lnSpc>
              <a:spcBef>
                <a:spcPts val="350"/>
              </a:spcBef>
              <a:buClr>
                <a:srgbClr val="FF3399"/>
              </a:buClr>
              <a:buSzPct val="64000"/>
            </a:pPr>
            <a:r>
              <a:rPr lang="en-US" sz="2400" dirty="0">
                <a:solidFill>
                  <a:schemeClr val="tx1"/>
                </a:solidFill>
                <a:latin typeface="Arial" pitchFamily="34" charset="0"/>
                <a:cs typeface="Arial" pitchFamily="34" charset="0"/>
                <a:sym typeface="Arial" pitchFamily="34" charset="0"/>
              </a:rPr>
              <a:t>      irrelevant (all solutions equally valid)</a:t>
            </a:r>
          </a:p>
          <a:p>
            <a:pPr marL="323850" indent="-285750">
              <a:lnSpc>
                <a:spcPct val="90000"/>
              </a:lnSpc>
              <a:spcBef>
                <a:spcPts val="450"/>
              </a:spcBef>
              <a:buClr>
                <a:srgbClr val="FAFD00"/>
              </a:buClr>
              <a:buSzPct val="75000"/>
              <a:buFont typeface="Wingdings" pitchFamily="2" charset="2"/>
              <a:buChar char="u"/>
            </a:pPr>
            <a:endParaRPr lang="en-US" sz="2000" dirty="0">
              <a:solidFill>
                <a:schemeClr val="tx1"/>
              </a:solidFill>
              <a:latin typeface="Arial" pitchFamily="34" charset="0"/>
              <a:cs typeface="Arial" pitchFamily="34" charset="0"/>
              <a:sym typeface="Arial" pitchFamily="3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ja-JP">
                <a:ea typeface="ＭＳ Ｐゴシック" pitchFamily="34" charset="-128"/>
              </a:rPr>
              <a:t>Real-world problems</a:t>
            </a:r>
          </a:p>
        </p:txBody>
      </p:sp>
      <p:sp>
        <p:nvSpPr>
          <p:cNvPr id="33793" name="Slide Number Placeholder 5"/>
          <p:cNvSpPr>
            <a:spLocks noGrp="1"/>
          </p:cNvSpPr>
          <p:nvPr>
            <p:ph type="sldNum" sz="quarter" idx="12"/>
          </p:nvPr>
        </p:nvSpPr>
        <p:spPr>
          <a:noFill/>
        </p:spPr>
        <p:txBody>
          <a:bodyPr/>
          <a:lstStyle/>
          <a:p>
            <a:fld id="{9CE79CC2-9297-47B8-A533-41E8A1B39E63}" type="slidenum">
              <a:rPr lang="en-US"/>
              <a:pPr/>
              <a:t>35</a:t>
            </a:fld>
            <a:endParaRPr lang="en-US"/>
          </a:p>
        </p:txBody>
      </p:sp>
      <p:sp>
        <p:nvSpPr>
          <p:cNvPr id="33795" name="Rectangle 3"/>
          <p:cNvSpPr>
            <a:spLocks noGrp="1" noChangeArrowheads="1"/>
          </p:cNvSpPr>
          <p:nvPr>
            <p:ph sz="quarter" idx="1"/>
          </p:nvPr>
        </p:nvSpPr>
        <p:spPr>
          <a:xfrm>
            <a:off x="301752" y="1527048"/>
            <a:ext cx="8503920" cy="5178552"/>
          </a:xfrm>
        </p:spPr>
        <p:txBody>
          <a:bodyPr/>
          <a:lstStyle/>
          <a:p>
            <a:pPr eaLnBrk="1" hangingPunct="1">
              <a:lnSpc>
                <a:spcPct val="90000"/>
              </a:lnSpc>
            </a:pPr>
            <a:r>
              <a:rPr lang="en-US" altLang="ja-JP" sz="2400" b="1" u="sng" dirty="0">
                <a:ea typeface="ＭＳ Ｐゴシック" pitchFamily="34" charset="-128"/>
              </a:rPr>
              <a:t>Route finding</a:t>
            </a:r>
          </a:p>
          <a:p>
            <a:pPr lvl="1" eaLnBrk="1" hangingPunct="1">
              <a:lnSpc>
                <a:spcPct val="90000"/>
              </a:lnSpc>
            </a:pPr>
            <a:r>
              <a:rPr lang="en-US" altLang="ja-JP" sz="2400" dirty="0">
                <a:solidFill>
                  <a:schemeClr val="tx1"/>
                </a:solidFill>
                <a:ea typeface="ＭＳ Ｐゴシック" pitchFamily="34" charset="-128"/>
              </a:rPr>
              <a:t>Defined in terms of locations and transitions along links between them</a:t>
            </a:r>
          </a:p>
          <a:p>
            <a:pPr lvl="1" eaLnBrk="1" hangingPunct="1">
              <a:lnSpc>
                <a:spcPct val="90000"/>
              </a:lnSpc>
            </a:pPr>
            <a:r>
              <a:rPr lang="en-US" altLang="ja-JP" sz="2400" i="1" dirty="0">
                <a:solidFill>
                  <a:schemeClr val="tx1"/>
                </a:solidFill>
                <a:ea typeface="ＭＳ Ｐゴシック" pitchFamily="34" charset="-128"/>
              </a:rPr>
              <a:t>Applications</a:t>
            </a:r>
            <a:r>
              <a:rPr lang="en-US" altLang="ja-JP" sz="2400" dirty="0">
                <a:solidFill>
                  <a:schemeClr val="tx1"/>
                </a:solidFill>
                <a:ea typeface="ＭＳ Ｐゴシック" pitchFamily="34" charset="-128"/>
              </a:rPr>
              <a:t>: routing in computer networks, automated travel advisory systems, airline travel planning systems</a:t>
            </a:r>
          </a:p>
          <a:p>
            <a:pPr lvl="1" eaLnBrk="1" hangingPunct="1">
              <a:lnSpc>
                <a:spcPct val="90000"/>
              </a:lnSpc>
            </a:pPr>
            <a:endParaRPr lang="en-US" altLang="ja-JP" sz="2400" dirty="0">
              <a:solidFill>
                <a:schemeClr val="tx1"/>
              </a:solidFill>
              <a:ea typeface="ＭＳ Ｐゴシック" pitchFamily="34" charset="-128"/>
            </a:endParaRPr>
          </a:p>
          <a:p>
            <a:pPr eaLnBrk="1" hangingPunct="1">
              <a:lnSpc>
                <a:spcPct val="90000"/>
              </a:lnSpc>
            </a:pPr>
            <a:r>
              <a:rPr lang="en-US" altLang="ja-JP" sz="2400" b="1" u="sng" dirty="0">
                <a:ea typeface="ＭＳ Ｐゴシック" pitchFamily="34" charset="-128"/>
              </a:rPr>
              <a:t>Traveling salesperson problems</a:t>
            </a:r>
          </a:p>
          <a:p>
            <a:pPr lvl="1" eaLnBrk="1" hangingPunct="1">
              <a:lnSpc>
                <a:spcPct val="90000"/>
              </a:lnSpc>
            </a:pPr>
            <a:r>
              <a:rPr lang="en-US" altLang="ja-JP" sz="2400" dirty="0">
                <a:solidFill>
                  <a:schemeClr val="tx1"/>
                </a:solidFill>
                <a:ea typeface="ＭＳ Ｐゴシック" pitchFamily="34" charset="-128"/>
              </a:rPr>
              <a:t>“Visit every city on the map at least once and end in Bucharest”</a:t>
            </a:r>
          </a:p>
          <a:p>
            <a:pPr lvl="1" eaLnBrk="1" hangingPunct="1">
              <a:lnSpc>
                <a:spcPct val="90000"/>
              </a:lnSpc>
            </a:pPr>
            <a:r>
              <a:rPr lang="en-US" altLang="ja-JP" sz="2400" dirty="0">
                <a:solidFill>
                  <a:schemeClr val="tx1"/>
                </a:solidFill>
                <a:ea typeface="ＭＳ Ｐゴシック" pitchFamily="34" charset="-128"/>
              </a:rPr>
              <a:t>Needs information about the visited cities</a:t>
            </a:r>
          </a:p>
          <a:p>
            <a:pPr lvl="1" eaLnBrk="1" hangingPunct="1">
              <a:lnSpc>
                <a:spcPct val="90000"/>
              </a:lnSpc>
            </a:pPr>
            <a:r>
              <a:rPr lang="en-US" altLang="ja-JP" sz="2400" i="1" dirty="0">
                <a:solidFill>
                  <a:schemeClr val="tx1"/>
                </a:solidFill>
                <a:ea typeface="ＭＳ Ｐゴシック" pitchFamily="34" charset="-128"/>
              </a:rPr>
              <a:t>Goal</a:t>
            </a:r>
            <a:r>
              <a:rPr lang="en-US" altLang="ja-JP" sz="2400" dirty="0">
                <a:solidFill>
                  <a:schemeClr val="tx1"/>
                </a:solidFill>
                <a:ea typeface="ＭＳ Ｐゴシック" pitchFamily="34" charset="-128"/>
              </a:rPr>
              <a:t>: Find the shortest tour that visits all cities</a:t>
            </a:r>
          </a:p>
          <a:p>
            <a:pPr lvl="1" eaLnBrk="1" hangingPunct="1">
              <a:lnSpc>
                <a:spcPct val="90000"/>
              </a:lnSpc>
            </a:pPr>
            <a:r>
              <a:rPr lang="en-US" altLang="ja-JP" sz="2400" i="1" dirty="0">
                <a:solidFill>
                  <a:schemeClr val="tx1"/>
                </a:solidFill>
                <a:ea typeface="ＭＳ Ｐゴシック" pitchFamily="34" charset="-128"/>
              </a:rPr>
              <a:t>Applications</a:t>
            </a:r>
            <a:r>
              <a:rPr lang="en-US" altLang="ja-JP" sz="2400" dirty="0">
                <a:solidFill>
                  <a:schemeClr val="tx1"/>
                </a:solidFill>
                <a:ea typeface="ＭＳ Ｐゴシック" pitchFamily="34" charset="-128"/>
              </a:rPr>
              <a:t>: planning movements of automatic circuit board drills</a:t>
            </a:r>
          </a:p>
          <a:p>
            <a:pPr lvl="1" eaLnBrk="1" hangingPunct="1">
              <a:lnSpc>
                <a:spcPct val="90000"/>
              </a:lnSpc>
            </a:pPr>
            <a:endParaRPr lang="en-US" altLang="ja-JP" dirty="0">
              <a:ea typeface="ＭＳ Ｐゴシック" pitchFamily="34" charset="-128"/>
            </a:endParaRPr>
          </a:p>
          <a:p>
            <a:pPr lvl="1" eaLnBrk="1" hangingPunct="1">
              <a:lnSpc>
                <a:spcPct val="90000"/>
              </a:lnSpc>
            </a:pPr>
            <a:endParaRPr lang="en-US" altLang="ja-JP" sz="2000" dirty="0">
              <a:ea typeface="ＭＳ Ｐゴシック" pitchFamily="34" charset="-128"/>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ja-JP">
                <a:ea typeface="ＭＳ Ｐゴシック" pitchFamily="34" charset="-128"/>
              </a:rPr>
              <a:t>Real-world problems</a:t>
            </a:r>
          </a:p>
        </p:txBody>
      </p:sp>
      <p:sp>
        <p:nvSpPr>
          <p:cNvPr id="35841" name="Slide Number Placeholder 5"/>
          <p:cNvSpPr>
            <a:spLocks noGrp="1"/>
          </p:cNvSpPr>
          <p:nvPr>
            <p:ph type="sldNum" sz="quarter" idx="12"/>
          </p:nvPr>
        </p:nvSpPr>
        <p:spPr>
          <a:noFill/>
        </p:spPr>
        <p:txBody>
          <a:bodyPr/>
          <a:lstStyle/>
          <a:p>
            <a:fld id="{62DA6338-8255-4149-B6F3-3FE86C7918DE}" type="slidenum">
              <a:rPr lang="en-US"/>
              <a:pPr/>
              <a:t>36</a:t>
            </a:fld>
            <a:endParaRPr lang="en-US"/>
          </a:p>
        </p:txBody>
      </p:sp>
      <p:sp>
        <p:nvSpPr>
          <p:cNvPr id="35843" name="Rectangle 3"/>
          <p:cNvSpPr>
            <a:spLocks noGrp="1" noChangeArrowheads="1"/>
          </p:cNvSpPr>
          <p:nvPr>
            <p:ph sz="quarter" idx="1"/>
          </p:nvPr>
        </p:nvSpPr>
        <p:spPr>
          <a:xfrm>
            <a:off x="381000" y="1524000"/>
            <a:ext cx="8450263" cy="4784725"/>
          </a:xfrm>
        </p:spPr>
        <p:txBody>
          <a:bodyPr>
            <a:normAutofit lnSpcReduction="10000"/>
          </a:bodyPr>
          <a:lstStyle/>
          <a:p>
            <a:pPr eaLnBrk="1" hangingPunct="1">
              <a:lnSpc>
                <a:spcPct val="80000"/>
              </a:lnSpc>
            </a:pPr>
            <a:r>
              <a:rPr lang="en-US" altLang="ja-JP" sz="2400" b="1" u="sng" dirty="0">
                <a:ea typeface="ＭＳ Ｐゴシック" pitchFamily="34" charset="-128"/>
              </a:rPr>
              <a:t>VLSI layout</a:t>
            </a:r>
          </a:p>
          <a:p>
            <a:pPr lvl="1" eaLnBrk="1" hangingPunct="1">
              <a:lnSpc>
                <a:spcPct val="80000"/>
              </a:lnSpc>
            </a:pPr>
            <a:r>
              <a:rPr lang="en-US" altLang="ja-JP" sz="2400" dirty="0">
                <a:solidFill>
                  <a:schemeClr val="tx1"/>
                </a:solidFill>
                <a:ea typeface="ＭＳ Ｐゴシック" pitchFamily="34" charset="-128"/>
              </a:rPr>
              <a:t>Place cells on a chip so they don’t overlap and there is </a:t>
            </a:r>
          </a:p>
          <a:p>
            <a:pPr lvl="1" eaLnBrk="1" hangingPunct="1">
              <a:lnSpc>
                <a:spcPct val="80000"/>
              </a:lnSpc>
              <a:buNone/>
            </a:pPr>
            <a:r>
              <a:rPr lang="en-US" altLang="ja-JP" sz="2400" dirty="0">
                <a:solidFill>
                  <a:schemeClr val="tx1"/>
                </a:solidFill>
                <a:ea typeface="ＭＳ Ｐゴシック" pitchFamily="34" charset="-128"/>
              </a:rPr>
              <a:t>    room for connecting wires to be placed between the cells</a:t>
            </a:r>
          </a:p>
          <a:p>
            <a:pPr lvl="1" eaLnBrk="1" hangingPunct="1">
              <a:lnSpc>
                <a:spcPct val="80000"/>
              </a:lnSpc>
            </a:pPr>
            <a:endParaRPr lang="en-US" altLang="ja-JP" sz="2400" dirty="0">
              <a:solidFill>
                <a:schemeClr val="tx1"/>
              </a:solidFill>
              <a:ea typeface="ＭＳ Ｐゴシック" pitchFamily="34" charset="-128"/>
            </a:endParaRPr>
          </a:p>
          <a:p>
            <a:pPr eaLnBrk="1" hangingPunct="1">
              <a:lnSpc>
                <a:spcPct val="80000"/>
              </a:lnSpc>
            </a:pPr>
            <a:r>
              <a:rPr lang="en-US" altLang="ja-JP" sz="2400" b="1" u="sng" dirty="0">
                <a:ea typeface="ＭＳ Ｐゴシック" pitchFamily="34" charset="-128"/>
              </a:rPr>
              <a:t>Robot navigation</a:t>
            </a:r>
          </a:p>
          <a:p>
            <a:pPr lvl="1" eaLnBrk="1" hangingPunct="1">
              <a:lnSpc>
                <a:spcPct val="80000"/>
              </a:lnSpc>
            </a:pPr>
            <a:r>
              <a:rPr lang="en-US" altLang="ja-JP" sz="2400" dirty="0">
                <a:solidFill>
                  <a:schemeClr val="tx1"/>
                </a:solidFill>
                <a:ea typeface="ＭＳ Ｐゴシック" pitchFamily="34" charset="-128"/>
              </a:rPr>
              <a:t>Generalization of the route finding problem</a:t>
            </a:r>
          </a:p>
          <a:p>
            <a:pPr lvl="2" eaLnBrk="1" hangingPunct="1">
              <a:lnSpc>
                <a:spcPct val="80000"/>
              </a:lnSpc>
            </a:pPr>
            <a:r>
              <a:rPr lang="en-US" altLang="ja-JP" sz="2400" dirty="0">
                <a:ea typeface="ＭＳ Ｐゴシック" pitchFamily="34" charset="-128"/>
              </a:rPr>
              <a:t>No discrete set of routes</a:t>
            </a:r>
          </a:p>
          <a:p>
            <a:pPr lvl="2" eaLnBrk="1" hangingPunct="1">
              <a:lnSpc>
                <a:spcPct val="80000"/>
              </a:lnSpc>
            </a:pPr>
            <a:r>
              <a:rPr lang="en-US" altLang="ja-JP" sz="2400" dirty="0">
                <a:ea typeface="ＭＳ Ｐゴシック" pitchFamily="34" charset="-128"/>
              </a:rPr>
              <a:t>Robot can move in a continuous space</a:t>
            </a:r>
          </a:p>
          <a:p>
            <a:pPr lvl="2" eaLnBrk="1" hangingPunct="1">
              <a:lnSpc>
                <a:spcPct val="80000"/>
              </a:lnSpc>
            </a:pPr>
            <a:r>
              <a:rPr lang="en-US" altLang="ja-JP" sz="2400" dirty="0">
                <a:ea typeface="ＭＳ Ｐゴシック" pitchFamily="34" charset="-128"/>
              </a:rPr>
              <a:t>Infinite set of possible actions and states</a:t>
            </a:r>
          </a:p>
          <a:p>
            <a:pPr lvl="2" eaLnBrk="1" hangingPunct="1">
              <a:lnSpc>
                <a:spcPct val="80000"/>
              </a:lnSpc>
            </a:pPr>
            <a:endParaRPr lang="en-US" altLang="ja-JP" sz="2400" dirty="0">
              <a:ea typeface="ＭＳ Ｐゴシック" pitchFamily="34" charset="-128"/>
            </a:endParaRPr>
          </a:p>
          <a:p>
            <a:pPr eaLnBrk="1" hangingPunct="1">
              <a:lnSpc>
                <a:spcPct val="80000"/>
              </a:lnSpc>
            </a:pPr>
            <a:r>
              <a:rPr lang="en-US" altLang="ja-JP" sz="2400" b="1" u="sng" dirty="0">
                <a:ea typeface="ＭＳ Ｐゴシック" pitchFamily="34" charset="-128"/>
              </a:rPr>
              <a:t>Assembly sequencing</a:t>
            </a:r>
          </a:p>
          <a:p>
            <a:pPr lvl="1" eaLnBrk="1" hangingPunct="1">
              <a:lnSpc>
                <a:spcPct val="80000"/>
              </a:lnSpc>
            </a:pPr>
            <a:r>
              <a:rPr lang="en-US" altLang="ja-JP" sz="2400" dirty="0">
                <a:solidFill>
                  <a:schemeClr val="tx1"/>
                </a:solidFill>
                <a:ea typeface="ＭＳ Ｐゴシック" pitchFamily="34" charset="-128"/>
              </a:rPr>
              <a:t>Automatic assembly of complex objects</a:t>
            </a:r>
          </a:p>
          <a:p>
            <a:pPr lvl="1" eaLnBrk="1" hangingPunct="1">
              <a:lnSpc>
                <a:spcPct val="80000"/>
              </a:lnSpc>
            </a:pPr>
            <a:r>
              <a:rPr lang="en-US" altLang="ja-JP" sz="2400" dirty="0">
                <a:solidFill>
                  <a:schemeClr val="tx1"/>
                </a:solidFill>
                <a:ea typeface="ＭＳ Ｐゴシック" pitchFamily="34" charset="-128"/>
              </a:rPr>
              <a:t>The problem is to find an order in which to assemble the parts of some object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title"/>
          </p:nvPr>
        </p:nvSpPr>
        <p:spPr>
          <a:ln/>
        </p:spPr>
        <p:txBody>
          <a:bodyPr rIns="130174"/>
          <a:lstStyle/>
          <a:p>
            <a:r>
              <a:rPr lang="en-US"/>
              <a:t>Route Finding</a:t>
            </a:r>
          </a:p>
        </p:txBody>
      </p:sp>
      <p:sp>
        <p:nvSpPr>
          <p:cNvPr id="45060" name="Rectangle 4"/>
          <p:cNvSpPr>
            <a:spLocks noGrp="1" noChangeArrowheads="1"/>
          </p:cNvSpPr>
          <p:nvPr>
            <p:ph sz="quarter" idx="1"/>
          </p:nvPr>
        </p:nvSpPr>
        <p:spPr>
          <a:xfrm>
            <a:off x="301752" y="1527048"/>
            <a:ext cx="8503920" cy="4645152"/>
          </a:xfrm>
          <a:ln/>
        </p:spPr>
        <p:txBody>
          <a:bodyPr rIns="130174"/>
          <a:lstStyle/>
          <a:p>
            <a:r>
              <a:rPr lang="en-US" sz="2400" b="1" dirty="0"/>
              <a:t>states</a:t>
            </a:r>
          </a:p>
          <a:p>
            <a:pPr marL="723900" lvl="1"/>
            <a:r>
              <a:rPr lang="en-US" sz="2000" dirty="0"/>
              <a:t>locations</a:t>
            </a:r>
          </a:p>
          <a:p>
            <a:r>
              <a:rPr lang="en-US" sz="2400" b="1" dirty="0"/>
              <a:t>initial state</a:t>
            </a:r>
          </a:p>
          <a:p>
            <a:pPr marL="723900" lvl="1"/>
            <a:r>
              <a:rPr lang="en-US" sz="2000" dirty="0"/>
              <a:t>starting point</a:t>
            </a:r>
          </a:p>
          <a:p>
            <a:r>
              <a:rPr lang="en-US" sz="2400" b="1" dirty="0"/>
              <a:t>successor function (operators)</a:t>
            </a:r>
          </a:p>
          <a:p>
            <a:pPr marL="723900" lvl="1"/>
            <a:r>
              <a:rPr lang="en-US" sz="2000" dirty="0"/>
              <a:t>move from one location to another</a:t>
            </a:r>
          </a:p>
          <a:p>
            <a:r>
              <a:rPr lang="en-US" sz="2400" b="1" dirty="0"/>
              <a:t>goal test</a:t>
            </a:r>
          </a:p>
          <a:p>
            <a:pPr marL="723900" lvl="1"/>
            <a:r>
              <a:rPr lang="en-US" sz="2000" dirty="0"/>
              <a:t>arrive at a certain location</a:t>
            </a:r>
          </a:p>
          <a:p>
            <a:r>
              <a:rPr lang="en-US" sz="2400" b="1" dirty="0"/>
              <a:t>path cost</a:t>
            </a:r>
          </a:p>
          <a:p>
            <a:pPr marL="723900" lvl="1"/>
            <a:r>
              <a:rPr lang="en-US" sz="2000" dirty="0"/>
              <a:t>may be quite complex</a:t>
            </a:r>
          </a:p>
          <a:p>
            <a:pPr marL="1066800" lvl="2"/>
            <a:r>
              <a:rPr lang="en-US" sz="1800" dirty="0"/>
              <a:t>money, time, travel comfort</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title"/>
          </p:nvPr>
        </p:nvSpPr>
        <p:spPr>
          <a:ln/>
        </p:spPr>
        <p:txBody>
          <a:bodyPr rIns="130174"/>
          <a:lstStyle/>
          <a:p>
            <a:r>
              <a:rPr lang="en-US"/>
              <a:t>Traveling Salesperson</a:t>
            </a:r>
          </a:p>
        </p:txBody>
      </p:sp>
      <p:sp>
        <p:nvSpPr>
          <p:cNvPr id="46084" name="Rectangle 4"/>
          <p:cNvSpPr>
            <a:spLocks noGrp="1" noChangeArrowheads="1"/>
          </p:cNvSpPr>
          <p:nvPr>
            <p:ph sz="quarter" idx="1"/>
          </p:nvPr>
        </p:nvSpPr>
        <p:spPr>
          <a:ln/>
        </p:spPr>
        <p:txBody>
          <a:bodyPr rIns="130174">
            <a:normAutofit fontScale="92500" lnSpcReduction="10000"/>
          </a:bodyPr>
          <a:lstStyle/>
          <a:p>
            <a:pPr>
              <a:lnSpc>
                <a:spcPct val="90000"/>
              </a:lnSpc>
            </a:pPr>
            <a:r>
              <a:rPr lang="en-US" sz="2400" b="1" dirty="0"/>
              <a:t>states</a:t>
            </a:r>
          </a:p>
          <a:p>
            <a:pPr marL="723900" lvl="1">
              <a:lnSpc>
                <a:spcPct val="90000"/>
              </a:lnSpc>
            </a:pPr>
            <a:r>
              <a:rPr lang="en-US" sz="2000" dirty="0"/>
              <a:t>locations / cities </a:t>
            </a:r>
          </a:p>
          <a:p>
            <a:pPr marL="723900" lvl="1">
              <a:lnSpc>
                <a:spcPct val="90000"/>
              </a:lnSpc>
            </a:pPr>
            <a:r>
              <a:rPr lang="en-US" sz="2000" dirty="0"/>
              <a:t>states</a:t>
            </a:r>
          </a:p>
          <a:p>
            <a:pPr marL="1066800" lvl="2">
              <a:lnSpc>
                <a:spcPct val="90000"/>
              </a:lnSpc>
            </a:pPr>
            <a:r>
              <a:rPr lang="en-US" sz="1800" dirty="0"/>
              <a:t>each city may be visited only once</a:t>
            </a:r>
          </a:p>
          <a:p>
            <a:pPr marL="1066800" lvl="2">
              <a:lnSpc>
                <a:spcPct val="90000"/>
              </a:lnSpc>
            </a:pPr>
            <a:r>
              <a:rPr lang="en-US" sz="1800" dirty="0"/>
              <a:t>visited cities must be kept as state information</a:t>
            </a:r>
          </a:p>
          <a:p>
            <a:pPr>
              <a:lnSpc>
                <a:spcPct val="90000"/>
              </a:lnSpc>
            </a:pPr>
            <a:r>
              <a:rPr lang="en-US" sz="2400" b="1" dirty="0"/>
              <a:t>initial state</a:t>
            </a:r>
          </a:p>
          <a:p>
            <a:pPr marL="723900" lvl="1">
              <a:lnSpc>
                <a:spcPct val="90000"/>
              </a:lnSpc>
            </a:pPr>
            <a:r>
              <a:rPr lang="en-US" sz="2000" dirty="0"/>
              <a:t>starting point</a:t>
            </a:r>
          </a:p>
          <a:p>
            <a:pPr marL="723900" lvl="1">
              <a:lnSpc>
                <a:spcPct val="90000"/>
              </a:lnSpc>
            </a:pPr>
            <a:r>
              <a:rPr lang="en-US" sz="2000" dirty="0"/>
              <a:t>no cities visited</a:t>
            </a:r>
          </a:p>
          <a:p>
            <a:pPr>
              <a:lnSpc>
                <a:spcPct val="90000"/>
              </a:lnSpc>
            </a:pPr>
            <a:r>
              <a:rPr lang="en-US" sz="2400" b="1" dirty="0"/>
              <a:t>successor function (operators)</a:t>
            </a:r>
          </a:p>
          <a:p>
            <a:pPr marL="723900" lvl="1">
              <a:lnSpc>
                <a:spcPct val="90000"/>
              </a:lnSpc>
            </a:pPr>
            <a:r>
              <a:rPr lang="en-US" sz="2000" dirty="0"/>
              <a:t>move from one location to another one</a:t>
            </a:r>
          </a:p>
          <a:p>
            <a:pPr>
              <a:lnSpc>
                <a:spcPct val="90000"/>
              </a:lnSpc>
            </a:pPr>
            <a:r>
              <a:rPr lang="en-US" sz="2400" b="1" dirty="0"/>
              <a:t>goal test</a:t>
            </a:r>
          </a:p>
          <a:p>
            <a:pPr marL="723900" lvl="1">
              <a:lnSpc>
                <a:spcPct val="90000"/>
              </a:lnSpc>
            </a:pPr>
            <a:r>
              <a:rPr lang="en-US" sz="2000" dirty="0"/>
              <a:t>all locations visited</a:t>
            </a:r>
          </a:p>
          <a:p>
            <a:pPr marL="723900" lvl="1">
              <a:lnSpc>
                <a:spcPct val="90000"/>
              </a:lnSpc>
            </a:pPr>
            <a:r>
              <a:rPr lang="en-US" sz="2000" dirty="0"/>
              <a:t>agent at the initial location</a:t>
            </a:r>
          </a:p>
          <a:p>
            <a:pPr>
              <a:lnSpc>
                <a:spcPct val="90000"/>
              </a:lnSpc>
            </a:pPr>
            <a:r>
              <a:rPr lang="en-US" sz="2400" b="1" dirty="0"/>
              <a:t>path cost</a:t>
            </a:r>
          </a:p>
          <a:p>
            <a:pPr marL="723900" lvl="1">
              <a:lnSpc>
                <a:spcPct val="90000"/>
              </a:lnSpc>
            </a:pPr>
            <a:r>
              <a:rPr lang="en-US" sz="2000" dirty="0"/>
              <a:t>distance between locations</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title"/>
          </p:nvPr>
        </p:nvSpPr>
        <p:spPr>
          <a:ln/>
        </p:spPr>
        <p:txBody>
          <a:bodyPr rIns="130174"/>
          <a:lstStyle/>
          <a:p>
            <a:r>
              <a:rPr lang="en-US"/>
              <a:t>VLSI Layout</a:t>
            </a:r>
          </a:p>
        </p:txBody>
      </p:sp>
      <p:sp>
        <p:nvSpPr>
          <p:cNvPr id="47108" name="Rectangle 4"/>
          <p:cNvSpPr>
            <a:spLocks noGrp="1" noChangeArrowheads="1"/>
          </p:cNvSpPr>
          <p:nvPr>
            <p:ph sz="quarter" idx="1"/>
          </p:nvPr>
        </p:nvSpPr>
        <p:spPr>
          <a:ln/>
        </p:spPr>
        <p:txBody>
          <a:bodyPr rIns="130174">
            <a:normAutofit lnSpcReduction="10000"/>
          </a:bodyPr>
          <a:lstStyle/>
          <a:p>
            <a:pPr>
              <a:lnSpc>
                <a:spcPct val="90000"/>
              </a:lnSpc>
            </a:pPr>
            <a:r>
              <a:rPr lang="en-US" sz="2400" b="1" dirty="0"/>
              <a:t>states</a:t>
            </a:r>
          </a:p>
          <a:p>
            <a:pPr marL="723900" lvl="1">
              <a:lnSpc>
                <a:spcPct val="90000"/>
              </a:lnSpc>
            </a:pPr>
            <a:r>
              <a:rPr lang="en-US" sz="2000" dirty="0"/>
              <a:t>positions of components, wires on a chip</a:t>
            </a:r>
          </a:p>
          <a:p>
            <a:pPr>
              <a:lnSpc>
                <a:spcPct val="90000"/>
              </a:lnSpc>
            </a:pPr>
            <a:r>
              <a:rPr lang="en-US" sz="2400" b="1" dirty="0"/>
              <a:t>initial state</a:t>
            </a:r>
          </a:p>
          <a:p>
            <a:pPr marL="723900" lvl="1">
              <a:lnSpc>
                <a:spcPct val="90000"/>
              </a:lnSpc>
            </a:pPr>
            <a:r>
              <a:rPr lang="en-US" sz="2000" dirty="0"/>
              <a:t>incremental: no components placed</a:t>
            </a:r>
          </a:p>
          <a:p>
            <a:pPr marL="723900" lvl="1">
              <a:lnSpc>
                <a:spcPct val="90000"/>
              </a:lnSpc>
            </a:pPr>
            <a:r>
              <a:rPr lang="en-US" sz="2000" dirty="0"/>
              <a:t>complete-state: all components placed (e.g. randomly, manually)</a:t>
            </a:r>
          </a:p>
          <a:p>
            <a:pPr>
              <a:lnSpc>
                <a:spcPct val="90000"/>
              </a:lnSpc>
            </a:pPr>
            <a:r>
              <a:rPr lang="en-US" sz="2400" b="1" dirty="0"/>
              <a:t>successor function (operators)</a:t>
            </a:r>
          </a:p>
          <a:p>
            <a:pPr marL="723900" lvl="1">
              <a:lnSpc>
                <a:spcPct val="90000"/>
              </a:lnSpc>
            </a:pPr>
            <a:r>
              <a:rPr lang="en-US" sz="2000" dirty="0"/>
              <a:t>incremental: place components, route wire</a:t>
            </a:r>
          </a:p>
          <a:p>
            <a:pPr marL="723900" lvl="1">
              <a:lnSpc>
                <a:spcPct val="90000"/>
              </a:lnSpc>
            </a:pPr>
            <a:r>
              <a:rPr lang="en-US" sz="2000" dirty="0"/>
              <a:t>complete-state: move component, move wire</a:t>
            </a:r>
          </a:p>
          <a:p>
            <a:pPr>
              <a:lnSpc>
                <a:spcPct val="90000"/>
              </a:lnSpc>
            </a:pPr>
            <a:r>
              <a:rPr lang="en-US" sz="2400" b="1" dirty="0"/>
              <a:t>goal test</a:t>
            </a:r>
          </a:p>
          <a:p>
            <a:pPr marL="723900" lvl="1">
              <a:lnSpc>
                <a:spcPct val="90000"/>
              </a:lnSpc>
            </a:pPr>
            <a:r>
              <a:rPr lang="en-US" sz="2000" dirty="0"/>
              <a:t>all components placed</a:t>
            </a:r>
          </a:p>
          <a:p>
            <a:pPr marL="723900" lvl="1">
              <a:lnSpc>
                <a:spcPct val="90000"/>
              </a:lnSpc>
            </a:pPr>
            <a:r>
              <a:rPr lang="en-US" sz="2000" dirty="0"/>
              <a:t>components connected as specified</a:t>
            </a:r>
          </a:p>
          <a:p>
            <a:pPr>
              <a:lnSpc>
                <a:spcPct val="90000"/>
              </a:lnSpc>
            </a:pPr>
            <a:r>
              <a:rPr lang="en-US" sz="2400" b="1" dirty="0"/>
              <a:t>path cost</a:t>
            </a:r>
          </a:p>
          <a:p>
            <a:pPr marL="723900" lvl="1">
              <a:lnSpc>
                <a:spcPct val="90000"/>
              </a:lnSpc>
            </a:pPr>
            <a:r>
              <a:rPr lang="en-US" sz="2000" dirty="0"/>
              <a:t>may be complex</a:t>
            </a:r>
          </a:p>
          <a:p>
            <a:pPr marL="1066800" lvl="2">
              <a:lnSpc>
                <a:spcPct val="90000"/>
              </a:lnSpc>
            </a:pPr>
            <a:r>
              <a:rPr lang="en-US" sz="1800" dirty="0"/>
              <a:t>distance, capacity, number of connections per component</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a:ln/>
        </p:spPr>
        <p:txBody>
          <a:bodyPr rIns="130174"/>
          <a:lstStyle/>
          <a:p>
            <a:r>
              <a:rPr lang="en-US"/>
              <a:t>Robot Navigation</a:t>
            </a:r>
          </a:p>
        </p:txBody>
      </p:sp>
      <p:sp>
        <p:nvSpPr>
          <p:cNvPr id="48132" name="Rectangle 4"/>
          <p:cNvSpPr>
            <a:spLocks noGrp="1" noChangeArrowheads="1"/>
          </p:cNvSpPr>
          <p:nvPr>
            <p:ph sz="quarter" idx="1"/>
          </p:nvPr>
        </p:nvSpPr>
        <p:spPr>
          <a:ln/>
        </p:spPr>
        <p:txBody>
          <a:bodyPr rIns="130174"/>
          <a:lstStyle/>
          <a:p>
            <a:pPr>
              <a:lnSpc>
                <a:spcPct val="90000"/>
              </a:lnSpc>
            </a:pPr>
            <a:r>
              <a:rPr lang="en-US" sz="2400" b="1" dirty="0"/>
              <a:t>states</a:t>
            </a:r>
          </a:p>
          <a:p>
            <a:pPr marL="723900" lvl="1">
              <a:lnSpc>
                <a:spcPct val="90000"/>
              </a:lnSpc>
            </a:pPr>
            <a:r>
              <a:rPr lang="en-US" sz="2000" dirty="0"/>
              <a:t>locations</a:t>
            </a:r>
          </a:p>
          <a:p>
            <a:pPr marL="723900" lvl="1">
              <a:lnSpc>
                <a:spcPct val="90000"/>
              </a:lnSpc>
            </a:pPr>
            <a:r>
              <a:rPr lang="en-US" sz="2000" dirty="0"/>
              <a:t>position of actuators</a:t>
            </a:r>
          </a:p>
          <a:p>
            <a:pPr>
              <a:lnSpc>
                <a:spcPct val="90000"/>
              </a:lnSpc>
            </a:pPr>
            <a:r>
              <a:rPr lang="en-US" sz="2400" b="1" dirty="0"/>
              <a:t>initial state</a:t>
            </a:r>
          </a:p>
          <a:p>
            <a:pPr marL="723900" lvl="1">
              <a:lnSpc>
                <a:spcPct val="90000"/>
              </a:lnSpc>
            </a:pPr>
            <a:r>
              <a:rPr lang="en-US" sz="2000" dirty="0"/>
              <a:t>start position (dependent on the task)</a:t>
            </a:r>
          </a:p>
          <a:p>
            <a:pPr>
              <a:lnSpc>
                <a:spcPct val="90000"/>
              </a:lnSpc>
            </a:pPr>
            <a:r>
              <a:rPr lang="en-US" sz="2400" b="1" dirty="0"/>
              <a:t>successor function (operators)</a:t>
            </a:r>
          </a:p>
          <a:p>
            <a:pPr marL="723900" lvl="1">
              <a:lnSpc>
                <a:spcPct val="90000"/>
              </a:lnSpc>
            </a:pPr>
            <a:r>
              <a:rPr lang="en-US" sz="2000" dirty="0"/>
              <a:t>movement, actions of actuators</a:t>
            </a:r>
          </a:p>
          <a:p>
            <a:pPr>
              <a:lnSpc>
                <a:spcPct val="90000"/>
              </a:lnSpc>
            </a:pPr>
            <a:r>
              <a:rPr lang="en-US" sz="2400" b="1" dirty="0"/>
              <a:t>goal test</a:t>
            </a:r>
          </a:p>
          <a:p>
            <a:pPr marL="723900" lvl="1">
              <a:lnSpc>
                <a:spcPct val="90000"/>
              </a:lnSpc>
            </a:pPr>
            <a:r>
              <a:rPr lang="en-US" sz="2000" dirty="0"/>
              <a:t>task-dependent</a:t>
            </a:r>
          </a:p>
          <a:p>
            <a:pPr>
              <a:lnSpc>
                <a:spcPct val="90000"/>
              </a:lnSpc>
            </a:pPr>
            <a:r>
              <a:rPr lang="en-US" sz="2400" b="1" dirty="0"/>
              <a:t>path cost</a:t>
            </a:r>
          </a:p>
          <a:p>
            <a:pPr marL="723900" lvl="1">
              <a:lnSpc>
                <a:spcPct val="90000"/>
              </a:lnSpc>
            </a:pPr>
            <a:r>
              <a:rPr lang="en-US" sz="2000" dirty="0"/>
              <a:t>may be very complex</a:t>
            </a:r>
          </a:p>
          <a:p>
            <a:pPr marL="1066800" lvl="2">
              <a:lnSpc>
                <a:spcPct val="90000"/>
              </a:lnSpc>
            </a:pPr>
            <a:r>
              <a:rPr lang="en-US" sz="1800" dirty="0"/>
              <a:t>distance, energy consumption</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title"/>
          </p:nvPr>
        </p:nvSpPr>
        <p:spPr>
          <a:ln/>
        </p:spPr>
        <p:txBody>
          <a:bodyPr rIns="130174"/>
          <a:lstStyle/>
          <a:p>
            <a:r>
              <a:rPr lang="en-US"/>
              <a:t>Assembly Sequencing</a:t>
            </a:r>
          </a:p>
        </p:txBody>
      </p:sp>
      <p:sp>
        <p:nvSpPr>
          <p:cNvPr id="49156" name="Rectangle 4"/>
          <p:cNvSpPr>
            <a:spLocks noGrp="1" noChangeArrowheads="1"/>
          </p:cNvSpPr>
          <p:nvPr>
            <p:ph sz="quarter" idx="1"/>
          </p:nvPr>
        </p:nvSpPr>
        <p:spPr>
          <a:ln/>
        </p:spPr>
        <p:txBody>
          <a:bodyPr rIns="130174"/>
          <a:lstStyle/>
          <a:p>
            <a:pPr>
              <a:lnSpc>
                <a:spcPct val="90000"/>
              </a:lnSpc>
            </a:pPr>
            <a:r>
              <a:rPr lang="en-US" b="1" dirty="0"/>
              <a:t>states</a:t>
            </a:r>
          </a:p>
          <a:p>
            <a:pPr marL="723900" lvl="1">
              <a:lnSpc>
                <a:spcPct val="90000"/>
              </a:lnSpc>
            </a:pPr>
            <a:r>
              <a:rPr lang="en-US" dirty="0"/>
              <a:t>location of components</a:t>
            </a:r>
          </a:p>
          <a:p>
            <a:pPr>
              <a:lnSpc>
                <a:spcPct val="90000"/>
              </a:lnSpc>
            </a:pPr>
            <a:r>
              <a:rPr lang="en-US" b="1" dirty="0"/>
              <a:t>initial state</a:t>
            </a:r>
          </a:p>
          <a:p>
            <a:pPr marL="723900" lvl="1">
              <a:lnSpc>
                <a:spcPct val="90000"/>
              </a:lnSpc>
            </a:pPr>
            <a:r>
              <a:rPr lang="en-US" dirty="0"/>
              <a:t>no components assembled</a:t>
            </a:r>
          </a:p>
          <a:p>
            <a:pPr>
              <a:lnSpc>
                <a:spcPct val="90000"/>
              </a:lnSpc>
            </a:pPr>
            <a:r>
              <a:rPr lang="en-US" b="1" dirty="0"/>
              <a:t>successor function (operators)</a:t>
            </a:r>
          </a:p>
          <a:p>
            <a:pPr marL="723900" lvl="1">
              <a:lnSpc>
                <a:spcPct val="90000"/>
              </a:lnSpc>
            </a:pPr>
            <a:r>
              <a:rPr lang="en-US" dirty="0"/>
              <a:t>place component</a:t>
            </a:r>
          </a:p>
          <a:p>
            <a:pPr>
              <a:lnSpc>
                <a:spcPct val="90000"/>
              </a:lnSpc>
            </a:pPr>
            <a:r>
              <a:rPr lang="en-US" b="1" dirty="0"/>
              <a:t>goal test</a:t>
            </a:r>
          </a:p>
          <a:p>
            <a:pPr marL="723900" lvl="1">
              <a:lnSpc>
                <a:spcPct val="90000"/>
              </a:lnSpc>
            </a:pPr>
            <a:r>
              <a:rPr lang="en-US" dirty="0"/>
              <a:t>system fully assembled </a:t>
            </a:r>
          </a:p>
          <a:p>
            <a:pPr>
              <a:lnSpc>
                <a:spcPct val="90000"/>
              </a:lnSpc>
            </a:pPr>
            <a:r>
              <a:rPr lang="en-US" b="1" dirty="0"/>
              <a:t>path cost</a:t>
            </a:r>
          </a:p>
          <a:p>
            <a:pPr marL="723900" lvl="1">
              <a:lnSpc>
                <a:spcPct val="90000"/>
              </a:lnSpc>
            </a:pPr>
            <a:r>
              <a:rPr lang="en-US" dirty="0"/>
              <a:t>number of moves</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type="title"/>
          </p:nvPr>
        </p:nvSpPr>
        <p:spPr>
          <a:ln/>
        </p:spPr>
        <p:txBody>
          <a:bodyPr rIns="130174"/>
          <a:lstStyle/>
          <a:p>
            <a:r>
              <a:rPr lang="en-US" dirty="0"/>
              <a:t>Problem space and search</a:t>
            </a:r>
          </a:p>
        </p:txBody>
      </p:sp>
      <p:sp>
        <p:nvSpPr>
          <p:cNvPr id="51204" name="Rectangle 4"/>
          <p:cNvSpPr>
            <a:spLocks noGrp="1" noChangeArrowheads="1"/>
          </p:cNvSpPr>
          <p:nvPr>
            <p:ph sz="quarter" idx="1"/>
          </p:nvPr>
        </p:nvSpPr>
        <p:spPr>
          <a:xfrm>
            <a:off x="533400" y="1600200"/>
            <a:ext cx="8272272" cy="4572000"/>
          </a:xfrm>
          <a:ln/>
        </p:spPr>
        <p:txBody>
          <a:bodyPr rIns="130174">
            <a:normAutofit fontScale="92500" lnSpcReduction="10000"/>
          </a:bodyPr>
          <a:lstStyle/>
          <a:p>
            <a:r>
              <a:rPr lang="en-US" sz="2400" dirty="0"/>
              <a:t>Traversal of the search space </a:t>
            </a:r>
          </a:p>
          <a:p>
            <a:pPr marL="723900" lvl="1"/>
            <a:r>
              <a:rPr lang="en-US" sz="2000" dirty="0"/>
              <a:t>from the initial state to a goal state</a:t>
            </a:r>
          </a:p>
          <a:p>
            <a:pPr marL="723900" lvl="1"/>
            <a:r>
              <a:rPr lang="en-US" sz="2000" dirty="0"/>
              <a:t>legal sequence of actions as defined by successor function (operators)</a:t>
            </a:r>
          </a:p>
          <a:p>
            <a:r>
              <a:rPr lang="en-US" sz="2400" dirty="0"/>
              <a:t>General procedure</a:t>
            </a:r>
          </a:p>
          <a:p>
            <a:pPr marL="723900" lvl="1"/>
            <a:r>
              <a:rPr lang="en-US" sz="2000" dirty="0"/>
              <a:t>check for goal state</a:t>
            </a:r>
          </a:p>
          <a:p>
            <a:pPr marL="723900" lvl="1"/>
            <a:r>
              <a:rPr lang="en-US" sz="2000" dirty="0"/>
              <a:t>expand the current state</a:t>
            </a:r>
          </a:p>
          <a:p>
            <a:pPr marL="1066800" lvl="2"/>
            <a:r>
              <a:rPr lang="en-US" sz="1800" dirty="0"/>
              <a:t>determine the set of reachable states</a:t>
            </a:r>
          </a:p>
          <a:p>
            <a:pPr marL="1066800" lvl="2"/>
            <a:r>
              <a:rPr lang="en-US" sz="1800" dirty="0"/>
              <a:t>return “failure” if the set is empty</a:t>
            </a:r>
          </a:p>
          <a:p>
            <a:pPr marL="723900" lvl="1"/>
            <a:r>
              <a:rPr lang="en-US" sz="2000" dirty="0"/>
              <a:t>select one from the set of reachable states</a:t>
            </a:r>
          </a:p>
          <a:p>
            <a:pPr marL="723900" lvl="1"/>
            <a:r>
              <a:rPr lang="en-US" sz="2000" dirty="0"/>
              <a:t>move to the selected state</a:t>
            </a:r>
          </a:p>
          <a:p>
            <a:r>
              <a:rPr lang="en-US" sz="2400" b="1" dirty="0"/>
              <a:t>A search tree is generated</a:t>
            </a:r>
          </a:p>
          <a:p>
            <a:pPr marL="723900" lvl="1"/>
            <a:r>
              <a:rPr lang="en-US" sz="2000" dirty="0"/>
              <a:t>nodes are added as more states are visited</a:t>
            </a:r>
          </a:p>
          <a:p>
            <a:pPr marL="723900" lvl="1"/>
            <a:r>
              <a:rPr lang="en-US" sz="2000" dirty="0"/>
              <a:t>Initial state and successor function(State Space)</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62" name="Rectangle 2"/>
          <p:cNvSpPr>
            <a:spLocks noGrp="1" noChangeArrowheads="1"/>
          </p:cNvSpPr>
          <p:nvPr>
            <p:ph type="title"/>
          </p:nvPr>
        </p:nvSpPr>
        <p:spPr>
          <a:xfrm>
            <a:off x="533400" y="152400"/>
            <a:ext cx="8305800" cy="838200"/>
          </a:xfrm>
        </p:spPr>
        <p:txBody>
          <a:bodyPr>
            <a:normAutofit/>
          </a:bodyPr>
          <a:lstStyle/>
          <a:p>
            <a:pPr eaLnBrk="1" hangingPunct="1">
              <a:defRPr/>
            </a:pPr>
            <a:r>
              <a:rPr lang="en-US" sz="3600" dirty="0">
                <a:solidFill>
                  <a:schemeClr val="bg2">
                    <a:lumMod val="75000"/>
                  </a:schemeClr>
                </a:solidFill>
                <a:cs typeface="+mj-cs"/>
              </a:rPr>
              <a:t>Tree-search algorithms</a:t>
            </a:r>
          </a:p>
        </p:txBody>
      </p:sp>
      <p:pic>
        <p:nvPicPr>
          <p:cNvPr id="1269764" name="Picture 4"/>
          <p:cNvPicPr>
            <a:picLocks noChangeAspect="1" noChangeArrowheads="1"/>
          </p:cNvPicPr>
          <p:nvPr/>
        </p:nvPicPr>
        <p:blipFill>
          <a:blip r:embed="rId2">
            <a:extLst>
              <a:ext uri="{28A0092B-C50C-407E-A947-70E740481C1C}">
                <a14:useLocalDpi xmlns:a14="http://schemas.microsoft.com/office/drawing/2010/main" val="0"/>
              </a:ext>
            </a:extLst>
          </a:blip>
          <a:srcRect l="14844" t="37500" r="3125" b="28125"/>
          <a:stretch>
            <a:fillRect/>
          </a:stretch>
        </p:blipFill>
        <p:spPr bwMode="auto">
          <a:xfrm>
            <a:off x="533400" y="1600200"/>
            <a:ext cx="8001000" cy="3429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30724" name="TextBox 1"/>
          <p:cNvSpPr txBox="1">
            <a:spLocks noChangeArrowheads="1"/>
          </p:cNvSpPr>
          <p:nvPr/>
        </p:nvSpPr>
        <p:spPr bwMode="auto">
          <a:xfrm>
            <a:off x="457200" y="5029200"/>
            <a:ext cx="8229600"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sz="1800" b="1" dirty="0">
                <a:solidFill>
                  <a:srgbClr val="FF0000"/>
                </a:solidFill>
              </a:rPr>
              <a:t>-&gt; Here we only check a node for possibly being a goal state, after we select the node for expansion. </a:t>
            </a:r>
          </a:p>
          <a:p>
            <a:pPr eaLnBrk="1" hangingPunct="1"/>
            <a:r>
              <a:rPr lang="en-US" sz="1800" b="1" dirty="0">
                <a:solidFill>
                  <a:srgbClr val="FF0000"/>
                </a:solidFill>
              </a:rPr>
              <a:t>-&gt; A “node” is a data structure containing state + additional info (parent</a:t>
            </a:r>
          </a:p>
          <a:p>
            <a:pPr eaLnBrk="1" hangingPunct="1"/>
            <a:r>
              <a:rPr lang="en-US" sz="1800" b="1" dirty="0">
                <a:solidFill>
                  <a:srgbClr val="FF0000"/>
                </a:solidFill>
              </a:rPr>
              <a:t>node, etc.)</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0786" name="Rectangle 2"/>
          <p:cNvSpPr>
            <a:spLocks noGrp="1" noChangeArrowheads="1"/>
          </p:cNvSpPr>
          <p:nvPr>
            <p:ph type="title"/>
          </p:nvPr>
        </p:nvSpPr>
        <p:spPr>
          <a:xfrm>
            <a:off x="1066800" y="-152400"/>
            <a:ext cx="7772400" cy="1066800"/>
          </a:xfrm>
        </p:spPr>
        <p:txBody>
          <a:bodyPr>
            <a:normAutofit/>
          </a:bodyPr>
          <a:lstStyle/>
          <a:p>
            <a:pPr eaLnBrk="1" hangingPunct="1">
              <a:defRPr/>
            </a:pPr>
            <a:r>
              <a:rPr lang="en-US" sz="3600" dirty="0">
                <a:solidFill>
                  <a:schemeClr val="bg2">
                    <a:lumMod val="75000"/>
                  </a:schemeClr>
                </a:solidFill>
                <a:cs typeface="+mj-cs"/>
              </a:rPr>
              <a:t>Tree search example</a:t>
            </a:r>
          </a:p>
        </p:txBody>
      </p:sp>
      <p:pic>
        <p:nvPicPr>
          <p:cNvPr id="37890" name="Picture 3" descr="search-map1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143000"/>
            <a:ext cx="9144000" cy="2524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7891" name="Picture 4" descr="romania-distan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57600"/>
            <a:ext cx="9144000" cy="3036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Octagon 1"/>
          <p:cNvSpPr/>
          <p:nvPr/>
        </p:nvSpPr>
        <p:spPr>
          <a:xfrm>
            <a:off x="4343400" y="914400"/>
            <a:ext cx="1143000" cy="762000"/>
          </a:xfrm>
          <a:prstGeom prst="octagon">
            <a:avLst/>
          </a:prstGeom>
          <a:solidFill>
            <a:schemeClr val="accent1">
              <a:alpha val="3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2590800" y="762000"/>
            <a:ext cx="1905000" cy="646331"/>
          </a:xfrm>
          <a:prstGeom prst="rect">
            <a:avLst/>
          </a:prstGeom>
          <a:noFill/>
        </p:spPr>
        <p:txBody>
          <a:bodyPr wrap="square" rtlCol="0">
            <a:spAutoFit/>
          </a:bodyPr>
          <a:lstStyle/>
          <a:p>
            <a:r>
              <a:rPr lang="en-US" dirty="0"/>
              <a:t>Node selected</a:t>
            </a:r>
          </a:p>
          <a:p>
            <a:r>
              <a:rPr lang="en-US" dirty="0"/>
              <a:t>for expansion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1810" name="Picture 2" descr="search-map2c"/>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0" y="914400"/>
            <a:ext cx="9144000" cy="2971800"/>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pic>
        <p:nvPicPr>
          <p:cNvPr id="38915" name="Picture 4" descr="romania-distan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810000"/>
            <a:ext cx="8991600" cy="28844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Decagon 2"/>
          <p:cNvSpPr/>
          <p:nvPr/>
        </p:nvSpPr>
        <p:spPr>
          <a:xfrm>
            <a:off x="1600200" y="1295400"/>
            <a:ext cx="7162800" cy="762000"/>
          </a:xfrm>
          <a:prstGeom prst="decagon">
            <a:avLst/>
          </a:prstGeom>
          <a:solidFill>
            <a:schemeClr val="accent2">
              <a:alpha val="3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609600" y="533400"/>
            <a:ext cx="2416848" cy="400110"/>
          </a:xfrm>
          <a:prstGeom prst="rect">
            <a:avLst/>
          </a:prstGeom>
          <a:noFill/>
        </p:spPr>
        <p:txBody>
          <a:bodyPr wrap="none" rtlCol="0">
            <a:spAutoFit/>
          </a:bodyPr>
          <a:lstStyle/>
          <a:p>
            <a:r>
              <a:rPr lang="en-US" sz="2000" b="1" dirty="0"/>
              <a:t>Nodes added to tree.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2834" name="Picture 2" descr="search-map3c"/>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76200" y="838200"/>
            <a:ext cx="8981017" cy="2203233"/>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pic>
        <p:nvPicPr>
          <p:cNvPr id="4" name="Picture 4" descr="romania-distan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048000"/>
            <a:ext cx="4800600" cy="3657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Decagon 2"/>
          <p:cNvSpPr/>
          <p:nvPr/>
        </p:nvSpPr>
        <p:spPr>
          <a:xfrm>
            <a:off x="1828800" y="1371600"/>
            <a:ext cx="838200" cy="609600"/>
          </a:xfrm>
          <a:prstGeom prst="decagon">
            <a:avLst/>
          </a:prstGeom>
          <a:solidFill>
            <a:schemeClr val="accent1">
              <a:alpha val="3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Decagon 4"/>
          <p:cNvSpPr/>
          <p:nvPr/>
        </p:nvSpPr>
        <p:spPr>
          <a:xfrm>
            <a:off x="152400" y="2057400"/>
            <a:ext cx="4419600" cy="685800"/>
          </a:xfrm>
          <a:prstGeom prst="decagon">
            <a:avLst/>
          </a:prstGeom>
          <a:solidFill>
            <a:schemeClr val="accent2">
              <a:alpha val="3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1143000" y="381000"/>
            <a:ext cx="2694743" cy="400110"/>
          </a:xfrm>
          <a:prstGeom prst="rect">
            <a:avLst/>
          </a:prstGeom>
          <a:noFill/>
        </p:spPr>
        <p:txBody>
          <a:bodyPr wrap="none" rtlCol="0">
            <a:spAutoFit/>
          </a:bodyPr>
          <a:lstStyle/>
          <a:p>
            <a:r>
              <a:rPr lang="en-US" sz="2000" b="1" dirty="0"/>
              <a:t>Selected for expansion.</a:t>
            </a:r>
          </a:p>
        </p:txBody>
      </p:sp>
      <p:sp>
        <p:nvSpPr>
          <p:cNvPr id="7" name="TextBox 6"/>
          <p:cNvSpPr txBox="1"/>
          <p:nvPr/>
        </p:nvSpPr>
        <p:spPr>
          <a:xfrm>
            <a:off x="0" y="1581090"/>
            <a:ext cx="1752779" cy="400110"/>
          </a:xfrm>
          <a:prstGeom prst="rect">
            <a:avLst/>
          </a:prstGeom>
          <a:noFill/>
        </p:spPr>
        <p:txBody>
          <a:bodyPr wrap="none" rtlCol="0">
            <a:spAutoFit/>
          </a:bodyPr>
          <a:lstStyle/>
          <a:p>
            <a:r>
              <a:rPr lang="en-US" sz="2000" b="1" dirty="0"/>
              <a:t>Added to tree.</a:t>
            </a:r>
          </a:p>
        </p:txBody>
      </p:sp>
      <p:sp>
        <p:nvSpPr>
          <p:cNvPr id="8" name="TextBox 7"/>
          <p:cNvSpPr txBox="1"/>
          <p:nvPr/>
        </p:nvSpPr>
        <p:spPr>
          <a:xfrm>
            <a:off x="152400" y="3200400"/>
            <a:ext cx="4114800" cy="2246769"/>
          </a:xfrm>
          <a:prstGeom prst="rect">
            <a:avLst/>
          </a:prstGeom>
          <a:solidFill>
            <a:schemeClr val="accent2">
              <a:lumMod val="60000"/>
              <a:lumOff val="40000"/>
              <a:alpha val="30000"/>
            </a:schemeClr>
          </a:solidFill>
        </p:spPr>
        <p:txBody>
          <a:bodyPr wrap="square" rtlCol="0">
            <a:spAutoFit/>
          </a:bodyPr>
          <a:lstStyle/>
          <a:p>
            <a:r>
              <a:rPr lang="en-US" sz="2000" b="1" dirty="0"/>
              <a:t>-&gt; Arad added (again) to tree!</a:t>
            </a:r>
          </a:p>
          <a:p>
            <a:r>
              <a:rPr lang="en-US" sz="2000" b="1" dirty="0"/>
              <a:t>(reachable from Sibiu)</a:t>
            </a:r>
          </a:p>
          <a:p>
            <a:endParaRPr lang="en-US" sz="2000" b="1" dirty="0"/>
          </a:p>
          <a:p>
            <a:r>
              <a:rPr lang="en-US" sz="2000" b="1" dirty="0"/>
              <a:t>-&gt;Not necessarily a problem, but in </a:t>
            </a:r>
            <a:r>
              <a:rPr lang="en-US" sz="2000" b="1" dirty="0">
                <a:solidFill>
                  <a:srgbClr val="FF0000"/>
                </a:solidFill>
              </a:rPr>
              <a:t>Graph-Search</a:t>
            </a:r>
            <a:r>
              <a:rPr lang="en-US" sz="2000" b="1" dirty="0"/>
              <a:t>, we will avoid this by maintaining an</a:t>
            </a:r>
          </a:p>
          <a:p>
            <a:r>
              <a:rPr lang="en-US" sz="2000" b="1" dirty="0"/>
              <a:t>“explored” list.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8" presetClass="entr" presetSubtype="0" accel="50000" fill="hold" grpId="0" nodeType="clickEffect">
                                  <p:stCondLst>
                                    <p:cond delay="0"/>
                                  </p:stCondLst>
                                  <p:iterate type="lt">
                                    <p:tmPct val="50000"/>
                                  </p:iterate>
                                  <p:childTnLst>
                                    <p:set>
                                      <p:cBhvr>
                                        <p:cTn id="26" dur="1" fill="hold">
                                          <p:stCondLst>
                                            <p:cond delay="0"/>
                                          </p:stCondLst>
                                        </p:cTn>
                                        <p:tgtEl>
                                          <p:spTgt spid="8"/>
                                        </p:tgtEl>
                                        <p:attrNameLst>
                                          <p:attrName>style.visibility</p:attrName>
                                        </p:attrNameLst>
                                      </p:cBhvr>
                                      <p:to>
                                        <p:strVal val="visible"/>
                                      </p:to>
                                    </p:set>
                                    <p:set>
                                      <p:cBhvr>
                                        <p:cTn id="27" dur="46" fill="hold">
                                          <p:stCondLst>
                                            <p:cond delay="0"/>
                                          </p:stCondLst>
                                        </p:cTn>
                                        <p:tgtEl>
                                          <p:spTgt spid="8"/>
                                        </p:tgtEl>
                                        <p:attrNameLst>
                                          <p:attrName>style.rotation</p:attrName>
                                        </p:attrNameLst>
                                      </p:cBhvr>
                                      <p:to>
                                        <p:strVal val="-45.0"/>
                                      </p:to>
                                    </p:set>
                                    <p:anim calcmode="lin" valueType="num">
                                      <p:cBhvr>
                                        <p:cTn id="28" dur="46" fill="hold">
                                          <p:stCondLst>
                                            <p:cond delay="46"/>
                                          </p:stCondLst>
                                        </p:cTn>
                                        <p:tgtEl>
                                          <p:spTgt spid="8"/>
                                        </p:tgtEl>
                                        <p:attrNameLst>
                                          <p:attrName>style.rotation</p:attrName>
                                        </p:attrNameLst>
                                      </p:cBhvr>
                                      <p:tavLst>
                                        <p:tav tm="0">
                                          <p:val>
                                            <p:fltVal val="-45"/>
                                          </p:val>
                                        </p:tav>
                                        <p:tav tm="69900">
                                          <p:val>
                                            <p:fltVal val="45"/>
                                          </p:val>
                                        </p:tav>
                                        <p:tav tm="100000">
                                          <p:val>
                                            <p:fltVal val="0"/>
                                          </p:val>
                                        </p:tav>
                                      </p:tavLst>
                                    </p:anim>
                                    <p:anim calcmode="lin" valueType="num">
                                      <p:cBhvr>
                                        <p:cTn id="29" dur="46" fill="hold">
                                          <p:stCondLst>
                                            <p:cond delay="0"/>
                                          </p:stCondLst>
                                        </p:cTn>
                                        <p:tgtEl>
                                          <p:spTgt spid="8"/>
                                        </p:tgtEl>
                                        <p:attrNameLst>
                                          <p:attrName>ppt_y</p:attrName>
                                        </p:attrNameLst>
                                      </p:cBhvr>
                                      <p:tavLst>
                                        <p:tav tm="0">
                                          <p:val>
                                            <p:strVal val="#ppt_y-1"/>
                                          </p:val>
                                        </p:tav>
                                        <p:tav tm="100000">
                                          <p:val>
                                            <p:strVal val="#ppt_y-(0.354*#ppt_w-0.172*#ppt_h)"/>
                                          </p:val>
                                        </p:tav>
                                      </p:tavLst>
                                    </p:anim>
                                    <p:anim calcmode="lin" valueType="num">
                                      <p:cBhvr>
                                        <p:cTn id="30" dur="16" decel="50000" autoRev="1" fill="hold">
                                          <p:stCondLst>
                                            <p:cond delay="46"/>
                                          </p:stCondLst>
                                        </p:cTn>
                                        <p:tgtEl>
                                          <p:spTgt spid="8"/>
                                        </p:tgtEl>
                                        <p:attrNameLst>
                                          <p:attrName>ppt_y</p:attrName>
                                        </p:attrNameLst>
                                      </p:cBhvr>
                                      <p:tavLst>
                                        <p:tav tm="0">
                                          <p:val>
                                            <p:strVal val="#ppt_y-(0.354*#ppt_w-0.172*#ppt_h)"/>
                                          </p:val>
                                        </p:tav>
                                        <p:tav tm="100000">
                                          <p:val>
                                            <p:strVal val="#ppt_y-(0.354*#ppt_w-0.172*#ppt_h)-#ppt_h/2"/>
                                          </p:val>
                                        </p:tav>
                                      </p:tavLst>
                                    </p:anim>
                                    <p:anim calcmode="lin" valueType="num">
                                      <p:cBhvr>
                                        <p:cTn id="31" dur="14" fill="hold">
                                          <p:stCondLst>
                                            <p:cond delay="86"/>
                                          </p:stCondLst>
                                        </p:cTn>
                                        <p:tgtEl>
                                          <p:spTgt spid="8"/>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p:bldP spid="7" grpId="0"/>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1" name="Picture 4" descr="state-vs-no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1371600"/>
            <a:ext cx="3505200" cy="2743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74882" name="Rectangle 2"/>
          <p:cNvSpPr>
            <a:spLocks noGrp="1" noChangeArrowheads="1"/>
          </p:cNvSpPr>
          <p:nvPr>
            <p:ph type="title"/>
          </p:nvPr>
        </p:nvSpPr>
        <p:spPr>
          <a:xfrm>
            <a:off x="0" y="76200"/>
            <a:ext cx="10058400" cy="990600"/>
          </a:xfrm>
        </p:spPr>
        <p:txBody>
          <a:bodyPr/>
          <a:lstStyle/>
          <a:p>
            <a:pPr algn="ctr" eaLnBrk="1" hangingPunct="1">
              <a:defRPr/>
            </a:pPr>
            <a:r>
              <a:rPr lang="en-US" sz="3600" dirty="0">
                <a:solidFill>
                  <a:schemeClr val="bg2">
                    <a:lumMod val="75000"/>
                  </a:schemeClr>
                </a:solidFill>
                <a:cs typeface="+mj-cs"/>
              </a:rPr>
              <a:t>Implementation: states vs. nodes</a:t>
            </a:r>
          </a:p>
        </p:txBody>
      </p:sp>
      <p:sp>
        <p:nvSpPr>
          <p:cNvPr id="1274883" name="Rectangle 3"/>
          <p:cNvSpPr>
            <a:spLocks noGrp="1" noChangeArrowheads="1"/>
          </p:cNvSpPr>
          <p:nvPr>
            <p:ph sz="quarter" idx="1"/>
          </p:nvPr>
        </p:nvSpPr>
        <p:spPr>
          <a:xfrm>
            <a:off x="457200" y="1600200"/>
            <a:ext cx="4724400" cy="2514600"/>
          </a:xfrm>
        </p:spPr>
        <p:txBody>
          <a:bodyPr>
            <a:noAutofit/>
          </a:bodyPr>
          <a:lstStyle/>
          <a:p>
            <a:pPr eaLnBrk="1" hangingPunct="1">
              <a:lnSpc>
                <a:spcPct val="80000"/>
              </a:lnSpc>
              <a:defRPr/>
            </a:pPr>
            <a:r>
              <a:rPr lang="en-US" sz="2000" b="1" dirty="0">
                <a:cs typeface="+mn-cs"/>
              </a:rPr>
              <a:t>A </a:t>
            </a:r>
            <a:r>
              <a:rPr lang="en-US" sz="2000" b="1" dirty="0">
                <a:solidFill>
                  <a:srgbClr val="FF0000"/>
                </a:solidFill>
                <a:cs typeface="+mn-cs"/>
              </a:rPr>
              <a:t>state</a:t>
            </a:r>
            <a:r>
              <a:rPr lang="en-US" sz="2000" b="1" dirty="0">
                <a:cs typeface="+mn-cs"/>
              </a:rPr>
              <a:t> is a --- representation of --- a physical configuration.</a:t>
            </a:r>
          </a:p>
          <a:p>
            <a:pPr eaLnBrk="1" hangingPunct="1">
              <a:lnSpc>
                <a:spcPct val="80000"/>
              </a:lnSpc>
              <a:defRPr/>
            </a:pPr>
            <a:endParaRPr lang="en-US" sz="2000" b="1" dirty="0">
              <a:cs typeface="+mn-cs"/>
            </a:endParaRPr>
          </a:p>
          <a:p>
            <a:pPr eaLnBrk="1" hangingPunct="1">
              <a:lnSpc>
                <a:spcPct val="80000"/>
              </a:lnSpc>
              <a:defRPr/>
            </a:pPr>
            <a:r>
              <a:rPr lang="en-US" sz="2000" b="1" dirty="0">
                <a:cs typeface="+mn-cs"/>
              </a:rPr>
              <a:t>A </a:t>
            </a:r>
            <a:r>
              <a:rPr lang="en-US" sz="2000" b="1" dirty="0">
                <a:solidFill>
                  <a:srgbClr val="FF0000"/>
                </a:solidFill>
                <a:cs typeface="+mn-cs"/>
              </a:rPr>
              <a:t>node</a:t>
            </a:r>
            <a:r>
              <a:rPr lang="en-US" sz="2000" b="1" dirty="0">
                <a:cs typeface="+mn-cs"/>
              </a:rPr>
              <a:t> is a data structure constituting part of a search tree includes </a:t>
            </a:r>
            <a:r>
              <a:rPr lang="en-US" sz="2000" b="1" dirty="0">
                <a:solidFill>
                  <a:srgbClr val="FF0000"/>
                </a:solidFill>
                <a:cs typeface="+mn-cs"/>
              </a:rPr>
              <a:t>state</a:t>
            </a:r>
            <a:r>
              <a:rPr lang="en-US" sz="2000" b="1" dirty="0">
                <a:cs typeface="+mn-cs"/>
              </a:rPr>
              <a:t>, tree</a:t>
            </a:r>
            <a:r>
              <a:rPr lang="en-US" sz="2000" b="1" dirty="0">
                <a:solidFill>
                  <a:srgbClr val="FF0000"/>
                </a:solidFill>
                <a:cs typeface="+mn-cs"/>
              </a:rPr>
              <a:t> parent node</a:t>
            </a:r>
            <a:r>
              <a:rPr lang="en-US" sz="2000" b="1" dirty="0">
                <a:cs typeface="+mn-cs"/>
              </a:rPr>
              <a:t>, </a:t>
            </a:r>
            <a:r>
              <a:rPr lang="en-US" sz="2000" b="1" dirty="0">
                <a:solidFill>
                  <a:srgbClr val="FF0000"/>
                </a:solidFill>
                <a:cs typeface="+mn-cs"/>
              </a:rPr>
              <a:t>action </a:t>
            </a:r>
            <a:r>
              <a:rPr lang="en-US" sz="2000" b="1" dirty="0">
                <a:cs typeface="+mn-cs"/>
              </a:rPr>
              <a:t>(applied to parent), </a:t>
            </a:r>
            <a:r>
              <a:rPr lang="en-US" sz="2000" b="1" dirty="0">
                <a:solidFill>
                  <a:srgbClr val="FF0000"/>
                </a:solidFill>
                <a:cs typeface="+mn-cs"/>
              </a:rPr>
              <a:t>path cost</a:t>
            </a:r>
            <a:r>
              <a:rPr lang="en-US" sz="2000" b="1" dirty="0">
                <a:cs typeface="+mn-cs"/>
              </a:rPr>
              <a:t> (initial state to node) </a:t>
            </a:r>
            <a:r>
              <a:rPr lang="en-US" sz="2000" b="1" i="1" dirty="0">
                <a:cs typeface="+mn-cs"/>
              </a:rPr>
              <a:t>g(x)</a:t>
            </a:r>
            <a:r>
              <a:rPr lang="en-US" sz="2000" b="1" dirty="0">
                <a:cs typeface="+mn-cs"/>
              </a:rPr>
              <a:t>, </a:t>
            </a:r>
            <a:r>
              <a:rPr lang="en-US" sz="2000" b="1" dirty="0">
                <a:solidFill>
                  <a:srgbClr val="FF0000"/>
                </a:solidFill>
                <a:cs typeface="+mn-cs"/>
              </a:rPr>
              <a:t>depth</a:t>
            </a:r>
          </a:p>
          <a:p>
            <a:pPr eaLnBrk="1" hangingPunct="1">
              <a:lnSpc>
                <a:spcPct val="80000"/>
              </a:lnSpc>
              <a:buNone/>
              <a:defRPr/>
            </a:pPr>
            <a:endParaRPr lang="en-US" sz="2000" b="1" dirty="0">
              <a:cs typeface="+mn-cs"/>
            </a:endParaRPr>
          </a:p>
        </p:txBody>
      </p:sp>
      <p:sp>
        <p:nvSpPr>
          <p:cNvPr id="1274885" name="Text Box 5"/>
          <p:cNvSpPr txBox="1">
            <a:spLocks noChangeArrowheads="1"/>
          </p:cNvSpPr>
          <p:nvPr/>
        </p:nvSpPr>
        <p:spPr bwMode="auto">
          <a:xfrm>
            <a:off x="838200" y="4800600"/>
            <a:ext cx="7696200"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defRPr/>
            </a:pPr>
            <a:r>
              <a:rPr lang="en-US" sz="2000" b="1" dirty="0">
                <a:solidFill>
                  <a:srgbClr val="FF0000"/>
                </a:solidFill>
                <a:cs typeface="+mn-cs"/>
              </a:rPr>
              <a:t>Fringe</a:t>
            </a:r>
            <a:r>
              <a:rPr lang="en-US" sz="2000" b="1" dirty="0">
                <a:cs typeface="+mn-cs"/>
              </a:rPr>
              <a:t> is the collection of nodes that have been generated but not (yet) expanded.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74885"/>
                                        </p:tgtEl>
                                        <p:attrNameLst>
                                          <p:attrName>style.visibility</p:attrName>
                                        </p:attrNameLst>
                                      </p:cBhvr>
                                      <p:to>
                                        <p:strVal val="visible"/>
                                      </p:to>
                                    </p:set>
                                    <p:anim calcmode="lin" valueType="num">
                                      <p:cBhvr additive="base">
                                        <p:cTn id="7" dur="500" fill="hold"/>
                                        <p:tgtEl>
                                          <p:spTgt spid="1274885"/>
                                        </p:tgtEl>
                                        <p:attrNameLst>
                                          <p:attrName>ppt_x</p:attrName>
                                        </p:attrNameLst>
                                      </p:cBhvr>
                                      <p:tavLst>
                                        <p:tav tm="0">
                                          <p:val>
                                            <p:strVal val="#ppt_x"/>
                                          </p:val>
                                        </p:tav>
                                        <p:tav tm="100000">
                                          <p:val>
                                            <p:strVal val="#ppt_x"/>
                                          </p:val>
                                        </p:tav>
                                      </p:tavLst>
                                    </p:anim>
                                    <p:anim calcmode="lin" valueType="num">
                                      <p:cBhvr additive="base">
                                        <p:cTn id="8" dur="500" fill="hold"/>
                                        <p:tgtEl>
                                          <p:spTgt spid="12748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488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3858" name="Rectangle 2"/>
          <p:cNvSpPr>
            <a:spLocks noGrp="1" noChangeArrowheads="1"/>
          </p:cNvSpPr>
          <p:nvPr>
            <p:ph type="title"/>
          </p:nvPr>
        </p:nvSpPr>
        <p:spPr/>
        <p:txBody>
          <a:bodyPr>
            <a:normAutofit/>
          </a:bodyPr>
          <a:lstStyle/>
          <a:p>
            <a:pPr eaLnBrk="1" hangingPunct="1">
              <a:defRPr/>
            </a:pPr>
            <a:r>
              <a:rPr lang="en-US" sz="3200" dirty="0">
                <a:cs typeface="+mj-cs"/>
              </a:rPr>
              <a:t>Implementation: general tree search</a:t>
            </a:r>
          </a:p>
        </p:txBody>
      </p:sp>
      <p:pic>
        <p:nvPicPr>
          <p:cNvPr id="1273859" name="Picture 3"/>
          <p:cNvPicPr>
            <a:picLocks noChangeAspect="1" noChangeArrowheads="1"/>
          </p:cNvPicPr>
          <p:nvPr/>
        </p:nvPicPr>
        <p:blipFill>
          <a:blip r:embed="rId2">
            <a:extLst>
              <a:ext uri="{28A0092B-C50C-407E-A947-70E740481C1C}">
                <a14:useLocalDpi xmlns:a14="http://schemas.microsoft.com/office/drawing/2010/main" val="0"/>
              </a:ext>
            </a:extLst>
          </a:blip>
          <a:srcRect l="14844" t="18750" r="3125" b="9375"/>
          <a:stretch>
            <a:fillRect/>
          </a:stretch>
        </p:blipFill>
        <p:spPr bwMode="auto">
          <a:xfrm>
            <a:off x="228600" y="1447800"/>
            <a:ext cx="8458200" cy="4806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Grp="1" noChangeArrowheads="1"/>
          </p:cNvSpPr>
          <p:nvPr>
            <p:ph type="title"/>
          </p:nvPr>
        </p:nvSpPr>
        <p:spPr/>
        <p:txBody>
          <a:bodyPr rIns="132080"/>
          <a:lstStyle/>
          <a:p>
            <a:pPr indent="0" eaLnBrk="1" hangingPunct="1"/>
            <a:r>
              <a:rPr lang="en-US" dirty="0"/>
              <a:t>Measuring  Problem Solving Performance </a:t>
            </a:r>
          </a:p>
        </p:txBody>
      </p:sp>
      <p:sp>
        <p:nvSpPr>
          <p:cNvPr id="33795" name="Rectangle 2"/>
          <p:cNvSpPr>
            <a:spLocks noGrp="1" noChangeArrowheads="1"/>
          </p:cNvSpPr>
          <p:nvPr>
            <p:ph sz="quarter" idx="1"/>
          </p:nvPr>
        </p:nvSpPr>
        <p:spPr/>
        <p:txBody>
          <a:bodyPr rIns="132080">
            <a:normAutofit/>
          </a:bodyPr>
          <a:lstStyle/>
          <a:p>
            <a:pPr eaLnBrk="1" hangingPunct="1"/>
            <a:r>
              <a:rPr lang="en-US" sz="2700" dirty="0"/>
              <a:t>A strategy is defined by picking the </a:t>
            </a:r>
            <a:r>
              <a:rPr lang="en-US" sz="2700" u="sng" dirty="0"/>
              <a:t>order of node expansion.</a:t>
            </a:r>
          </a:p>
          <a:p>
            <a:pPr eaLnBrk="1" hangingPunct="1"/>
            <a:r>
              <a:rPr lang="en-US" sz="2700" dirty="0"/>
              <a:t>Strategies are evaluated along the following dimensions:</a:t>
            </a:r>
          </a:p>
          <a:p>
            <a:pPr marL="782638" lvl="1" eaLnBrk="1" hangingPunct="1"/>
            <a:r>
              <a:rPr lang="en-US" sz="2600" dirty="0"/>
              <a:t>Completeness</a:t>
            </a:r>
          </a:p>
          <a:p>
            <a:pPr marL="782638" lvl="1" eaLnBrk="1" hangingPunct="1"/>
            <a:r>
              <a:rPr lang="en-US" sz="2600" dirty="0"/>
              <a:t>Time complexity</a:t>
            </a:r>
          </a:p>
          <a:p>
            <a:pPr marL="782638" lvl="1" eaLnBrk="1" hangingPunct="1"/>
            <a:r>
              <a:rPr lang="en-US" sz="2600" dirty="0"/>
              <a:t>Space complexity </a:t>
            </a:r>
          </a:p>
          <a:p>
            <a:pPr marL="782638" lvl="1" eaLnBrk="1" hangingPunct="1"/>
            <a:r>
              <a:rPr lang="en-US" sz="2600" dirty="0"/>
              <a:t>Optimality</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Problem Solving Performance </a:t>
            </a:r>
          </a:p>
        </p:txBody>
      </p:sp>
      <p:sp>
        <p:nvSpPr>
          <p:cNvPr id="3" name="Content Placeholder 2"/>
          <p:cNvSpPr>
            <a:spLocks noGrp="1"/>
          </p:cNvSpPr>
          <p:nvPr>
            <p:ph sz="quarter" idx="1"/>
          </p:nvPr>
        </p:nvSpPr>
        <p:spPr/>
        <p:txBody>
          <a:bodyPr>
            <a:normAutofit lnSpcReduction="10000"/>
          </a:bodyPr>
          <a:lstStyle/>
          <a:p>
            <a:pPr marL="782638" lvl="1"/>
            <a:r>
              <a:rPr lang="en-US" sz="2600" dirty="0"/>
              <a:t>Completeness </a:t>
            </a:r>
          </a:p>
          <a:p>
            <a:pPr marL="782638" lvl="1">
              <a:buNone/>
            </a:pPr>
            <a:r>
              <a:rPr lang="en-US" sz="2600" dirty="0"/>
              <a:t>               Is the algorithm guaranteed to find a solution when there is one?</a:t>
            </a:r>
          </a:p>
          <a:p>
            <a:pPr marL="782638" lvl="1"/>
            <a:r>
              <a:rPr lang="en-US" sz="2600" dirty="0"/>
              <a:t>Time complexity</a:t>
            </a:r>
          </a:p>
          <a:p>
            <a:pPr marL="782638" lvl="1">
              <a:buNone/>
            </a:pPr>
            <a:r>
              <a:rPr lang="en-US" sz="2600" dirty="0"/>
              <a:t>                How long does it take to find solution?</a:t>
            </a:r>
          </a:p>
          <a:p>
            <a:pPr marL="782638" lvl="1"/>
            <a:r>
              <a:rPr lang="en-US" sz="2600" dirty="0"/>
              <a:t>Space complexity </a:t>
            </a:r>
          </a:p>
          <a:p>
            <a:pPr marL="782638" lvl="1">
              <a:buNone/>
            </a:pPr>
            <a:r>
              <a:rPr lang="en-US" sz="2600" dirty="0"/>
              <a:t>                 How much memory is needed to perform the search</a:t>
            </a:r>
          </a:p>
          <a:p>
            <a:pPr marL="782638" lvl="1"/>
            <a:r>
              <a:rPr lang="en-US" sz="2600" dirty="0"/>
              <a:t>Optimality</a:t>
            </a:r>
          </a:p>
          <a:p>
            <a:pPr marL="782638" lvl="1">
              <a:buNone/>
            </a:pPr>
            <a:r>
              <a:rPr lang="en-US" sz="2600" dirty="0"/>
              <a:t>                 Does the strategy find optimal solution when there is one?</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a:spLocks noGrp="1" noChangeArrowheads="1"/>
          </p:cNvSpPr>
          <p:nvPr>
            <p:ph type="title"/>
          </p:nvPr>
        </p:nvSpPr>
        <p:spPr/>
        <p:txBody>
          <a:bodyPr rIns="132080"/>
          <a:lstStyle/>
          <a:p>
            <a:r>
              <a:rPr lang="en-US" dirty="0"/>
              <a:t>Measuring  Problem Solving Performance </a:t>
            </a:r>
          </a:p>
        </p:txBody>
      </p:sp>
      <p:sp>
        <p:nvSpPr>
          <p:cNvPr id="34819" name="Rectangle 2"/>
          <p:cNvSpPr>
            <a:spLocks noGrp="1" noChangeArrowheads="1"/>
          </p:cNvSpPr>
          <p:nvPr>
            <p:ph sz="quarter" idx="1"/>
          </p:nvPr>
        </p:nvSpPr>
        <p:spPr/>
        <p:txBody>
          <a:bodyPr rIns="132080"/>
          <a:lstStyle/>
          <a:p>
            <a:pPr eaLnBrk="1" hangingPunct="1"/>
            <a:r>
              <a:rPr lang="en-US" sz="2700"/>
              <a:t>Time and space complexity are measured in terms of:</a:t>
            </a:r>
          </a:p>
          <a:p>
            <a:pPr marL="782638" lvl="1" eaLnBrk="1" hangingPunct="1"/>
            <a:r>
              <a:rPr lang="en-US" sz="2600"/>
              <a:t>b – maximum branching factor of the search tree (may be infinite)</a:t>
            </a:r>
          </a:p>
          <a:p>
            <a:pPr marL="782638" lvl="1" eaLnBrk="1" hangingPunct="1"/>
            <a:r>
              <a:rPr lang="en-US" sz="2600"/>
              <a:t>d – depth of the least-cost solution</a:t>
            </a:r>
          </a:p>
          <a:p>
            <a:pPr marL="782638" lvl="1" eaLnBrk="1" hangingPunct="1"/>
            <a:r>
              <a:rPr lang="en-US" sz="2600"/>
              <a:t>m – maximum depth of the state space (may be infinite)</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r>
              <a:rPr lang="en-US" b="1" dirty="0"/>
              <a:t>Branching factor of the search space (b): </a:t>
            </a:r>
            <a:r>
              <a:rPr lang="en-US" dirty="0"/>
              <a:t>how many operators (at most) can be applied at any time?</a:t>
            </a:r>
          </a:p>
          <a:p>
            <a:pPr>
              <a:buNone/>
            </a:pPr>
            <a:r>
              <a:rPr lang="en-US" dirty="0"/>
              <a:t>    E.g. For the eight-puzzle problem, the branching factor is considered 4,</a:t>
            </a:r>
          </a:p>
          <a:p>
            <a:pPr>
              <a:buNone/>
            </a:pPr>
            <a:r>
              <a:rPr lang="en-US" dirty="0"/>
              <a:t>    Although most of the time we can apply only 2 or 3 operators.</a:t>
            </a:r>
          </a:p>
          <a:p>
            <a:r>
              <a:rPr lang="en-US" b="1" dirty="0"/>
              <a:t>Solution depth (d): </a:t>
            </a:r>
            <a:r>
              <a:rPr lang="en-US" dirty="0"/>
              <a:t>how long is the path to the closest (shallowest)solution?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4" name="Rectangle 4"/>
          <p:cNvSpPr>
            <a:spLocks noChangeArrowheads="1"/>
          </p:cNvSpPr>
          <p:nvPr/>
        </p:nvSpPr>
        <p:spPr bwMode="auto">
          <a:xfrm>
            <a:off x="990600" y="457200"/>
            <a:ext cx="7772400" cy="914400"/>
          </a:xfrm>
          <a:prstGeom prst="rect">
            <a:avLst/>
          </a:prstGeom>
          <a:noFill/>
          <a:ln w="9525">
            <a:noFill/>
            <a:miter lim="800000"/>
            <a:headEnd/>
            <a:tailEnd/>
          </a:ln>
          <a:effectLst/>
        </p:spPr>
        <p:txBody>
          <a:bodyPr lIns="92075" tIns="46038" rIns="92075" bIns="46038" anchor="ctr"/>
          <a:lstStyle/>
          <a:p>
            <a:pPr>
              <a:lnSpc>
                <a:spcPct val="70000"/>
              </a:lnSpc>
              <a:spcBef>
                <a:spcPct val="0"/>
              </a:spcBef>
              <a:spcAft>
                <a:spcPct val="0"/>
              </a:spcAft>
              <a:defRPr/>
            </a:pPr>
            <a:r>
              <a:rPr lang="en-US" altLang="he-IL" sz="4400" dirty="0">
                <a:solidFill>
                  <a:schemeClr val="tx1">
                    <a:lumMod val="50000"/>
                    <a:lumOff val="50000"/>
                  </a:schemeClr>
                </a:solidFill>
                <a:effectLst>
                  <a:outerShdw blurRad="38100" dist="38100" dir="2700000" algn="tl">
                    <a:srgbClr val="C0C0C0"/>
                  </a:outerShdw>
                </a:effectLst>
                <a:latin typeface="Arial Narrow" pitchFamily="34" charset="0"/>
              </a:rPr>
              <a:t>Types of Problem Spaces</a:t>
            </a:r>
          </a:p>
        </p:txBody>
      </p:sp>
      <p:sp>
        <p:nvSpPr>
          <p:cNvPr id="23555" name="Rectangle 8"/>
          <p:cNvSpPr>
            <a:spLocks noGrp="1" noChangeArrowheads="1"/>
          </p:cNvSpPr>
          <p:nvPr>
            <p:ph sz="quarter" idx="1"/>
          </p:nvPr>
        </p:nvSpPr>
        <p:spPr>
          <a:xfrm>
            <a:off x="457200" y="1752600"/>
            <a:ext cx="8001000" cy="4114800"/>
          </a:xfrm>
        </p:spPr>
        <p:txBody>
          <a:bodyPr/>
          <a:lstStyle/>
          <a:p>
            <a:pPr algn="just"/>
            <a:r>
              <a:rPr lang="en-US" altLang="he-IL" sz="3200" dirty="0"/>
              <a:t>There are several types of problem spaces:</a:t>
            </a:r>
          </a:p>
          <a:p>
            <a:pPr lvl="1" algn="just">
              <a:spcBef>
                <a:spcPct val="60000"/>
              </a:spcBef>
            </a:pPr>
            <a:r>
              <a:rPr lang="en-US" altLang="he-IL" sz="2800" dirty="0"/>
              <a:t>State space</a:t>
            </a:r>
          </a:p>
          <a:p>
            <a:pPr lvl="1" algn="just"/>
            <a:r>
              <a:rPr lang="en-US" altLang="he-IL" sz="2800" dirty="0"/>
              <a:t>Problem Reduction Space</a:t>
            </a:r>
          </a:p>
          <a:p>
            <a:pPr lvl="1" algn="just"/>
            <a:r>
              <a:rPr lang="en-US" altLang="he-IL" sz="2800" dirty="0"/>
              <a:t>AND/OR Graphs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1026"/>
          <p:cNvSpPr>
            <a:spLocks noGrp="1" noChangeArrowheads="1"/>
          </p:cNvSpPr>
          <p:nvPr>
            <p:ph type="title"/>
          </p:nvPr>
        </p:nvSpPr>
        <p:spPr>
          <a:xfrm>
            <a:off x="685800" y="381000"/>
            <a:ext cx="8229600" cy="609600"/>
          </a:xfrm>
        </p:spPr>
        <p:txBody>
          <a:bodyPr>
            <a:normAutofit fontScale="90000"/>
          </a:bodyPr>
          <a:lstStyle/>
          <a:p>
            <a:pPr algn="ctr">
              <a:defRPr/>
            </a:pPr>
            <a:r>
              <a:rPr lang="en-US" altLang="he-IL" sz="4400" dirty="0">
                <a:effectLst>
                  <a:outerShdw blurRad="38100" dist="38100" dir="2700000" algn="tl">
                    <a:srgbClr val="C0C0C0"/>
                  </a:outerShdw>
                </a:effectLst>
              </a:rPr>
              <a:t>State Space</a:t>
            </a:r>
            <a:endParaRPr lang="en-US" altLang="en-US" sz="4400" dirty="0">
              <a:effectLst>
                <a:outerShdw blurRad="38100" dist="38100" dir="2700000" algn="tl">
                  <a:srgbClr val="C0C0C0"/>
                </a:outerShdw>
              </a:effectLst>
            </a:endParaRPr>
          </a:p>
        </p:txBody>
      </p:sp>
      <p:sp>
        <p:nvSpPr>
          <p:cNvPr id="290820" name="Rectangle 1028"/>
          <p:cNvSpPr>
            <a:spLocks noGrp="1" noChangeArrowheads="1"/>
          </p:cNvSpPr>
          <p:nvPr>
            <p:ph sz="quarter" idx="1"/>
          </p:nvPr>
        </p:nvSpPr>
        <p:spPr>
          <a:xfrm>
            <a:off x="304800" y="1676400"/>
            <a:ext cx="8534400" cy="4114800"/>
          </a:xfrm>
        </p:spPr>
        <p:txBody>
          <a:bodyPr/>
          <a:lstStyle/>
          <a:p>
            <a:pPr>
              <a:defRPr/>
            </a:pPr>
            <a:r>
              <a:rPr lang="en-US" altLang="he-IL" sz="2400" dirty="0">
                <a:cs typeface="Miriam" pitchFamily="34" charset="-79"/>
              </a:rPr>
              <a:t>The </a:t>
            </a:r>
            <a:r>
              <a:rPr lang="en-US" altLang="he-IL" sz="2400" b="1" dirty="0">
                <a:solidFill>
                  <a:schemeClr val="hlink"/>
                </a:solidFill>
                <a:effectLst>
                  <a:outerShdw blurRad="38100" dist="38100" dir="2700000" algn="tl">
                    <a:srgbClr val="C0C0C0"/>
                  </a:outerShdw>
                </a:effectLst>
                <a:cs typeface="Miriam" pitchFamily="34" charset="-79"/>
              </a:rPr>
              <a:t>states</a:t>
            </a:r>
            <a:r>
              <a:rPr lang="en-US" altLang="he-IL" sz="2400" dirty="0">
                <a:cs typeface="Miriam" pitchFamily="34" charset="-79"/>
              </a:rPr>
              <a:t> represent situations of the problem.</a:t>
            </a:r>
          </a:p>
          <a:p>
            <a:pPr>
              <a:defRPr/>
            </a:pPr>
            <a:r>
              <a:rPr lang="en-US" altLang="he-IL" sz="2400" dirty="0">
                <a:cs typeface="Miriam" pitchFamily="34" charset="-79"/>
              </a:rPr>
              <a:t>The </a:t>
            </a:r>
            <a:r>
              <a:rPr lang="en-US" altLang="he-IL" sz="2400" b="1" dirty="0">
                <a:solidFill>
                  <a:schemeClr val="hlink"/>
                </a:solidFill>
                <a:effectLst>
                  <a:outerShdw blurRad="38100" dist="38100" dir="2700000" algn="tl">
                    <a:srgbClr val="C0C0C0"/>
                  </a:outerShdw>
                </a:effectLst>
                <a:cs typeface="Miriam" pitchFamily="34" charset="-79"/>
              </a:rPr>
              <a:t>operators</a:t>
            </a:r>
            <a:r>
              <a:rPr lang="en-US" altLang="he-IL" sz="2400" dirty="0">
                <a:cs typeface="Miriam" pitchFamily="34" charset="-79"/>
              </a:rPr>
              <a:t> represent actions in the world.</a:t>
            </a:r>
          </a:p>
          <a:p>
            <a:pPr lvl="1" algn="just">
              <a:spcBef>
                <a:spcPct val="50000"/>
              </a:spcBef>
              <a:defRPr/>
            </a:pPr>
            <a:r>
              <a:rPr lang="en-US" altLang="he-IL" sz="2200" b="1" u="sng" dirty="0">
                <a:solidFill>
                  <a:schemeClr val="tx2"/>
                </a:solidFill>
                <a:effectLst>
                  <a:outerShdw blurRad="38100" dist="38100" dir="2700000" algn="tl">
                    <a:srgbClr val="C0C0C0"/>
                  </a:outerShdw>
                </a:effectLst>
                <a:cs typeface="Miriam" pitchFamily="34" charset="-79"/>
              </a:rPr>
              <a:t>forward search</a:t>
            </a:r>
            <a:r>
              <a:rPr lang="en-US" altLang="he-IL" sz="2200" dirty="0">
                <a:cs typeface="Miriam" pitchFamily="34" charset="-79"/>
              </a:rPr>
              <a:t>:  the root of the problem space represents the start state, and the search proceeds forward to a goal state.</a:t>
            </a:r>
            <a:endParaRPr lang="en-US" altLang="he-IL" dirty="0">
              <a:cs typeface="Miriam" pitchFamily="34" charset="-79"/>
            </a:endParaRPr>
          </a:p>
          <a:p>
            <a:pPr lvl="1">
              <a:defRPr/>
            </a:pPr>
            <a:r>
              <a:rPr lang="en-US" altLang="he-IL" sz="2200" b="1" u="sng" dirty="0">
                <a:solidFill>
                  <a:schemeClr val="tx2"/>
                </a:solidFill>
                <a:effectLst>
                  <a:outerShdw blurRad="38100" dist="38100" dir="2700000" algn="tl">
                    <a:srgbClr val="C0C0C0"/>
                  </a:outerShdw>
                </a:effectLst>
                <a:cs typeface="Miriam" pitchFamily="34" charset="-79"/>
              </a:rPr>
              <a:t>backward search</a:t>
            </a:r>
            <a:r>
              <a:rPr lang="en-US" altLang="he-IL" sz="2200" dirty="0">
                <a:cs typeface="Miriam" pitchFamily="34" charset="-79"/>
              </a:rPr>
              <a:t> : the root of the problem space represents the goal state, and the search proceeds backward to the initial state.</a:t>
            </a:r>
          </a:p>
          <a:p>
            <a:pPr>
              <a:spcBef>
                <a:spcPct val="60000"/>
              </a:spcBef>
              <a:defRPr/>
            </a:pPr>
            <a:r>
              <a:rPr lang="en-US" altLang="he-IL" sz="2400" i="1" u="sng" dirty="0">
                <a:solidFill>
                  <a:srgbClr val="3399FF"/>
                </a:solidFill>
                <a:cs typeface="Miriam" pitchFamily="34" charset="-79"/>
              </a:rPr>
              <a:t>For example</a:t>
            </a:r>
            <a:r>
              <a:rPr lang="en-US" altLang="he-IL" sz="2400" i="1" dirty="0">
                <a:solidFill>
                  <a:srgbClr val="3399FF"/>
                </a:solidFill>
                <a:cs typeface="Miriam" pitchFamily="34" charset="-79"/>
              </a:rPr>
              <a:t>:</a:t>
            </a:r>
            <a:r>
              <a:rPr lang="en-US" altLang="he-IL" sz="2400" dirty="0">
                <a:cs typeface="Miriam" pitchFamily="34" charset="-79"/>
              </a:rPr>
              <a:t> In Sliding-Tile Puzzle,</a:t>
            </a:r>
            <a:r>
              <a:rPr lang="en-US" altLang="he-IL" dirty="0">
                <a:cs typeface="Miriam" pitchFamily="34" charset="-79"/>
              </a:rPr>
              <a:t> </a:t>
            </a:r>
            <a:r>
              <a:rPr lang="en-US" altLang="he-IL" sz="2400" dirty="0">
                <a:cs typeface="Miriam" pitchFamily="34" charset="-79"/>
              </a:rPr>
              <a:t>either a forward or backward search are possible.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95" name="Rectangle 11"/>
          <p:cNvSpPr>
            <a:spLocks noGrp="1" noChangeArrowheads="1"/>
          </p:cNvSpPr>
          <p:nvPr>
            <p:ph type="title"/>
          </p:nvPr>
        </p:nvSpPr>
        <p:spPr>
          <a:xfrm>
            <a:off x="685800" y="381000"/>
            <a:ext cx="8229600" cy="609600"/>
          </a:xfrm>
        </p:spPr>
        <p:txBody>
          <a:bodyPr>
            <a:normAutofit fontScale="90000"/>
          </a:bodyPr>
          <a:lstStyle/>
          <a:p>
            <a:pPr algn="ctr">
              <a:defRPr/>
            </a:pPr>
            <a:r>
              <a:rPr lang="en-US" altLang="he-IL" sz="4400" dirty="0">
                <a:effectLst>
                  <a:outerShdw blurRad="38100" dist="38100" dir="2700000" algn="tl">
                    <a:srgbClr val="C0C0C0"/>
                  </a:outerShdw>
                </a:effectLst>
              </a:rPr>
              <a:t>Problem Reduction Space</a:t>
            </a:r>
            <a:endParaRPr lang="en-US" altLang="en-US" sz="4400" dirty="0">
              <a:effectLst>
                <a:outerShdw blurRad="38100" dist="38100" dir="2700000" algn="tl">
                  <a:srgbClr val="C0C0C0"/>
                </a:outerShdw>
              </a:effectLst>
            </a:endParaRPr>
          </a:p>
        </p:txBody>
      </p:sp>
      <p:sp>
        <p:nvSpPr>
          <p:cNvPr id="25602" name="Rectangle 2"/>
          <p:cNvSpPr>
            <a:spLocks noGrp="1" noChangeArrowheads="1"/>
          </p:cNvSpPr>
          <p:nvPr>
            <p:ph sz="quarter" idx="1"/>
          </p:nvPr>
        </p:nvSpPr>
        <p:spPr>
          <a:xfrm>
            <a:off x="381000" y="1524000"/>
            <a:ext cx="8001000" cy="2362200"/>
          </a:xfrm>
        </p:spPr>
        <p:txBody>
          <a:bodyPr/>
          <a:lstStyle/>
          <a:p>
            <a:pPr algn="just"/>
            <a:r>
              <a:rPr lang="en-US" altLang="he-IL" sz="2400" dirty="0">
                <a:cs typeface="Miriam" pitchFamily="34" charset="-79"/>
              </a:rPr>
              <a:t>In a problem reduction space, the nodes represent problems to be solved or goals to be achieved, and the edges represent the decomposition of the problem into </a:t>
            </a:r>
            <a:r>
              <a:rPr lang="en-US" altLang="he-IL" sz="2400" dirty="0" err="1">
                <a:cs typeface="Miriam" pitchFamily="34" charset="-79"/>
              </a:rPr>
              <a:t>subproblems</a:t>
            </a:r>
            <a:r>
              <a:rPr lang="en-US" altLang="he-IL" sz="2400" dirty="0">
                <a:cs typeface="Miriam" pitchFamily="34" charset="-79"/>
              </a:rPr>
              <a:t>.</a:t>
            </a:r>
          </a:p>
          <a:p>
            <a:pPr algn="just"/>
            <a:r>
              <a:rPr lang="en-US" altLang="he-IL" sz="2400" dirty="0">
                <a:cs typeface="Miriam" pitchFamily="34" charset="-79"/>
              </a:rPr>
              <a:t>This is best illustrated by the example of the Towers of Hanoi problem.  </a:t>
            </a:r>
          </a:p>
        </p:txBody>
      </p:sp>
      <p:grpSp>
        <p:nvGrpSpPr>
          <p:cNvPr id="2" name="Group 31"/>
          <p:cNvGrpSpPr>
            <a:grpSpLocks/>
          </p:cNvGrpSpPr>
          <p:nvPr/>
        </p:nvGrpSpPr>
        <p:grpSpPr bwMode="auto">
          <a:xfrm>
            <a:off x="533400" y="4038600"/>
            <a:ext cx="7696200" cy="2119313"/>
            <a:chOff x="336" y="2544"/>
            <a:chExt cx="4848" cy="1335"/>
          </a:xfrm>
        </p:grpSpPr>
        <p:sp>
          <p:nvSpPr>
            <p:cNvPr id="25605" name="Text Box 12"/>
            <p:cNvSpPr txBox="1">
              <a:spLocks noChangeArrowheads="1"/>
            </p:cNvSpPr>
            <p:nvPr/>
          </p:nvSpPr>
          <p:spPr bwMode="auto">
            <a:xfrm>
              <a:off x="4464" y="364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C</a:t>
              </a:r>
            </a:p>
          </p:txBody>
        </p:sp>
        <p:sp>
          <p:nvSpPr>
            <p:cNvPr id="25606" name="Text Box 13"/>
            <p:cNvSpPr txBox="1">
              <a:spLocks noChangeArrowheads="1"/>
            </p:cNvSpPr>
            <p:nvPr/>
          </p:nvSpPr>
          <p:spPr bwMode="auto">
            <a:xfrm>
              <a:off x="1056" y="364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A</a:t>
              </a:r>
            </a:p>
          </p:txBody>
        </p:sp>
        <p:sp>
          <p:nvSpPr>
            <p:cNvPr id="25607" name="Text Box 14"/>
            <p:cNvSpPr txBox="1">
              <a:spLocks noChangeArrowheads="1"/>
            </p:cNvSpPr>
            <p:nvPr/>
          </p:nvSpPr>
          <p:spPr bwMode="auto">
            <a:xfrm>
              <a:off x="2688" y="364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B</a:t>
              </a:r>
            </a:p>
          </p:txBody>
        </p:sp>
        <p:sp>
          <p:nvSpPr>
            <p:cNvPr id="25608" name="AutoShape 15"/>
            <p:cNvSpPr>
              <a:spLocks noChangeArrowheads="1"/>
            </p:cNvSpPr>
            <p:nvPr/>
          </p:nvSpPr>
          <p:spPr bwMode="auto">
            <a:xfrm>
              <a:off x="2640" y="2544"/>
              <a:ext cx="384" cy="1104"/>
            </a:xfrm>
            <a:prstGeom prst="can">
              <a:avLst>
                <a:gd name="adj" fmla="val 71875"/>
              </a:avLst>
            </a:prstGeom>
            <a:noFill/>
            <a:ln w="9525">
              <a:noFill/>
              <a:round/>
              <a:headEnd/>
              <a:tailEnd/>
            </a:ln>
          </p:spPr>
          <p:txBody>
            <a:bodyPr wrap="none" anchor="ctr">
              <a:spAutoFit/>
            </a:bodyPr>
            <a:lstStyle/>
            <a:p>
              <a:endParaRPr lang="en-US"/>
            </a:p>
          </p:txBody>
        </p:sp>
        <p:sp>
          <p:nvSpPr>
            <p:cNvPr id="25609" name="AutoShape 17"/>
            <p:cNvSpPr>
              <a:spLocks noChangeArrowheads="1"/>
            </p:cNvSpPr>
            <p:nvPr/>
          </p:nvSpPr>
          <p:spPr bwMode="auto">
            <a:xfrm>
              <a:off x="336" y="3504"/>
              <a:ext cx="4848" cy="336"/>
            </a:xfrm>
            <a:prstGeom prst="cube">
              <a:avLst>
                <a:gd name="adj" fmla="val 25000"/>
              </a:avLst>
            </a:prstGeom>
            <a:gradFill rotWithShape="0">
              <a:gsLst>
                <a:gs pos="0">
                  <a:srgbClr val="CCFFCC"/>
                </a:gs>
                <a:gs pos="100000">
                  <a:srgbClr val="88AA88"/>
                </a:gs>
              </a:gsLst>
              <a:lin ang="5400000" scaled="1"/>
            </a:gradFill>
            <a:ln w="9525">
              <a:solidFill>
                <a:srgbClr val="99CC00"/>
              </a:solidFill>
              <a:miter lim="800000"/>
              <a:headEnd/>
              <a:tailEnd/>
            </a:ln>
          </p:spPr>
          <p:txBody>
            <a:bodyPr wrap="none" anchor="ctr">
              <a:spAutoFit/>
            </a:bodyPr>
            <a:lstStyle/>
            <a:p>
              <a:endParaRPr lang="en-US"/>
            </a:p>
          </p:txBody>
        </p:sp>
        <p:sp>
          <p:nvSpPr>
            <p:cNvPr id="170000" name="AutoShape 16"/>
            <p:cNvSpPr>
              <a:spLocks noChangeArrowheads="1"/>
            </p:cNvSpPr>
            <p:nvPr/>
          </p:nvSpPr>
          <p:spPr bwMode="auto">
            <a:xfrm>
              <a:off x="2592" y="2544"/>
              <a:ext cx="288" cy="1056"/>
            </a:xfrm>
            <a:prstGeom prst="can">
              <a:avLst>
                <a:gd name="adj" fmla="val 39230"/>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170002" name="AutoShape 18"/>
            <p:cNvSpPr>
              <a:spLocks noChangeArrowheads="1"/>
            </p:cNvSpPr>
            <p:nvPr/>
          </p:nvSpPr>
          <p:spPr bwMode="auto">
            <a:xfrm>
              <a:off x="4128" y="2544"/>
              <a:ext cx="288" cy="1056"/>
            </a:xfrm>
            <a:prstGeom prst="can">
              <a:avLst>
                <a:gd name="adj" fmla="val 39230"/>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170004" name="AutoShape 20"/>
            <p:cNvSpPr>
              <a:spLocks noChangeArrowheads="1"/>
            </p:cNvSpPr>
            <p:nvPr/>
          </p:nvSpPr>
          <p:spPr bwMode="auto">
            <a:xfrm>
              <a:off x="624" y="3360"/>
              <a:ext cx="1488"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170005" name="AutoShape 21"/>
            <p:cNvSpPr>
              <a:spLocks noChangeArrowheads="1"/>
            </p:cNvSpPr>
            <p:nvPr/>
          </p:nvSpPr>
          <p:spPr bwMode="auto">
            <a:xfrm>
              <a:off x="864" y="3216"/>
              <a:ext cx="96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170006" name="AutoShape 22"/>
            <p:cNvSpPr>
              <a:spLocks noChangeArrowheads="1"/>
            </p:cNvSpPr>
            <p:nvPr/>
          </p:nvSpPr>
          <p:spPr bwMode="auto">
            <a:xfrm>
              <a:off x="1104" y="3072"/>
              <a:ext cx="48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170003" name="AutoShape 19"/>
            <p:cNvSpPr>
              <a:spLocks noChangeArrowheads="1"/>
            </p:cNvSpPr>
            <p:nvPr/>
          </p:nvSpPr>
          <p:spPr bwMode="auto">
            <a:xfrm>
              <a:off x="1200" y="2544"/>
              <a:ext cx="288" cy="576"/>
            </a:xfrm>
            <a:prstGeom prst="can">
              <a:avLst>
                <a:gd name="adj" fmla="val 21398"/>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5616" name="Text Box 26"/>
            <p:cNvSpPr txBox="1">
              <a:spLocks noChangeArrowheads="1"/>
            </p:cNvSpPr>
            <p:nvPr/>
          </p:nvSpPr>
          <p:spPr bwMode="auto">
            <a:xfrm>
              <a:off x="1248" y="3600"/>
              <a:ext cx="166"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A</a:t>
              </a:r>
            </a:p>
          </p:txBody>
        </p:sp>
        <p:sp>
          <p:nvSpPr>
            <p:cNvPr id="25617" name="Text Box 27"/>
            <p:cNvSpPr txBox="1">
              <a:spLocks noChangeArrowheads="1"/>
            </p:cNvSpPr>
            <p:nvPr/>
          </p:nvSpPr>
          <p:spPr bwMode="auto">
            <a:xfrm>
              <a:off x="4176" y="3600"/>
              <a:ext cx="166"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C</a:t>
              </a:r>
            </a:p>
          </p:txBody>
        </p:sp>
        <p:sp>
          <p:nvSpPr>
            <p:cNvPr id="25618" name="Text Box 28"/>
            <p:cNvSpPr txBox="1">
              <a:spLocks noChangeArrowheads="1"/>
            </p:cNvSpPr>
            <p:nvPr/>
          </p:nvSpPr>
          <p:spPr bwMode="auto">
            <a:xfrm>
              <a:off x="2640" y="3600"/>
              <a:ext cx="166"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B</a:t>
              </a: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9"/>
          <p:cNvGrpSpPr>
            <a:grpSpLocks/>
          </p:cNvGrpSpPr>
          <p:nvPr/>
        </p:nvGrpSpPr>
        <p:grpSpPr bwMode="auto">
          <a:xfrm>
            <a:off x="1219200" y="3886200"/>
            <a:ext cx="5624513" cy="2520950"/>
            <a:chOff x="768" y="2448"/>
            <a:chExt cx="3543" cy="1588"/>
          </a:xfrm>
        </p:grpSpPr>
        <p:sp>
          <p:nvSpPr>
            <p:cNvPr id="26629" name="Rectangle 4"/>
            <p:cNvSpPr>
              <a:spLocks noChangeArrowheads="1"/>
            </p:cNvSpPr>
            <p:nvPr/>
          </p:nvSpPr>
          <p:spPr bwMode="auto">
            <a:xfrm>
              <a:off x="1256" y="3001"/>
              <a:ext cx="375" cy="245"/>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2AB</a:t>
              </a:r>
            </a:p>
          </p:txBody>
        </p:sp>
        <p:sp>
          <p:nvSpPr>
            <p:cNvPr id="26630" name="Rectangle 3"/>
            <p:cNvSpPr>
              <a:spLocks noChangeArrowheads="1"/>
            </p:cNvSpPr>
            <p:nvPr/>
          </p:nvSpPr>
          <p:spPr bwMode="auto">
            <a:xfrm>
              <a:off x="2381" y="244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3AC</a:t>
              </a:r>
              <a:endParaRPr lang="en-US" altLang="he-IL" sz="2400">
                <a:solidFill>
                  <a:srgbClr val="3399FF"/>
                </a:solidFill>
              </a:endParaRPr>
            </a:p>
          </p:txBody>
        </p:sp>
        <p:sp>
          <p:nvSpPr>
            <p:cNvPr id="26631" name="Rectangle 5"/>
            <p:cNvSpPr>
              <a:spLocks noChangeArrowheads="1"/>
            </p:cNvSpPr>
            <p:nvPr/>
          </p:nvSpPr>
          <p:spPr bwMode="auto">
            <a:xfrm>
              <a:off x="2381" y="3001"/>
              <a:ext cx="375" cy="245"/>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26632" name="Rectangle 6"/>
            <p:cNvSpPr>
              <a:spLocks noChangeArrowheads="1"/>
            </p:cNvSpPr>
            <p:nvPr/>
          </p:nvSpPr>
          <p:spPr bwMode="auto">
            <a:xfrm>
              <a:off x="3468" y="3001"/>
              <a:ext cx="375" cy="245"/>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2BC</a:t>
              </a:r>
            </a:p>
          </p:txBody>
        </p:sp>
        <p:sp>
          <p:nvSpPr>
            <p:cNvPr id="26633" name="Rectangle 7"/>
            <p:cNvSpPr>
              <a:spLocks noChangeArrowheads="1"/>
            </p:cNvSpPr>
            <p:nvPr/>
          </p:nvSpPr>
          <p:spPr bwMode="auto">
            <a:xfrm>
              <a:off x="768" y="378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26634" name="Rectangle 8"/>
            <p:cNvSpPr>
              <a:spLocks noChangeArrowheads="1"/>
            </p:cNvSpPr>
            <p:nvPr/>
          </p:nvSpPr>
          <p:spPr bwMode="auto">
            <a:xfrm>
              <a:off x="1200" y="3792"/>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1AB</a:t>
              </a:r>
            </a:p>
          </p:txBody>
        </p:sp>
        <p:sp>
          <p:nvSpPr>
            <p:cNvPr id="26635" name="Rectangle 9"/>
            <p:cNvSpPr>
              <a:spLocks noChangeArrowheads="1"/>
            </p:cNvSpPr>
            <p:nvPr/>
          </p:nvSpPr>
          <p:spPr bwMode="auto">
            <a:xfrm>
              <a:off x="1680" y="3792"/>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1CB</a:t>
              </a:r>
            </a:p>
          </p:txBody>
        </p:sp>
        <p:sp>
          <p:nvSpPr>
            <p:cNvPr id="26636" name="Rectangle 10"/>
            <p:cNvSpPr>
              <a:spLocks noChangeArrowheads="1"/>
            </p:cNvSpPr>
            <p:nvPr/>
          </p:nvSpPr>
          <p:spPr bwMode="auto">
            <a:xfrm>
              <a:off x="3018" y="378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1BA</a:t>
              </a:r>
            </a:p>
          </p:txBody>
        </p:sp>
        <p:sp>
          <p:nvSpPr>
            <p:cNvPr id="26637" name="Rectangle 11"/>
            <p:cNvSpPr>
              <a:spLocks noChangeArrowheads="1"/>
            </p:cNvSpPr>
            <p:nvPr/>
          </p:nvSpPr>
          <p:spPr bwMode="auto">
            <a:xfrm>
              <a:off x="3456" y="3792"/>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1BC</a:t>
              </a:r>
            </a:p>
          </p:txBody>
        </p:sp>
        <p:sp>
          <p:nvSpPr>
            <p:cNvPr id="26638" name="Rectangle 12"/>
            <p:cNvSpPr>
              <a:spLocks noChangeArrowheads="1"/>
            </p:cNvSpPr>
            <p:nvPr/>
          </p:nvSpPr>
          <p:spPr bwMode="auto">
            <a:xfrm>
              <a:off x="3936" y="3792"/>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26639" name="Line 13"/>
            <p:cNvSpPr>
              <a:spLocks noChangeShapeType="1"/>
            </p:cNvSpPr>
            <p:nvPr/>
          </p:nvSpPr>
          <p:spPr bwMode="auto">
            <a:xfrm flipH="1">
              <a:off x="1631" y="2677"/>
              <a:ext cx="750"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6640" name="Line 14"/>
            <p:cNvSpPr>
              <a:spLocks noChangeShapeType="1"/>
            </p:cNvSpPr>
            <p:nvPr/>
          </p:nvSpPr>
          <p:spPr bwMode="auto">
            <a:xfrm>
              <a:off x="2568" y="2677"/>
              <a:ext cx="1"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6641" name="Line 15"/>
            <p:cNvSpPr>
              <a:spLocks noChangeShapeType="1"/>
            </p:cNvSpPr>
            <p:nvPr/>
          </p:nvSpPr>
          <p:spPr bwMode="auto">
            <a:xfrm>
              <a:off x="2756" y="2677"/>
              <a:ext cx="712"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6642" name="Line 16"/>
            <p:cNvSpPr>
              <a:spLocks noChangeShapeType="1"/>
            </p:cNvSpPr>
            <p:nvPr/>
          </p:nvSpPr>
          <p:spPr bwMode="auto">
            <a:xfrm flipH="1">
              <a:off x="956" y="3264"/>
              <a:ext cx="340" cy="535"/>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6643" name="Line 17"/>
            <p:cNvSpPr>
              <a:spLocks noChangeShapeType="1"/>
            </p:cNvSpPr>
            <p:nvPr/>
          </p:nvSpPr>
          <p:spPr bwMode="auto">
            <a:xfrm flipH="1">
              <a:off x="1440" y="3264"/>
              <a:ext cx="0" cy="528"/>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6644" name="Line 18"/>
            <p:cNvSpPr>
              <a:spLocks noChangeShapeType="1"/>
            </p:cNvSpPr>
            <p:nvPr/>
          </p:nvSpPr>
          <p:spPr bwMode="auto">
            <a:xfrm>
              <a:off x="1584" y="3264"/>
              <a:ext cx="240" cy="528"/>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6645" name="Line 19"/>
            <p:cNvSpPr>
              <a:spLocks noChangeShapeType="1"/>
            </p:cNvSpPr>
            <p:nvPr/>
          </p:nvSpPr>
          <p:spPr bwMode="auto">
            <a:xfrm flipH="1">
              <a:off x="3206" y="3264"/>
              <a:ext cx="298" cy="535"/>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6646" name="Line 20"/>
            <p:cNvSpPr>
              <a:spLocks noChangeShapeType="1"/>
            </p:cNvSpPr>
            <p:nvPr/>
          </p:nvSpPr>
          <p:spPr bwMode="auto">
            <a:xfrm>
              <a:off x="3648" y="3264"/>
              <a:ext cx="0" cy="528"/>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6647" name="Line 21"/>
            <p:cNvSpPr>
              <a:spLocks noChangeShapeType="1"/>
            </p:cNvSpPr>
            <p:nvPr/>
          </p:nvSpPr>
          <p:spPr bwMode="auto">
            <a:xfrm>
              <a:off x="3792" y="3264"/>
              <a:ext cx="288" cy="528"/>
            </a:xfrm>
            <a:prstGeom prst="line">
              <a:avLst/>
            </a:prstGeom>
            <a:noFill/>
            <a:ln w="12700" cap="sq">
              <a:solidFill>
                <a:schemeClr val="tx1"/>
              </a:solidFill>
              <a:round/>
              <a:headEnd type="none" w="sm" len="sm"/>
              <a:tailEnd type="none" w="sm" len="sm"/>
            </a:ln>
          </p:spPr>
          <p:txBody>
            <a:bodyPr wrap="none" anchor="ctr"/>
            <a:lstStyle/>
            <a:p>
              <a:endParaRPr lang="en-US"/>
            </a:p>
          </p:txBody>
        </p:sp>
      </p:grpSp>
      <p:sp>
        <p:nvSpPr>
          <p:cNvPr id="171035" name="Rectangle 27"/>
          <p:cNvSpPr>
            <a:spLocks noGrp="1" noChangeArrowheads="1"/>
          </p:cNvSpPr>
          <p:nvPr>
            <p:ph type="title"/>
          </p:nvPr>
        </p:nvSpPr>
        <p:spPr>
          <a:xfrm>
            <a:off x="685800" y="381000"/>
            <a:ext cx="8229600" cy="685800"/>
          </a:xfrm>
        </p:spPr>
        <p:txBody>
          <a:bodyPr>
            <a:normAutofit fontScale="90000"/>
          </a:bodyPr>
          <a:lstStyle/>
          <a:p>
            <a:pPr algn="ctr">
              <a:defRPr/>
            </a:pPr>
            <a:r>
              <a:rPr lang="en-US" altLang="he-IL" sz="4400" dirty="0">
                <a:effectLst>
                  <a:outerShdw blurRad="38100" dist="38100" dir="2700000" algn="tl">
                    <a:srgbClr val="C0C0C0"/>
                  </a:outerShdw>
                </a:effectLst>
              </a:rPr>
              <a:t>Problem Reduction Space</a:t>
            </a:r>
            <a:endParaRPr lang="en-US" altLang="en-US" sz="4400" dirty="0"/>
          </a:p>
        </p:txBody>
      </p:sp>
      <p:sp>
        <p:nvSpPr>
          <p:cNvPr id="26628" name="Rectangle 64"/>
          <p:cNvSpPr>
            <a:spLocks noGrp="1" noChangeArrowheads="1"/>
          </p:cNvSpPr>
          <p:nvPr>
            <p:ph sz="quarter" idx="1"/>
          </p:nvPr>
        </p:nvSpPr>
        <p:spPr>
          <a:xfrm>
            <a:off x="381000" y="1524000"/>
            <a:ext cx="8001000" cy="2362200"/>
          </a:xfrm>
          <a:noFill/>
        </p:spPr>
        <p:txBody>
          <a:bodyPr/>
          <a:lstStyle/>
          <a:p>
            <a:pPr algn="just">
              <a:spcBef>
                <a:spcPct val="60000"/>
              </a:spcBef>
            </a:pPr>
            <a:r>
              <a:rPr lang="en-US" altLang="he-IL" sz="2200" dirty="0">
                <a:cs typeface="Miriam" pitchFamily="34" charset="-79"/>
              </a:rPr>
              <a:t>The root node, labeled “3AC” represents the original problem of transferring all 3 disks from peg A to peg C. </a:t>
            </a:r>
          </a:p>
          <a:p>
            <a:pPr algn="just">
              <a:spcBef>
                <a:spcPct val="60000"/>
              </a:spcBef>
            </a:pPr>
            <a:r>
              <a:rPr lang="en-US" altLang="he-IL" sz="2200" dirty="0">
                <a:cs typeface="Miriam" pitchFamily="34" charset="-79"/>
              </a:rPr>
              <a:t>The goal can be decomposed into three </a:t>
            </a:r>
            <a:r>
              <a:rPr lang="en-US" altLang="he-IL" sz="2200" dirty="0" err="1">
                <a:cs typeface="Miriam" pitchFamily="34" charset="-79"/>
              </a:rPr>
              <a:t>subgoals</a:t>
            </a:r>
            <a:r>
              <a:rPr lang="en-US" altLang="he-IL" sz="2200" dirty="0">
                <a:cs typeface="Miriam" pitchFamily="34" charset="-79"/>
              </a:rPr>
              <a:t>: 2AB, 1AC, 2BC. In order to achieve the goal, all 3 </a:t>
            </a:r>
            <a:r>
              <a:rPr lang="en-US" altLang="he-IL" sz="2200" dirty="0" err="1">
                <a:cs typeface="Miriam" pitchFamily="34" charset="-79"/>
              </a:rPr>
              <a:t>subgoals</a:t>
            </a:r>
            <a:r>
              <a:rPr lang="en-US" altLang="he-IL" sz="2200" dirty="0">
                <a:cs typeface="Miriam" pitchFamily="34" charset="-79"/>
              </a:rPr>
              <a:t> must be achieved.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64" name="Rectangle 24"/>
          <p:cNvSpPr>
            <a:spLocks noGrp="1" noChangeArrowheads="1"/>
          </p:cNvSpPr>
          <p:nvPr>
            <p:ph type="title"/>
          </p:nvPr>
        </p:nvSpPr>
        <p:spPr>
          <a:xfrm>
            <a:off x="685800" y="381000"/>
            <a:ext cx="8229600" cy="685800"/>
          </a:xfrm>
        </p:spPr>
        <p:txBody>
          <a:bodyPr>
            <a:normAutofit fontScale="90000"/>
          </a:bodyPr>
          <a:lstStyle/>
          <a:p>
            <a:pPr algn="ctr">
              <a:defRPr/>
            </a:pPr>
            <a:r>
              <a:rPr lang="en-US" altLang="he-IL" sz="4400" dirty="0">
                <a:effectLst>
                  <a:outerShdw blurRad="38100" dist="38100" dir="2700000" algn="tl">
                    <a:srgbClr val="C0C0C0"/>
                  </a:outerShdw>
                </a:effectLst>
              </a:rPr>
              <a:t>Problem Reduction Space</a:t>
            </a:r>
            <a:endParaRPr lang="en-US" altLang="en-US" sz="4400" dirty="0"/>
          </a:p>
        </p:txBody>
      </p:sp>
      <p:grpSp>
        <p:nvGrpSpPr>
          <p:cNvPr id="2" name="Group 50"/>
          <p:cNvGrpSpPr>
            <a:grpSpLocks/>
          </p:cNvGrpSpPr>
          <p:nvPr/>
        </p:nvGrpSpPr>
        <p:grpSpPr bwMode="auto">
          <a:xfrm>
            <a:off x="2589213" y="3886200"/>
            <a:ext cx="2916237" cy="914400"/>
            <a:chOff x="1631" y="2448"/>
            <a:chExt cx="1837" cy="576"/>
          </a:xfrm>
        </p:grpSpPr>
        <p:sp>
          <p:nvSpPr>
            <p:cNvPr id="27664" name="Rectangle 2"/>
            <p:cNvSpPr>
              <a:spLocks noChangeArrowheads="1"/>
            </p:cNvSpPr>
            <p:nvPr/>
          </p:nvSpPr>
          <p:spPr bwMode="auto">
            <a:xfrm>
              <a:off x="2381" y="244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3AC</a:t>
              </a:r>
            </a:p>
          </p:txBody>
        </p:sp>
        <p:sp>
          <p:nvSpPr>
            <p:cNvPr id="27665" name="Line 12"/>
            <p:cNvSpPr>
              <a:spLocks noChangeShapeType="1"/>
            </p:cNvSpPr>
            <p:nvPr/>
          </p:nvSpPr>
          <p:spPr bwMode="auto">
            <a:xfrm flipH="1">
              <a:off x="1631" y="2677"/>
              <a:ext cx="750"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7666" name="Line 13"/>
            <p:cNvSpPr>
              <a:spLocks noChangeShapeType="1"/>
            </p:cNvSpPr>
            <p:nvPr/>
          </p:nvSpPr>
          <p:spPr bwMode="auto">
            <a:xfrm>
              <a:off x="2544" y="2688"/>
              <a:ext cx="1"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7667" name="Line 14"/>
            <p:cNvSpPr>
              <a:spLocks noChangeShapeType="1"/>
            </p:cNvSpPr>
            <p:nvPr/>
          </p:nvSpPr>
          <p:spPr bwMode="auto">
            <a:xfrm>
              <a:off x="2756" y="2677"/>
              <a:ext cx="712" cy="336"/>
            </a:xfrm>
            <a:prstGeom prst="line">
              <a:avLst/>
            </a:prstGeom>
            <a:noFill/>
            <a:ln w="12700" cap="sq">
              <a:solidFill>
                <a:schemeClr val="tx1"/>
              </a:solidFill>
              <a:round/>
              <a:headEnd type="none" w="sm" len="sm"/>
              <a:tailEnd type="none" w="sm" len="sm"/>
            </a:ln>
          </p:spPr>
          <p:txBody>
            <a:bodyPr wrap="none" anchor="ctr"/>
            <a:lstStyle/>
            <a:p>
              <a:endParaRPr lang="en-US"/>
            </a:p>
          </p:txBody>
        </p:sp>
      </p:grpSp>
      <p:grpSp>
        <p:nvGrpSpPr>
          <p:cNvPr id="3" name="Group 53"/>
          <p:cNvGrpSpPr>
            <a:grpSpLocks/>
          </p:cNvGrpSpPr>
          <p:nvPr/>
        </p:nvGrpSpPr>
        <p:grpSpPr bwMode="auto">
          <a:xfrm>
            <a:off x="428625" y="1447800"/>
            <a:ext cx="7877175" cy="2066925"/>
            <a:chOff x="270" y="912"/>
            <a:chExt cx="4962" cy="1302"/>
          </a:xfrm>
        </p:grpSpPr>
        <p:sp>
          <p:nvSpPr>
            <p:cNvPr id="27653" name="AutoShape 30"/>
            <p:cNvSpPr>
              <a:spLocks noChangeArrowheads="1"/>
            </p:cNvSpPr>
            <p:nvPr/>
          </p:nvSpPr>
          <p:spPr bwMode="auto">
            <a:xfrm>
              <a:off x="270" y="1919"/>
              <a:ext cx="4962" cy="295"/>
            </a:xfrm>
            <a:prstGeom prst="cube">
              <a:avLst>
                <a:gd name="adj" fmla="val 25000"/>
              </a:avLst>
            </a:prstGeom>
            <a:gradFill rotWithShape="0">
              <a:gsLst>
                <a:gs pos="0">
                  <a:srgbClr val="CCFFCC"/>
                </a:gs>
                <a:gs pos="100000">
                  <a:srgbClr val="88AA88"/>
                </a:gs>
              </a:gsLst>
              <a:lin ang="5400000" scaled="1"/>
            </a:gradFill>
            <a:ln w="9525">
              <a:solidFill>
                <a:srgbClr val="99CC00"/>
              </a:solidFill>
              <a:miter lim="800000"/>
              <a:headEnd/>
              <a:tailEnd/>
            </a:ln>
          </p:spPr>
          <p:txBody>
            <a:bodyPr anchor="ctr">
              <a:spAutoFit/>
            </a:bodyPr>
            <a:lstStyle/>
            <a:p>
              <a:pPr rtl="1">
                <a:lnSpc>
                  <a:spcPct val="100000"/>
                </a:lnSpc>
                <a:spcAft>
                  <a:spcPct val="0"/>
                </a:spcAft>
              </a:pPr>
              <a:endParaRPr kumimoji="0" lang="en-US" altLang="en-US"/>
            </a:p>
          </p:txBody>
        </p:sp>
        <p:sp>
          <p:nvSpPr>
            <p:cNvPr id="27654" name="Text Box 26"/>
            <p:cNvSpPr txBox="1">
              <a:spLocks noChangeArrowheads="1"/>
            </p:cNvSpPr>
            <p:nvPr/>
          </p:nvSpPr>
          <p:spPr bwMode="auto">
            <a:xfrm>
              <a:off x="412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C</a:t>
              </a:r>
            </a:p>
          </p:txBody>
        </p:sp>
        <p:sp>
          <p:nvSpPr>
            <p:cNvPr id="27655" name="Text Box 27"/>
            <p:cNvSpPr txBox="1">
              <a:spLocks noChangeArrowheads="1"/>
            </p:cNvSpPr>
            <p:nvPr/>
          </p:nvSpPr>
          <p:spPr bwMode="auto">
            <a:xfrm>
              <a:off x="100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A</a:t>
              </a:r>
            </a:p>
          </p:txBody>
        </p:sp>
        <p:sp>
          <p:nvSpPr>
            <p:cNvPr id="27656" name="AutoShape 29"/>
            <p:cNvSpPr>
              <a:spLocks noChangeArrowheads="1"/>
            </p:cNvSpPr>
            <p:nvPr/>
          </p:nvSpPr>
          <p:spPr bwMode="auto">
            <a:xfrm>
              <a:off x="2592" y="912"/>
              <a:ext cx="384" cy="1104"/>
            </a:xfrm>
            <a:prstGeom prst="can">
              <a:avLst>
                <a:gd name="adj" fmla="val 71875"/>
              </a:avLst>
            </a:prstGeom>
            <a:noFill/>
            <a:ln w="9525">
              <a:noFill/>
              <a:round/>
              <a:headEnd/>
              <a:tailEnd/>
            </a:ln>
          </p:spPr>
          <p:txBody>
            <a:bodyPr wrap="none" anchor="ctr">
              <a:spAutoFit/>
            </a:bodyPr>
            <a:lstStyle/>
            <a:p>
              <a:endParaRPr lang="en-US"/>
            </a:p>
          </p:txBody>
        </p:sp>
        <p:sp>
          <p:nvSpPr>
            <p:cNvPr id="291871" name="AutoShape 31"/>
            <p:cNvSpPr>
              <a:spLocks noChangeArrowheads="1"/>
            </p:cNvSpPr>
            <p:nvPr/>
          </p:nvSpPr>
          <p:spPr bwMode="auto">
            <a:xfrm>
              <a:off x="2544" y="912"/>
              <a:ext cx="288" cy="1056"/>
            </a:xfrm>
            <a:prstGeom prst="can">
              <a:avLst>
                <a:gd name="adj" fmla="val 39230"/>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1873" name="AutoShape 33"/>
            <p:cNvSpPr>
              <a:spLocks noChangeArrowheads="1"/>
            </p:cNvSpPr>
            <p:nvPr/>
          </p:nvSpPr>
          <p:spPr bwMode="auto">
            <a:xfrm>
              <a:off x="576" y="1728"/>
              <a:ext cx="1488"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1874" name="AutoShape 34"/>
            <p:cNvSpPr>
              <a:spLocks noChangeArrowheads="1"/>
            </p:cNvSpPr>
            <p:nvPr/>
          </p:nvSpPr>
          <p:spPr bwMode="auto">
            <a:xfrm>
              <a:off x="816" y="1584"/>
              <a:ext cx="96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1883" name="AutoShape 43"/>
            <p:cNvSpPr>
              <a:spLocks noChangeArrowheads="1"/>
            </p:cNvSpPr>
            <p:nvPr/>
          </p:nvSpPr>
          <p:spPr bwMode="auto">
            <a:xfrm>
              <a:off x="1104" y="1392"/>
              <a:ext cx="48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1876" name="AutoShape 36"/>
            <p:cNvSpPr>
              <a:spLocks noChangeArrowheads="1"/>
            </p:cNvSpPr>
            <p:nvPr/>
          </p:nvSpPr>
          <p:spPr bwMode="auto">
            <a:xfrm>
              <a:off x="1200" y="912"/>
              <a:ext cx="288" cy="528"/>
            </a:xfrm>
            <a:prstGeom prst="can">
              <a:avLst>
                <a:gd name="adj" fmla="val 19615"/>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1872" name="AutoShape 32"/>
            <p:cNvSpPr>
              <a:spLocks noChangeArrowheads="1"/>
            </p:cNvSpPr>
            <p:nvPr/>
          </p:nvSpPr>
          <p:spPr bwMode="auto">
            <a:xfrm>
              <a:off x="4080" y="912"/>
              <a:ext cx="288" cy="1056"/>
            </a:xfrm>
            <a:prstGeom prst="can">
              <a:avLst>
                <a:gd name="adj" fmla="val 39230"/>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7663" name="Text Box 46"/>
            <p:cNvSpPr txBox="1">
              <a:spLocks noChangeArrowheads="1"/>
            </p:cNvSpPr>
            <p:nvPr/>
          </p:nvSpPr>
          <p:spPr bwMode="auto">
            <a:xfrm>
              <a:off x="2592" y="1968"/>
              <a:ext cx="240"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1026"/>
          <p:cNvSpPr>
            <a:spLocks noGrp="1" noChangeArrowheads="1"/>
          </p:cNvSpPr>
          <p:nvPr>
            <p:ph type="title"/>
          </p:nvPr>
        </p:nvSpPr>
        <p:spPr>
          <a:xfrm>
            <a:off x="685800" y="381000"/>
            <a:ext cx="8229600" cy="685800"/>
          </a:xfrm>
        </p:spPr>
        <p:txBody>
          <a:bodyPr>
            <a:normAutofit fontScale="90000"/>
          </a:bodyPr>
          <a:lstStyle/>
          <a:p>
            <a:pPr algn="ctr">
              <a:defRPr/>
            </a:pPr>
            <a:r>
              <a:rPr lang="en-US" altLang="he-IL" sz="4400" dirty="0">
                <a:effectLst>
                  <a:outerShdw blurRad="38100" dist="38100" dir="2700000" algn="tl">
                    <a:srgbClr val="C0C0C0"/>
                  </a:outerShdw>
                </a:effectLst>
              </a:rPr>
              <a:t>Problem Reduction Space</a:t>
            </a:r>
            <a:endParaRPr lang="en-US" altLang="en-US" sz="4400" dirty="0"/>
          </a:p>
        </p:txBody>
      </p:sp>
      <p:grpSp>
        <p:nvGrpSpPr>
          <p:cNvPr id="2" name="Group 1027"/>
          <p:cNvGrpSpPr>
            <a:grpSpLocks/>
          </p:cNvGrpSpPr>
          <p:nvPr/>
        </p:nvGrpSpPr>
        <p:grpSpPr bwMode="auto">
          <a:xfrm>
            <a:off x="1219200" y="3886200"/>
            <a:ext cx="4286250" cy="2514600"/>
            <a:chOff x="768" y="2448"/>
            <a:chExt cx="2700" cy="1584"/>
          </a:xfrm>
        </p:grpSpPr>
        <p:sp>
          <p:nvSpPr>
            <p:cNvPr id="28688" name="Rectangle 1028"/>
            <p:cNvSpPr>
              <a:spLocks noChangeArrowheads="1"/>
            </p:cNvSpPr>
            <p:nvPr/>
          </p:nvSpPr>
          <p:spPr bwMode="auto">
            <a:xfrm>
              <a:off x="2381" y="244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3AC</a:t>
              </a:r>
            </a:p>
          </p:txBody>
        </p:sp>
        <p:sp>
          <p:nvSpPr>
            <p:cNvPr id="28689" name="Line 1029"/>
            <p:cNvSpPr>
              <a:spLocks noChangeShapeType="1"/>
            </p:cNvSpPr>
            <p:nvPr/>
          </p:nvSpPr>
          <p:spPr bwMode="auto">
            <a:xfrm flipH="1">
              <a:off x="1631" y="2677"/>
              <a:ext cx="750"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8690" name="Line 1030"/>
            <p:cNvSpPr>
              <a:spLocks noChangeShapeType="1"/>
            </p:cNvSpPr>
            <p:nvPr/>
          </p:nvSpPr>
          <p:spPr bwMode="auto">
            <a:xfrm>
              <a:off x="2568" y="2677"/>
              <a:ext cx="1"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8691" name="Line 1031"/>
            <p:cNvSpPr>
              <a:spLocks noChangeShapeType="1"/>
            </p:cNvSpPr>
            <p:nvPr/>
          </p:nvSpPr>
          <p:spPr bwMode="auto">
            <a:xfrm>
              <a:off x="2756" y="2677"/>
              <a:ext cx="712"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8692" name="Rectangle 1032"/>
            <p:cNvSpPr>
              <a:spLocks noChangeArrowheads="1"/>
            </p:cNvSpPr>
            <p:nvPr/>
          </p:nvSpPr>
          <p:spPr bwMode="auto">
            <a:xfrm>
              <a:off x="1392" y="3024"/>
              <a:ext cx="375" cy="293"/>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2AB</a:t>
              </a:r>
            </a:p>
          </p:txBody>
        </p:sp>
        <p:sp>
          <p:nvSpPr>
            <p:cNvPr id="28693" name="Rectangle 1033"/>
            <p:cNvSpPr>
              <a:spLocks noChangeArrowheads="1"/>
            </p:cNvSpPr>
            <p:nvPr/>
          </p:nvSpPr>
          <p:spPr bwMode="auto">
            <a:xfrm>
              <a:off x="768" y="3802"/>
              <a:ext cx="443" cy="23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28694" name="Line 1034"/>
            <p:cNvSpPr>
              <a:spLocks noChangeShapeType="1"/>
            </p:cNvSpPr>
            <p:nvPr/>
          </p:nvSpPr>
          <p:spPr bwMode="auto">
            <a:xfrm flipH="1">
              <a:off x="1008" y="3312"/>
              <a:ext cx="402" cy="480"/>
            </a:xfrm>
            <a:prstGeom prst="line">
              <a:avLst/>
            </a:prstGeom>
            <a:noFill/>
            <a:ln w="12700" cap="sq">
              <a:solidFill>
                <a:schemeClr val="tx1"/>
              </a:solidFill>
              <a:round/>
              <a:headEnd type="none" w="sm" len="sm"/>
              <a:tailEnd type="none" w="sm" len="sm"/>
            </a:ln>
          </p:spPr>
          <p:txBody>
            <a:bodyPr wrap="none" anchor="ctr"/>
            <a:lstStyle/>
            <a:p>
              <a:endParaRPr lang="en-US"/>
            </a:p>
          </p:txBody>
        </p:sp>
      </p:grpSp>
      <p:grpSp>
        <p:nvGrpSpPr>
          <p:cNvPr id="3" name="Group 1048"/>
          <p:cNvGrpSpPr>
            <a:grpSpLocks/>
          </p:cNvGrpSpPr>
          <p:nvPr/>
        </p:nvGrpSpPr>
        <p:grpSpPr bwMode="auto">
          <a:xfrm>
            <a:off x="428625" y="1447800"/>
            <a:ext cx="7877175" cy="2066925"/>
            <a:chOff x="270" y="912"/>
            <a:chExt cx="4962" cy="1302"/>
          </a:xfrm>
        </p:grpSpPr>
        <p:sp>
          <p:nvSpPr>
            <p:cNvPr id="28677" name="AutoShape 1036"/>
            <p:cNvSpPr>
              <a:spLocks noChangeArrowheads="1"/>
            </p:cNvSpPr>
            <p:nvPr/>
          </p:nvSpPr>
          <p:spPr bwMode="auto">
            <a:xfrm>
              <a:off x="270" y="1919"/>
              <a:ext cx="4962" cy="295"/>
            </a:xfrm>
            <a:prstGeom prst="cube">
              <a:avLst>
                <a:gd name="adj" fmla="val 25000"/>
              </a:avLst>
            </a:prstGeom>
            <a:gradFill rotWithShape="0">
              <a:gsLst>
                <a:gs pos="0">
                  <a:srgbClr val="CCFFCC"/>
                </a:gs>
                <a:gs pos="100000">
                  <a:srgbClr val="82A282"/>
                </a:gs>
              </a:gsLst>
              <a:lin ang="5400000" scaled="1"/>
            </a:gradFill>
            <a:ln w="9525">
              <a:solidFill>
                <a:srgbClr val="99CC00"/>
              </a:solidFill>
              <a:miter lim="800000"/>
              <a:headEnd/>
              <a:tailEnd/>
            </a:ln>
          </p:spPr>
          <p:txBody>
            <a:bodyPr anchor="ctr">
              <a:spAutoFit/>
            </a:bodyPr>
            <a:lstStyle/>
            <a:p>
              <a:pPr rtl="1">
                <a:lnSpc>
                  <a:spcPct val="100000"/>
                </a:lnSpc>
                <a:spcAft>
                  <a:spcPct val="0"/>
                </a:spcAft>
              </a:pPr>
              <a:endParaRPr kumimoji="0" lang="en-US" altLang="en-US"/>
            </a:p>
          </p:txBody>
        </p:sp>
        <p:sp>
          <p:nvSpPr>
            <p:cNvPr id="28678" name="Text Box 1037"/>
            <p:cNvSpPr txBox="1">
              <a:spLocks noChangeArrowheads="1"/>
            </p:cNvSpPr>
            <p:nvPr/>
          </p:nvSpPr>
          <p:spPr bwMode="auto">
            <a:xfrm>
              <a:off x="412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C</a:t>
              </a:r>
            </a:p>
          </p:txBody>
        </p:sp>
        <p:sp>
          <p:nvSpPr>
            <p:cNvPr id="28679" name="Text Box 1038"/>
            <p:cNvSpPr txBox="1">
              <a:spLocks noChangeArrowheads="1"/>
            </p:cNvSpPr>
            <p:nvPr/>
          </p:nvSpPr>
          <p:spPr bwMode="auto">
            <a:xfrm>
              <a:off x="100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A</a:t>
              </a:r>
            </a:p>
          </p:txBody>
        </p:sp>
        <p:sp>
          <p:nvSpPr>
            <p:cNvPr id="28680" name="AutoShape 1039"/>
            <p:cNvSpPr>
              <a:spLocks noChangeArrowheads="1"/>
            </p:cNvSpPr>
            <p:nvPr/>
          </p:nvSpPr>
          <p:spPr bwMode="auto">
            <a:xfrm>
              <a:off x="2592" y="912"/>
              <a:ext cx="384" cy="1104"/>
            </a:xfrm>
            <a:prstGeom prst="can">
              <a:avLst>
                <a:gd name="adj" fmla="val 71875"/>
              </a:avLst>
            </a:prstGeom>
            <a:noFill/>
            <a:ln w="9525">
              <a:noFill/>
              <a:round/>
              <a:headEnd/>
              <a:tailEnd/>
            </a:ln>
          </p:spPr>
          <p:txBody>
            <a:bodyPr wrap="none" anchor="ctr">
              <a:spAutoFit/>
            </a:bodyPr>
            <a:lstStyle/>
            <a:p>
              <a:endParaRPr lang="en-US"/>
            </a:p>
          </p:txBody>
        </p:sp>
        <p:sp>
          <p:nvSpPr>
            <p:cNvPr id="299024" name="AutoShape 1040"/>
            <p:cNvSpPr>
              <a:spLocks noChangeArrowheads="1"/>
            </p:cNvSpPr>
            <p:nvPr/>
          </p:nvSpPr>
          <p:spPr bwMode="auto">
            <a:xfrm>
              <a:off x="2544" y="912"/>
              <a:ext cx="288" cy="1056"/>
            </a:xfrm>
            <a:prstGeom prst="can">
              <a:avLst>
                <a:gd name="adj" fmla="val 39230"/>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9025" name="AutoShape 1041"/>
            <p:cNvSpPr>
              <a:spLocks noChangeArrowheads="1"/>
            </p:cNvSpPr>
            <p:nvPr/>
          </p:nvSpPr>
          <p:spPr bwMode="auto">
            <a:xfrm>
              <a:off x="576" y="1728"/>
              <a:ext cx="1488"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9026" name="AutoShape 1042"/>
            <p:cNvSpPr>
              <a:spLocks noChangeArrowheads="1"/>
            </p:cNvSpPr>
            <p:nvPr/>
          </p:nvSpPr>
          <p:spPr bwMode="auto">
            <a:xfrm>
              <a:off x="816" y="1584"/>
              <a:ext cx="96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9027" name="AutoShape 1043"/>
            <p:cNvSpPr>
              <a:spLocks noChangeArrowheads="1"/>
            </p:cNvSpPr>
            <p:nvPr/>
          </p:nvSpPr>
          <p:spPr bwMode="auto">
            <a:xfrm>
              <a:off x="1152" y="912"/>
              <a:ext cx="288" cy="720"/>
            </a:xfrm>
            <a:prstGeom prst="can">
              <a:avLst>
                <a:gd name="adj" fmla="val 26748"/>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9028" name="AutoShape 1044"/>
            <p:cNvSpPr>
              <a:spLocks noChangeArrowheads="1"/>
            </p:cNvSpPr>
            <p:nvPr/>
          </p:nvSpPr>
          <p:spPr bwMode="auto">
            <a:xfrm>
              <a:off x="3984" y="1728"/>
              <a:ext cx="48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9029" name="AutoShape 1045"/>
            <p:cNvSpPr>
              <a:spLocks noChangeArrowheads="1"/>
            </p:cNvSpPr>
            <p:nvPr/>
          </p:nvSpPr>
          <p:spPr bwMode="auto">
            <a:xfrm>
              <a:off x="4080" y="912"/>
              <a:ext cx="288" cy="864"/>
            </a:xfrm>
            <a:prstGeom prst="can">
              <a:avLst>
                <a:gd name="adj" fmla="val 32097"/>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8687" name="Text Box 1046"/>
            <p:cNvSpPr txBox="1">
              <a:spLocks noChangeArrowheads="1"/>
            </p:cNvSpPr>
            <p:nvPr/>
          </p:nvSpPr>
          <p:spPr bwMode="auto">
            <a:xfrm>
              <a:off x="2592" y="1968"/>
              <a:ext cx="240"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685800" y="381000"/>
            <a:ext cx="8229600" cy="609600"/>
          </a:xfrm>
        </p:spPr>
        <p:txBody>
          <a:bodyPr>
            <a:normAutofit fontScale="90000"/>
          </a:bodyPr>
          <a:lstStyle/>
          <a:p>
            <a:pPr algn="ctr">
              <a:defRPr/>
            </a:pPr>
            <a:r>
              <a:rPr lang="en-US" altLang="he-IL" sz="4400" dirty="0">
                <a:effectLst>
                  <a:outerShdw blurRad="38100" dist="38100" dir="2700000" algn="tl">
                    <a:srgbClr val="C0C0C0"/>
                  </a:outerShdw>
                </a:effectLst>
              </a:rPr>
              <a:t>Problem Reduction Space</a:t>
            </a:r>
            <a:endParaRPr lang="en-US" altLang="en-US" sz="4400" dirty="0"/>
          </a:p>
        </p:txBody>
      </p:sp>
      <p:grpSp>
        <p:nvGrpSpPr>
          <p:cNvPr id="2" name="Group 29"/>
          <p:cNvGrpSpPr>
            <a:grpSpLocks/>
          </p:cNvGrpSpPr>
          <p:nvPr/>
        </p:nvGrpSpPr>
        <p:grpSpPr bwMode="auto">
          <a:xfrm>
            <a:off x="1219200" y="3886200"/>
            <a:ext cx="4286250" cy="2667000"/>
            <a:chOff x="768" y="2448"/>
            <a:chExt cx="2700" cy="1680"/>
          </a:xfrm>
        </p:grpSpPr>
        <p:sp>
          <p:nvSpPr>
            <p:cNvPr id="29712" name="Rectangle 4"/>
            <p:cNvSpPr>
              <a:spLocks noChangeArrowheads="1"/>
            </p:cNvSpPr>
            <p:nvPr/>
          </p:nvSpPr>
          <p:spPr bwMode="auto">
            <a:xfrm>
              <a:off x="2381" y="244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3AC</a:t>
              </a:r>
            </a:p>
          </p:txBody>
        </p:sp>
        <p:sp>
          <p:nvSpPr>
            <p:cNvPr id="29713" name="Line 5"/>
            <p:cNvSpPr>
              <a:spLocks noChangeShapeType="1"/>
            </p:cNvSpPr>
            <p:nvPr/>
          </p:nvSpPr>
          <p:spPr bwMode="auto">
            <a:xfrm flipH="1">
              <a:off x="1631" y="2677"/>
              <a:ext cx="750"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9714" name="Line 6"/>
            <p:cNvSpPr>
              <a:spLocks noChangeShapeType="1"/>
            </p:cNvSpPr>
            <p:nvPr/>
          </p:nvSpPr>
          <p:spPr bwMode="auto">
            <a:xfrm>
              <a:off x="2568" y="2677"/>
              <a:ext cx="1"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9715" name="Line 7"/>
            <p:cNvSpPr>
              <a:spLocks noChangeShapeType="1"/>
            </p:cNvSpPr>
            <p:nvPr/>
          </p:nvSpPr>
          <p:spPr bwMode="auto">
            <a:xfrm>
              <a:off x="2756" y="2677"/>
              <a:ext cx="712"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9716" name="Rectangle 9"/>
            <p:cNvSpPr>
              <a:spLocks noChangeArrowheads="1"/>
            </p:cNvSpPr>
            <p:nvPr/>
          </p:nvSpPr>
          <p:spPr bwMode="auto">
            <a:xfrm>
              <a:off x="1392" y="3024"/>
              <a:ext cx="375" cy="293"/>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2AB</a:t>
              </a:r>
            </a:p>
          </p:txBody>
        </p:sp>
        <p:sp>
          <p:nvSpPr>
            <p:cNvPr id="29717" name="Rectangle 10"/>
            <p:cNvSpPr>
              <a:spLocks noChangeArrowheads="1"/>
            </p:cNvSpPr>
            <p:nvPr/>
          </p:nvSpPr>
          <p:spPr bwMode="auto">
            <a:xfrm>
              <a:off x="768" y="3888"/>
              <a:ext cx="443" cy="24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29718" name="Line 11"/>
            <p:cNvSpPr>
              <a:spLocks noChangeShapeType="1"/>
            </p:cNvSpPr>
            <p:nvPr/>
          </p:nvSpPr>
          <p:spPr bwMode="auto">
            <a:xfrm flipH="1">
              <a:off x="1008" y="3312"/>
              <a:ext cx="402" cy="57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29719" name="Rectangle 24"/>
            <p:cNvSpPr>
              <a:spLocks noChangeArrowheads="1"/>
            </p:cNvSpPr>
            <p:nvPr/>
          </p:nvSpPr>
          <p:spPr bwMode="auto">
            <a:xfrm>
              <a:off x="1338" y="3895"/>
              <a:ext cx="375" cy="23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1AB</a:t>
              </a:r>
            </a:p>
          </p:txBody>
        </p:sp>
        <p:sp>
          <p:nvSpPr>
            <p:cNvPr id="29720" name="Line 25"/>
            <p:cNvSpPr>
              <a:spLocks noChangeShapeType="1"/>
            </p:cNvSpPr>
            <p:nvPr/>
          </p:nvSpPr>
          <p:spPr bwMode="auto">
            <a:xfrm flipH="1">
              <a:off x="1536" y="3312"/>
              <a:ext cx="0" cy="576"/>
            </a:xfrm>
            <a:prstGeom prst="line">
              <a:avLst/>
            </a:prstGeom>
            <a:noFill/>
            <a:ln w="12700" cap="sq">
              <a:solidFill>
                <a:schemeClr val="tx1"/>
              </a:solidFill>
              <a:round/>
              <a:headEnd type="none" w="sm" len="sm"/>
              <a:tailEnd type="none" w="sm" len="sm"/>
            </a:ln>
          </p:spPr>
          <p:txBody>
            <a:bodyPr wrap="none" anchor="ctr"/>
            <a:lstStyle/>
            <a:p>
              <a:endParaRPr lang="en-US"/>
            </a:p>
          </p:txBody>
        </p:sp>
      </p:grpSp>
      <p:grpSp>
        <p:nvGrpSpPr>
          <p:cNvPr id="3" name="Group 31"/>
          <p:cNvGrpSpPr>
            <a:grpSpLocks/>
          </p:cNvGrpSpPr>
          <p:nvPr/>
        </p:nvGrpSpPr>
        <p:grpSpPr bwMode="auto">
          <a:xfrm>
            <a:off x="428625" y="1447800"/>
            <a:ext cx="7877175" cy="2066925"/>
            <a:chOff x="270" y="912"/>
            <a:chExt cx="4962" cy="1302"/>
          </a:xfrm>
        </p:grpSpPr>
        <p:sp>
          <p:nvSpPr>
            <p:cNvPr id="29701" name="AutoShape 13"/>
            <p:cNvSpPr>
              <a:spLocks noChangeArrowheads="1"/>
            </p:cNvSpPr>
            <p:nvPr/>
          </p:nvSpPr>
          <p:spPr bwMode="auto">
            <a:xfrm>
              <a:off x="270" y="1919"/>
              <a:ext cx="4962" cy="295"/>
            </a:xfrm>
            <a:prstGeom prst="cube">
              <a:avLst>
                <a:gd name="adj" fmla="val 25000"/>
              </a:avLst>
            </a:prstGeom>
            <a:gradFill rotWithShape="0">
              <a:gsLst>
                <a:gs pos="0">
                  <a:srgbClr val="CCFFCC"/>
                </a:gs>
                <a:gs pos="100000">
                  <a:srgbClr val="8EB28E"/>
                </a:gs>
              </a:gsLst>
              <a:lin ang="5400000" scaled="1"/>
            </a:gradFill>
            <a:ln w="9525">
              <a:solidFill>
                <a:srgbClr val="99CC00"/>
              </a:solidFill>
              <a:miter lim="800000"/>
              <a:headEnd/>
              <a:tailEnd/>
            </a:ln>
          </p:spPr>
          <p:txBody>
            <a:bodyPr anchor="ctr">
              <a:spAutoFit/>
            </a:bodyPr>
            <a:lstStyle/>
            <a:p>
              <a:pPr rtl="1">
                <a:lnSpc>
                  <a:spcPct val="100000"/>
                </a:lnSpc>
                <a:spcAft>
                  <a:spcPct val="0"/>
                </a:spcAft>
              </a:pPr>
              <a:endParaRPr kumimoji="0" lang="en-US" altLang="en-US"/>
            </a:p>
          </p:txBody>
        </p:sp>
        <p:sp>
          <p:nvSpPr>
            <p:cNvPr id="29702" name="Text Box 14"/>
            <p:cNvSpPr txBox="1">
              <a:spLocks noChangeArrowheads="1"/>
            </p:cNvSpPr>
            <p:nvPr/>
          </p:nvSpPr>
          <p:spPr bwMode="auto">
            <a:xfrm>
              <a:off x="412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C</a:t>
              </a:r>
            </a:p>
          </p:txBody>
        </p:sp>
        <p:sp>
          <p:nvSpPr>
            <p:cNvPr id="29703" name="Text Box 15"/>
            <p:cNvSpPr txBox="1">
              <a:spLocks noChangeArrowheads="1"/>
            </p:cNvSpPr>
            <p:nvPr/>
          </p:nvSpPr>
          <p:spPr bwMode="auto">
            <a:xfrm>
              <a:off x="100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A</a:t>
              </a:r>
            </a:p>
          </p:txBody>
        </p:sp>
        <p:sp>
          <p:nvSpPr>
            <p:cNvPr id="29704" name="AutoShape 16"/>
            <p:cNvSpPr>
              <a:spLocks noChangeArrowheads="1"/>
            </p:cNvSpPr>
            <p:nvPr/>
          </p:nvSpPr>
          <p:spPr bwMode="auto">
            <a:xfrm>
              <a:off x="2592" y="912"/>
              <a:ext cx="384" cy="1104"/>
            </a:xfrm>
            <a:prstGeom prst="can">
              <a:avLst>
                <a:gd name="adj" fmla="val 71875"/>
              </a:avLst>
            </a:prstGeom>
            <a:noFill/>
            <a:ln w="9525">
              <a:noFill/>
              <a:round/>
              <a:headEnd/>
              <a:tailEnd/>
            </a:ln>
          </p:spPr>
          <p:txBody>
            <a:bodyPr wrap="none" anchor="ctr">
              <a:spAutoFit/>
            </a:bodyPr>
            <a:lstStyle/>
            <a:p>
              <a:endParaRPr lang="en-US"/>
            </a:p>
          </p:txBody>
        </p:sp>
        <p:sp>
          <p:nvSpPr>
            <p:cNvPr id="292882" name="AutoShape 18"/>
            <p:cNvSpPr>
              <a:spLocks noChangeArrowheads="1"/>
            </p:cNvSpPr>
            <p:nvPr/>
          </p:nvSpPr>
          <p:spPr bwMode="auto">
            <a:xfrm>
              <a:off x="576" y="1728"/>
              <a:ext cx="1488"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2884" name="AutoShape 20"/>
            <p:cNvSpPr>
              <a:spLocks noChangeArrowheads="1"/>
            </p:cNvSpPr>
            <p:nvPr/>
          </p:nvSpPr>
          <p:spPr bwMode="auto">
            <a:xfrm>
              <a:off x="1152" y="912"/>
              <a:ext cx="288" cy="864"/>
            </a:xfrm>
            <a:prstGeom prst="can">
              <a:avLst>
                <a:gd name="adj" fmla="val 32097"/>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2885" name="AutoShape 21"/>
            <p:cNvSpPr>
              <a:spLocks noChangeArrowheads="1"/>
            </p:cNvSpPr>
            <p:nvPr/>
          </p:nvSpPr>
          <p:spPr bwMode="auto">
            <a:xfrm>
              <a:off x="3984" y="1728"/>
              <a:ext cx="48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2886" name="AutoShape 22"/>
            <p:cNvSpPr>
              <a:spLocks noChangeArrowheads="1"/>
            </p:cNvSpPr>
            <p:nvPr/>
          </p:nvSpPr>
          <p:spPr bwMode="auto">
            <a:xfrm>
              <a:off x="4080" y="912"/>
              <a:ext cx="288" cy="864"/>
            </a:xfrm>
            <a:prstGeom prst="can">
              <a:avLst>
                <a:gd name="adj" fmla="val 32097"/>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709" name="Text Box 23"/>
            <p:cNvSpPr txBox="1">
              <a:spLocks noChangeArrowheads="1"/>
            </p:cNvSpPr>
            <p:nvPr/>
          </p:nvSpPr>
          <p:spPr bwMode="auto">
            <a:xfrm>
              <a:off x="2592" y="1968"/>
              <a:ext cx="240"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B</a:t>
              </a:r>
            </a:p>
          </p:txBody>
        </p:sp>
        <p:sp>
          <p:nvSpPr>
            <p:cNvPr id="292891" name="AutoShape 27"/>
            <p:cNvSpPr>
              <a:spLocks noChangeArrowheads="1"/>
            </p:cNvSpPr>
            <p:nvPr/>
          </p:nvSpPr>
          <p:spPr bwMode="auto">
            <a:xfrm>
              <a:off x="2208" y="1728"/>
              <a:ext cx="96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2881" name="AutoShape 17"/>
            <p:cNvSpPr>
              <a:spLocks noChangeArrowheads="1"/>
            </p:cNvSpPr>
            <p:nvPr/>
          </p:nvSpPr>
          <p:spPr bwMode="auto">
            <a:xfrm>
              <a:off x="2544" y="912"/>
              <a:ext cx="288" cy="864"/>
            </a:xfrm>
            <a:prstGeom prst="can">
              <a:avLst>
                <a:gd name="adj" fmla="val 32097"/>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p:nvPr>
        </p:nvSpPr>
        <p:spPr>
          <a:xfrm>
            <a:off x="685800" y="457200"/>
            <a:ext cx="8229600" cy="609600"/>
          </a:xfrm>
        </p:spPr>
        <p:txBody>
          <a:bodyPr>
            <a:normAutofit fontScale="90000"/>
          </a:bodyPr>
          <a:lstStyle/>
          <a:p>
            <a:pPr algn="ctr">
              <a:defRPr/>
            </a:pPr>
            <a:r>
              <a:rPr lang="en-US" altLang="he-IL" sz="4400" dirty="0">
                <a:effectLst>
                  <a:outerShdw blurRad="38100" dist="38100" dir="2700000" algn="tl">
                    <a:srgbClr val="C0C0C0"/>
                  </a:outerShdw>
                </a:effectLst>
              </a:rPr>
              <a:t>Problem Reduction Space</a:t>
            </a:r>
            <a:endParaRPr lang="en-US" altLang="en-US" sz="4400" dirty="0"/>
          </a:p>
        </p:txBody>
      </p:sp>
      <p:grpSp>
        <p:nvGrpSpPr>
          <p:cNvPr id="2" name="Group 33"/>
          <p:cNvGrpSpPr>
            <a:grpSpLocks/>
          </p:cNvGrpSpPr>
          <p:nvPr/>
        </p:nvGrpSpPr>
        <p:grpSpPr bwMode="auto">
          <a:xfrm>
            <a:off x="428625" y="1447800"/>
            <a:ext cx="7877175" cy="2066925"/>
            <a:chOff x="270" y="912"/>
            <a:chExt cx="4962" cy="1302"/>
          </a:xfrm>
        </p:grpSpPr>
        <p:sp>
          <p:nvSpPr>
            <p:cNvPr id="30736" name="AutoShape 11"/>
            <p:cNvSpPr>
              <a:spLocks noChangeArrowheads="1"/>
            </p:cNvSpPr>
            <p:nvPr/>
          </p:nvSpPr>
          <p:spPr bwMode="auto">
            <a:xfrm>
              <a:off x="270" y="1919"/>
              <a:ext cx="4962" cy="295"/>
            </a:xfrm>
            <a:prstGeom prst="cube">
              <a:avLst>
                <a:gd name="adj" fmla="val 25000"/>
              </a:avLst>
            </a:prstGeom>
            <a:gradFill rotWithShape="0">
              <a:gsLst>
                <a:gs pos="0">
                  <a:srgbClr val="CCFFCC"/>
                </a:gs>
                <a:gs pos="100000">
                  <a:srgbClr val="7C9B7C"/>
                </a:gs>
              </a:gsLst>
              <a:lin ang="5400000" scaled="1"/>
            </a:gradFill>
            <a:ln w="9525">
              <a:solidFill>
                <a:srgbClr val="99CC00"/>
              </a:solidFill>
              <a:miter lim="800000"/>
              <a:headEnd/>
              <a:tailEnd/>
            </a:ln>
          </p:spPr>
          <p:txBody>
            <a:bodyPr anchor="ctr">
              <a:spAutoFit/>
            </a:bodyPr>
            <a:lstStyle/>
            <a:p>
              <a:pPr rtl="1">
                <a:lnSpc>
                  <a:spcPct val="100000"/>
                </a:lnSpc>
                <a:spcAft>
                  <a:spcPct val="0"/>
                </a:spcAft>
              </a:pPr>
              <a:endParaRPr kumimoji="0" lang="en-US" altLang="en-US"/>
            </a:p>
          </p:txBody>
        </p:sp>
        <p:sp>
          <p:nvSpPr>
            <p:cNvPr id="30737" name="Text Box 12"/>
            <p:cNvSpPr txBox="1">
              <a:spLocks noChangeArrowheads="1"/>
            </p:cNvSpPr>
            <p:nvPr/>
          </p:nvSpPr>
          <p:spPr bwMode="auto">
            <a:xfrm>
              <a:off x="412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C</a:t>
              </a:r>
            </a:p>
          </p:txBody>
        </p:sp>
        <p:sp>
          <p:nvSpPr>
            <p:cNvPr id="30738" name="Text Box 13"/>
            <p:cNvSpPr txBox="1">
              <a:spLocks noChangeArrowheads="1"/>
            </p:cNvSpPr>
            <p:nvPr/>
          </p:nvSpPr>
          <p:spPr bwMode="auto">
            <a:xfrm>
              <a:off x="100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A</a:t>
              </a:r>
            </a:p>
          </p:txBody>
        </p:sp>
        <p:sp>
          <p:nvSpPr>
            <p:cNvPr id="30739" name="AutoShape 14"/>
            <p:cNvSpPr>
              <a:spLocks noChangeArrowheads="1"/>
            </p:cNvSpPr>
            <p:nvPr/>
          </p:nvSpPr>
          <p:spPr bwMode="auto">
            <a:xfrm>
              <a:off x="2592" y="912"/>
              <a:ext cx="384" cy="1104"/>
            </a:xfrm>
            <a:prstGeom prst="can">
              <a:avLst>
                <a:gd name="adj" fmla="val 71875"/>
              </a:avLst>
            </a:prstGeom>
            <a:noFill/>
            <a:ln w="9525">
              <a:noFill/>
              <a:round/>
              <a:headEnd/>
              <a:tailEnd/>
            </a:ln>
          </p:spPr>
          <p:txBody>
            <a:bodyPr wrap="none" anchor="ctr">
              <a:spAutoFit/>
            </a:bodyPr>
            <a:lstStyle/>
            <a:p>
              <a:endParaRPr lang="en-US"/>
            </a:p>
          </p:txBody>
        </p:sp>
        <p:sp>
          <p:nvSpPr>
            <p:cNvPr id="293903" name="AutoShape 15"/>
            <p:cNvSpPr>
              <a:spLocks noChangeArrowheads="1"/>
            </p:cNvSpPr>
            <p:nvPr/>
          </p:nvSpPr>
          <p:spPr bwMode="auto">
            <a:xfrm>
              <a:off x="528" y="1728"/>
              <a:ext cx="1488"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3904" name="AutoShape 16"/>
            <p:cNvSpPr>
              <a:spLocks noChangeArrowheads="1"/>
            </p:cNvSpPr>
            <p:nvPr/>
          </p:nvSpPr>
          <p:spPr bwMode="auto">
            <a:xfrm>
              <a:off x="1152" y="912"/>
              <a:ext cx="288" cy="864"/>
            </a:xfrm>
            <a:prstGeom prst="can">
              <a:avLst>
                <a:gd name="adj" fmla="val 32097"/>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3906" name="AutoShape 18"/>
            <p:cNvSpPr>
              <a:spLocks noChangeArrowheads="1"/>
            </p:cNvSpPr>
            <p:nvPr/>
          </p:nvSpPr>
          <p:spPr bwMode="auto">
            <a:xfrm>
              <a:off x="4080" y="912"/>
              <a:ext cx="288" cy="1056"/>
            </a:xfrm>
            <a:prstGeom prst="can">
              <a:avLst>
                <a:gd name="adj" fmla="val 36106"/>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30743" name="Text Box 19"/>
            <p:cNvSpPr txBox="1">
              <a:spLocks noChangeArrowheads="1"/>
            </p:cNvSpPr>
            <p:nvPr/>
          </p:nvSpPr>
          <p:spPr bwMode="auto">
            <a:xfrm>
              <a:off x="2592" y="1968"/>
              <a:ext cx="240"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B</a:t>
              </a:r>
            </a:p>
          </p:txBody>
        </p:sp>
        <p:sp>
          <p:nvSpPr>
            <p:cNvPr id="293910" name="AutoShape 22"/>
            <p:cNvSpPr>
              <a:spLocks noChangeArrowheads="1"/>
            </p:cNvSpPr>
            <p:nvPr/>
          </p:nvSpPr>
          <p:spPr bwMode="auto">
            <a:xfrm>
              <a:off x="2208" y="1728"/>
              <a:ext cx="96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3905" name="AutoShape 17"/>
            <p:cNvSpPr>
              <a:spLocks noChangeArrowheads="1"/>
            </p:cNvSpPr>
            <p:nvPr/>
          </p:nvSpPr>
          <p:spPr bwMode="auto">
            <a:xfrm>
              <a:off x="2448" y="1536"/>
              <a:ext cx="48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3911" name="AutoShape 23"/>
            <p:cNvSpPr>
              <a:spLocks noChangeArrowheads="1"/>
            </p:cNvSpPr>
            <p:nvPr/>
          </p:nvSpPr>
          <p:spPr bwMode="auto">
            <a:xfrm>
              <a:off x="2544" y="912"/>
              <a:ext cx="288" cy="672"/>
            </a:xfrm>
            <a:prstGeom prst="can">
              <a:avLst>
                <a:gd name="adj" fmla="val 24965"/>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grpSp>
      <p:grpSp>
        <p:nvGrpSpPr>
          <p:cNvPr id="3" name="Group 34"/>
          <p:cNvGrpSpPr>
            <a:grpSpLocks/>
          </p:cNvGrpSpPr>
          <p:nvPr/>
        </p:nvGrpSpPr>
        <p:grpSpPr bwMode="auto">
          <a:xfrm>
            <a:off x="1219200" y="3886200"/>
            <a:ext cx="4286250" cy="2673350"/>
            <a:chOff x="768" y="2448"/>
            <a:chExt cx="2700" cy="1684"/>
          </a:xfrm>
        </p:grpSpPr>
        <p:sp>
          <p:nvSpPr>
            <p:cNvPr id="30725" name="Rectangle 3"/>
            <p:cNvSpPr>
              <a:spLocks noChangeArrowheads="1"/>
            </p:cNvSpPr>
            <p:nvPr/>
          </p:nvSpPr>
          <p:spPr bwMode="auto">
            <a:xfrm>
              <a:off x="2381" y="244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3AC</a:t>
              </a:r>
            </a:p>
          </p:txBody>
        </p:sp>
        <p:sp>
          <p:nvSpPr>
            <p:cNvPr id="30726" name="Line 4"/>
            <p:cNvSpPr>
              <a:spLocks noChangeShapeType="1"/>
            </p:cNvSpPr>
            <p:nvPr/>
          </p:nvSpPr>
          <p:spPr bwMode="auto">
            <a:xfrm flipH="1">
              <a:off x="1631" y="2677"/>
              <a:ext cx="750"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0727" name="Line 6"/>
            <p:cNvSpPr>
              <a:spLocks noChangeShapeType="1"/>
            </p:cNvSpPr>
            <p:nvPr/>
          </p:nvSpPr>
          <p:spPr bwMode="auto">
            <a:xfrm>
              <a:off x="2756" y="2677"/>
              <a:ext cx="712"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0728" name="Rectangle 8"/>
            <p:cNvSpPr>
              <a:spLocks noChangeArrowheads="1"/>
            </p:cNvSpPr>
            <p:nvPr/>
          </p:nvSpPr>
          <p:spPr bwMode="auto">
            <a:xfrm>
              <a:off x="1392" y="3024"/>
              <a:ext cx="375" cy="293"/>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2AB</a:t>
              </a:r>
            </a:p>
          </p:txBody>
        </p:sp>
        <p:sp>
          <p:nvSpPr>
            <p:cNvPr id="30729" name="Rectangle 9"/>
            <p:cNvSpPr>
              <a:spLocks noChangeArrowheads="1"/>
            </p:cNvSpPr>
            <p:nvPr/>
          </p:nvSpPr>
          <p:spPr bwMode="auto">
            <a:xfrm>
              <a:off x="768" y="3888"/>
              <a:ext cx="443" cy="23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30730" name="Line 10"/>
            <p:cNvSpPr>
              <a:spLocks noChangeShapeType="1"/>
            </p:cNvSpPr>
            <p:nvPr/>
          </p:nvSpPr>
          <p:spPr bwMode="auto">
            <a:xfrm flipH="1">
              <a:off x="1056" y="3312"/>
              <a:ext cx="354" cy="548"/>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0731" name="Rectangle 20"/>
            <p:cNvSpPr>
              <a:spLocks noChangeArrowheads="1"/>
            </p:cNvSpPr>
            <p:nvPr/>
          </p:nvSpPr>
          <p:spPr bwMode="auto">
            <a:xfrm>
              <a:off x="1338" y="3895"/>
              <a:ext cx="375" cy="23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1AB</a:t>
              </a:r>
            </a:p>
          </p:txBody>
        </p:sp>
        <p:sp>
          <p:nvSpPr>
            <p:cNvPr id="30732" name="Line 21"/>
            <p:cNvSpPr>
              <a:spLocks noChangeShapeType="1"/>
            </p:cNvSpPr>
            <p:nvPr/>
          </p:nvSpPr>
          <p:spPr bwMode="auto">
            <a:xfrm flipH="1">
              <a:off x="1526" y="3312"/>
              <a:ext cx="10" cy="594"/>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0733" name="Rectangle 24"/>
            <p:cNvSpPr>
              <a:spLocks noChangeArrowheads="1"/>
            </p:cNvSpPr>
            <p:nvPr/>
          </p:nvSpPr>
          <p:spPr bwMode="auto">
            <a:xfrm>
              <a:off x="1872" y="388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1CB</a:t>
              </a:r>
            </a:p>
          </p:txBody>
        </p:sp>
        <p:sp>
          <p:nvSpPr>
            <p:cNvPr id="30734" name="Line 25"/>
            <p:cNvSpPr>
              <a:spLocks noChangeShapeType="1"/>
            </p:cNvSpPr>
            <p:nvPr/>
          </p:nvSpPr>
          <p:spPr bwMode="auto">
            <a:xfrm>
              <a:off x="1722" y="3319"/>
              <a:ext cx="337" cy="580"/>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0735" name="Line 28"/>
            <p:cNvSpPr>
              <a:spLocks noChangeShapeType="1"/>
            </p:cNvSpPr>
            <p:nvPr/>
          </p:nvSpPr>
          <p:spPr bwMode="auto">
            <a:xfrm>
              <a:off x="2592" y="2688"/>
              <a:ext cx="0" cy="384"/>
            </a:xfrm>
            <a:prstGeom prst="line">
              <a:avLst/>
            </a:prstGeom>
            <a:noFill/>
            <a:ln w="12700" cap="sq">
              <a:solidFill>
                <a:schemeClr val="tx1"/>
              </a:solidFill>
              <a:round/>
              <a:headEnd type="none" w="sm" len="sm"/>
              <a:tailEnd type="none" w="sm" len="sm"/>
            </a:ln>
          </p:spPr>
          <p:txBody>
            <a:bodyPr wrap="none" anchor="ctr"/>
            <a:lstStyle/>
            <a:p>
              <a:endParaRPr lang="en-US"/>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a:xfrm>
            <a:off x="685800" y="381000"/>
            <a:ext cx="8229600" cy="609600"/>
          </a:xfrm>
        </p:spPr>
        <p:txBody>
          <a:bodyPr>
            <a:normAutofit fontScale="90000"/>
          </a:bodyPr>
          <a:lstStyle/>
          <a:p>
            <a:pPr algn="ctr">
              <a:defRPr/>
            </a:pPr>
            <a:r>
              <a:rPr lang="en-US" altLang="he-IL" sz="4400" dirty="0">
                <a:effectLst>
                  <a:outerShdw blurRad="38100" dist="38100" dir="2700000" algn="tl">
                    <a:srgbClr val="C0C0C0"/>
                  </a:outerShdw>
                </a:effectLst>
              </a:rPr>
              <a:t>Problem Reduction Space</a:t>
            </a:r>
            <a:endParaRPr lang="en-US" altLang="en-US" sz="4400" dirty="0"/>
          </a:p>
        </p:txBody>
      </p:sp>
      <p:grpSp>
        <p:nvGrpSpPr>
          <p:cNvPr id="2" name="Group 29"/>
          <p:cNvGrpSpPr>
            <a:grpSpLocks/>
          </p:cNvGrpSpPr>
          <p:nvPr/>
        </p:nvGrpSpPr>
        <p:grpSpPr bwMode="auto">
          <a:xfrm>
            <a:off x="428625" y="1447800"/>
            <a:ext cx="7877175" cy="2066925"/>
            <a:chOff x="270" y="912"/>
            <a:chExt cx="4962" cy="1302"/>
          </a:xfrm>
        </p:grpSpPr>
        <p:sp>
          <p:nvSpPr>
            <p:cNvPr id="31761" name="AutoShape 10"/>
            <p:cNvSpPr>
              <a:spLocks noChangeArrowheads="1"/>
            </p:cNvSpPr>
            <p:nvPr/>
          </p:nvSpPr>
          <p:spPr bwMode="auto">
            <a:xfrm>
              <a:off x="270" y="1919"/>
              <a:ext cx="4962" cy="295"/>
            </a:xfrm>
            <a:prstGeom prst="cube">
              <a:avLst>
                <a:gd name="adj" fmla="val 25000"/>
              </a:avLst>
            </a:prstGeom>
            <a:gradFill rotWithShape="0">
              <a:gsLst>
                <a:gs pos="0">
                  <a:srgbClr val="CCFFCC"/>
                </a:gs>
                <a:gs pos="100000">
                  <a:srgbClr val="82A282"/>
                </a:gs>
              </a:gsLst>
              <a:lin ang="5400000" scaled="1"/>
            </a:gradFill>
            <a:ln w="9525">
              <a:solidFill>
                <a:srgbClr val="99CC00"/>
              </a:solidFill>
              <a:miter lim="800000"/>
              <a:headEnd/>
              <a:tailEnd/>
            </a:ln>
          </p:spPr>
          <p:txBody>
            <a:bodyPr anchor="ctr">
              <a:spAutoFit/>
            </a:bodyPr>
            <a:lstStyle/>
            <a:p>
              <a:pPr rtl="1">
                <a:lnSpc>
                  <a:spcPct val="100000"/>
                </a:lnSpc>
                <a:spcAft>
                  <a:spcPct val="0"/>
                </a:spcAft>
              </a:pPr>
              <a:endParaRPr kumimoji="0" lang="en-US" altLang="en-US"/>
            </a:p>
          </p:txBody>
        </p:sp>
        <p:sp>
          <p:nvSpPr>
            <p:cNvPr id="31762" name="Text Box 11"/>
            <p:cNvSpPr txBox="1">
              <a:spLocks noChangeArrowheads="1"/>
            </p:cNvSpPr>
            <p:nvPr/>
          </p:nvSpPr>
          <p:spPr bwMode="auto">
            <a:xfrm>
              <a:off x="412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C</a:t>
              </a:r>
            </a:p>
          </p:txBody>
        </p:sp>
        <p:sp>
          <p:nvSpPr>
            <p:cNvPr id="31763" name="Text Box 12"/>
            <p:cNvSpPr txBox="1">
              <a:spLocks noChangeArrowheads="1"/>
            </p:cNvSpPr>
            <p:nvPr/>
          </p:nvSpPr>
          <p:spPr bwMode="auto">
            <a:xfrm>
              <a:off x="100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A</a:t>
              </a:r>
            </a:p>
          </p:txBody>
        </p:sp>
        <p:sp>
          <p:nvSpPr>
            <p:cNvPr id="31764" name="AutoShape 13"/>
            <p:cNvSpPr>
              <a:spLocks noChangeArrowheads="1"/>
            </p:cNvSpPr>
            <p:nvPr/>
          </p:nvSpPr>
          <p:spPr bwMode="auto">
            <a:xfrm>
              <a:off x="2592" y="912"/>
              <a:ext cx="384" cy="1104"/>
            </a:xfrm>
            <a:prstGeom prst="can">
              <a:avLst>
                <a:gd name="adj" fmla="val 71875"/>
              </a:avLst>
            </a:prstGeom>
            <a:noFill/>
            <a:ln w="9525">
              <a:noFill/>
              <a:round/>
              <a:headEnd/>
              <a:tailEnd/>
            </a:ln>
          </p:spPr>
          <p:txBody>
            <a:bodyPr wrap="none" anchor="ctr">
              <a:spAutoFit/>
            </a:bodyPr>
            <a:lstStyle/>
            <a:p>
              <a:endParaRPr lang="en-US"/>
            </a:p>
          </p:txBody>
        </p:sp>
        <p:sp>
          <p:nvSpPr>
            <p:cNvPr id="294926" name="AutoShape 14"/>
            <p:cNvSpPr>
              <a:spLocks noChangeArrowheads="1"/>
            </p:cNvSpPr>
            <p:nvPr/>
          </p:nvSpPr>
          <p:spPr bwMode="auto">
            <a:xfrm>
              <a:off x="3456" y="1728"/>
              <a:ext cx="1488"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4927" name="AutoShape 15"/>
            <p:cNvSpPr>
              <a:spLocks noChangeArrowheads="1"/>
            </p:cNvSpPr>
            <p:nvPr/>
          </p:nvSpPr>
          <p:spPr bwMode="auto">
            <a:xfrm>
              <a:off x="1152" y="912"/>
              <a:ext cx="288" cy="1056"/>
            </a:xfrm>
            <a:prstGeom prst="can">
              <a:avLst>
                <a:gd name="adj" fmla="val 39230"/>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4928" name="AutoShape 16"/>
            <p:cNvSpPr>
              <a:spLocks noChangeArrowheads="1"/>
            </p:cNvSpPr>
            <p:nvPr/>
          </p:nvSpPr>
          <p:spPr bwMode="auto">
            <a:xfrm>
              <a:off x="4080" y="912"/>
              <a:ext cx="288" cy="864"/>
            </a:xfrm>
            <a:prstGeom prst="can">
              <a:avLst>
                <a:gd name="adj" fmla="val 32097"/>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31768" name="Text Box 17"/>
            <p:cNvSpPr txBox="1">
              <a:spLocks noChangeArrowheads="1"/>
            </p:cNvSpPr>
            <p:nvPr/>
          </p:nvSpPr>
          <p:spPr bwMode="auto">
            <a:xfrm>
              <a:off x="2592" y="1968"/>
              <a:ext cx="240"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B</a:t>
              </a:r>
            </a:p>
          </p:txBody>
        </p:sp>
        <p:sp>
          <p:nvSpPr>
            <p:cNvPr id="294932" name="AutoShape 20"/>
            <p:cNvSpPr>
              <a:spLocks noChangeArrowheads="1"/>
            </p:cNvSpPr>
            <p:nvPr/>
          </p:nvSpPr>
          <p:spPr bwMode="auto">
            <a:xfrm>
              <a:off x="2208" y="1728"/>
              <a:ext cx="96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4933" name="AutoShape 21"/>
            <p:cNvSpPr>
              <a:spLocks noChangeArrowheads="1"/>
            </p:cNvSpPr>
            <p:nvPr/>
          </p:nvSpPr>
          <p:spPr bwMode="auto">
            <a:xfrm>
              <a:off x="2448" y="1536"/>
              <a:ext cx="48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4934" name="AutoShape 22"/>
            <p:cNvSpPr>
              <a:spLocks noChangeArrowheads="1"/>
            </p:cNvSpPr>
            <p:nvPr/>
          </p:nvSpPr>
          <p:spPr bwMode="auto">
            <a:xfrm>
              <a:off x="2544" y="912"/>
              <a:ext cx="288" cy="672"/>
            </a:xfrm>
            <a:prstGeom prst="can">
              <a:avLst>
                <a:gd name="adj" fmla="val 34028"/>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grpSp>
      <p:grpSp>
        <p:nvGrpSpPr>
          <p:cNvPr id="3" name="Group 28"/>
          <p:cNvGrpSpPr>
            <a:grpSpLocks/>
          </p:cNvGrpSpPr>
          <p:nvPr/>
        </p:nvGrpSpPr>
        <p:grpSpPr bwMode="auto">
          <a:xfrm>
            <a:off x="1219200" y="3886200"/>
            <a:ext cx="4286250" cy="2673350"/>
            <a:chOff x="768" y="2448"/>
            <a:chExt cx="2700" cy="1684"/>
          </a:xfrm>
        </p:grpSpPr>
        <p:sp>
          <p:nvSpPr>
            <p:cNvPr id="31749" name="Rectangle 3"/>
            <p:cNvSpPr>
              <a:spLocks noChangeArrowheads="1"/>
            </p:cNvSpPr>
            <p:nvPr/>
          </p:nvSpPr>
          <p:spPr bwMode="auto">
            <a:xfrm>
              <a:off x="2381" y="244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3AC</a:t>
              </a:r>
            </a:p>
          </p:txBody>
        </p:sp>
        <p:sp>
          <p:nvSpPr>
            <p:cNvPr id="31750" name="Line 4"/>
            <p:cNvSpPr>
              <a:spLocks noChangeShapeType="1"/>
            </p:cNvSpPr>
            <p:nvPr/>
          </p:nvSpPr>
          <p:spPr bwMode="auto">
            <a:xfrm flipH="1">
              <a:off x="1631" y="2677"/>
              <a:ext cx="750"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1751" name="Line 5"/>
            <p:cNvSpPr>
              <a:spLocks noChangeShapeType="1"/>
            </p:cNvSpPr>
            <p:nvPr/>
          </p:nvSpPr>
          <p:spPr bwMode="auto">
            <a:xfrm>
              <a:off x="2756" y="2677"/>
              <a:ext cx="712"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1752" name="Rectangle 7"/>
            <p:cNvSpPr>
              <a:spLocks noChangeArrowheads="1"/>
            </p:cNvSpPr>
            <p:nvPr/>
          </p:nvSpPr>
          <p:spPr bwMode="auto">
            <a:xfrm>
              <a:off x="1392" y="3024"/>
              <a:ext cx="375" cy="293"/>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2AB</a:t>
              </a:r>
            </a:p>
          </p:txBody>
        </p:sp>
        <p:sp>
          <p:nvSpPr>
            <p:cNvPr id="31753" name="Rectangle 8"/>
            <p:cNvSpPr>
              <a:spLocks noChangeArrowheads="1"/>
            </p:cNvSpPr>
            <p:nvPr/>
          </p:nvSpPr>
          <p:spPr bwMode="auto">
            <a:xfrm>
              <a:off x="768" y="3888"/>
              <a:ext cx="443" cy="23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31754" name="Line 9"/>
            <p:cNvSpPr>
              <a:spLocks noChangeShapeType="1"/>
            </p:cNvSpPr>
            <p:nvPr/>
          </p:nvSpPr>
          <p:spPr bwMode="auto">
            <a:xfrm flipH="1">
              <a:off x="1056" y="3312"/>
              <a:ext cx="354" cy="548"/>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1755" name="Rectangle 18"/>
            <p:cNvSpPr>
              <a:spLocks noChangeArrowheads="1"/>
            </p:cNvSpPr>
            <p:nvPr/>
          </p:nvSpPr>
          <p:spPr bwMode="auto">
            <a:xfrm>
              <a:off x="1338" y="3895"/>
              <a:ext cx="375" cy="23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1AB</a:t>
              </a:r>
            </a:p>
          </p:txBody>
        </p:sp>
        <p:sp>
          <p:nvSpPr>
            <p:cNvPr id="31756" name="Line 19"/>
            <p:cNvSpPr>
              <a:spLocks noChangeShapeType="1"/>
            </p:cNvSpPr>
            <p:nvPr/>
          </p:nvSpPr>
          <p:spPr bwMode="auto">
            <a:xfrm flipH="1">
              <a:off x="1526" y="3312"/>
              <a:ext cx="10" cy="594"/>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1757" name="Rectangle 23"/>
            <p:cNvSpPr>
              <a:spLocks noChangeArrowheads="1"/>
            </p:cNvSpPr>
            <p:nvPr/>
          </p:nvSpPr>
          <p:spPr bwMode="auto">
            <a:xfrm>
              <a:off x="1872" y="388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1CB</a:t>
              </a:r>
            </a:p>
          </p:txBody>
        </p:sp>
        <p:sp>
          <p:nvSpPr>
            <p:cNvPr id="31758" name="Line 24"/>
            <p:cNvSpPr>
              <a:spLocks noChangeShapeType="1"/>
            </p:cNvSpPr>
            <p:nvPr/>
          </p:nvSpPr>
          <p:spPr bwMode="auto">
            <a:xfrm>
              <a:off x="1722" y="3319"/>
              <a:ext cx="337" cy="580"/>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1759" name="Rectangle 25"/>
            <p:cNvSpPr>
              <a:spLocks noChangeArrowheads="1"/>
            </p:cNvSpPr>
            <p:nvPr/>
          </p:nvSpPr>
          <p:spPr bwMode="auto">
            <a:xfrm>
              <a:off x="2352" y="3024"/>
              <a:ext cx="384" cy="245"/>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31760" name="Line 26"/>
            <p:cNvSpPr>
              <a:spLocks noChangeShapeType="1"/>
            </p:cNvSpPr>
            <p:nvPr/>
          </p:nvSpPr>
          <p:spPr bwMode="auto">
            <a:xfrm>
              <a:off x="2544" y="2688"/>
              <a:ext cx="1" cy="336"/>
            </a:xfrm>
            <a:prstGeom prst="line">
              <a:avLst/>
            </a:prstGeom>
            <a:noFill/>
            <a:ln w="12700" cap="sq">
              <a:solidFill>
                <a:schemeClr val="tx1"/>
              </a:solidFill>
              <a:round/>
              <a:headEnd type="none" w="sm" len="sm"/>
              <a:tailEnd type="none" w="sm" len="sm"/>
            </a:ln>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a:xfrm>
            <a:off x="685800" y="381000"/>
            <a:ext cx="8229600" cy="609600"/>
          </a:xfrm>
        </p:spPr>
        <p:txBody>
          <a:bodyPr>
            <a:normAutofit fontScale="90000"/>
          </a:bodyPr>
          <a:lstStyle/>
          <a:p>
            <a:pPr algn="ctr">
              <a:defRPr/>
            </a:pPr>
            <a:r>
              <a:rPr lang="en-US" altLang="he-IL" sz="4400" dirty="0">
                <a:effectLst>
                  <a:outerShdw blurRad="38100" dist="38100" dir="2700000" algn="tl">
                    <a:srgbClr val="C0C0C0"/>
                  </a:outerShdw>
                </a:effectLst>
              </a:rPr>
              <a:t>Problem Reduction Space</a:t>
            </a:r>
            <a:endParaRPr lang="en-US" altLang="en-US" sz="4400" dirty="0"/>
          </a:p>
        </p:txBody>
      </p:sp>
      <p:grpSp>
        <p:nvGrpSpPr>
          <p:cNvPr id="2" name="Group 32"/>
          <p:cNvGrpSpPr>
            <a:grpSpLocks/>
          </p:cNvGrpSpPr>
          <p:nvPr/>
        </p:nvGrpSpPr>
        <p:grpSpPr bwMode="auto">
          <a:xfrm>
            <a:off x="1219200" y="3886200"/>
            <a:ext cx="4710113" cy="2673350"/>
            <a:chOff x="768" y="2448"/>
            <a:chExt cx="2967" cy="1684"/>
          </a:xfrm>
        </p:grpSpPr>
        <p:sp>
          <p:nvSpPr>
            <p:cNvPr id="32784" name="Rectangle 3"/>
            <p:cNvSpPr>
              <a:spLocks noChangeArrowheads="1"/>
            </p:cNvSpPr>
            <p:nvPr/>
          </p:nvSpPr>
          <p:spPr bwMode="auto">
            <a:xfrm>
              <a:off x="2381" y="244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3AC</a:t>
              </a:r>
            </a:p>
          </p:txBody>
        </p:sp>
        <p:sp>
          <p:nvSpPr>
            <p:cNvPr id="32785" name="Line 4"/>
            <p:cNvSpPr>
              <a:spLocks noChangeShapeType="1"/>
            </p:cNvSpPr>
            <p:nvPr/>
          </p:nvSpPr>
          <p:spPr bwMode="auto">
            <a:xfrm flipH="1">
              <a:off x="1631" y="2677"/>
              <a:ext cx="750"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2786" name="Rectangle 7"/>
            <p:cNvSpPr>
              <a:spLocks noChangeArrowheads="1"/>
            </p:cNvSpPr>
            <p:nvPr/>
          </p:nvSpPr>
          <p:spPr bwMode="auto">
            <a:xfrm>
              <a:off x="1392" y="3024"/>
              <a:ext cx="375" cy="293"/>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2AB</a:t>
              </a:r>
            </a:p>
          </p:txBody>
        </p:sp>
        <p:sp>
          <p:nvSpPr>
            <p:cNvPr id="32787" name="Rectangle 8"/>
            <p:cNvSpPr>
              <a:spLocks noChangeArrowheads="1"/>
            </p:cNvSpPr>
            <p:nvPr/>
          </p:nvSpPr>
          <p:spPr bwMode="auto">
            <a:xfrm>
              <a:off x="768" y="3888"/>
              <a:ext cx="443" cy="23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32788" name="Line 9"/>
            <p:cNvSpPr>
              <a:spLocks noChangeShapeType="1"/>
            </p:cNvSpPr>
            <p:nvPr/>
          </p:nvSpPr>
          <p:spPr bwMode="auto">
            <a:xfrm flipH="1">
              <a:off x="1056" y="3312"/>
              <a:ext cx="354" cy="548"/>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2789" name="Rectangle 18"/>
            <p:cNvSpPr>
              <a:spLocks noChangeArrowheads="1"/>
            </p:cNvSpPr>
            <p:nvPr/>
          </p:nvSpPr>
          <p:spPr bwMode="auto">
            <a:xfrm>
              <a:off x="1338" y="3895"/>
              <a:ext cx="375" cy="23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1AB</a:t>
              </a:r>
            </a:p>
          </p:txBody>
        </p:sp>
        <p:sp>
          <p:nvSpPr>
            <p:cNvPr id="32790" name="Line 19"/>
            <p:cNvSpPr>
              <a:spLocks noChangeShapeType="1"/>
            </p:cNvSpPr>
            <p:nvPr/>
          </p:nvSpPr>
          <p:spPr bwMode="auto">
            <a:xfrm flipH="1">
              <a:off x="1526" y="3312"/>
              <a:ext cx="10" cy="594"/>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2791" name="Rectangle 23"/>
            <p:cNvSpPr>
              <a:spLocks noChangeArrowheads="1"/>
            </p:cNvSpPr>
            <p:nvPr/>
          </p:nvSpPr>
          <p:spPr bwMode="auto">
            <a:xfrm>
              <a:off x="1872" y="388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1CB</a:t>
              </a:r>
            </a:p>
          </p:txBody>
        </p:sp>
        <p:sp>
          <p:nvSpPr>
            <p:cNvPr id="32792" name="Line 24"/>
            <p:cNvSpPr>
              <a:spLocks noChangeShapeType="1"/>
            </p:cNvSpPr>
            <p:nvPr/>
          </p:nvSpPr>
          <p:spPr bwMode="auto">
            <a:xfrm>
              <a:off x="1722" y="3319"/>
              <a:ext cx="337" cy="580"/>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2793" name="Rectangle 25"/>
            <p:cNvSpPr>
              <a:spLocks noChangeArrowheads="1"/>
            </p:cNvSpPr>
            <p:nvPr/>
          </p:nvSpPr>
          <p:spPr bwMode="auto">
            <a:xfrm>
              <a:off x="2352" y="3024"/>
              <a:ext cx="384" cy="245"/>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32794" name="Line 26"/>
            <p:cNvSpPr>
              <a:spLocks noChangeShapeType="1"/>
            </p:cNvSpPr>
            <p:nvPr/>
          </p:nvSpPr>
          <p:spPr bwMode="auto">
            <a:xfrm>
              <a:off x="2544" y="2688"/>
              <a:ext cx="1"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2795" name="Rectangle 27"/>
            <p:cNvSpPr>
              <a:spLocks noChangeArrowheads="1"/>
            </p:cNvSpPr>
            <p:nvPr/>
          </p:nvSpPr>
          <p:spPr bwMode="auto">
            <a:xfrm>
              <a:off x="3360" y="3024"/>
              <a:ext cx="375" cy="245"/>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2BC</a:t>
              </a:r>
            </a:p>
          </p:txBody>
        </p:sp>
        <p:sp>
          <p:nvSpPr>
            <p:cNvPr id="32796" name="Line 28"/>
            <p:cNvSpPr>
              <a:spLocks noChangeShapeType="1"/>
            </p:cNvSpPr>
            <p:nvPr/>
          </p:nvSpPr>
          <p:spPr bwMode="auto">
            <a:xfrm>
              <a:off x="2784" y="2688"/>
              <a:ext cx="712"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2797" name="Rectangle 29"/>
            <p:cNvSpPr>
              <a:spLocks noChangeArrowheads="1"/>
            </p:cNvSpPr>
            <p:nvPr/>
          </p:nvSpPr>
          <p:spPr bwMode="auto">
            <a:xfrm>
              <a:off x="2932" y="3881"/>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1BA</a:t>
              </a:r>
            </a:p>
          </p:txBody>
        </p:sp>
        <p:sp>
          <p:nvSpPr>
            <p:cNvPr id="32798" name="Line 30"/>
            <p:cNvSpPr>
              <a:spLocks noChangeShapeType="1"/>
            </p:cNvSpPr>
            <p:nvPr/>
          </p:nvSpPr>
          <p:spPr bwMode="auto">
            <a:xfrm flipH="1">
              <a:off x="3120" y="3264"/>
              <a:ext cx="336" cy="628"/>
            </a:xfrm>
            <a:prstGeom prst="line">
              <a:avLst/>
            </a:prstGeom>
            <a:noFill/>
            <a:ln w="12700" cap="sq">
              <a:solidFill>
                <a:schemeClr val="tx1"/>
              </a:solidFill>
              <a:round/>
              <a:headEnd type="none" w="sm" len="sm"/>
              <a:tailEnd type="none" w="sm" len="sm"/>
            </a:ln>
          </p:spPr>
          <p:txBody>
            <a:bodyPr wrap="none" anchor="ctr"/>
            <a:lstStyle/>
            <a:p>
              <a:endParaRPr lang="en-US"/>
            </a:p>
          </p:txBody>
        </p:sp>
      </p:grpSp>
      <p:grpSp>
        <p:nvGrpSpPr>
          <p:cNvPr id="3" name="Group 34"/>
          <p:cNvGrpSpPr>
            <a:grpSpLocks/>
          </p:cNvGrpSpPr>
          <p:nvPr/>
        </p:nvGrpSpPr>
        <p:grpSpPr bwMode="auto">
          <a:xfrm>
            <a:off x="428625" y="1447800"/>
            <a:ext cx="7877175" cy="2066925"/>
            <a:chOff x="270" y="912"/>
            <a:chExt cx="4962" cy="1302"/>
          </a:xfrm>
        </p:grpSpPr>
        <p:sp>
          <p:nvSpPr>
            <p:cNvPr id="32773" name="AutoShape 10"/>
            <p:cNvSpPr>
              <a:spLocks noChangeArrowheads="1"/>
            </p:cNvSpPr>
            <p:nvPr/>
          </p:nvSpPr>
          <p:spPr bwMode="auto">
            <a:xfrm>
              <a:off x="270" y="1919"/>
              <a:ext cx="4962" cy="295"/>
            </a:xfrm>
            <a:prstGeom prst="cube">
              <a:avLst>
                <a:gd name="adj" fmla="val 25000"/>
              </a:avLst>
            </a:prstGeom>
            <a:gradFill rotWithShape="0">
              <a:gsLst>
                <a:gs pos="0">
                  <a:srgbClr val="CCFFCC"/>
                </a:gs>
                <a:gs pos="100000">
                  <a:srgbClr val="88AA88"/>
                </a:gs>
              </a:gsLst>
              <a:lin ang="5400000" scaled="1"/>
            </a:gradFill>
            <a:ln w="9525">
              <a:solidFill>
                <a:srgbClr val="99CC00"/>
              </a:solidFill>
              <a:miter lim="800000"/>
              <a:headEnd/>
              <a:tailEnd/>
            </a:ln>
          </p:spPr>
          <p:txBody>
            <a:bodyPr anchor="ctr">
              <a:spAutoFit/>
            </a:bodyPr>
            <a:lstStyle/>
            <a:p>
              <a:pPr rtl="1">
                <a:lnSpc>
                  <a:spcPct val="100000"/>
                </a:lnSpc>
                <a:spcAft>
                  <a:spcPct val="0"/>
                </a:spcAft>
              </a:pPr>
              <a:endParaRPr kumimoji="0" lang="en-US" altLang="en-US"/>
            </a:p>
          </p:txBody>
        </p:sp>
        <p:sp>
          <p:nvSpPr>
            <p:cNvPr id="32774" name="Text Box 11"/>
            <p:cNvSpPr txBox="1">
              <a:spLocks noChangeArrowheads="1"/>
            </p:cNvSpPr>
            <p:nvPr/>
          </p:nvSpPr>
          <p:spPr bwMode="auto">
            <a:xfrm>
              <a:off x="412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C</a:t>
              </a:r>
            </a:p>
          </p:txBody>
        </p:sp>
        <p:sp>
          <p:nvSpPr>
            <p:cNvPr id="32775" name="Text Box 12"/>
            <p:cNvSpPr txBox="1">
              <a:spLocks noChangeArrowheads="1"/>
            </p:cNvSpPr>
            <p:nvPr/>
          </p:nvSpPr>
          <p:spPr bwMode="auto">
            <a:xfrm>
              <a:off x="100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A</a:t>
              </a:r>
            </a:p>
          </p:txBody>
        </p:sp>
        <p:sp>
          <p:nvSpPr>
            <p:cNvPr id="32776" name="AutoShape 13"/>
            <p:cNvSpPr>
              <a:spLocks noChangeArrowheads="1"/>
            </p:cNvSpPr>
            <p:nvPr/>
          </p:nvSpPr>
          <p:spPr bwMode="auto">
            <a:xfrm>
              <a:off x="2592" y="912"/>
              <a:ext cx="384" cy="1104"/>
            </a:xfrm>
            <a:prstGeom prst="can">
              <a:avLst>
                <a:gd name="adj" fmla="val 71875"/>
              </a:avLst>
            </a:prstGeom>
            <a:noFill/>
            <a:ln w="9525">
              <a:noFill/>
              <a:round/>
              <a:headEnd/>
              <a:tailEnd/>
            </a:ln>
          </p:spPr>
          <p:txBody>
            <a:bodyPr wrap="none" anchor="ctr">
              <a:spAutoFit/>
            </a:bodyPr>
            <a:lstStyle/>
            <a:p>
              <a:endParaRPr lang="en-US"/>
            </a:p>
          </p:txBody>
        </p:sp>
        <p:sp>
          <p:nvSpPr>
            <p:cNvPr id="295950" name="AutoShape 14"/>
            <p:cNvSpPr>
              <a:spLocks noChangeArrowheads="1"/>
            </p:cNvSpPr>
            <p:nvPr/>
          </p:nvSpPr>
          <p:spPr bwMode="auto">
            <a:xfrm>
              <a:off x="3456" y="1728"/>
              <a:ext cx="1488"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5952" name="AutoShape 16"/>
            <p:cNvSpPr>
              <a:spLocks noChangeArrowheads="1"/>
            </p:cNvSpPr>
            <p:nvPr/>
          </p:nvSpPr>
          <p:spPr bwMode="auto">
            <a:xfrm>
              <a:off x="4080" y="912"/>
              <a:ext cx="288" cy="864"/>
            </a:xfrm>
            <a:prstGeom prst="can">
              <a:avLst>
                <a:gd name="adj" fmla="val 32097"/>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32779" name="Text Box 17"/>
            <p:cNvSpPr txBox="1">
              <a:spLocks noChangeArrowheads="1"/>
            </p:cNvSpPr>
            <p:nvPr/>
          </p:nvSpPr>
          <p:spPr bwMode="auto">
            <a:xfrm>
              <a:off x="2592" y="1968"/>
              <a:ext cx="240"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B</a:t>
              </a:r>
            </a:p>
          </p:txBody>
        </p:sp>
        <p:sp>
          <p:nvSpPr>
            <p:cNvPr id="295956" name="AutoShape 20"/>
            <p:cNvSpPr>
              <a:spLocks noChangeArrowheads="1"/>
            </p:cNvSpPr>
            <p:nvPr/>
          </p:nvSpPr>
          <p:spPr bwMode="auto">
            <a:xfrm>
              <a:off x="2208" y="1728"/>
              <a:ext cx="96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5957" name="AutoShape 21"/>
            <p:cNvSpPr>
              <a:spLocks noChangeArrowheads="1"/>
            </p:cNvSpPr>
            <p:nvPr/>
          </p:nvSpPr>
          <p:spPr bwMode="auto">
            <a:xfrm>
              <a:off x="1056" y="1728"/>
              <a:ext cx="48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5958" name="AutoShape 22"/>
            <p:cNvSpPr>
              <a:spLocks noChangeArrowheads="1"/>
            </p:cNvSpPr>
            <p:nvPr/>
          </p:nvSpPr>
          <p:spPr bwMode="auto">
            <a:xfrm>
              <a:off x="2544" y="912"/>
              <a:ext cx="288" cy="864"/>
            </a:xfrm>
            <a:prstGeom prst="can">
              <a:avLst>
                <a:gd name="adj" fmla="val 32097"/>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5951" name="AutoShape 15"/>
            <p:cNvSpPr>
              <a:spLocks noChangeArrowheads="1"/>
            </p:cNvSpPr>
            <p:nvPr/>
          </p:nvSpPr>
          <p:spPr bwMode="auto">
            <a:xfrm>
              <a:off x="1152" y="912"/>
              <a:ext cx="288" cy="864"/>
            </a:xfrm>
            <a:prstGeom prst="can">
              <a:avLst>
                <a:gd name="adj" fmla="val 32097"/>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1026"/>
          <p:cNvSpPr>
            <a:spLocks noGrp="1" noChangeArrowheads="1"/>
          </p:cNvSpPr>
          <p:nvPr>
            <p:ph type="title"/>
          </p:nvPr>
        </p:nvSpPr>
        <p:spPr>
          <a:xfrm>
            <a:off x="685800" y="381000"/>
            <a:ext cx="8229600" cy="609600"/>
          </a:xfrm>
        </p:spPr>
        <p:txBody>
          <a:bodyPr>
            <a:normAutofit fontScale="90000"/>
          </a:bodyPr>
          <a:lstStyle/>
          <a:p>
            <a:pPr algn="ctr">
              <a:defRPr/>
            </a:pPr>
            <a:r>
              <a:rPr lang="en-US" altLang="he-IL" sz="4400" dirty="0">
                <a:effectLst>
                  <a:outerShdw blurRad="38100" dist="38100" dir="2700000" algn="tl">
                    <a:srgbClr val="C0C0C0"/>
                  </a:outerShdw>
                </a:effectLst>
              </a:rPr>
              <a:t>Problem Reduction Space</a:t>
            </a:r>
            <a:endParaRPr lang="en-US" altLang="en-US" sz="4400" dirty="0"/>
          </a:p>
        </p:txBody>
      </p:sp>
      <p:grpSp>
        <p:nvGrpSpPr>
          <p:cNvPr id="2" name="Group 1060"/>
          <p:cNvGrpSpPr>
            <a:grpSpLocks/>
          </p:cNvGrpSpPr>
          <p:nvPr/>
        </p:nvGrpSpPr>
        <p:grpSpPr bwMode="auto">
          <a:xfrm>
            <a:off x="1219200" y="3886200"/>
            <a:ext cx="4776788" cy="2673350"/>
            <a:chOff x="768" y="2448"/>
            <a:chExt cx="3009" cy="1684"/>
          </a:xfrm>
        </p:grpSpPr>
        <p:sp>
          <p:nvSpPr>
            <p:cNvPr id="33808" name="Rectangle 1027"/>
            <p:cNvSpPr>
              <a:spLocks noChangeArrowheads="1"/>
            </p:cNvSpPr>
            <p:nvPr/>
          </p:nvSpPr>
          <p:spPr bwMode="auto">
            <a:xfrm>
              <a:off x="2381" y="244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3AC</a:t>
              </a:r>
            </a:p>
          </p:txBody>
        </p:sp>
        <p:sp>
          <p:nvSpPr>
            <p:cNvPr id="33809" name="Line 1028"/>
            <p:cNvSpPr>
              <a:spLocks noChangeShapeType="1"/>
            </p:cNvSpPr>
            <p:nvPr/>
          </p:nvSpPr>
          <p:spPr bwMode="auto">
            <a:xfrm flipH="1">
              <a:off x="1631" y="2677"/>
              <a:ext cx="750"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3810" name="Rectangle 1030"/>
            <p:cNvSpPr>
              <a:spLocks noChangeArrowheads="1"/>
            </p:cNvSpPr>
            <p:nvPr/>
          </p:nvSpPr>
          <p:spPr bwMode="auto">
            <a:xfrm>
              <a:off x="1392" y="3024"/>
              <a:ext cx="375" cy="293"/>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2AB</a:t>
              </a:r>
            </a:p>
          </p:txBody>
        </p:sp>
        <p:sp>
          <p:nvSpPr>
            <p:cNvPr id="33811" name="Rectangle 1031"/>
            <p:cNvSpPr>
              <a:spLocks noChangeArrowheads="1"/>
            </p:cNvSpPr>
            <p:nvPr/>
          </p:nvSpPr>
          <p:spPr bwMode="auto">
            <a:xfrm>
              <a:off x="768" y="3888"/>
              <a:ext cx="443" cy="23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33812" name="Line 1032"/>
            <p:cNvSpPr>
              <a:spLocks noChangeShapeType="1"/>
            </p:cNvSpPr>
            <p:nvPr/>
          </p:nvSpPr>
          <p:spPr bwMode="auto">
            <a:xfrm flipH="1">
              <a:off x="1008" y="3312"/>
              <a:ext cx="402" cy="57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3813" name="Rectangle 1040"/>
            <p:cNvSpPr>
              <a:spLocks noChangeArrowheads="1"/>
            </p:cNvSpPr>
            <p:nvPr/>
          </p:nvSpPr>
          <p:spPr bwMode="auto">
            <a:xfrm>
              <a:off x="1338" y="3895"/>
              <a:ext cx="375" cy="23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1AB</a:t>
              </a:r>
            </a:p>
          </p:txBody>
        </p:sp>
        <p:sp>
          <p:nvSpPr>
            <p:cNvPr id="33814" name="Line 1041"/>
            <p:cNvSpPr>
              <a:spLocks noChangeShapeType="1"/>
            </p:cNvSpPr>
            <p:nvPr/>
          </p:nvSpPr>
          <p:spPr bwMode="auto">
            <a:xfrm flipH="1">
              <a:off x="1536" y="3312"/>
              <a:ext cx="0" cy="57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3815" name="Rectangle 1045"/>
            <p:cNvSpPr>
              <a:spLocks noChangeArrowheads="1"/>
            </p:cNvSpPr>
            <p:nvPr/>
          </p:nvSpPr>
          <p:spPr bwMode="auto">
            <a:xfrm>
              <a:off x="1872" y="388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1CB</a:t>
              </a:r>
            </a:p>
          </p:txBody>
        </p:sp>
        <p:sp>
          <p:nvSpPr>
            <p:cNvPr id="33816" name="Line 1046"/>
            <p:cNvSpPr>
              <a:spLocks noChangeShapeType="1"/>
            </p:cNvSpPr>
            <p:nvPr/>
          </p:nvSpPr>
          <p:spPr bwMode="auto">
            <a:xfrm>
              <a:off x="1680" y="3312"/>
              <a:ext cx="379" cy="587"/>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3817" name="Rectangle 1047"/>
            <p:cNvSpPr>
              <a:spLocks noChangeArrowheads="1"/>
            </p:cNvSpPr>
            <p:nvPr/>
          </p:nvSpPr>
          <p:spPr bwMode="auto">
            <a:xfrm>
              <a:off x="2352" y="3024"/>
              <a:ext cx="384" cy="245"/>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33818" name="Line 1048"/>
            <p:cNvSpPr>
              <a:spLocks noChangeShapeType="1"/>
            </p:cNvSpPr>
            <p:nvPr/>
          </p:nvSpPr>
          <p:spPr bwMode="auto">
            <a:xfrm>
              <a:off x="2544" y="2688"/>
              <a:ext cx="1"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3819" name="Rectangle 1049"/>
            <p:cNvSpPr>
              <a:spLocks noChangeArrowheads="1"/>
            </p:cNvSpPr>
            <p:nvPr/>
          </p:nvSpPr>
          <p:spPr bwMode="auto">
            <a:xfrm>
              <a:off x="3360" y="3024"/>
              <a:ext cx="375" cy="245"/>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2BC</a:t>
              </a:r>
            </a:p>
          </p:txBody>
        </p:sp>
        <p:sp>
          <p:nvSpPr>
            <p:cNvPr id="33820" name="Line 1050"/>
            <p:cNvSpPr>
              <a:spLocks noChangeShapeType="1"/>
            </p:cNvSpPr>
            <p:nvPr/>
          </p:nvSpPr>
          <p:spPr bwMode="auto">
            <a:xfrm>
              <a:off x="2784" y="2688"/>
              <a:ext cx="712"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3821" name="Rectangle 1051"/>
            <p:cNvSpPr>
              <a:spLocks noChangeArrowheads="1"/>
            </p:cNvSpPr>
            <p:nvPr/>
          </p:nvSpPr>
          <p:spPr bwMode="auto">
            <a:xfrm>
              <a:off x="2928" y="3840"/>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1BA</a:t>
              </a:r>
            </a:p>
          </p:txBody>
        </p:sp>
        <p:sp>
          <p:nvSpPr>
            <p:cNvPr id="33822" name="Line 1052"/>
            <p:cNvSpPr>
              <a:spLocks noChangeShapeType="1"/>
            </p:cNvSpPr>
            <p:nvPr/>
          </p:nvSpPr>
          <p:spPr bwMode="auto">
            <a:xfrm flipH="1">
              <a:off x="3120" y="3264"/>
              <a:ext cx="288" cy="57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3823" name="Rectangle 1054"/>
            <p:cNvSpPr>
              <a:spLocks noChangeArrowheads="1"/>
            </p:cNvSpPr>
            <p:nvPr/>
          </p:nvSpPr>
          <p:spPr bwMode="auto">
            <a:xfrm>
              <a:off x="3402" y="3833"/>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1BC</a:t>
              </a:r>
            </a:p>
          </p:txBody>
        </p:sp>
        <p:sp>
          <p:nvSpPr>
            <p:cNvPr id="33824" name="Line 1055"/>
            <p:cNvSpPr>
              <a:spLocks noChangeShapeType="1"/>
            </p:cNvSpPr>
            <p:nvPr/>
          </p:nvSpPr>
          <p:spPr bwMode="auto">
            <a:xfrm>
              <a:off x="3552" y="3264"/>
              <a:ext cx="0" cy="576"/>
            </a:xfrm>
            <a:prstGeom prst="line">
              <a:avLst/>
            </a:prstGeom>
            <a:noFill/>
            <a:ln w="12700" cap="sq">
              <a:solidFill>
                <a:schemeClr val="tx1"/>
              </a:solidFill>
              <a:round/>
              <a:headEnd type="none" w="sm" len="sm"/>
              <a:tailEnd type="none" w="sm" len="sm"/>
            </a:ln>
          </p:spPr>
          <p:txBody>
            <a:bodyPr wrap="none" anchor="ctr"/>
            <a:lstStyle/>
            <a:p>
              <a:endParaRPr lang="en-US"/>
            </a:p>
          </p:txBody>
        </p:sp>
      </p:grpSp>
      <p:grpSp>
        <p:nvGrpSpPr>
          <p:cNvPr id="3" name="Group 1062"/>
          <p:cNvGrpSpPr>
            <a:grpSpLocks/>
          </p:cNvGrpSpPr>
          <p:nvPr/>
        </p:nvGrpSpPr>
        <p:grpSpPr bwMode="auto">
          <a:xfrm>
            <a:off x="457200" y="1447800"/>
            <a:ext cx="7877175" cy="2066925"/>
            <a:chOff x="288" y="912"/>
            <a:chExt cx="4962" cy="1302"/>
          </a:xfrm>
        </p:grpSpPr>
        <p:sp>
          <p:nvSpPr>
            <p:cNvPr id="33797" name="AutoShape 1033"/>
            <p:cNvSpPr>
              <a:spLocks noChangeArrowheads="1"/>
            </p:cNvSpPr>
            <p:nvPr/>
          </p:nvSpPr>
          <p:spPr bwMode="auto">
            <a:xfrm>
              <a:off x="288" y="1919"/>
              <a:ext cx="4962" cy="295"/>
            </a:xfrm>
            <a:prstGeom prst="cube">
              <a:avLst>
                <a:gd name="adj" fmla="val 25000"/>
              </a:avLst>
            </a:prstGeom>
            <a:gradFill rotWithShape="0">
              <a:gsLst>
                <a:gs pos="0">
                  <a:srgbClr val="CCFFCC"/>
                </a:gs>
                <a:gs pos="100000">
                  <a:srgbClr val="8EB28E"/>
                </a:gs>
              </a:gsLst>
              <a:lin ang="5400000" scaled="1"/>
            </a:gradFill>
            <a:ln w="9525">
              <a:solidFill>
                <a:srgbClr val="99CC00"/>
              </a:solidFill>
              <a:miter lim="800000"/>
              <a:headEnd/>
              <a:tailEnd/>
            </a:ln>
          </p:spPr>
          <p:txBody>
            <a:bodyPr anchor="ctr">
              <a:spAutoFit/>
            </a:bodyPr>
            <a:lstStyle/>
            <a:p>
              <a:pPr rtl="1">
                <a:lnSpc>
                  <a:spcPct val="100000"/>
                </a:lnSpc>
                <a:spcAft>
                  <a:spcPct val="0"/>
                </a:spcAft>
              </a:pPr>
              <a:endParaRPr kumimoji="0" lang="en-US" altLang="en-US"/>
            </a:p>
          </p:txBody>
        </p:sp>
        <p:sp>
          <p:nvSpPr>
            <p:cNvPr id="33798" name="Text Box 1034"/>
            <p:cNvSpPr txBox="1">
              <a:spLocks noChangeArrowheads="1"/>
            </p:cNvSpPr>
            <p:nvPr/>
          </p:nvSpPr>
          <p:spPr bwMode="auto">
            <a:xfrm>
              <a:off x="4146"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C</a:t>
              </a:r>
            </a:p>
          </p:txBody>
        </p:sp>
        <p:sp>
          <p:nvSpPr>
            <p:cNvPr id="33799" name="Text Box 1035"/>
            <p:cNvSpPr txBox="1">
              <a:spLocks noChangeArrowheads="1"/>
            </p:cNvSpPr>
            <p:nvPr/>
          </p:nvSpPr>
          <p:spPr bwMode="auto">
            <a:xfrm>
              <a:off x="1104"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A</a:t>
              </a:r>
            </a:p>
          </p:txBody>
        </p:sp>
        <p:sp>
          <p:nvSpPr>
            <p:cNvPr id="33800" name="AutoShape 1036"/>
            <p:cNvSpPr>
              <a:spLocks noChangeArrowheads="1"/>
            </p:cNvSpPr>
            <p:nvPr/>
          </p:nvSpPr>
          <p:spPr bwMode="auto">
            <a:xfrm>
              <a:off x="2610" y="912"/>
              <a:ext cx="384" cy="1104"/>
            </a:xfrm>
            <a:prstGeom prst="can">
              <a:avLst>
                <a:gd name="adj" fmla="val 71875"/>
              </a:avLst>
            </a:prstGeom>
            <a:noFill/>
            <a:ln w="9525">
              <a:noFill/>
              <a:round/>
              <a:headEnd/>
              <a:tailEnd/>
            </a:ln>
          </p:spPr>
          <p:txBody>
            <a:bodyPr wrap="none" anchor="ctr">
              <a:spAutoFit/>
            </a:bodyPr>
            <a:lstStyle/>
            <a:p>
              <a:endParaRPr lang="en-US"/>
            </a:p>
          </p:txBody>
        </p:sp>
        <p:sp>
          <p:nvSpPr>
            <p:cNvPr id="296973" name="AutoShape 1037"/>
            <p:cNvSpPr>
              <a:spLocks noChangeArrowheads="1"/>
            </p:cNvSpPr>
            <p:nvPr/>
          </p:nvSpPr>
          <p:spPr bwMode="auto">
            <a:xfrm>
              <a:off x="3474" y="1728"/>
              <a:ext cx="1488"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33802" name="Text Box 1039"/>
            <p:cNvSpPr txBox="1">
              <a:spLocks noChangeArrowheads="1"/>
            </p:cNvSpPr>
            <p:nvPr/>
          </p:nvSpPr>
          <p:spPr bwMode="auto">
            <a:xfrm>
              <a:off x="2610" y="1968"/>
              <a:ext cx="240"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B</a:t>
              </a:r>
            </a:p>
          </p:txBody>
        </p:sp>
        <p:sp>
          <p:nvSpPr>
            <p:cNvPr id="296978" name="AutoShape 1042"/>
            <p:cNvSpPr>
              <a:spLocks noChangeArrowheads="1"/>
            </p:cNvSpPr>
            <p:nvPr/>
          </p:nvSpPr>
          <p:spPr bwMode="auto">
            <a:xfrm>
              <a:off x="3762" y="1536"/>
              <a:ext cx="96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6979" name="AutoShape 1043"/>
            <p:cNvSpPr>
              <a:spLocks noChangeArrowheads="1"/>
            </p:cNvSpPr>
            <p:nvPr/>
          </p:nvSpPr>
          <p:spPr bwMode="auto">
            <a:xfrm>
              <a:off x="1074" y="1728"/>
              <a:ext cx="48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6980" name="AutoShape 1044"/>
            <p:cNvSpPr>
              <a:spLocks noChangeArrowheads="1"/>
            </p:cNvSpPr>
            <p:nvPr/>
          </p:nvSpPr>
          <p:spPr bwMode="auto">
            <a:xfrm>
              <a:off x="2562" y="912"/>
              <a:ext cx="288" cy="1056"/>
            </a:xfrm>
            <a:prstGeom prst="can">
              <a:avLst>
                <a:gd name="adj" fmla="val 39230"/>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6989" name="AutoShape 1053"/>
            <p:cNvSpPr>
              <a:spLocks noChangeArrowheads="1"/>
            </p:cNvSpPr>
            <p:nvPr/>
          </p:nvSpPr>
          <p:spPr bwMode="auto">
            <a:xfrm>
              <a:off x="1170" y="912"/>
              <a:ext cx="288" cy="864"/>
            </a:xfrm>
            <a:prstGeom prst="can">
              <a:avLst>
                <a:gd name="adj" fmla="val 32097"/>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6974" name="AutoShape 1038"/>
            <p:cNvSpPr>
              <a:spLocks noChangeArrowheads="1"/>
            </p:cNvSpPr>
            <p:nvPr/>
          </p:nvSpPr>
          <p:spPr bwMode="auto">
            <a:xfrm>
              <a:off x="4098" y="912"/>
              <a:ext cx="288" cy="672"/>
            </a:xfrm>
            <a:prstGeom prst="can">
              <a:avLst>
                <a:gd name="adj" fmla="val 34373"/>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1026"/>
          <p:cNvSpPr>
            <a:spLocks noGrp="1" noChangeArrowheads="1"/>
          </p:cNvSpPr>
          <p:nvPr>
            <p:ph type="title"/>
          </p:nvPr>
        </p:nvSpPr>
        <p:spPr>
          <a:xfrm>
            <a:off x="685800" y="381000"/>
            <a:ext cx="8229600" cy="609600"/>
          </a:xfrm>
        </p:spPr>
        <p:txBody>
          <a:bodyPr>
            <a:normAutofit fontScale="90000"/>
          </a:bodyPr>
          <a:lstStyle/>
          <a:p>
            <a:pPr algn="ctr">
              <a:defRPr/>
            </a:pPr>
            <a:r>
              <a:rPr lang="en-US" altLang="he-IL" sz="4400" dirty="0">
                <a:effectLst>
                  <a:outerShdw blurRad="38100" dist="38100" dir="2700000" algn="tl">
                    <a:srgbClr val="C0C0C0"/>
                  </a:outerShdw>
                </a:effectLst>
              </a:rPr>
              <a:t>Problem Reduction Space</a:t>
            </a:r>
            <a:endParaRPr lang="en-US" altLang="en-US" sz="4400" dirty="0"/>
          </a:p>
        </p:txBody>
      </p:sp>
      <p:grpSp>
        <p:nvGrpSpPr>
          <p:cNvPr id="2" name="Group 1063"/>
          <p:cNvGrpSpPr>
            <a:grpSpLocks/>
          </p:cNvGrpSpPr>
          <p:nvPr/>
        </p:nvGrpSpPr>
        <p:grpSpPr bwMode="auto">
          <a:xfrm>
            <a:off x="428625" y="1447800"/>
            <a:ext cx="7877175" cy="2066925"/>
            <a:chOff x="270" y="912"/>
            <a:chExt cx="4962" cy="1302"/>
          </a:xfrm>
        </p:grpSpPr>
        <p:sp>
          <p:nvSpPr>
            <p:cNvPr id="34840" name="AutoShape 1033"/>
            <p:cNvSpPr>
              <a:spLocks noChangeArrowheads="1"/>
            </p:cNvSpPr>
            <p:nvPr/>
          </p:nvSpPr>
          <p:spPr bwMode="auto">
            <a:xfrm>
              <a:off x="270" y="1919"/>
              <a:ext cx="4962" cy="295"/>
            </a:xfrm>
            <a:prstGeom prst="cube">
              <a:avLst>
                <a:gd name="adj" fmla="val 25000"/>
              </a:avLst>
            </a:prstGeom>
            <a:gradFill rotWithShape="0">
              <a:gsLst>
                <a:gs pos="0">
                  <a:srgbClr val="CCFFCC"/>
                </a:gs>
                <a:gs pos="100000">
                  <a:srgbClr val="8EB28E"/>
                </a:gs>
              </a:gsLst>
              <a:lin ang="5400000" scaled="1"/>
            </a:gradFill>
            <a:ln w="9525">
              <a:solidFill>
                <a:srgbClr val="99CC00"/>
              </a:solidFill>
              <a:miter lim="800000"/>
              <a:headEnd/>
              <a:tailEnd/>
            </a:ln>
          </p:spPr>
          <p:txBody>
            <a:bodyPr anchor="ctr">
              <a:spAutoFit/>
            </a:bodyPr>
            <a:lstStyle/>
            <a:p>
              <a:pPr rtl="1">
                <a:lnSpc>
                  <a:spcPct val="100000"/>
                </a:lnSpc>
                <a:spcAft>
                  <a:spcPct val="0"/>
                </a:spcAft>
              </a:pPr>
              <a:endParaRPr kumimoji="0" lang="en-US" altLang="en-US"/>
            </a:p>
          </p:txBody>
        </p:sp>
        <p:sp>
          <p:nvSpPr>
            <p:cNvPr id="34841" name="Text Box 1034"/>
            <p:cNvSpPr txBox="1">
              <a:spLocks noChangeArrowheads="1"/>
            </p:cNvSpPr>
            <p:nvPr/>
          </p:nvSpPr>
          <p:spPr bwMode="auto">
            <a:xfrm>
              <a:off x="4128"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C</a:t>
              </a:r>
            </a:p>
          </p:txBody>
        </p:sp>
        <p:sp>
          <p:nvSpPr>
            <p:cNvPr id="34842" name="Text Box 1035"/>
            <p:cNvSpPr txBox="1">
              <a:spLocks noChangeArrowheads="1"/>
            </p:cNvSpPr>
            <p:nvPr/>
          </p:nvSpPr>
          <p:spPr bwMode="auto">
            <a:xfrm>
              <a:off x="1104" y="1968"/>
              <a:ext cx="288"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A</a:t>
              </a:r>
            </a:p>
          </p:txBody>
        </p:sp>
        <p:sp>
          <p:nvSpPr>
            <p:cNvPr id="34843" name="AutoShape 1036"/>
            <p:cNvSpPr>
              <a:spLocks noChangeArrowheads="1"/>
            </p:cNvSpPr>
            <p:nvPr/>
          </p:nvSpPr>
          <p:spPr bwMode="auto">
            <a:xfrm>
              <a:off x="2592" y="912"/>
              <a:ext cx="384" cy="1104"/>
            </a:xfrm>
            <a:prstGeom prst="can">
              <a:avLst>
                <a:gd name="adj" fmla="val 71875"/>
              </a:avLst>
            </a:prstGeom>
            <a:noFill/>
            <a:ln w="9525">
              <a:noFill/>
              <a:round/>
              <a:headEnd/>
              <a:tailEnd/>
            </a:ln>
          </p:spPr>
          <p:txBody>
            <a:bodyPr wrap="none" anchor="ctr">
              <a:spAutoFit/>
            </a:bodyPr>
            <a:lstStyle/>
            <a:p>
              <a:endParaRPr lang="en-US"/>
            </a:p>
          </p:txBody>
        </p:sp>
        <p:sp>
          <p:nvSpPr>
            <p:cNvPr id="297997" name="AutoShape 1037"/>
            <p:cNvSpPr>
              <a:spLocks noChangeArrowheads="1"/>
            </p:cNvSpPr>
            <p:nvPr/>
          </p:nvSpPr>
          <p:spPr bwMode="auto">
            <a:xfrm>
              <a:off x="3456" y="1728"/>
              <a:ext cx="1488"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34845" name="Text Box 1039"/>
            <p:cNvSpPr txBox="1">
              <a:spLocks noChangeArrowheads="1"/>
            </p:cNvSpPr>
            <p:nvPr/>
          </p:nvSpPr>
          <p:spPr bwMode="auto">
            <a:xfrm>
              <a:off x="2592" y="1968"/>
              <a:ext cx="240" cy="231"/>
            </a:xfrm>
            <a:prstGeom prst="rect">
              <a:avLst/>
            </a:prstGeom>
            <a:noFill/>
            <a:ln w="9525">
              <a:noFill/>
              <a:miter lim="800000"/>
              <a:headEnd/>
              <a:tailEnd/>
            </a:ln>
          </p:spPr>
          <p:txBody>
            <a:bodyPr anchor="ctr">
              <a:spAutoFit/>
            </a:bodyPr>
            <a:lstStyle/>
            <a:p>
              <a:pPr rtl="1">
                <a:lnSpc>
                  <a:spcPct val="100000"/>
                </a:lnSpc>
                <a:spcAft>
                  <a:spcPct val="0"/>
                </a:spcAft>
              </a:pPr>
              <a:r>
                <a:rPr kumimoji="0" lang="en-US" altLang="he-IL"/>
                <a:t>B</a:t>
              </a:r>
            </a:p>
          </p:txBody>
        </p:sp>
        <p:sp>
          <p:nvSpPr>
            <p:cNvPr id="298002" name="AutoShape 1042"/>
            <p:cNvSpPr>
              <a:spLocks noChangeArrowheads="1"/>
            </p:cNvSpPr>
            <p:nvPr/>
          </p:nvSpPr>
          <p:spPr bwMode="auto">
            <a:xfrm>
              <a:off x="3744" y="1536"/>
              <a:ext cx="96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8003" name="AutoShape 1043"/>
            <p:cNvSpPr>
              <a:spLocks noChangeArrowheads="1"/>
            </p:cNvSpPr>
            <p:nvPr/>
          </p:nvSpPr>
          <p:spPr bwMode="auto">
            <a:xfrm>
              <a:off x="3984" y="1392"/>
              <a:ext cx="480" cy="24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2"/>
              </a:solidFill>
              <a:round/>
              <a:headEnd/>
              <a:tailEnd/>
            </a:ln>
            <a:effectLst/>
          </p:spPr>
          <p:txBody>
            <a:bodyPr anchor="ctr">
              <a:spAutoFit/>
            </a:bodyPr>
            <a:lstStyle/>
            <a:p>
              <a:pPr>
                <a:defRPr/>
              </a:pPr>
              <a:endParaRPr lang="en-US">
                <a:latin typeface="Arial" pitchFamily="34" charset="0"/>
              </a:endParaRPr>
            </a:p>
          </p:txBody>
        </p:sp>
        <p:sp>
          <p:nvSpPr>
            <p:cNvPr id="298004" name="AutoShape 1044"/>
            <p:cNvSpPr>
              <a:spLocks noChangeArrowheads="1"/>
            </p:cNvSpPr>
            <p:nvPr/>
          </p:nvSpPr>
          <p:spPr bwMode="auto">
            <a:xfrm>
              <a:off x="2544" y="912"/>
              <a:ext cx="288" cy="1056"/>
            </a:xfrm>
            <a:prstGeom prst="can">
              <a:avLst>
                <a:gd name="adj" fmla="val 39230"/>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8013" name="AutoShape 1053"/>
            <p:cNvSpPr>
              <a:spLocks noChangeArrowheads="1"/>
            </p:cNvSpPr>
            <p:nvPr/>
          </p:nvSpPr>
          <p:spPr bwMode="auto">
            <a:xfrm>
              <a:off x="1152" y="912"/>
              <a:ext cx="288" cy="1056"/>
            </a:xfrm>
            <a:prstGeom prst="can">
              <a:avLst>
                <a:gd name="adj" fmla="val 39230"/>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sp>
          <p:nvSpPr>
            <p:cNvPr id="297998" name="AutoShape 1038"/>
            <p:cNvSpPr>
              <a:spLocks noChangeArrowheads="1"/>
            </p:cNvSpPr>
            <p:nvPr/>
          </p:nvSpPr>
          <p:spPr bwMode="auto">
            <a:xfrm>
              <a:off x="4080" y="912"/>
              <a:ext cx="288" cy="528"/>
            </a:xfrm>
            <a:prstGeom prst="can">
              <a:avLst>
                <a:gd name="adj" fmla="val 37846"/>
              </a:avLst>
            </a:prstGeom>
            <a:gradFill rotWithShape="0">
              <a:gsLst>
                <a:gs pos="0">
                  <a:schemeClr val="accent2">
                    <a:gamma/>
                    <a:shade val="69804"/>
                    <a:invGamma/>
                  </a:schemeClr>
                </a:gs>
                <a:gs pos="50000">
                  <a:schemeClr val="accent2"/>
                </a:gs>
                <a:gs pos="100000">
                  <a:schemeClr val="accent2">
                    <a:gamma/>
                    <a:shade val="69804"/>
                    <a:invGamma/>
                  </a:schemeClr>
                </a:gs>
              </a:gsLst>
              <a:lin ang="0" scaled="1"/>
            </a:gradFill>
            <a:ln w="9525">
              <a:solidFill>
                <a:srgbClr val="CC99FF"/>
              </a:solidFill>
              <a:round/>
              <a:headEnd/>
              <a:tailEnd/>
            </a:ln>
            <a:effectLst/>
          </p:spPr>
          <p:txBody>
            <a:bodyPr wrap="none" anchor="ctr">
              <a:spAutoFit/>
            </a:bodyPr>
            <a:lstStyle/>
            <a:p>
              <a:pPr>
                <a:defRPr/>
              </a:pPr>
              <a:endParaRPr lang="en-US">
                <a:latin typeface="Arial" pitchFamily="34" charset="0"/>
              </a:endParaRPr>
            </a:p>
          </p:txBody>
        </p:sp>
      </p:grpSp>
      <p:grpSp>
        <p:nvGrpSpPr>
          <p:cNvPr id="3" name="Group 1061"/>
          <p:cNvGrpSpPr>
            <a:grpSpLocks/>
          </p:cNvGrpSpPr>
          <p:nvPr/>
        </p:nvGrpSpPr>
        <p:grpSpPr bwMode="auto">
          <a:xfrm>
            <a:off x="1219200" y="3886200"/>
            <a:ext cx="5472113" cy="2673350"/>
            <a:chOff x="768" y="2448"/>
            <a:chExt cx="3447" cy="1684"/>
          </a:xfrm>
        </p:grpSpPr>
        <p:sp>
          <p:nvSpPr>
            <p:cNvPr id="34821" name="Rectangle 1027"/>
            <p:cNvSpPr>
              <a:spLocks noChangeArrowheads="1"/>
            </p:cNvSpPr>
            <p:nvPr/>
          </p:nvSpPr>
          <p:spPr bwMode="auto">
            <a:xfrm>
              <a:off x="2381" y="244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3AC</a:t>
              </a:r>
            </a:p>
          </p:txBody>
        </p:sp>
        <p:sp>
          <p:nvSpPr>
            <p:cNvPr id="34822" name="Line 1028"/>
            <p:cNvSpPr>
              <a:spLocks noChangeShapeType="1"/>
            </p:cNvSpPr>
            <p:nvPr/>
          </p:nvSpPr>
          <p:spPr bwMode="auto">
            <a:xfrm flipH="1">
              <a:off x="1631" y="2677"/>
              <a:ext cx="750"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4823" name="Rectangle 1030"/>
            <p:cNvSpPr>
              <a:spLocks noChangeArrowheads="1"/>
            </p:cNvSpPr>
            <p:nvPr/>
          </p:nvSpPr>
          <p:spPr bwMode="auto">
            <a:xfrm>
              <a:off x="1392" y="3024"/>
              <a:ext cx="375" cy="293"/>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2AB</a:t>
              </a:r>
            </a:p>
          </p:txBody>
        </p:sp>
        <p:sp>
          <p:nvSpPr>
            <p:cNvPr id="34824" name="Rectangle 1031"/>
            <p:cNvSpPr>
              <a:spLocks noChangeArrowheads="1"/>
            </p:cNvSpPr>
            <p:nvPr/>
          </p:nvSpPr>
          <p:spPr bwMode="auto">
            <a:xfrm>
              <a:off x="768" y="3888"/>
              <a:ext cx="443" cy="23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34825" name="Line 1032"/>
            <p:cNvSpPr>
              <a:spLocks noChangeShapeType="1"/>
            </p:cNvSpPr>
            <p:nvPr/>
          </p:nvSpPr>
          <p:spPr bwMode="auto">
            <a:xfrm flipH="1">
              <a:off x="960" y="3312"/>
              <a:ext cx="450" cy="57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4826" name="Rectangle 1040"/>
            <p:cNvSpPr>
              <a:spLocks noChangeArrowheads="1"/>
            </p:cNvSpPr>
            <p:nvPr/>
          </p:nvSpPr>
          <p:spPr bwMode="auto">
            <a:xfrm>
              <a:off x="1338" y="3895"/>
              <a:ext cx="375" cy="230"/>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1AB</a:t>
              </a:r>
            </a:p>
          </p:txBody>
        </p:sp>
        <p:sp>
          <p:nvSpPr>
            <p:cNvPr id="34827" name="Line 1041"/>
            <p:cNvSpPr>
              <a:spLocks noChangeShapeType="1"/>
            </p:cNvSpPr>
            <p:nvPr/>
          </p:nvSpPr>
          <p:spPr bwMode="auto">
            <a:xfrm flipH="1">
              <a:off x="1536" y="3312"/>
              <a:ext cx="0" cy="57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4828" name="Rectangle 1045"/>
            <p:cNvSpPr>
              <a:spLocks noChangeArrowheads="1"/>
            </p:cNvSpPr>
            <p:nvPr/>
          </p:nvSpPr>
          <p:spPr bwMode="auto">
            <a:xfrm>
              <a:off x="1872" y="3888"/>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1CB</a:t>
              </a:r>
            </a:p>
          </p:txBody>
        </p:sp>
        <p:sp>
          <p:nvSpPr>
            <p:cNvPr id="34829" name="Line 1046"/>
            <p:cNvSpPr>
              <a:spLocks noChangeShapeType="1"/>
            </p:cNvSpPr>
            <p:nvPr/>
          </p:nvSpPr>
          <p:spPr bwMode="auto">
            <a:xfrm>
              <a:off x="1722" y="3319"/>
              <a:ext cx="337" cy="580"/>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4830" name="Rectangle 1047"/>
            <p:cNvSpPr>
              <a:spLocks noChangeArrowheads="1"/>
            </p:cNvSpPr>
            <p:nvPr/>
          </p:nvSpPr>
          <p:spPr bwMode="auto">
            <a:xfrm>
              <a:off x="2352" y="3024"/>
              <a:ext cx="384" cy="245"/>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34831" name="Line 1048"/>
            <p:cNvSpPr>
              <a:spLocks noChangeShapeType="1"/>
            </p:cNvSpPr>
            <p:nvPr/>
          </p:nvSpPr>
          <p:spPr bwMode="auto">
            <a:xfrm>
              <a:off x="2544" y="2688"/>
              <a:ext cx="1"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4832" name="Rectangle 1049"/>
            <p:cNvSpPr>
              <a:spLocks noChangeArrowheads="1"/>
            </p:cNvSpPr>
            <p:nvPr/>
          </p:nvSpPr>
          <p:spPr bwMode="auto">
            <a:xfrm>
              <a:off x="3360" y="3024"/>
              <a:ext cx="375" cy="245"/>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2BC</a:t>
              </a:r>
            </a:p>
          </p:txBody>
        </p:sp>
        <p:sp>
          <p:nvSpPr>
            <p:cNvPr id="34833" name="Line 1050"/>
            <p:cNvSpPr>
              <a:spLocks noChangeShapeType="1"/>
            </p:cNvSpPr>
            <p:nvPr/>
          </p:nvSpPr>
          <p:spPr bwMode="auto">
            <a:xfrm>
              <a:off x="2784" y="2688"/>
              <a:ext cx="712" cy="33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4834" name="Rectangle 1051"/>
            <p:cNvSpPr>
              <a:spLocks noChangeArrowheads="1"/>
            </p:cNvSpPr>
            <p:nvPr/>
          </p:nvSpPr>
          <p:spPr bwMode="auto">
            <a:xfrm>
              <a:off x="2928" y="3840"/>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1BA</a:t>
              </a:r>
            </a:p>
          </p:txBody>
        </p:sp>
        <p:sp>
          <p:nvSpPr>
            <p:cNvPr id="34835" name="Line 1052"/>
            <p:cNvSpPr>
              <a:spLocks noChangeShapeType="1"/>
            </p:cNvSpPr>
            <p:nvPr/>
          </p:nvSpPr>
          <p:spPr bwMode="auto">
            <a:xfrm flipH="1">
              <a:off x="3120" y="3264"/>
              <a:ext cx="288" cy="57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4836" name="Rectangle 1054"/>
            <p:cNvSpPr>
              <a:spLocks noChangeArrowheads="1"/>
            </p:cNvSpPr>
            <p:nvPr/>
          </p:nvSpPr>
          <p:spPr bwMode="auto">
            <a:xfrm>
              <a:off x="3402" y="3833"/>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1BC</a:t>
              </a:r>
            </a:p>
          </p:txBody>
        </p:sp>
        <p:sp>
          <p:nvSpPr>
            <p:cNvPr id="34837" name="Line 1055"/>
            <p:cNvSpPr>
              <a:spLocks noChangeShapeType="1"/>
            </p:cNvSpPr>
            <p:nvPr/>
          </p:nvSpPr>
          <p:spPr bwMode="auto">
            <a:xfrm>
              <a:off x="3552" y="3264"/>
              <a:ext cx="0" cy="576"/>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34838" name="Rectangle 1056"/>
            <p:cNvSpPr>
              <a:spLocks noChangeArrowheads="1"/>
            </p:cNvSpPr>
            <p:nvPr/>
          </p:nvSpPr>
          <p:spPr bwMode="auto">
            <a:xfrm>
              <a:off x="3840" y="3840"/>
              <a:ext cx="375" cy="244"/>
            </a:xfrm>
            <a:prstGeom prst="rect">
              <a:avLst/>
            </a:prstGeom>
            <a:solidFill>
              <a:schemeClr val="accent2"/>
            </a:solidFill>
            <a:ln w="12700" cap="sq">
              <a:solidFill>
                <a:schemeClr val="tx1"/>
              </a:solidFill>
              <a:miter lim="800000"/>
              <a:headEnd type="none" w="sm" len="sm"/>
              <a:tailEnd type="none" w="sm" len="sm"/>
            </a:ln>
          </p:spPr>
          <p:txBody>
            <a:bodyPr wrap="none" anchor="ctr"/>
            <a:lstStyle/>
            <a:p>
              <a:pPr>
                <a:lnSpc>
                  <a:spcPct val="100000"/>
                </a:lnSpc>
                <a:spcBef>
                  <a:spcPct val="0"/>
                </a:spcBef>
                <a:spcAft>
                  <a:spcPct val="0"/>
                </a:spcAft>
              </a:pPr>
              <a:r>
                <a:rPr lang="en-US" altLang="he-IL">
                  <a:solidFill>
                    <a:srgbClr val="3399FF"/>
                  </a:solidFill>
                </a:rPr>
                <a:t>1AC</a:t>
              </a:r>
            </a:p>
          </p:txBody>
        </p:sp>
        <p:sp>
          <p:nvSpPr>
            <p:cNvPr id="34839" name="Line 1057"/>
            <p:cNvSpPr>
              <a:spLocks noChangeShapeType="1"/>
            </p:cNvSpPr>
            <p:nvPr/>
          </p:nvSpPr>
          <p:spPr bwMode="auto">
            <a:xfrm>
              <a:off x="3696" y="3264"/>
              <a:ext cx="288" cy="576"/>
            </a:xfrm>
            <a:prstGeom prst="line">
              <a:avLst/>
            </a:prstGeom>
            <a:noFill/>
            <a:ln w="12700" cap="sq">
              <a:solidFill>
                <a:schemeClr val="tx1"/>
              </a:solidFill>
              <a:round/>
              <a:headEnd type="none" w="sm" len="sm"/>
              <a:tailEnd type="none" w="sm" len="sm"/>
            </a:ln>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Rectangle 3"/>
          <p:cNvSpPr>
            <a:spLocks noGrp="1" noChangeArrowheads="1"/>
          </p:cNvSpPr>
          <p:nvPr>
            <p:ph type="title"/>
          </p:nvPr>
        </p:nvSpPr>
        <p:spPr>
          <a:xfrm>
            <a:off x="533400" y="304800"/>
            <a:ext cx="8229600" cy="838200"/>
          </a:xfrm>
        </p:spPr>
        <p:txBody>
          <a:bodyPr>
            <a:normAutofit/>
          </a:bodyPr>
          <a:lstStyle/>
          <a:p>
            <a:pPr algn="ctr">
              <a:defRPr/>
            </a:pPr>
            <a:r>
              <a:rPr lang="en-US" altLang="he-IL" sz="4400" dirty="0">
                <a:effectLst>
                  <a:outerShdw blurRad="38100" dist="38100" dir="2700000" algn="tl">
                    <a:srgbClr val="C0C0C0"/>
                  </a:outerShdw>
                </a:effectLst>
              </a:rPr>
              <a:t>AND/OR Graphs</a:t>
            </a:r>
            <a:endParaRPr lang="en-US" altLang="en-US" sz="4400" dirty="0"/>
          </a:p>
        </p:txBody>
      </p:sp>
      <p:sp>
        <p:nvSpPr>
          <p:cNvPr id="172034" name="Rectangle 2"/>
          <p:cNvSpPr>
            <a:spLocks noGrp="1" noChangeArrowheads="1"/>
          </p:cNvSpPr>
          <p:nvPr>
            <p:ph sz="quarter" idx="1"/>
          </p:nvPr>
        </p:nvSpPr>
        <p:spPr>
          <a:xfrm>
            <a:off x="533400" y="1752600"/>
            <a:ext cx="7924800" cy="3429000"/>
          </a:xfrm>
        </p:spPr>
        <p:txBody>
          <a:bodyPr/>
          <a:lstStyle/>
          <a:p>
            <a:pPr algn="just">
              <a:defRPr/>
            </a:pPr>
            <a:r>
              <a:rPr lang="en-US" altLang="he-IL" sz="2400" dirty="0">
                <a:cs typeface="Miriam" pitchFamily="34" charset="-79"/>
              </a:rPr>
              <a:t>An AND graph consists entirely of AND nodes, and in order to solve a problem represented by it, you need to solve the problems represented by </a:t>
            </a:r>
            <a:r>
              <a:rPr lang="en-US" altLang="he-IL" sz="2400" b="1" u="sng" dirty="0">
                <a:solidFill>
                  <a:schemeClr val="hlink"/>
                </a:solidFill>
                <a:effectLst>
                  <a:outerShdw blurRad="38100" dist="38100" dir="2700000" algn="tl">
                    <a:srgbClr val="C0C0C0"/>
                  </a:outerShdw>
                </a:effectLst>
                <a:cs typeface="Miriam" pitchFamily="34" charset="-79"/>
              </a:rPr>
              <a:t>all</a:t>
            </a:r>
            <a:r>
              <a:rPr lang="en-US" altLang="he-IL" sz="2400" dirty="0">
                <a:cs typeface="Miriam" pitchFamily="34" charset="-79"/>
              </a:rPr>
              <a:t> of his children </a:t>
            </a:r>
            <a:r>
              <a:rPr lang="en-US" altLang="he-IL" sz="2400" i="1" dirty="0">
                <a:solidFill>
                  <a:srgbClr val="3399FF"/>
                </a:solidFill>
                <a:cs typeface="Miriam" pitchFamily="34" charset="-79"/>
              </a:rPr>
              <a:t>(Hanoi towers example).</a:t>
            </a:r>
            <a:endParaRPr lang="en-US" altLang="he-IL" sz="2400" dirty="0">
              <a:solidFill>
                <a:srgbClr val="3399FF"/>
              </a:solidFill>
              <a:cs typeface="Miriam" pitchFamily="34" charset="-79"/>
            </a:endParaRPr>
          </a:p>
          <a:p>
            <a:pPr algn="just">
              <a:spcBef>
                <a:spcPct val="60000"/>
              </a:spcBef>
              <a:defRPr/>
            </a:pPr>
            <a:r>
              <a:rPr lang="en-US" altLang="he-IL" sz="2400" dirty="0">
                <a:cs typeface="Miriam" pitchFamily="34" charset="-79"/>
              </a:rPr>
              <a:t>An OR graph consists entirely of OR nodes, and in order to solve the problem represented by it, you only need to solve the problem represented by </a:t>
            </a:r>
            <a:r>
              <a:rPr lang="en-US" altLang="he-IL" sz="2400" b="1" u="sng" dirty="0">
                <a:solidFill>
                  <a:schemeClr val="hlink"/>
                </a:solidFill>
                <a:effectLst>
                  <a:outerShdw blurRad="38100" dist="38100" dir="2700000" algn="tl">
                    <a:srgbClr val="C0C0C0"/>
                  </a:outerShdw>
                </a:effectLst>
                <a:cs typeface="Miriam" pitchFamily="34" charset="-79"/>
              </a:rPr>
              <a:t>one</a:t>
            </a:r>
            <a:r>
              <a:rPr lang="en-US" altLang="he-IL" sz="2400" dirty="0">
                <a:cs typeface="Miriam" pitchFamily="34" charset="-79"/>
              </a:rPr>
              <a:t> of his children </a:t>
            </a:r>
            <a:r>
              <a:rPr lang="en-US" altLang="he-IL" sz="2400" i="1" dirty="0">
                <a:solidFill>
                  <a:srgbClr val="3399FF"/>
                </a:solidFill>
                <a:cs typeface="Miriam" pitchFamily="34" charset="-79"/>
              </a:rPr>
              <a:t>(Eight Puzzle Tree example).</a:t>
            </a:r>
            <a:endParaRPr lang="en-US" altLang="en-US" sz="2400" dirty="0">
              <a:solidFill>
                <a:srgbClr val="3399FF"/>
              </a:solidFill>
              <a:cs typeface="Miriam" pitchFamily="34" charset="-79"/>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1" name="Rectangle 5"/>
          <p:cNvSpPr>
            <a:spLocks noGrp="1" noChangeArrowheads="1"/>
          </p:cNvSpPr>
          <p:nvPr>
            <p:ph type="title"/>
          </p:nvPr>
        </p:nvSpPr>
        <p:spPr>
          <a:xfrm>
            <a:off x="533400" y="457200"/>
            <a:ext cx="8229600" cy="609600"/>
          </a:xfrm>
        </p:spPr>
        <p:txBody>
          <a:bodyPr>
            <a:normAutofit fontScale="90000"/>
          </a:bodyPr>
          <a:lstStyle/>
          <a:p>
            <a:pPr algn="ctr">
              <a:defRPr/>
            </a:pPr>
            <a:r>
              <a:rPr lang="en-US" altLang="he-IL" sz="4400" dirty="0">
                <a:effectLst>
                  <a:outerShdw blurRad="38100" dist="38100" dir="2700000" algn="tl">
                    <a:srgbClr val="C0C0C0"/>
                  </a:outerShdw>
                </a:effectLst>
              </a:rPr>
              <a:t>AND/OR Graphs</a:t>
            </a:r>
            <a:endParaRPr lang="en-US" altLang="en-US" sz="4400" dirty="0">
              <a:effectLst>
                <a:outerShdw blurRad="38100" dist="38100" dir="2700000" algn="tl">
                  <a:srgbClr val="C0C0C0"/>
                </a:outerShdw>
              </a:effectLst>
            </a:endParaRPr>
          </a:p>
        </p:txBody>
      </p:sp>
      <p:sp>
        <p:nvSpPr>
          <p:cNvPr id="36866" name="Rectangle 3"/>
          <p:cNvSpPr>
            <a:spLocks noGrp="1" noChangeArrowheads="1"/>
          </p:cNvSpPr>
          <p:nvPr>
            <p:ph sz="quarter" idx="1"/>
          </p:nvPr>
        </p:nvSpPr>
        <p:spPr>
          <a:xfrm>
            <a:off x="609600" y="1828800"/>
            <a:ext cx="7924800" cy="3657600"/>
          </a:xfrm>
        </p:spPr>
        <p:txBody>
          <a:bodyPr/>
          <a:lstStyle/>
          <a:p>
            <a:pPr>
              <a:spcBef>
                <a:spcPct val="60000"/>
              </a:spcBef>
            </a:pPr>
            <a:r>
              <a:rPr lang="en-US" altLang="he-IL" sz="2400" dirty="0">
                <a:cs typeface="Miriam" pitchFamily="34" charset="-79"/>
              </a:rPr>
              <a:t>An </a:t>
            </a:r>
            <a:r>
              <a:rPr lang="en-US" altLang="he-IL" sz="2400" dirty="0">
                <a:solidFill>
                  <a:schemeClr val="hlink"/>
                </a:solidFill>
                <a:cs typeface="Miriam" pitchFamily="34" charset="-79"/>
              </a:rPr>
              <a:t>AND/OR graph</a:t>
            </a:r>
            <a:r>
              <a:rPr lang="en-US" altLang="he-IL" sz="2400" dirty="0">
                <a:cs typeface="Miriam" pitchFamily="34" charset="-79"/>
              </a:rPr>
              <a:t> consists of both </a:t>
            </a:r>
            <a:r>
              <a:rPr lang="en-US" altLang="he-IL" sz="2400" dirty="0">
                <a:solidFill>
                  <a:schemeClr val="hlink"/>
                </a:solidFill>
                <a:cs typeface="Miriam" pitchFamily="34" charset="-79"/>
              </a:rPr>
              <a:t>AND</a:t>
            </a:r>
            <a:r>
              <a:rPr lang="en-US" altLang="he-IL" sz="2400" dirty="0">
                <a:cs typeface="Miriam" pitchFamily="34" charset="-79"/>
              </a:rPr>
              <a:t> nodes and </a:t>
            </a:r>
            <a:r>
              <a:rPr lang="en-US" altLang="he-IL" sz="2400" dirty="0">
                <a:solidFill>
                  <a:schemeClr val="hlink"/>
                </a:solidFill>
                <a:cs typeface="Miriam" pitchFamily="34" charset="-79"/>
              </a:rPr>
              <a:t>OR</a:t>
            </a:r>
            <a:r>
              <a:rPr lang="en-US" altLang="he-IL" sz="2400" dirty="0">
                <a:cs typeface="Miriam" pitchFamily="34" charset="-79"/>
              </a:rPr>
              <a:t> nodes.</a:t>
            </a:r>
          </a:p>
          <a:p>
            <a:pPr>
              <a:spcBef>
                <a:spcPct val="60000"/>
              </a:spcBef>
            </a:pPr>
            <a:r>
              <a:rPr lang="en-US" altLang="he-IL" sz="2400" dirty="0">
                <a:cs typeface="Miriam" pitchFamily="34" charset="-79"/>
              </a:rPr>
              <a:t>One source of AND/OR graphs is a problem where the effect of an action cannot be predicted in advanced, as in an interaction with the physical world.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AND/OR Graph</a:t>
            </a:r>
          </a:p>
        </p:txBody>
      </p:sp>
      <p:sp>
        <p:nvSpPr>
          <p:cNvPr id="3" name="Content Placeholder 2"/>
          <p:cNvSpPr>
            <a:spLocks noGrp="1"/>
          </p:cNvSpPr>
          <p:nvPr>
            <p:ph sz="quarter" idx="1"/>
          </p:nvPr>
        </p:nvSpPr>
        <p:spPr>
          <a:xfrm>
            <a:off x="533400" y="1527048"/>
            <a:ext cx="8272272" cy="4572000"/>
          </a:xfrm>
        </p:spPr>
        <p:txBody>
          <a:bodyPr>
            <a:normAutofit fontScale="92500" lnSpcReduction="10000"/>
          </a:bodyPr>
          <a:lstStyle/>
          <a:p>
            <a:pPr>
              <a:lnSpc>
                <a:spcPct val="90000"/>
              </a:lnSpc>
            </a:pPr>
            <a:r>
              <a:rPr lang="en-US" altLang="en-US" sz="2800" dirty="0"/>
              <a:t>Breaking a problem down into smaller sub-problems (or </a:t>
            </a:r>
            <a:r>
              <a:rPr lang="en-US" altLang="en-US" sz="2800" b="1" dirty="0"/>
              <a:t>sub-goals</a:t>
            </a:r>
            <a:r>
              <a:rPr lang="en-US" altLang="en-US" sz="2800" dirty="0"/>
              <a:t>).</a:t>
            </a:r>
          </a:p>
          <a:p>
            <a:pPr>
              <a:lnSpc>
                <a:spcPct val="90000"/>
              </a:lnSpc>
            </a:pPr>
            <a:r>
              <a:rPr lang="en-US" altLang="en-US" sz="2800" dirty="0"/>
              <a:t>Can be represented using </a:t>
            </a:r>
            <a:r>
              <a:rPr lang="en-US" altLang="en-US" sz="2800" b="1" dirty="0"/>
              <a:t>goal trees</a:t>
            </a:r>
            <a:r>
              <a:rPr lang="en-US" altLang="en-US" sz="2800" dirty="0"/>
              <a:t> (or </a:t>
            </a:r>
            <a:r>
              <a:rPr lang="en-US" altLang="en-US" sz="2800" b="1" dirty="0"/>
              <a:t>and-or trees</a:t>
            </a:r>
            <a:r>
              <a:rPr lang="en-US" altLang="en-US" sz="2800" dirty="0"/>
              <a:t>).</a:t>
            </a:r>
          </a:p>
          <a:p>
            <a:pPr>
              <a:lnSpc>
                <a:spcPct val="90000"/>
              </a:lnSpc>
            </a:pPr>
            <a:r>
              <a:rPr lang="en-US" altLang="en-US" sz="2800" dirty="0"/>
              <a:t>Nodes in the tree represent sub-problems. </a:t>
            </a:r>
          </a:p>
          <a:p>
            <a:pPr>
              <a:lnSpc>
                <a:spcPct val="90000"/>
              </a:lnSpc>
            </a:pPr>
            <a:r>
              <a:rPr lang="en-US" altLang="en-US" sz="2800" dirty="0"/>
              <a:t>The root node represents the overall problem.</a:t>
            </a:r>
          </a:p>
          <a:p>
            <a:pPr>
              <a:lnSpc>
                <a:spcPct val="90000"/>
              </a:lnSpc>
            </a:pPr>
            <a:r>
              <a:rPr lang="en-US" altLang="en-US" sz="2800" dirty="0"/>
              <a:t>Some nodes are </a:t>
            </a:r>
            <a:r>
              <a:rPr lang="en-US" altLang="en-US" sz="2800" b="1" dirty="0"/>
              <a:t>and nodes</a:t>
            </a:r>
            <a:r>
              <a:rPr lang="en-US" altLang="en-US" sz="2800" dirty="0"/>
              <a:t>, meaning </a:t>
            </a:r>
            <a:r>
              <a:rPr lang="en-US" altLang="en-US" sz="2800" b="1" dirty="0"/>
              <a:t>all</a:t>
            </a:r>
            <a:r>
              <a:rPr lang="en-US" altLang="en-US" sz="2800" dirty="0"/>
              <a:t> their children must be solved.</a:t>
            </a:r>
          </a:p>
          <a:p>
            <a:pPr marL="274320" lvl="1">
              <a:lnSpc>
                <a:spcPct val="90000"/>
              </a:lnSpc>
              <a:buClr>
                <a:schemeClr val="accent1"/>
              </a:buClr>
              <a:buSzPct val="85000"/>
              <a:buFont typeface="Wingdings 2"/>
              <a:buChar char=""/>
            </a:pPr>
            <a:r>
              <a:rPr lang="en-US" sz="2800" dirty="0">
                <a:solidFill>
                  <a:schemeClr val="tx1"/>
                </a:solidFill>
                <a:cs typeface="Times New Roman" charset="0"/>
              </a:rPr>
              <a:t>Several arcs indicate a different ways of solving problem.</a:t>
            </a:r>
            <a:endParaRPr lang="en-US" altLang="en-US" sz="2800" dirty="0"/>
          </a:p>
          <a:p>
            <a:pPr>
              <a:lnSpc>
                <a:spcPct val="90000"/>
              </a:lnSpc>
            </a:pPr>
            <a:r>
              <a:rPr lang="en-US" sz="2800" dirty="0">
                <a:cs typeface="Times New Roman" charset="0"/>
              </a:rPr>
              <a:t>Useful for representing the solution of problem by decomposing it into smaller sub-problems</a:t>
            </a:r>
            <a:endParaRPr lang="en-US" altLang="en-US" sz="2800" dirty="0"/>
          </a:p>
          <a:p>
            <a:pPr lvl="1">
              <a:lnSpc>
                <a:spcPct val="90000"/>
              </a:lnSpc>
            </a:pPr>
            <a:endParaRPr lang="en-US" altLang="en-US" sz="2400" dirty="0"/>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dirty="0"/>
              <a:t>AND/OR Graph</a:t>
            </a:r>
          </a:p>
        </p:txBody>
      </p:sp>
      <p:sp>
        <p:nvSpPr>
          <p:cNvPr id="25603" name="Rectangle 3"/>
          <p:cNvSpPr>
            <a:spLocks noGrp="1" noChangeArrowheads="1"/>
          </p:cNvSpPr>
          <p:nvPr>
            <p:ph sz="quarter" idx="1"/>
          </p:nvPr>
        </p:nvSpPr>
        <p:spPr>
          <a:xfrm>
            <a:off x="457200" y="1219200"/>
            <a:ext cx="8229600" cy="5257800"/>
          </a:xfrm>
        </p:spPr>
        <p:txBody>
          <a:bodyPr/>
          <a:lstStyle/>
          <a:p>
            <a:pPr algn="just" eaLnBrk="1" hangingPunct="1">
              <a:lnSpc>
                <a:spcPct val="90000"/>
              </a:lnSpc>
            </a:pPr>
            <a:endParaRPr lang="en-US" sz="2400" dirty="0"/>
          </a:p>
          <a:p>
            <a:pPr algn="just" eaLnBrk="1" hangingPunct="1">
              <a:lnSpc>
                <a:spcPct val="90000"/>
              </a:lnSpc>
            </a:pPr>
            <a:r>
              <a:rPr lang="en-US" sz="2800" dirty="0">
                <a:cs typeface="Times New Roman" charset="0"/>
              </a:rPr>
              <a:t>Each sub-problem is solved and final solution is obtained by combining solutions of each sub-problem.</a:t>
            </a:r>
          </a:p>
          <a:p>
            <a:pPr algn="just" eaLnBrk="1" hangingPunct="1">
              <a:lnSpc>
                <a:spcPct val="90000"/>
              </a:lnSpc>
            </a:pPr>
            <a:r>
              <a:rPr lang="en-US" sz="2800" dirty="0">
                <a:cs typeface="Times New Roman" charset="0"/>
              </a:rPr>
              <a:t>Decomposition generates arcs that we will call </a:t>
            </a:r>
            <a:r>
              <a:rPr lang="en-US" sz="2800" b="1" dirty="0">
                <a:cs typeface="Times New Roman" charset="0"/>
              </a:rPr>
              <a:t>AND arc</a:t>
            </a:r>
            <a:r>
              <a:rPr lang="en-US" sz="2800" dirty="0">
                <a:cs typeface="Times New Roman" charset="0"/>
              </a:rPr>
              <a:t>.  </a:t>
            </a:r>
          </a:p>
          <a:p>
            <a:pPr algn="just" eaLnBrk="1" hangingPunct="1">
              <a:lnSpc>
                <a:spcPct val="90000"/>
              </a:lnSpc>
            </a:pPr>
            <a:r>
              <a:rPr lang="en-US" sz="2800" dirty="0">
                <a:cs typeface="Times New Roman" charset="0"/>
              </a:rPr>
              <a:t>One AND arc may point to any number of successors, all of which must be solved.</a:t>
            </a:r>
          </a:p>
          <a:p>
            <a:pPr algn="just" eaLnBrk="1" hangingPunct="1">
              <a:lnSpc>
                <a:spcPct val="90000"/>
              </a:lnSpc>
            </a:pPr>
            <a:r>
              <a:rPr lang="en-US" sz="2800" dirty="0">
                <a:cs typeface="Times New Roman" charset="0"/>
              </a:rPr>
              <a:t>Such  structure  is  called </a:t>
            </a:r>
            <a:r>
              <a:rPr lang="en-US" sz="2800" b="1" dirty="0">
                <a:cs typeface="Times New Roman" charset="0"/>
              </a:rPr>
              <a:t>AND–OR graph </a:t>
            </a:r>
            <a:r>
              <a:rPr lang="en-US" sz="2800" dirty="0">
                <a:cs typeface="Times New Roman" charset="0"/>
              </a:rPr>
              <a:t>rather than simply AND graph.</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a:xfrm>
            <a:off x="457200" y="457200"/>
            <a:ext cx="7772400" cy="685800"/>
          </a:xfrm>
        </p:spPr>
        <p:txBody>
          <a:bodyPr>
            <a:normAutofit/>
          </a:bodyPr>
          <a:lstStyle/>
          <a:p>
            <a:pPr algn="ctr">
              <a:defRPr/>
            </a:pPr>
            <a:r>
              <a:rPr lang="en-US" altLang="he-IL" sz="3600" dirty="0">
                <a:effectLst>
                  <a:outerShdw blurRad="38100" dist="38100" dir="2700000" algn="tl">
                    <a:srgbClr val="C0C0C0"/>
                  </a:outerShdw>
                </a:effectLst>
              </a:rPr>
              <a:t>Solution </a:t>
            </a:r>
            <a:r>
              <a:rPr lang="en-US" altLang="he-IL" sz="3600" dirty="0" err="1">
                <a:effectLst>
                  <a:outerShdw blurRad="38100" dist="38100" dir="2700000" algn="tl">
                    <a:srgbClr val="C0C0C0"/>
                  </a:outerShdw>
                </a:effectLst>
              </a:rPr>
              <a:t>subgraph</a:t>
            </a:r>
            <a:r>
              <a:rPr lang="en-US" altLang="he-IL" sz="3600" dirty="0">
                <a:effectLst>
                  <a:outerShdw blurRad="38100" dist="38100" dir="2700000" algn="tl">
                    <a:srgbClr val="C0C0C0"/>
                  </a:outerShdw>
                </a:effectLst>
              </a:rPr>
              <a:t> for AND/OR trees</a:t>
            </a:r>
          </a:p>
        </p:txBody>
      </p:sp>
      <p:sp>
        <p:nvSpPr>
          <p:cNvPr id="38915" name="Rectangle 3"/>
          <p:cNvSpPr>
            <a:spLocks noGrp="1" noChangeArrowheads="1"/>
          </p:cNvSpPr>
          <p:nvPr>
            <p:ph sz="quarter" idx="1"/>
          </p:nvPr>
        </p:nvSpPr>
        <p:spPr>
          <a:xfrm>
            <a:off x="685800" y="1676400"/>
            <a:ext cx="7772400" cy="3657600"/>
          </a:xfrm>
        </p:spPr>
        <p:txBody>
          <a:bodyPr/>
          <a:lstStyle/>
          <a:p>
            <a:pPr algn="just">
              <a:spcBef>
                <a:spcPct val="50000"/>
              </a:spcBef>
            </a:pPr>
            <a:r>
              <a:rPr lang="en-US" altLang="he-IL" sz="2400" dirty="0">
                <a:cs typeface="Miriam" pitchFamily="34" charset="-79"/>
              </a:rPr>
              <a:t>In general, a solution to an AND/OR graph is a </a:t>
            </a:r>
            <a:r>
              <a:rPr lang="en-US" altLang="he-IL" sz="2400" dirty="0" err="1">
                <a:cs typeface="Miriam" pitchFamily="34" charset="-79"/>
              </a:rPr>
              <a:t>subgraph</a:t>
            </a:r>
            <a:r>
              <a:rPr lang="en-US" altLang="he-IL" sz="2400" dirty="0">
                <a:cs typeface="Miriam" pitchFamily="34" charset="-79"/>
              </a:rPr>
              <a:t> with the following properties:</a:t>
            </a:r>
          </a:p>
          <a:p>
            <a:pPr lvl="1" algn="just">
              <a:spcBef>
                <a:spcPct val="50000"/>
              </a:spcBef>
            </a:pPr>
            <a:r>
              <a:rPr lang="en-US" altLang="he-IL" sz="2200" dirty="0">
                <a:cs typeface="Miriam" pitchFamily="34" charset="-79"/>
              </a:rPr>
              <a:t>It contains the root node. For every </a:t>
            </a:r>
            <a:r>
              <a:rPr lang="en-US" altLang="he-IL" sz="2200" dirty="0">
                <a:solidFill>
                  <a:schemeClr val="hlink"/>
                </a:solidFill>
                <a:cs typeface="Miriam" pitchFamily="34" charset="-79"/>
              </a:rPr>
              <a:t>OR</a:t>
            </a:r>
            <a:r>
              <a:rPr lang="en-US" altLang="he-IL" sz="2200" dirty="0">
                <a:cs typeface="Miriam" pitchFamily="34" charset="-79"/>
              </a:rPr>
              <a:t> node included in the solution </a:t>
            </a:r>
            <a:r>
              <a:rPr lang="en-US" altLang="he-IL" sz="2200" dirty="0" err="1">
                <a:cs typeface="Miriam" pitchFamily="34" charset="-79"/>
              </a:rPr>
              <a:t>subgraph</a:t>
            </a:r>
            <a:r>
              <a:rPr lang="en-US" altLang="he-IL" sz="2200" dirty="0">
                <a:cs typeface="Miriam" pitchFamily="34" charset="-79"/>
              </a:rPr>
              <a:t>, one child is included. </a:t>
            </a:r>
          </a:p>
          <a:p>
            <a:pPr lvl="1" algn="just">
              <a:spcBef>
                <a:spcPct val="50000"/>
              </a:spcBef>
            </a:pPr>
            <a:r>
              <a:rPr lang="en-US" altLang="he-IL" sz="2200" dirty="0">
                <a:cs typeface="Miriam" pitchFamily="34" charset="-79"/>
              </a:rPr>
              <a:t>For every </a:t>
            </a:r>
            <a:r>
              <a:rPr lang="en-US" altLang="he-IL" sz="2200" dirty="0">
                <a:solidFill>
                  <a:schemeClr val="hlink"/>
                </a:solidFill>
                <a:cs typeface="Miriam" pitchFamily="34" charset="-79"/>
              </a:rPr>
              <a:t>OR</a:t>
            </a:r>
            <a:r>
              <a:rPr lang="en-US" altLang="he-IL" sz="2200" dirty="0">
                <a:cs typeface="Miriam" pitchFamily="34" charset="-79"/>
              </a:rPr>
              <a:t> node included in the solution </a:t>
            </a:r>
            <a:r>
              <a:rPr lang="en-US" altLang="he-IL" sz="2200" dirty="0" err="1">
                <a:cs typeface="Miriam" pitchFamily="34" charset="-79"/>
              </a:rPr>
              <a:t>subgraph</a:t>
            </a:r>
            <a:r>
              <a:rPr lang="en-US" altLang="he-IL" sz="2200" dirty="0">
                <a:cs typeface="Miriam" pitchFamily="34" charset="-79"/>
              </a:rPr>
              <a:t>, all the children are included. </a:t>
            </a:r>
          </a:p>
          <a:p>
            <a:pPr lvl="1" algn="just">
              <a:spcBef>
                <a:spcPct val="50000"/>
              </a:spcBef>
            </a:pPr>
            <a:r>
              <a:rPr lang="en-US" altLang="he-IL" sz="2200" dirty="0">
                <a:cs typeface="Miriam" pitchFamily="34" charset="-79"/>
              </a:rPr>
              <a:t>Every terminal node in the solution </a:t>
            </a:r>
            <a:r>
              <a:rPr lang="en-US" altLang="he-IL" sz="2200" dirty="0" err="1">
                <a:cs typeface="Miriam" pitchFamily="34" charset="-79"/>
              </a:rPr>
              <a:t>subgraph</a:t>
            </a:r>
            <a:r>
              <a:rPr lang="en-US" altLang="he-IL" sz="2200" dirty="0">
                <a:cs typeface="Miriam" pitchFamily="34" charset="-79"/>
              </a:rPr>
              <a:t> is a solved node.</a:t>
            </a:r>
            <a:endParaRPr lang="en-US" altLang="en-US" sz="2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t>Example of AND-OR Tree</a:t>
            </a:r>
          </a:p>
        </p:txBody>
      </p:sp>
      <p:graphicFrame>
        <p:nvGraphicFramePr>
          <p:cNvPr id="1026" name="Object 4"/>
          <p:cNvGraphicFramePr>
            <a:graphicFrameLocks noGrp="1" noChangeAspect="1"/>
          </p:cNvGraphicFramePr>
          <p:nvPr>
            <p:ph sz="quarter" idx="1"/>
          </p:nvPr>
        </p:nvGraphicFramePr>
        <p:xfrm>
          <a:off x="-533400" y="2601913"/>
          <a:ext cx="10439400" cy="2339975"/>
        </p:xfrm>
        <a:graphic>
          <a:graphicData uri="http://schemas.openxmlformats.org/presentationml/2006/ole">
            <mc:AlternateContent xmlns:mc="http://schemas.openxmlformats.org/markup-compatibility/2006">
              <mc:Choice xmlns:v="urn:schemas-microsoft-com:vml" Requires="v">
                <p:oleObj name="Document" r:id="rId2" imgW="5483860" imgH="1228999" progId="Word.Document.8">
                  <p:embed/>
                </p:oleObj>
              </mc:Choice>
              <mc:Fallback>
                <p:oleObj name="Document" r:id="rId2" imgW="5483860" imgH="1228999" progId="Word.Documen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601913"/>
                        <a:ext cx="10439400" cy="233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t>AND–OR Graph Search</a:t>
            </a:r>
          </a:p>
        </p:txBody>
      </p:sp>
      <p:sp>
        <p:nvSpPr>
          <p:cNvPr id="27651" name="Rectangle 3"/>
          <p:cNvSpPr>
            <a:spLocks noGrp="1" noChangeArrowheads="1"/>
          </p:cNvSpPr>
          <p:nvPr>
            <p:ph sz="quarter" idx="1"/>
          </p:nvPr>
        </p:nvSpPr>
        <p:spPr>
          <a:xfrm>
            <a:off x="457200" y="1752600"/>
            <a:ext cx="8077200" cy="4648200"/>
          </a:xfrm>
        </p:spPr>
        <p:txBody>
          <a:bodyPr/>
          <a:lstStyle/>
          <a:p>
            <a:pPr algn="just" eaLnBrk="1" hangingPunct="1">
              <a:lnSpc>
                <a:spcPct val="90000"/>
              </a:lnSpc>
              <a:spcBef>
                <a:spcPct val="50000"/>
              </a:spcBef>
            </a:pPr>
            <a:r>
              <a:rPr lang="en-US" sz="2800">
                <a:cs typeface="Times New Roman" charset="0"/>
              </a:rPr>
              <a:t>Traverse AND-OR graph, starting from the initial node and follow the current best path. </a:t>
            </a:r>
          </a:p>
          <a:p>
            <a:pPr algn="just" eaLnBrk="1" hangingPunct="1">
              <a:lnSpc>
                <a:spcPct val="90000"/>
              </a:lnSpc>
              <a:spcBef>
                <a:spcPct val="50000"/>
              </a:spcBef>
            </a:pPr>
            <a:r>
              <a:rPr lang="en-US" sz="2800">
                <a:cs typeface="Times New Roman" charset="0"/>
              </a:rPr>
              <a:t>Accumulate the set of nodes that are on the best path which have not yet been expanded.</a:t>
            </a:r>
          </a:p>
          <a:p>
            <a:pPr algn="just" eaLnBrk="1" hangingPunct="1">
              <a:lnSpc>
                <a:spcPct val="90000"/>
              </a:lnSpc>
              <a:spcBef>
                <a:spcPct val="50000"/>
              </a:spcBef>
            </a:pPr>
            <a:r>
              <a:rPr lang="en-US" sz="2800">
                <a:cs typeface="Times New Roman" charset="0"/>
              </a:rPr>
              <a:t>Pick up one of these unexpanded nodes and expand it.  </a:t>
            </a:r>
          </a:p>
          <a:p>
            <a:pPr algn="just" eaLnBrk="1" hangingPunct="1">
              <a:lnSpc>
                <a:spcPct val="90000"/>
              </a:lnSpc>
              <a:spcBef>
                <a:spcPct val="50000"/>
              </a:spcBef>
            </a:pPr>
            <a:r>
              <a:rPr lang="en-US" sz="2800">
                <a:cs typeface="Times New Roman" charset="0"/>
              </a:rPr>
              <a:t>Add its successors to the graph and compute f (using only h) for each of them.</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277813"/>
            <a:ext cx="8229600" cy="712787"/>
          </a:xfrm>
        </p:spPr>
        <p:txBody>
          <a:bodyPr/>
          <a:lstStyle/>
          <a:p>
            <a:pPr eaLnBrk="1" hangingPunct="1"/>
            <a:r>
              <a:rPr lang="en-US"/>
              <a:t>Contd.. Example</a:t>
            </a:r>
          </a:p>
        </p:txBody>
      </p:sp>
      <p:sp>
        <p:nvSpPr>
          <p:cNvPr id="29699" name="Rectangle 3"/>
          <p:cNvSpPr>
            <a:spLocks noGrp="1" noChangeArrowheads="1"/>
          </p:cNvSpPr>
          <p:nvPr>
            <p:ph sz="quarter" idx="1"/>
          </p:nvPr>
        </p:nvSpPr>
        <p:spPr>
          <a:xfrm>
            <a:off x="533400" y="1600200"/>
            <a:ext cx="8229600" cy="4648200"/>
          </a:xfrm>
        </p:spPr>
        <p:txBody>
          <a:bodyPr/>
          <a:lstStyle/>
          <a:p>
            <a:pPr algn="just" eaLnBrk="1" hangingPunct="1">
              <a:lnSpc>
                <a:spcPct val="90000"/>
              </a:lnSpc>
              <a:spcBef>
                <a:spcPct val="50000"/>
              </a:spcBef>
            </a:pPr>
            <a:r>
              <a:rPr lang="en-US" sz="2800">
                <a:cs typeface="Times New Roman" charset="0"/>
              </a:rPr>
              <a:t>Consider AND-OR graph given on next slide. </a:t>
            </a:r>
          </a:p>
          <a:p>
            <a:pPr lvl="1" algn="just" eaLnBrk="1" hangingPunct="1">
              <a:lnSpc>
                <a:spcPct val="90000"/>
              </a:lnSpc>
              <a:spcBef>
                <a:spcPct val="50000"/>
              </a:spcBef>
            </a:pPr>
            <a:r>
              <a:rPr lang="en-US" sz="2400">
                <a:cs typeface="Times New Roman" charset="0"/>
              </a:rPr>
              <a:t>Let us assume that each arc with single successor will have a cost of 1 and each AND arc with multiple successor will have a cost of 1 for each of its components for the sake of simplicity.</a:t>
            </a:r>
          </a:p>
          <a:p>
            <a:pPr lvl="1" algn="just" eaLnBrk="1" hangingPunct="1">
              <a:lnSpc>
                <a:spcPct val="90000"/>
              </a:lnSpc>
              <a:spcBef>
                <a:spcPct val="50000"/>
              </a:spcBef>
              <a:buClr>
                <a:schemeClr val="accent1"/>
              </a:buClr>
              <a:buSzPct val="65000"/>
              <a:buFont typeface="Wingdings" charset="2"/>
              <a:buChar char="n"/>
            </a:pPr>
            <a:r>
              <a:rPr lang="en-US" sz="2400">
                <a:cs typeface="Times New Roman" charset="0"/>
              </a:rPr>
              <a:t>Here the numbers listed in the circular brackets ( ) are estimated cost and the revised costs are enclosed in square brackets [ ]. </a:t>
            </a:r>
          </a:p>
          <a:p>
            <a:pPr lvl="1" algn="just" eaLnBrk="1" hangingPunct="1">
              <a:lnSpc>
                <a:spcPct val="90000"/>
              </a:lnSpc>
              <a:spcBef>
                <a:spcPct val="50000"/>
              </a:spcBef>
              <a:buClr>
                <a:schemeClr val="accent1"/>
              </a:buClr>
              <a:buSzPct val="65000"/>
              <a:buFont typeface="Wingdings" charset="2"/>
              <a:buChar char="n"/>
            </a:pPr>
            <a:r>
              <a:rPr lang="en-US" sz="2400">
                <a:cs typeface="Times New Roman" charset="0"/>
              </a:rPr>
              <a:t>Thick lines indicate paths from a given node.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051"/>
          <p:cNvSpPr>
            <a:spLocks noChangeArrowheads="1"/>
          </p:cNvSpPr>
          <p:nvPr/>
        </p:nvSpPr>
        <p:spPr bwMode="auto">
          <a:xfrm>
            <a:off x="1828800" y="2466975"/>
            <a:ext cx="9144000" cy="0"/>
          </a:xfrm>
          <a:prstGeom prst="rect">
            <a:avLst/>
          </a:prstGeom>
          <a:noFill/>
          <a:ln w="9525">
            <a:noFill/>
            <a:miter lim="800000"/>
            <a:headEnd/>
            <a:tailEnd/>
          </a:ln>
        </p:spPr>
        <p:txBody>
          <a:bodyPr>
            <a:spAutoFit/>
          </a:bodyPr>
          <a:lstStyle/>
          <a:p>
            <a:endParaRPr lang="en-US"/>
          </a:p>
        </p:txBody>
      </p:sp>
      <p:graphicFrame>
        <p:nvGraphicFramePr>
          <p:cNvPr id="2050" name="Object 2050"/>
          <p:cNvGraphicFramePr>
            <a:graphicFrameLocks noChangeAspect="1"/>
          </p:cNvGraphicFramePr>
          <p:nvPr/>
        </p:nvGraphicFramePr>
        <p:xfrm>
          <a:off x="228600" y="609600"/>
          <a:ext cx="8915400" cy="5791200"/>
        </p:xfrm>
        <a:graphic>
          <a:graphicData uri="http://schemas.openxmlformats.org/presentationml/2006/ole">
            <mc:AlternateContent xmlns:mc="http://schemas.openxmlformats.org/markup-compatibility/2006">
              <mc:Choice xmlns:v="urn:schemas-microsoft-com:vml" Requires="v">
                <p:oleObj name="Document" r:id="rId2" imgW="5497524" imgH="1926966" progId="Word.Document.8">
                  <p:embed/>
                </p:oleObj>
              </mc:Choice>
              <mc:Fallback>
                <p:oleObj name="Document" r:id="rId2" imgW="5497524" imgH="1926966" progId="Word.Document.8">
                  <p:embed/>
                  <p:pic>
                    <p:nvPicPr>
                      <p:cNvPr id="0" name="Object 20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09600"/>
                        <a:ext cx="8915400" cy="579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277813"/>
            <a:ext cx="8229600" cy="684212"/>
          </a:xfrm>
        </p:spPr>
        <p:txBody>
          <a:bodyPr/>
          <a:lstStyle/>
          <a:p>
            <a:pPr eaLnBrk="1" hangingPunct="1"/>
            <a:r>
              <a:rPr lang="en-US"/>
              <a:t>Explanation</a:t>
            </a:r>
          </a:p>
        </p:txBody>
      </p:sp>
      <p:sp>
        <p:nvSpPr>
          <p:cNvPr id="30723" name="Rectangle 3"/>
          <p:cNvSpPr>
            <a:spLocks noGrp="1" noChangeArrowheads="1"/>
          </p:cNvSpPr>
          <p:nvPr>
            <p:ph sz="quarter" idx="1"/>
          </p:nvPr>
        </p:nvSpPr>
        <p:spPr>
          <a:xfrm>
            <a:off x="685800" y="1676400"/>
            <a:ext cx="7772400" cy="4419600"/>
          </a:xfrm>
        </p:spPr>
        <p:txBody>
          <a:bodyPr/>
          <a:lstStyle/>
          <a:p>
            <a:pPr algn="just" eaLnBrk="1" hangingPunct="1">
              <a:lnSpc>
                <a:spcPct val="90000"/>
              </a:lnSpc>
              <a:spcBef>
                <a:spcPct val="50000"/>
              </a:spcBef>
            </a:pPr>
            <a:r>
              <a:rPr lang="en-US" sz="2600" dirty="0">
                <a:cs typeface="Times New Roman" charset="0"/>
              </a:rPr>
              <a:t>Initially we start from start node A and compute  heuristic values for each of its successors, say {B, (C and D)} as {19, (8, 9)}. </a:t>
            </a:r>
          </a:p>
          <a:p>
            <a:pPr algn="just" eaLnBrk="1" hangingPunct="1">
              <a:lnSpc>
                <a:spcPct val="90000"/>
              </a:lnSpc>
              <a:spcBef>
                <a:spcPct val="50000"/>
              </a:spcBef>
            </a:pPr>
            <a:r>
              <a:rPr lang="en-US" sz="2600" dirty="0">
                <a:cs typeface="Times New Roman" charset="0"/>
              </a:rPr>
              <a:t>The estimated cost of paths from A to B is 20 (19 + cost of one arc from A to B) and from A to (C and D) path is 19 ( 8+9 + cost of two arcs A to C and A to D). </a:t>
            </a:r>
          </a:p>
          <a:p>
            <a:pPr algn="just" eaLnBrk="1" hangingPunct="1">
              <a:lnSpc>
                <a:spcPct val="90000"/>
              </a:lnSpc>
              <a:spcBef>
                <a:spcPct val="50000"/>
              </a:spcBef>
            </a:pPr>
            <a:r>
              <a:rPr lang="en-US" sz="2600" dirty="0">
                <a:cs typeface="Times New Roman" charset="0"/>
              </a:rPr>
              <a:t>The path from A to (C and D) seems to be better. So expand this AND path by expending C to {(G and H)} and D to {(I and J)}. </a:t>
            </a:r>
            <a:endParaRPr lang="en-US" sz="2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277813"/>
            <a:ext cx="8229600" cy="684212"/>
          </a:xfrm>
        </p:spPr>
        <p:txBody>
          <a:bodyPr/>
          <a:lstStyle/>
          <a:p>
            <a:pPr eaLnBrk="1" hangingPunct="1"/>
            <a:r>
              <a:rPr lang="en-US"/>
              <a:t>Contd..</a:t>
            </a:r>
          </a:p>
        </p:txBody>
      </p:sp>
      <p:sp>
        <p:nvSpPr>
          <p:cNvPr id="31747" name="Rectangle 3"/>
          <p:cNvSpPr>
            <a:spLocks noGrp="1" noChangeArrowheads="1"/>
          </p:cNvSpPr>
          <p:nvPr>
            <p:ph sz="quarter" idx="1"/>
          </p:nvPr>
        </p:nvSpPr>
        <p:spPr>
          <a:xfrm>
            <a:off x="685800" y="1524000"/>
            <a:ext cx="7772400" cy="4572000"/>
          </a:xfrm>
        </p:spPr>
        <p:txBody>
          <a:bodyPr>
            <a:normAutofit lnSpcReduction="10000"/>
          </a:bodyPr>
          <a:lstStyle/>
          <a:p>
            <a:pPr algn="just" eaLnBrk="1" hangingPunct="1">
              <a:lnSpc>
                <a:spcPct val="90000"/>
              </a:lnSpc>
              <a:spcBef>
                <a:spcPct val="50000"/>
              </a:spcBef>
            </a:pPr>
            <a:r>
              <a:rPr lang="en-US" sz="2600">
                <a:cs typeface="Times New Roman" charset="0"/>
              </a:rPr>
              <a:t>Now heuristic values of G, H, I and J are 3, 4, 8 and 7 respectively. </a:t>
            </a:r>
          </a:p>
          <a:p>
            <a:pPr algn="just" eaLnBrk="1" hangingPunct="1">
              <a:lnSpc>
                <a:spcPct val="90000"/>
              </a:lnSpc>
              <a:spcBef>
                <a:spcPct val="50000"/>
              </a:spcBef>
            </a:pPr>
            <a:r>
              <a:rPr lang="en-US" sz="2600">
                <a:cs typeface="Times New Roman" charset="0"/>
              </a:rPr>
              <a:t>This leads to revised cost of C and D as 9 and 17 respectively. </a:t>
            </a:r>
          </a:p>
          <a:p>
            <a:pPr algn="just" eaLnBrk="1" hangingPunct="1">
              <a:lnSpc>
                <a:spcPct val="90000"/>
              </a:lnSpc>
              <a:spcBef>
                <a:spcPct val="50000"/>
              </a:spcBef>
            </a:pPr>
            <a:r>
              <a:rPr lang="en-US" sz="2600">
                <a:cs typeface="Times New Roman" charset="0"/>
              </a:rPr>
              <a:t>These values are propagated up and the revised costs of path from A through (C and D) is calculated as 28 (9 + 17 + cost of arcs A to C and A to D). </a:t>
            </a:r>
          </a:p>
          <a:p>
            <a:pPr algn="just" eaLnBrk="1" hangingPunct="1">
              <a:lnSpc>
                <a:spcPct val="90000"/>
              </a:lnSpc>
              <a:spcBef>
                <a:spcPct val="50000"/>
              </a:spcBef>
            </a:pPr>
            <a:r>
              <a:rPr lang="en-US" sz="2600">
                <a:cs typeface="Times New Roman" charset="0"/>
              </a:rPr>
              <a:t>Now the revised cost of this path is 28 instead of earlier estimation of 19 and this path is no longer a best path.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09600" y="381000"/>
            <a:ext cx="7848600" cy="685800"/>
          </a:xfrm>
        </p:spPr>
        <p:txBody>
          <a:bodyPr/>
          <a:lstStyle/>
          <a:p>
            <a:pPr eaLnBrk="1" hangingPunct="1"/>
            <a:r>
              <a:rPr lang="en-US"/>
              <a:t>Contd..</a:t>
            </a:r>
          </a:p>
        </p:txBody>
      </p:sp>
      <p:sp>
        <p:nvSpPr>
          <p:cNvPr id="32771" name="Rectangle 3"/>
          <p:cNvSpPr>
            <a:spLocks noGrp="1" noChangeArrowheads="1"/>
          </p:cNvSpPr>
          <p:nvPr>
            <p:ph sz="quarter" idx="1"/>
          </p:nvPr>
        </p:nvSpPr>
        <p:spPr>
          <a:xfrm>
            <a:off x="685800" y="1371600"/>
            <a:ext cx="7772400" cy="4724400"/>
          </a:xfrm>
        </p:spPr>
        <p:txBody>
          <a:bodyPr/>
          <a:lstStyle/>
          <a:p>
            <a:pPr algn="just" eaLnBrk="1" hangingPunct="1">
              <a:lnSpc>
                <a:spcPct val="90000"/>
              </a:lnSpc>
              <a:spcBef>
                <a:spcPct val="50000"/>
              </a:spcBef>
            </a:pPr>
            <a:r>
              <a:rPr lang="en-US" sz="2800">
                <a:cs typeface="Times New Roman" charset="0"/>
              </a:rPr>
              <a:t>Then choose path from A to B for expansion. </a:t>
            </a:r>
          </a:p>
          <a:p>
            <a:pPr algn="just" eaLnBrk="1" hangingPunct="1">
              <a:lnSpc>
                <a:spcPct val="90000"/>
              </a:lnSpc>
              <a:spcBef>
                <a:spcPct val="50000"/>
              </a:spcBef>
            </a:pPr>
            <a:r>
              <a:rPr lang="en-US" sz="2800">
                <a:cs typeface="Times New Roman" charset="0"/>
              </a:rPr>
              <a:t>After expansion we see that heuristic value of node B is 17 thus making cost of path from A to B to be 18. </a:t>
            </a:r>
          </a:p>
          <a:p>
            <a:pPr algn="just" eaLnBrk="1" hangingPunct="1">
              <a:lnSpc>
                <a:spcPct val="90000"/>
              </a:lnSpc>
              <a:spcBef>
                <a:spcPct val="50000"/>
              </a:spcBef>
            </a:pPr>
            <a:r>
              <a:rPr lang="en-US" sz="2800">
                <a:cs typeface="Times New Roman" charset="0"/>
              </a:rPr>
              <a:t>This path is still best path so far, so further explore path from A to B. </a:t>
            </a:r>
          </a:p>
          <a:p>
            <a:pPr algn="just" eaLnBrk="1" hangingPunct="1">
              <a:lnSpc>
                <a:spcPct val="90000"/>
              </a:lnSpc>
              <a:spcBef>
                <a:spcPct val="50000"/>
              </a:spcBef>
            </a:pPr>
            <a:r>
              <a:rPr lang="en-US" sz="2800">
                <a:cs typeface="Times New Roman" charset="0"/>
              </a:rPr>
              <a:t>The process continues until either a solution is found or all paths have lead to dead ends, indicating that there is no solution.</a:t>
            </a:r>
          </a:p>
          <a:p>
            <a:pPr algn="just" eaLnBrk="1" hangingPunct="1">
              <a:lnSpc>
                <a:spcPct val="90000"/>
              </a:lnSpc>
              <a:spcBef>
                <a:spcPct val="50000"/>
              </a:spcBef>
            </a:pPr>
            <a:endParaRPr lang="en-US" sz="2800">
              <a:cs typeface="Times New Roman"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dirty="0"/>
              <a:t>Search Strategies</a:t>
            </a:r>
          </a:p>
        </p:txBody>
      </p:sp>
      <p:sp>
        <p:nvSpPr>
          <p:cNvPr id="4099" name="Rectangle 3"/>
          <p:cNvSpPr>
            <a:spLocks noGrp="1" noChangeArrowheads="1"/>
          </p:cNvSpPr>
          <p:nvPr>
            <p:ph sz="half" idx="1"/>
          </p:nvPr>
        </p:nvSpPr>
        <p:spPr>
          <a:xfrm>
            <a:off x="304800" y="1447800"/>
            <a:ext cx="8534400" cy="685800"/>
          </a:xfrm>
          <a:noFill/>
        </p:spPr>
        <p:txBody>
          <a:bodyPr>
            <a:normAutofit/>
          </a:bodyPr>
          <a:lstStyle/>
          <a:p>
            <a:pPr algn="ctr" eaLnBrk="1" hangingPunct="1">
              <a:buFont typeface="Wingdings" charset="2"/>
              <a:buNone/>
            </a:pPr>
            <a:r>
              <a:rPr lang="en-US" sz="3000" dirty="0"/>
              <a:t>Uninformed search strategies</a:t>
            </a:r>
          </a:p>
        </p:txBody>
      </p:sp>
      <p:sp>
        <p:nvSpPr>
          <p:cNvPr id="4100" name="AutoShape 5"/>
          <p:cNvSpPr>
            <a:spLocks noChangeArrowheads="1"/>
          </p:cNvSpPr>
          <p:nvPr/>
        </p:nvSpPr>
        <p:spPr bwMode="ltGray">
          <a:xfrm>
            <a:off x="381000" y="2362200"/>
            <a:ext cx="1905000" cy="1066800"/>
          </a:xfrm>
          <a:prstGeom prst="homePlate">
            <a:avLst>
              <a:gd name="adj" fmla="val 44643"/>
            </a:avLst>
          </a:prstGeom>
          <a:solidFill>
            <a:srgbClr val="FFFFCC"/>
          </a:solidFill>
          <a:ln w="12700">
            <a:solidFill>
              <a:srgbClr val="000000"/>
            </a:solidFill>
            <a:miter lim="800000"/>
            <a:headEnd type="none" w="sm" len="sm"/>
            <a:tailEnd type="none" w="sm" len="sm"/>
          </a:ln>
        </p:spPr>
        <p:txBody>
          <a:bodyPr wrap="none" anchor="ctr"/>
          <a:lstStyle/>
          <a:p>
            <a:pPr algn="ctr"/>
            <a:r>
              <a:rPr lang="en-US">
                <a:solidFill>
                  <a:srgbClr val="000000"/>
                </a:solidFill>
                <a:latin typeface="Tahoma" pitchFamily="34" charset="0"/>
                <a:cs typeface="Tahoma" pitchFamily="34" charset="0"/>
              </a:rPr>
              <a:t>Generate states</a:t>
            </a:r>
          </a:p>
        </p:txBody>
      </p:sp>
      <p:sp>
        <p:nvSpPr>
          <p:cNvPr id="4101" name="AutoShape 6"/>
          <p:cNvSpPr>
            <a:spLocks noChangeArrowheads="1"/>
          </p:cNvSpPr>
          <p:nvPr/>
        </p:nvSpPr>
        <p:spPr bwMode="ltGray">
          <a:xfrm>
            <a:off x="1981200" y="2362200"/>
            <a:ext cx="3124200" cy="1066800"/>
          </a:xfrm>
          <a:prstGeom prst="chevron">
            <a:avLst>
              <a:gd name="adj" fmla="val 73214"/>
            </a:avLst>
          </a:prstGeom>
          <a:solidFill>
            <a:srgbClr val="FFFFCC"/>
          </a:solidFill>
          <a:ln w="12700">
            <a:solidFill>
              <a:srgbClr val="000000"/>
            </a:solidFill>
            <a:miter lim="800000"/>
            <a:headEnd type="none" w="sm" len="sm"/>
            <a:tailEnd type="none" w="sm" len="sm"/>
          </a:ln>
        </p:spPr>
        <p:txBody>
          <a:bodyPr wrap="none" anchor="ctr"/>
          <a:lstStyle/>
          <a:p>
            <a:pPr algn="ctr"/>
            <a:r>
              <a:rPr lang="en-US" dirty="0">
                <a:solidFill>
                  <a:srgbClr val="000000"/>
                </a:solidFill>
                <a:latin typeface="Tahoma" pitchFamily="34" charset="0"/>
                <a:cs typeface="Tahoma" pitchFamily="34" charset="0"/>
              </a:rPr>
              <a:t>Test them </a:t>
            </a:r>
          </a:p>
          <a:p>
            <a:pPr algn="ctr"/>
            <a:r>
              <a:rPr lang="en-US" dirty="0">
                <a:solidFill>
                  <a:srgbClr val="000000"/>
                </a:solidFill>
                <a:latin typeface="Tahoma" pitchFamily="34" charset="0"/>
                <a:cs typeface="Tahoma" pitchFamily="34" charset="0"/>
              </a:rPr>
              <a:t>With the goal</a:t>
            </a:r>
          </a:p>
        </p:txBody>
      </p:sp>
      <p:sp>
        <p:nvSpPr>
          <p:cNvPr id="4102" name="Text Box 7"/>
          <p:cNvSpPr txBox="1">
            <a:spLocks noChangeArrowheads="1"/>
          </p:cNvSpPr>
          <p:nvPr/>
        </p:nvSpPr>
        <p:spPr bwMode="ltGray">
          <a:xfrm>
            <a:off x="5410200" y="2438400"/>
            <a:ext cx="2819400" cy="701675"/>
          </a:xfrm>
          <a:prstGeom prst="rect">
            <a:avLst/>
          </a:prstGeom>
          <a:noFill/>
          <a:ln w="12700">
            <a:noFill/>
            <a:miter lim="800000"/>
            <a:headEnd type="none" w="sm" len="sm"/>
            <a:tailEnd type="none" w="sm" len="sm"/>
          </a:ln>
        </p:spPr>
        <p:txBody>
          <a:bodyPr>
            <a:spAutoFit/>
          </a:bodyPr>
          <a:lstStyle/>
          <a:p>
            <a:pPr>
              <a:spcBef>
                <a:spcPct val="50000"/>
              </a:spcBef>
            </a:pPr>
            <a:r>
              <a:rPr lang="en-US" sz="2000" b="1" i="1" dirty="0">
                <a:solidFill>
                  <a:srgbClr val="CC3300"/>
                </a:solidFill>
                <a:latin typeface="Book Antiqua" pitchFamily="18" charset="0"/>
                <a:cs typeface="Times New Roman" pitchFamily="18" charset="0"/>
              </a:rPr>
              <a:t>Incredibly inefficient in most cases</a:t>
            </a:r>
          </a:p>
        </p:txBody>
      </p:sp>
      <p:sp>
        <p:nvSpPr>
          <p:cNvPr id="4103" name="Rectangle 9"/>
          <p:cNvSpPr>
            <a:spLocks noChangeArrowheads="1"/>
          </p:cNvSpPr>
          <p:nvPr/>
        </p:nvSpPr>
        <p:spPr bwMode="auto">
          <a:xfrm>
            <a:off x="304800" y="3886200"/>
            <a:ext cx="8534400" cy="685800"/>
          </a:xfrm>
          <a:prstGeom prst="rect">
            <a:avLst/>
          </a:prstGeom>
          <a:noFill/>
          <a:ln w="9525">
            <a:noFill/>
            <a:miter lim="800000"/>
            <a:headEnd/>
            <a:tailEnd/>
          </a:ln>
        </p:spPr>
        <p:txBody>
          <a:bodyPr lIns="92075" tIns="46038" rIns="92075" bIns="46038"/>
          <a:lstStyle/>
          <a:p>
            <a:pPr marL="342900" indent="-342900" algn="ctr">
              <a:spcBef>
                <a:spcPct val="20000"/>
              </a:spcBef>
              <a:buClr>
                <a:srgbClr val="CC3300"/>
              </a:buClr>
            </a:pPr>
            <a:r>
              <a:rPr lang="en-US" sz="3200" dirty="0">
                <a:solidFill>
                  <a:srgbClr val="000000"/>
                </a:solidFill>
                <a:latin typeface="Book Antiqua" pitchFamily="18" charset="0"/>
                <a:cs typeface="Times New Roman" pitchFamily="18" charset="0"/>
              </a:rPr>
              <a:t>Informed search strategies</a:t>
            </a:r>
          </a:p>
        </p:txBody>
      </p:sp>
      <p:sp>
        <p:nvSpPr>
          <p:cNvPr id="4104" name="AutoShape 10"/>
          <p:cNvSpPr>
            <a:spLocks noChangeArrowheads="1"/>
          </p:cNvSpPr>
          <p:nvPr/>
        </p:nvSpPr>
        <p:spPr bwMode="ltGray">
          <a:xfrm>
            <a:off x="381000" y="4953000"/>
            <a:ext cx="1905000" cy="1066800"/>
          </a:xfrm>
          <a:prstGeom prst="homePlate">
            <a:avLst>
              <a:gd name="adj" fmla="val 44643"/>
            </a:avLst>
          </a:prstGeom>
          <a:solidFill>
            <a:srgbClr val="FFFFCC"/>
          </a:solidFill>
          <a:ln w="12700">
            <a:solidFill>
              <a:srgbClr val="000000"/>
            </a:solidFill>
            <a:miter lim="800000"/>
            <a:headEnd type="none" w="sm" len="sm"/>
            <a:tailEnd type="none" w="sm" len="sm"/>
          </a:ln>
        </p:spPr>
        <p:txBody>
          <a:bodyPr wrap="none" anchor="ctr"/>
          <a:lstStyle/>
          <a:p>
            <a:pPr algn="ctr"/>
            <a:r>
              <a:rPr lang="en-US">
                <a:solidFill>
                  <a:srgbClr val="000000"/>
                </a:solidFill>
                <a:latin typeface="Tahoma" pitchFamily="34" charset="0"/>
                <a:cs typeface="Tahoma" pitchFamily="34" charset="0"/>
              </a:rPr>
              <a:t>Problem-specific</a:t>
            </a:r>
          </a:p>
          <a:p>
            <a:pPr algn="ctr"/>
            <a:r>
              <a:rPr lang="en-US">
                <a:solidFill>
                  <a:srgbClr val="000000"/>
                </a:solidFill>
                <a:latin typeface="Tahoma" pitchFamily="34" charset="0"/>
                <a:cs typeface="Tahoma" pitchFamily="34" charset="0"/>
              </a:rPr>
              <a:t>knowledge</a:t>
            </a:r>
          </a:p>
        </p:txBody>
      </p:sp>
      <p:sp>
        <p:nvSpPr>
          <p:cNvPr id="4105" name="AutoShape 11"/>
          <p:cNvSpPr>
            <a:spLocks noChangeArrowheads="1"/>
          </p:cNvSpPr>
          <p:nvPr/>
        </p:nvSpPr>
        <p:spPr bwMode="ltGray">
          <a:xfrm>
            <a:off x="1905000" y="4953000"/>
            <a:ext cx="2133600" cy="1066800"/>
          </a:xfrm>
          <a:prstGeom prst="chevron">
            <a:avLst>
              <a:gd name="adj" fmla="val 48214"/>
            </a:avLst>
          </a:prstGeom>
          <a:solidFill>
            <a:srgbClr val="FFFFCC"/>
          </a:solidFill>
          <a:ln w="12700">
            <a:solidFill>
              <a:srgbClr val="000000"/>
            </a:solidFill>
            <a:miter lim="800000"/>
            <a:headEnd type="none" w="sm" len="sm"/>
            <a:tailEnd type="none" w="sm" len="sm"/>
          </a:ln>
        </p:spPr>
        <p:txBody>
          <a:bodyPr wrap="none" anchor="ctr"/>
          <a:lstStyle/>
          <a:p>
            <a:pPr algn="r"/>
            <a:r>
              <a:rPr lang="en-US" dirty="0">
                <a:solidFill>
                  <a:srgbClr val="000000"/>
                </a:solidFill>
                <a:latin typeface="Tahoma" pitchFamily="34" charset="0"/>
                <a:cs typeface="Tahoma" pitchFamily="34" charset="0"/>
              </a:rPr>
              <a:t>     Evaluation</a:t>
            </a:r>
          </a:p>
        </p:txBody>
      </p:sp>
      <p:sp>
        <p:nvSpPr>
          <p:cNvPr id="4106" name="Text Box 12"/>
          <p:cNvSpPr txBox="1">
            <a:spLocks noChangeArrowheads="1"/>
          </p:cNvSpPr>
          <p:nvPr/>
        </p:nvSpPr>
        <p:spPr bwMode="ltGray">
          <a:xfrm>
            <a:off x="5867400" y="5029200"/>
            <a:ext cx="2819400" cy="701675"/>
          </a:xfrm>
          <a:prstGeom prst="rect">
            <a:avLst/>
          </a:prstGeom>
          <a:noFill/>
          <a:ln w="12700">
            <a:noFill/>
            <a:miter lim="800000"/>
            <a:headEnd type="none" w="sm" len="sm"/>
            <a:tailEnd type="none" w="sm" len="sm"/>
          </a:ln>
        </p:spPr>
        <p:txBody>
          <a:bodyPr>
            <a:spAutoFit/>
          </a:bodyPr>
          <a:lstStyle/>
          <a:p>
            <a:pPr>
              <a:spcBef>
                <a:spcPct val="50000"/>
              </a:spcBef>
            </a:pPr>
            <a:r>
              <a:rPr lang="en-US" sz="2000" b="1" i="1">
                <a:solidFill>
                  <a:srgbClr val="CC3300"/>
                </a:solidFill>
                <a:latin typeface="Book Antiqua" pitchFamily="18" charset="0"/>
                <a:cs typeface="Times New Roman" pitchFamily="18" charset="0"/>
              </a:rPr>
              <a:t>Find solution more efficiency</a:t>
            </a:r>
          </a:p>
        </p:txBody>
      </p:sp>
      <p:sp>
        <p:nvSpPr>
          <p:cNvPr id="4107" name="AutoShape 13"/>
          <p:cNvSpPr>
            <a:spLocks noChangeArrowheads="1"/>
          </p:cNvSpPr>
          <p:nvPr/>
        </p:nvSpPr>
        <p:spPr bwMode="ltGray">
          <a:xfrm>
            <a:off x="3733800" y="4953000"/>
            <a:ext cx="2057400" cy="1066800"/>
          </a:xfrm>
          <a:prstGeom prst="chevron">
            <a:avLst>
              <a:gd name="adj" fmla="val 48214"/>
            </a:avLst>
          </a:prstGeom>
          <a:solidFill>
            <a:srgbClr val="FFFFCC"/>
          </a:solidFill>
          <a:ln w="12700">
            <a:solidFill>
              <a:srgbClr val="000000"/>
            </a:solidFill>
            <a:miter lim="800000"/>
            <a:headEnd type="none" w="sm" len="sm"/>
            <a:tailEnd type="none" w="sm" len="sm"/>
          </a:ln>
        </p:spPr>
        <p:txBody>
          <a:bodyPr wrap="none" anchor="ctr"/>
          <a:lstStyle/>
          <a:p>
            <a:pPr algn="ctr"/>
            <a:r>
              <a:rPr lang="en-US">
                <a:solidFill>
                  <a:srgbClr val="000000"/>
                </a:solidFill>
                <a:latin typeface="Tahoma" pitchFamily="34" charset="0"/>
                <a:cs typeface="Tahoma" pitchFamily="34" charset="0"/>
              </a:rPr>
              <a:t>Eval(State) </a:t>
            </a:r>
          </a:p>
          <a:p>
            <a:pPr algn="ctr"/>
            <a:r>
              <a:rPr lang="en-US">
                <a:solidFill>
                  <a:srgbClr val="000000"/>
                </a:solidFill>
                <a:latin typeface="Tahoma" pitchFamily="34" charset="0"/>
                <a:cs typeface="Tahoma" pitchFamily="34" charset="0"/>
              </a:rPr>
              <a:t>? </a:t>
            </a:r>
          </a:p>
          <a:p>
            <a:pPr algn="ctr"/>
            <a:r>
              <a:rPr lang="en-US">
                <a:solidFill>
                  <a:srgbClr val="000000"/>
                </a:solidFill>
                <a:latin typeface="Tahoma" pitchFamily="34" charset="0"/>
                <a:cs typeface="Tahoma" pitchFamily="34" charset="0"/>
              </a:rPr>
              <a:t>Eval(Goal)</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 Strategies</a:t>
            </a:r>
          </a:p>
        </p:txBody>
      </p:sp>
      <p:sp>
        <p:nvSpPr>
          <p:cNvPr id="3" name="Content Placeholder 2"/>
          <p:cNvSpPr>
            <a:spLocks noGrp="1"/>
          </p:cNvSpPr>
          <p:nvPr>
            <p:ph sz="quarter" idx="1"/>
          </p:nvPr>
        </p:nvSpPr>
        <p:spPr/>
        <p:txBody>
          <a:bodyPr/>
          <a:lstStyle/>
          <a:p>
            <a:r>
              <a:rPr lang="en-US" dirty="0"/>
              <a:t>If a state is not a goal, we cannot tell how close to the goal it might be.</a:t>
            </a:r>
          </a:p>
          <a:p>
            <a:r>
              <a:rPr lang="en-US" dirty="0"/>
              <a:t>Hence, all we can do is move systematically between states until we stumble on a goal.</a:t>
            </a:r>
          </a:p>
          <a:p>
            <a:r>
              <a:rPr lang="en-US" dirty="0"/>
              <a:t>In contrast, informed (heuristic) search uses a guess on how close to the goal a state might be.</a:t>
            </a:r>
          </a:p>
          <a:p>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3"/>
          <p:cNvSpPr>
            <a:spLocks noGrp="1"/>
          </p:cNvSpPr>
          <p:nvPr>
            <p:ph type="sldNum" sz="quarter" idx="10"/>
          </p:nvPr>
        </p:nvSpPr>
        <p:spPr>
          <a:noFill/>
        </p:spPr>
        <p:txBody>
          <a:bodyPr/>
          <a:lstStyle/>
          <a:p>
            <a:fld id="{17A2D38F-D7DB-4CD9-8879-C7EDA7771762}" type="slidenum">
              <a:rPr lang="en-US"/>
              <a:pPr/>
              <a:t>79</a:t>
            </a:fld>
            <a:endParaRPr lang="en-US"/>
          </a:p>
        </p:txBody>
      </p:sp>
      <p:sp>
        <p:nvSpPr>
          <p:cNvPr id="50179" name="Rectangle 1"/>
          <p:cNvSpPr>
            <a:spLocks noGrp="1" noChangeArrowheads="1"/>
          </p:cNvSpPr>
          <p:nvPr>
            <p:ph type="title"/>
          </p:nvPr>
        </p:nvSpPr>
        <p:spPr/>
        <p:txBody>
          <a:bodyPr rIns="132080"/>
          <a:lstStyle/>
          <a:p>
            <a:pPr indent="0" eaLnBrk="1" hangingPunct="1"/>
            <a:r>
              <a:rPr lang="en-US"/>
              <a:t>Uninformed vs. informed</a:t>
            </a:r>
          </a:p>
        </p:txBody>
      </p:sp>
      <p:sp>
        <p:nvSpPr>
          <p:cNvPr id="50180" name="Rectangle 2"/>
          <p:cNvSpPr>
            <a:spLocks noGrp="1" noChangeArrowheads="1"/>
          </p:cNvSpPr>
          <p:nvPr>
            <p:ph type="body" idx="1"/>
          </p:nvPr>
        </p:nvSpPr>
        <p:spPr/>
        <p:txBody>
          <a:bodyPr rIns="132080"/>
          <a:lstStyle/>
          <a:p>
            <a:pPr eaLnBrk="1" hangingPunct="1"/>
            <a:r>
              <a:rPr lang="en-US"/>
              <a:t>Blind (or uninformed) search algorithms:</a:t>
            </a:r>
          </a:p>
          <a:p>
            <a:pPr marL="782638" lvl="1" eaLnBrk="1" hangingPunct="1"/>
            <a:r>
              <a:rPr lang="en-US"/>
              <a:t>Solution cost is not taken into account.</a:t>
            </a:r>
          </a:p>
          <a:p>
            <a:pPr marL="782638" lvl="1" eaLnBrk="1" hangingPunct="1"/>
            <a:endParaRPr lang="en-US"/>
          </a:p>
          <a:p>
            <a:pPr eaLnBrk="1" hangingPunct="1"/>
            <a:r>
              <a:rPr lang="en-US"/>
              <a:t>Heuristic (or informed) search algorithms:</a:t>
            </a:r>
          </a:p>
          <a:p>
            <a:pPr marL="782638" lvl="1" eaLnBrk="1" hangingPunct="1"/>
            <a:r>
              <a:rPr lang="en-US"/>
              <a:t>A solution cost estimation is used to guide the search.</a:t>
            </a:r>
          </a:p>
          <a:p>
            <a:pPr marL="782638" lvl="1" eaLnBrk="1" hangingPunct="1"/>
            <a:r>
              <a:rPr lang="en-US"/>
              <a:t>The optimal solution, or even a solution, are not guaranteed. </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p:txBody>
          <a:bodyPr rIns="132080"/>
          <a:lstStyle/>
          <a:p>
            <a:pPr indent="0" eaLnBrk="1" hangingPunct="1"/>
            <a:r>
              <a:rPr lang="en-US"/>
              <a:t>Uninformed Search Strategies</a:t>
            </a:r>
          </a:p>
        </p:txBody>
      </p:sp>
      <p:sp>
        <p:nvSpPr>
          <p:cNvPr id="35843" name="Rectangle 2"/>
          <p:cNvSpPr>
            <a:spLocks noGrp="1" noChangeArrowheads="1"/>
          </p:cNvSpPr>
          <p:nvPr>
            <p:ph sz="quarter" idx="1"/>
          </p:nvPr>
        </p:nvSpPr>
        <p:spPr/>
        <p:txBody>
          <a:bodyPr rIns="132080">
            <a:normAutofit/>
          </a:bodyPr>
          <a:lstStyle/>
          <a:p>
            <a:pPr eaLnBrk="1" hangingPunct="1"/>
            <a:r>
              <a:rPr lang="en-US" dirty="0"/>
              <a:t>Uninformed strategies use only the information available in the problem definition.</a:t>
            </a:r>
          </a:p>
          <a:p>
            <a:pPr eaLnBrk="1" hangingPunct="1">
              <a:buNone/>
            </a:pPr>
            <a:endParaRPr lang="en-US" dirty="0"/>
          </a:p>
          <a:p>
            <a:pPr marL="782638" lvl="1" eaLnBrk="1" hangingPunct="1"/>
            <a:r>
              <a:rPr lang="en-US" dirty="0"/>
              <a:t>Breadth-first search</a:t>
            </a:r>
          </a:p>
          <a:p>
            <a:pPr marL="782638" lvl="1" eaLnBrk="1" hangingPunct="1"/>
            <a:r>
              <a:rPr lang="en-US" dirty="0"/>
              <a:t>Uniform-cost search</a:t>
            </a:r>
          </a:p>
          <a:p>
            <a:pPr marL="782638" lvl="1" eaLnBrk="1" hangingPunct="1"/>
            <a:r>
              <a:rPr lang="en-US" dirty="0"/>
              <a:t>Depth-first search</a:t>
            </a:r>
          </a:p>
          <a:p>
            <a:pPr marL="782638" lvl="1" eaLnBrk="1" hangingPunct="1"/>
            <a:r>
              <a:rPr lang="en-US" dirty="0"/>
              <a:t>Depth-limited search</a:t>
            </a:r>
          </a:p>
          <a:p>
            <a:pPr marL="782638" lvl="1" eaLnBrk="1" hangingPunct="1"/>
            <a:r>
              <a:rPr lang="en-US" dirty="0"/>
              <a:t>Iterative deepening search</a:t>
            </a:r>
          </a:p>
          <a:p>
            <a:pPr marL="782638" lvl="1" eaLnBrk="1" hangingPunct="1"/>
            <a:r>
              <a:rPr lang="en-US" dirty="0"/>
              <a:t>Bidirectional Search</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Breadth-First</a:t>
            </a:r>
          </a:p>
        </p:txBody>
      </p:sp>
      <p:pic>
        <p:nvPicPr>
          <p:cNvPr id="167938" name="Picture 2"/>
          <p:cNvPicPr>
            <a:picLocks noGrp="1" noChangeAspect="1" noChangeArrowheads="1"/>
          </p:cNvPicPr>
          <p:nvPr>
            <p:ph sz="quarter" idx="1"/>
          </p:nvPr>
        </p:nvPicPr>
        <p:blipFill>
          <a:blip r:embed="rId2"/>
          <a:stretch>
            <a:fillRect/>
          </a:stretch>
        </p:blipFill>
        <p:spPr bwMode="auto">
          <a:xfrm>
            <a:off x="1343949" y="1527175"/>
            <a:ext cx="6419589" cy="4572000"/>
          </a:xfrm>
          <a:prstGeom prst="rect">
            <a:avLst/>
          </a:prstGeom>
          <a:noFill/>
          <a:ln w="9525">
            <a:noFill/>
            <a:miter lim="800000"/>
            <a:headEnd/>
            <a:tailEnd/>
          </a:ln>
          <a:effec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p:cNvSpPr>
            <a:spLocks noGrp="1"/>
          </p:cNvSpPr>
          <p:nvPr>
            <p:ph type="sldNum" sz="quarter" idx="12"/>
          </p:nvPr>
        </p:nvSpPr>
        <p:spPr>
          <a:noFill/>
        </p:spPr>
        <p:txBody>
          <a:bodyPr/>
          <a:lstStyle/>
          <a:p>
            <a:fld id="{C3F8887F-5531-4B6D-BE51-75C51C72A4F7}" type="slidenum">
              <a:rPr lang="en-US"/>
              <a:pPr/>
              <a:t>82</a:t>
            </a:fld>
            <a:endParaRPr lang="en-US"/>
          </a:p>
        </p:txBody>
      </p:sp>
      <p:pic>
        <p:nvPicPr>
          <p:cNvPr id="20483" name="Picture 2"/>
          <p:cNvPicPr>
            <a:picLocks noChangeAspect="1" noChangeArrowheads="1"/>
          </p:cNvPicPr>
          <p:nvPr/>
        </p:nvPicPr>
        <p:blipFill>
          <a:blip r:embed="rId3"/>
          <a:srcRect l="3125" t="12500" r="5469" b="7292"/>
          <a:stretch>
            <a:fillRect/>
          </a:stretch>
        </p:blipFill>
        <p:spPr bwMode="auto">
          <a:xfrm>
            <a:off x="0" y="0"/>
            <a:ext cx="9144000" cy="6858000"/>
          </a:xfrm>
          <a:prstGeom prst="rect">
            <a:avLst/>
          </a:prstGeom>
          <a:noFill/>
          <a:ln w="12700">
            <a:noFill/>
            <a:miter lim="800000"/>
            <a:headEnd/>
            <a:tailEnd/>
          </a:ln>
        </p:spPr>
      </p:pic>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a:spLocks noGrp="1"/>
          </p:cNvSpPr>
          <p:nvPr>
            <p:ph type="sldNum" sz="quarter" idx="12"/>
          </p:nvPr>
        </p:nvSpPr>
        <p:spPr>
          <a:noFill/>
        </p:spPr>
        <p:txBody>
          <a:bodyPr/>
          <a:lstStyle/>
          <a:p>
            <a:fld id="{01FF6DB1-88A9-4D56-84EA-D4EFBA4299B7}" type="slidenum">
              <a:rPr lang="en-US"/>
              <a:pPr/>
              <a:t>83</a:t>
            </a:fld>
            <a:endParaRPr lang="en-US"/>
          </a:p>
        </p:txBody>
      </p:sp>
      <p:pic>
        <p:nvPicPr>
          <p:cNvPr id="21507" name="Picture 2"/>
          <p:cNvPicPr>
            <a:picLocks noChangeAspect="1" noChangeArrowheads="1"/>
          </p:cNvPicPr>
          <p:nvPr/>
        </p:nvPicPr>
        <p:blipFill>
          <a:blip r:embed="rId3"/>
          <a:srcRect l="4688" t="12500" r="3125" b="8333"/>
          <a:stretch>
            <a:fillRect/>
          </a:stretch>
        </p:blipFill>
        <p:spPr bwMode="auto">
          <a:xfrm>
            <a:off x="0" y="0"/>
            <a:ext cx="9144000" cy="6858000"/>
          </a:xfrm>
          <a:prstGeom prst="rect">
            <a:avLst/>
          </a:prstGeom>
          <a:noFill/>
          <a:ln w="12700">
            <a:noFill/>
            <a:miter lim="800000"/>
            <a:headEnd/>
            <a:tailEnd/>
          </a:ln>
        </p:spPr>
      </p:pic>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12"/>
          </p:nvPr>
        </p:nvSpPr>
        <p:spPr>
          <a:noFill/>
        </p:spPr>
        <p:txBody>
          <a:bodyPr/>
          <a:lstStyle/>
          <a:p>
            <a:fld id="{533B73E8-C98C-4F70-940D-6C9B863F9E92}" type="slidenum">
              <a:rPr lang="en-US"/>
              <a:pPr/>
              <a:t>84</a:t>
            </a:fld>
            <a:endParaRPr lang="en-US"/>
          </a:p>
        </p:txBody>
      </p:sp>
      <p:pic>
        <p:nvPicPr>
          <p:cNvPr id="22531" name="Picture 2"/>
          <p:cNvPicPr>
            <a:picLocks noChangeAspect="1" noChangeArrowheads="1"/>
          </p:cNvPicPr>
          <p:nvPr/>
        </p:nvPicPr>
        <p:blipFill>
          <a:blip r:embed="rId3"/>
          <a:srcRect l="4688" t="11458" r="3125" b="9375"/>
          <a:stretch>
            <a:fillRect/>
          </a:stretch>
        </p:blipFill>
        <p:spPr bwMode="auto">
          <a:xfrm>
            <a:off x="0" y="0"/>
            <a:ext cx="9144000" cy="6858000"/>
          </a:xfrm>
          <a:prstGeom prst="rect">
            <a:avLst/>
          </a:prstGeom>
          <a:noFill/>
          <a:ln w="12700">
            <a:noFill/>
            <a:miter lim="800000"/>
            <a:headEnd/>
            <a:tailEnd/>
          </a:ln>
        </p:spPr>
      </p:pic>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p:cNvSpPr>
            <a:spLocks noGrp="1"/>
          </p:cNvSpPr>
          <p:nvPr>
            <p:ph type="sldNum" sz="quarter" idx="12"/>
          </p:nvPr>
        </p:nvSpPr>
        <p:spPr>
          <a:noFill/>
        </p:spPr>
        <p:txBody>
          <a:bodyPr/>
          <a:lstStyle/>
          <a:p>
            <a:fld id="{30B4680C-3EC9-42DD-9710-B0EDD29011D1}" type="slidenum">
              <a:rPr lang="en-US"/>
              <a:pPr/>
              <a:t>85</a:t>
            </a:fld>
            <a:endParaRPr lang="en-US"/>
          </a:p>
        </p:txBody>
      </p:sp>
      <p:pic>
        <p:nvPicPr>
          <p:cNvPr id="23555" name="Picture 2"/>
          <p:cNvPicPr>
            <a:picLocks noChangeAspect="1" noChangeArrowheads="1"/>
          </p:cNvPicPr>
          <p:nvPr/>
        </p:nvPicPr>
        <p:blipFill>
          <a:blip r:embed="rId3"/>
          <a:srcRect l="3906" t="11458" r="3906" b="7292"/>
          <a:stretch>
            <a:fillRect/>
          </a:stretch>
        </p:blipFill>
        <p:spPr bwMode="auto">
          <a:xfrm>
            <a:off x="0" y="0"/>
            <a:ext cx="9144000" cy="6858000"/>
          </a:xfrm>
          <a:prstGeom prst="rect">
            <a:avLst/>
          </a:prstGeom>
          <a:noFill/>
          <a:ln w="12700">
            <a:noFill/>
            <a:miter lim="800000"/>
            <a:headEnd/>
            <a:tailEnd/>
          </a:ln>
        </p:spPr>
      </p:pic>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74" name="Rectangle 10"/>
          <p:cNvSpPr>
            <a:spLocks noGrp="1" noChangeArrowheads="1"/>
          </p:cNvSpPr>
          <p:nvPr>
            <p:ph type="title"/>
          </p:nvPr>
        </p:nvSpPr>
        <p:spPr/>
        <p:txBody>
          <a:bodyPr/>
          <a:lstStyle/>
          <a:p>
            <a:r>
              <a:rPr lang="en-US" dirty="0"/>
              <a:t>Breadth-First</a:t>
            </a:r>
          </a:p>
        </p:txBody>
      </p:sp>
      <p:sp>
        <p:nvSpPr>
          <p:cNvPr id="88075" name="Rectangle 11"/>
          <p:cNvSpPr>
            <a:spLocks noGrp="1" noChangeArrowheads="1"/>
          </p:cNvSpPr>
          <p:nvPr>
            <p:ph sz="quarter" idx="1"/>
          </p:nvPr>
        </p:nvSpPr>
        <p:spPr/>
        <p:txBody>
          <a:bodyPr/>
          <a:lstStyle/>
          <a:p>
            <a:r>
              <a:rPr lang="en-US" dirty="0"/>
              <a:t>All the nodes reachable from the current node are explored first</a:t>
            </a:r>
          </a:p>
          <a:p>
            <a:pPr lvl="1"/>
            <a:r>
              <a:rPr lang="en-US" dirty="0"/>
              <a:t>achieved by the GENERAL-SEARCH method by appending newly generated nodes at the end of the search queue</a:t>
            </a:r>
          </a:p>
        </p:txBody>
      </p:sp>
      <p:sp>
        <p:nvSpPr>
          <p:cNvPr id="88073" name="Rectangle 9"/>
          <p:cNvSpPr>
            <a:spLocks noChangeArrowheads="1"/>
          </p:cNvSpPr>
          <p:nvPr/>
        </p:nvSpPr>
        <p:spPr bwMode="auto">
          <a:xfrm>
            <a:off x="533400" y="3733800"/>
            <a:ext cx="7772400" cy="947738"/>
          </a:xfrm>
          <a:prstGeom prst="rect">
            <a:avLst/>
          </a:prstGeom>
          <a:solidFill>
            <a:srgbClr val="0099FF"/>
          </a:solidFill>
          <a:ln w="12700">
            <a:solidFill>
              <a:schemeClr val="bg2"/>
            </a:solidFill>
            <a:miter lim="800000"/>
            <a:headEnd/>
            <a:tailEnd/>
          </a:ln>
          <a:effectLst/>
        </p:spPr>
        <p:txBody>
          <a:bodyPr wrap="square">
            <a:spAutoFit/>
          </a:bodyPr>
          <a:lstStyle/>
          <a:p>
            <a:r>
              <a:rPr lang="en-US" sz="1800" b="1" dirty="0">
                <a:solidFill>
                  <a:schemeClr val="bg2"/>
                </a:solidFill>
                <a:latin typeface="Avant Garde" charset="0"/>
              </a:rPr>
              <a:t>function</a:t>
            </a:r>
            <a:r>
              <a:rPr lang="en-US" sz="1800" dirty="0">
                <a:solidFill>
                  <a:schemeClr val="bg2"/>
                </a:solidFill>
                <a:latin typeface="Avant Garde" charset="0"/>
              </a:rPr>
              <a:t> BREADTH-FIRST-SEARCH(</a:t>
            </a:r>
            <a:r>
              <a:rPr lang="en-US" sz="1800" i="1" dirty="0">
                <a:solidFill>
                  <a:schemeClr val="bg2"/>
                </a:solidFill>
                <a:latin typeface="Avant Garde" charset="0"/>
              </a:rPr>
              <a:t>problem</a:t>
            </a:r>
            <a:r>
              <a:rPr lang="en-US" sz="1800" dirty="0">
                <a:solidFill>
                  <a:schemeClr val="bg2"/>
                </a:solidFill>
                <a:latin typeface="Avant Garde" charset="0"/>
              </a:rPr>
              <a:t>) </a:t>
            </a:r>
            <a:r>
              <a:rPr lang="en-US" sz="1800" b="1" dirty="0">
                <a:solidFill>
                  <a:schemeClr val="bg2"/>
                </a:solidFill>
                <a:latin typeface="Avant Garde" charset="0"/>
              </a:rPr>
              <a:t>returns</a:t>
            </a:r>
            <a:r>
              <a:rPr lang="en-US" sz="1800" dirty="0">
                <a:solidFill>
                  <a:schemeClr val="bg2"/>
                </a:solidFill>
                <a:latin typeface="Avant Garde" charset="0"/>
              </a:rPr>
              <a:t> </a:t>
            </a:r>
            <a:r>
              <a:rPr lang="en-US" sz="1800" i="1" dirty="0">
                <a:solidFill>
                  <a:schemeClr val="bg2"/>
                </a:solidFill>
                <a:latin typeface="Avant Garde" charset="0"/>
              </a:rPr>
              <a:t>solution</a:t>
            </a:r>
            <a:endParaRPr lang="en-US" sz="1800" dirty="0">
              <a:solidFill>
                <a:schemeClr val="bg2"/>
              </a:solidFill>
              <a:latin typeface="Avant Garde" charset="0"/>
            </a:endParaRPr>
          </a:p>
          <a:p>
            <a:r>
              <a:rPr lang="en-US" sz="1800" dirty="0">
                <a:solidFill>
                  <a:schemeClr val="bg2"/>
                </a:solidFill>
                <a:latin typeface="Avant Garde" charset="0"/>
              </a:rPr>
              <a:t>	</a:t>
            </a:r>
            <a:endParaRPr lang="en-US" sz="1800" i="1" dirty="0">
              <a:solidFill>
                <a:schemeClr val="bg2"/>
              </a:solidFill>
              <a:latin typeface="Avant Garde" charset="0"/>
            </a:endParaRPr>
          </a:p>
          <a:p>
            <a:r>
              <a:rPr lang="en-US" sz="1800" i="1" dirty="0">
                <a:solidFill>
                  <a:schemeClr val="bg2"/>
                </a:solidFill>
                <a:latin typeface="Avant Garde" charset="0"/>
              </a:rPr>
              <a:t>	</a:t>
            </a:r>
            <a:r>
              <a:rPr lang="en-US" sz="1800" b="1" dirty="0">
                <a:solidFill>
                  <a:schemeClr val="bg2"/>
                </a:solidFill>
                <a:latin typeface="Avant Garde" charset="0"/>
              </a:rPr>
              <a:t>return </a:t>
            </a:r>
            <a:r>
              <a:rPr lang="en-US" sz="1800" dirty="0">
                <a:solidFill>
                  <a:schemeClr val="bg2"/>
                </a:solidFill>
                <a:latin typeface="Avant Garde" charset="0"/>
              </a:rPr>
              <a:t>GENERAL-SEARCH(</a:t>
            </a:r>
            <a:r>
              <a:rPr lang="en-US" sz="1800" i="1" dirty="0">
                <a:solidFill>
                  <a:schemeClr val="bg2"/>
                </a:solidFill>
                <a:latin typeface="Avant Garde" charset="0"/>
              </a:rPr>
              <a:t>problem, </a:t>
            </a:r>
            <a:r>
              <a:rPr lang="en-US" sz="1800" dirty="0">
                <a:solidFill>
                  <a:schemeClr val="bg2"/>
                </a:solidFill>
                <a:latin typeface="Avant Garde" charset="0"/>
              </a:rPr>
              <a:t>ENQUEUE-AT-END)</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Breadth-First</a:t>
            </a:r>
          </a:p>
        </p:txBody>
      </p:sp>
      <p:pic>
        <p:nvPicPr>
          <p:cNvPr id="168962" name="Picture 2"/>
          <p:cNvPicPr>
            <a:picLocks noGrp="1" noChangeAspect="1" noChangeArrowheads="1"/>
          </p:cNvPicPr>
          <p:nvPr>
            <p:ph sz="quarter" idx="1"/>
          </p:nvPr>
        </p:nvPicPr>
        <p:blipFill>
          <a:blip r:embed="rId2"/>
          <a:stretch>
            <a:fillRect/>
          </a:stretch>
        </p:blipFill>
        <p:spPr bwMode="auto">
          <a:xfrm>
            <a:off x="1402211" y="1524000"/>
            <a:ext cx="6303065" cy="4648199"/>
          </a:xfrm>
          <a:prstGeom prst="rect">
            <a:avLst/>
          </a:prstGeom>
          <a:noFill/>
          <a:ln w="9525">
            <a:noFill/>
            <a:miter lim="800000"/>
            <a:headEnd/>
            <a:tailEnd/>
          </a:ln>
          <a:effec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p:cNvSpPr>
          <p:nvPr/>
        </p:nvSpPr>
        <p:spPr bwMode="auto">
          <a:xfrm>
            <a:off x="304800" y="1524000"/>
            <a:ext cx="7162800" cy="4572000"/>
          </a:xfrm>
          <a:prstGeom prst="rect">
            <a:avLst/>
          </a:prstGeom>
          <a:solidFill>
            <a:srgbClr val="00CECE"/>
          </a:solidFill>
          <a:ln w="12700">
            <a:noFill/>
            <a:miter lim="800000"/>
            <a:headEnd/>
            <a:tailEnd/>
          </a:ln>
        </p:spPr>
        <p:txBody>
          <a:bodyPr lIns="0" tIns="0" rIns="0" bIns="0"/>
          <a:lstStyle/>
          <a:p>
            <a:endParaRPr lang="en-US"/>
          </a:p>
        </p:txBody>
      </p:sp>
      <p:sp>
        <p:nvSpPr>
          <p:cNvPr id="67588" name="Rectangle 4"/>
          <p:cNvSpPr>
            <a:spLocks noGrp="1" noChangeArrowheads="1"/>
          </p:cNvSpPr>
          <p:nvPr>
            <p:ph type="title"/>
          </p:nvPr>
        </p:nvSpPr>
        <p:spPr/>
        <p:txBody>
          <a:bodyPr rIns="130174"/>
          <a:lstStyle/>
          <a:p>
            <a:pPr indent="0" eaLnBrk="1" hangingPunct="1">
              <a:defRPr/>
            </a:pPr>
            <a:r>
              <a:rPr lang="en-US"/>
              <a:t>Breadth-First Snapshot 1</a:t>
            </a:r>
          </a:p>
        </p:txBody>
      </p:sp>
      <p:sp>
        <p:nvSpPr>
          <p:cNvPr id="64518"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64519" name="Line 6"/>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64520" name="Line 7"/>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64521" name="Oval 8"/>
          <p:cNvSpPr>
            <a:spLocks/>
          </p:cNvSpPr>
          <p:nvPr/>
        </p:nvSpPr>
        <p:spPr bwMode="auto">
          <a:xfrm flipH="1">
            <a:off x="4572000" y="251460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4522" name="Oval 9"/>
          <p:cNvSpPr>
            <a:spLocks/>
          </p:cNvSpPr>
          <p:nvPr/>
        </p:nvSpPr>
        <p:spPr bwMode="auto">
          <a:xfrm>
            <a:off x="2743200" y="251460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4523" name="Oval 10"/>
          <p:cNvSpPr>
            <a:spLocks/>
          </p:cNvSpPr>
          <p:nvPr/>
        </p:nvSpPr>
        <p:spPr bwMode="auto">
          <a:xfrm>
            <a:off x="3657600" y="1570038"/>
            <a:ext cx="304800" cy="304800"/>
          </a:xfrm>
          <a:prstGeom prst="ellipse">
            <a:avLst/>
          </a:prstGeom>
          <a:solidFill>
            <a:srgbClr val="FF8000"/>
          </a:solidFill>
          <a:ln w="76200">
            <a:solidFill>
              <a:srgbClr val="000020"/>
            </a:solidFill>
            <a:round/>
            <a:headEnd/>
            <a:tailEnd/>
          </a:ln>
        </p:spPr>
        <p:txBody>
          <a:bodyPr lIns="0" tIns="0" rIns="0" bIns="0"/>
          <a:lstStyle/>
          <a:p>
            <a:endParaRPr lang="en-US"/>
          </a:p>
        </p:txBody>
      </p:sp>
      <p:sp>
        <p:nvSpPr>
          <p:cNvPr id="64524" name="Rectangle 11"/>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64525" name="Oval 12"/>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4526" name="Rectangle 13"/>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64527" name="Oval 14"/>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4528" name="Rectangle 15"/>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64529" name="Oval 16"/>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64530" name="Rectangle 17"/>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64531" name="Oval 18"/>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4532" name="Rectangle 19"/>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64533" name="Oval 20"/>
          <p:cNvSpPr>
            <a:spLocks/>
          </p:cNvSpPr>
          <p:nvPr/>
        </p:nvSpPr>
        <p:spPr bwMode="auto">
          <a:xfrm>
            <a:off x="8769350" y="3187700"/>
            <a:ext cx="304800" cy="304800"/>
          </a:xfrm>
          <a:prstGeom prst="ellipse">
            <a:avLst/>
          </a:prstGeom>
          <a:solidFill>
            <a:srgbClr val="FF0000"/>
          </a:solidFill>
          <a:ln w="12700">
            <a:solidFill>
              <a:srgbClr val="000020"/>
            </a:solidFill>
            <a:round/>
            <a:headEnd/>
            <a:tailEnd/>
          </a:ln>
        </p:spPr>
        <p:txBody>
          <a:bodyPr lIns="0" tIns="0" rIns="0" bIns="0"/>
          <a:lstStyle/>
          <a:p>
            <a:endParaRPr lang="en-US"/>
          </a:p>
        </p:txBody>
      </p:sp>
      <p:sp>
        <p:nvSpPr>
          <p:cNvPr id="64534" name="Rectangle 21"/>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64535" name="Rectangle 22"/>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64536" name="Rectangle 23"/>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64537" name="Rectangle 24"/>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64538" name="Rectangle 25"/>
          <p:cNvSpPr>
            <a:spLocks/>
          </p:cNvSpPr>
          <p:nvPr/>
        </p:nvSpPr>
        <p:spPr bwMode="auto">
          <a:xfrm>
            <a:off x="2498725" y="6316663"/>
            <a:ext cx="1582738"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a:t>
            </a:r>
            <a:r>
              <a:rPr lang="en-US" sz="1600">
                <a:solidFill>
                  <a:srgbClr val="00FF00"/>
                </a:solidFill>
                <a:latin typeface="Arial" charset="0"/>
                <a:cs typeface="Arial" charset="0"/>
                <a:sym typeface="Arial" charset="0"/>
              </a:rPr>
              <a:t> + [2,3]</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3"/>
          <p:cNvSpPr>
            <a:spLocks/>
          </p:cNvSpPr>
          <p:nvPr/>
        </p:nvSpPr>
        <p:spPr bwMode="auto">
          <a:xfrm>
            <a:off x="457200" y="1371600"/>
            <a:ext cx="7162800" cy="4876800"/>
          </a:xfrm>
          <a:prstGeom prst="rect">
            <a:avLst/>
          </a:prstGeom>
          <a:solidFill>
            <a:srgbClr val="00CECE"/>
          </a:solidFill>
          <a:ln w="12700">
            <a:noFill/>
            <a:miter lim="800000"/>
            <a:headEnd/>
            <a:tailEnd/>
          </a:ln>
        </p:spPr>
        <p:txBody>
          <a:bodyPr lIns="0" tIns="0" rIns="0" bIns="0"/>
          <a:lstStyle/>
          <a:p>
            <a:endParaRPr lang="en-US"/>
          </a:p>
        </p:txBody>
      </p:sp>
      <p:sp>
        <p:nvSpPr>
          <p:cNvPr id="69636" name="Rectangle 4"/>
          <p:cNvSpPr>
            <a:spLocks noGrp="1" noChangeArrowheads="1"/>
          </p:cNvSpPr>
          <p:nvPr>
            <p:ph type="title"/>
          </p:nvPr>
        </p:nvSpPr>
        <p:spPr/>
        <p:txBody>
          <a:bodyPr rIns="130174"/>
          <a:lstStyle/>
          <a:p>
            <a:pPr indent="0" eaLnBrk="1" hangingPunct="1">
              <a:defRPr/>
            </a:pPr>
            <a:r>
              <a:rPr lang="en-US"/>
              <a:t>Breadth-First Snapshot 2</a:t>
            </a:r>
          </a:p>
        </p:txBody>
      </p:sp>
      <p:sp>
        <p:nvSpPr>
          <p:cNvPr id="65542"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65543"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65544" name="Line 7"/>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65545" name="Line 8"/>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65546" name="Line 9"/>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65547" name="Oval 10"/>
          <p:cNvSpPr>
            <a:spLocks/>
          </p:cNvSpPr>
          <p:nvPr/>
        </p:nvSpPr>
        <p:spPr bwMode="auto">
          <a:xfrm>
            <a:off x="3124200" y="35210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5548" name="Oval 11"/>
          <p:cNvSpPr>
            <a:spLocks/>
          </p:cNvSpPr>
          <p:nvPr/>
        </p:nvSpPr>
        <p:spPr bwMode="auto">
          <a:xfrm>
            <a:off x="1981200" y="35210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5549" name="Oval 12"/>
          <p:cNvSpPr>
            <a:spLocks/>
          </p:cNvSpPr>
          <p:nvPr/>
        </p:nvSpPr>
        <p:spPr bwMode="auto">
          <a:xfrm flipH="1">
            <a:off x="4572000" y="25146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5550" name="Oval 13"/>
          <p:cNvSpPr>
            <a:spLocks/>
          </p:cNvSpPr>
          <p:nvPr/>
        </p:nvSpPr>
        <p:spPr bwMode="auto">
          <a:xfrm>
            <a:off x="2743200" y="251460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65551" name="Oval 14"/>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65552" name="Rectangle 15"/>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65553" name="Oval 16"/>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5554" name="Rectangle 17"/>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65555" name="Oval 18"/>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5556" name="Rectangle 19"/>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65557" name="Oval 20"/>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65558" name="Rectangle 21"/>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65559" name="Oval 22"/>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5560" name="Rectangle 23"/>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65561" name="Oval 24"/>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65562" name="Rectangle 25"/>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65563" name="Rectangle 26"/>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65564" name="Rectangle 27"/>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65565" name="Rectangle 28"/>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65566" name="Rectangle 29"/>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65567" name="Rectangle 30"/>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65568" name="Rectangle 31"/>
          <p:cNvSpPr>
            <a:spLocks/>
          </p:cNvSpPr>
          <p:nvPr/>
        </p:nvSpPr>
        <p:spPr bwMode="auto">
          <a:xfrm>
            <a:off x="2498725" y="6316663"/>
            <a:ext cx="1695450"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[3] </a:t>
            </a:r>
            <a:r>
              <a:rPr lang="en-US" sz="1600">
                <a:solidFill>
                  <a:srgbClr val="00FF00"/>
                </a:solidFill>
                <a:latin typeface="Arial" charset="0"/>
                <a:cs typeface="Arial" charset="0"/>
                <a:sym typeface="Arial" charset="0"/>
              </a:rPr>
              <a:t>+ [4,5]</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3"/>
          <p:cNvSpPr>
            <a:spLocks/>
          </p:cNvSpPr>
          <p:nvPr/>
        </p:nvSpPr>
        <p:spPr bwMode="auto">
          <a:xfrm>
            <a:off x="457200" y="1371600"/>
            <a:ext cx="7162800" cy="4724400"/>
          </a:xfrm>
          <a:prstGeom prst="rect">
            <a:avLst/>
          </a:prstGeom>
          <a:solidFill>
            <a:srgbClr val="00CECE"/>
          </a:solidFill>
          <a:ln w="12700">
            <a:noFill/>
            <a:miter lim="800000"/>
            <a:headEnd/>
            <a:tailEnd/>
          </a:ln>
        </p:spPr>
        <p:txBody>
          <a:bodyPr lIns="0" tIns="0" rIns="0" bIns="0"/>
          <a:lstStyle/>
          <a:p>
            <a:endParaRPr lang="en-US"/>
          </a:p>
        </p:txBody>
      </p:sp>
      <p:sp>
        <p:nvSpPr>
          <p:cNvPr id="70660" name="Rectangle 4"/>
          <p:cNvSpPr>
            <a:spLocks noGrp="1" noChangeArrowheads="1"/>
          </p:cNvSpPr>
          <p:nvPr>
            <p:ph type="title"/>
          </p:nvPr>
        </p:nvSpPr>
        <p:spPr/>
        <p:txBody>
          <a:bodyPr rIns="130174"/>
          <a:lstStyle/>
          <a:p>
            <a:pPr indent="0" eaLnBrk="1" hangingPunct="1">
              <a:defRPr/>
            </a:pPr>
            <a:r>
              <a:rPr lang="en-US"/>
              <a:t>Breadth-First Snapshot 3</a:t>
            </a:r>
          </a:p>
        </p:txBody>
      </p:sp>
      <p:sp>
        <p:nvSpPr>
          <p:cNvPr id="66566"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66567"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66568" name="Line 7"/>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66569" name="Line 8"/>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66570" name="Line 9"/>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66571" name="Line 10"/>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66572" name="Line 11"/>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66573" name="Oval 12"/>
          <p:cNvSpPr>
            <a:spLocks/>
          </p:cNvSpPr>
          <p:nvPr/>
        </p:nvSpPr>
        <p:spPr bwMode="auto">
          <a:xfrm flipH="1">
            <a:off x="5353050" y="35210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6574" name="Oval 13"/>
          <p:cNvSpPr>
            <a:spLocks/>
          </p:cNvSpPr>
          <p:nvPr/>
        </p:nvSpPr>
        <p:spPr bwMode="auto">
          <a:xfrm>
            <a:off x="3124200" y="352107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6575" name="Oval 14"/>
          <p:cNvSpPr>
            <a:spLocks/>
          </p:cNvSpPr>
          <p:nvPr/>
        </p:nvSpPr>
        <p:spPr bwMode="auto">
          <a:xfrm>
            <a:off x="4229100" y="35210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6576" name="Oval 15"/>
          <p:cNvSpPr>
            <a:spLocks/>
          </p:cNvSpPr>
          <p:nvPr/>
        </p:nvSpPr>
        <p:spPr bwMode="auto">
          <a:xfrm>
            <a:off x="1981200" y="352107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6577" name="Oval 16"/>
          <p:cNvSpPr>
            <a:spLocks/>
          </p:cNvSpPr>
          <p:nvPr/>
        </p:nvSpPr>
        <p:spPr bwMode="auto">
          <a:xfrm flipH="1">
            <a:off x="4572000" y="251460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66578" name="Oval 17"/>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6579" name="Rectangle 18"/>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66580" name="Oval 19"/>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6581" name="Rectangle 20"/>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66582" name="Oval 21"/>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6583" name="Rectangle 22"/>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66584" name="Oval 23"/>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66585" name="Rectangle 24"/>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66586" name="Oval 25"/>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6587" name="Rectangle 26"/>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66588" name="Oval 27"/>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66589" name="Rectangle 28"/>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66590" name="Rectangle 29"/>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66591" name="Rectangle 30"/>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66592" name="Rectangle 31"/>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66593" name="Rectangle 32"/>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66594" name="Rectangle 33"/>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66595" name="Rectangle 34"/>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66596" name="Rectangle 35"/>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66597" name="Rectangle 36"/>
          <p:cNvSpPr>
            <a:spLocks/>
          </p:cNvSpPr>
          <p:nvPr/>
        </p:nvSpPr>
        <p:spPr bwMode="auto">
          <a:xfrm>
            <a:off x="2498725" y="6316663"/>
            <a:ext cx="1865313"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[4,5] </a:t>
            </a:r>
            <a:r>
              <a:rPr lang="en-US" sz="1600">
                <a:solidFill>
                  <a:srgbClr val="00FF00"/>
                </a:solidFill>
                <a:latin typeface="Arial" charset="0"/>
                <a:cs typeface="Arial" charset="0"/>
                <a:sym typeface="Arial" charset="0"/>
              </a:rPr>
              <a:t>+ [6,7]</a:t>
            </a:r>
          </a:p>
        </p:txBody>
      </p:sp>
      <p:sp>
        <p:nvSpPr>
          <p:cNvPr id="66598" name="Oval 37"/>
          <p:cNvSpPr>
            <a:spLocks/>
          </p:cNvSpPr>
          <p:nvPr/>
        </p:nvSpPr>
        <p:spPr bwMode="auto">
          <a:xfrm>
            <a:off x="3657600" y="1600200"/>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3"/>
          <p:cNvSpPr>
            <a:spLocks/>
          </p:cNvSpPr>
          <p:nvPr/>
        </p:nvSpPr>
        <p:spPr bwMode="auto">
          <a:xfrm>
            <a:off x="609600" y="1371600"/>
            <a:ext cx="7010400" cy="4800600"/>
          </a:xfrm>
          <a:prstGeom prst="rect">
            <a:avLst/>
          </a:prstGeom>
          <a:solidFill>
            <a:srgbClr val="00CECE"/>
          </a:solidFill>
          <a:ln w="12700">
            <a:noFill/>
            <a:miter lim="800000"/>
            <a:headEnd/>
            <a:tailEnd/>
          </a:ln>
        </p:spPr>
        <p:txBody>
          <a:bodyPr lIns="0" tIns="0" rIns="0" bIns="0"/>
          <a:lstStyle/>
          <a:p>
            <a:endParaRPr lang="en-US"/>
          </a:p>
        </p:txBody>
      </p:sp>
      <p:sp>
        <p:nvSpPr>
          <p:cNvPr id="71684" name="Rectangle 4"/>
          <p:cNvSpPr>
            <a:spLocks noGrp="1" noChangeArrowheads="1"/>
          </p:cNvSpPr>
          <p:nvPr>
            <p:ph type="title"/>
          </p:nvPr>
        </p:nvSpPr>
        <p:spPr/>
        <p:txBody>
          <a:bodyPr rIns="130174"/>
          <a:lstStyle/>
          <a:p>
            <a:pPr indent="0" eaLnBrk="1" hangingPunct="1">
              <a:defRPr/>
            </a:pPr>
            <a:r>
              <a:rPr lang="en-US"/>
              <a:t>Breadth-First Snapshot 4</a:t>
            </a:r>
          </a:p>
        </p:txBody>
      </p:sp>
      <p:sp>
        <p:nvSpPr>
          <p:cNvPr id="67590"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67591"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67592"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67593" name="Line 8"/>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67594" name="Line 9"/>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67595" name="Line 10"/>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67596" name="Line 11"/>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67597" name="Line 12"/>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67598" name="Line 13"/>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67599" name="Oval 14"/>
          <p:cNvSpPr>
            <a:spLocks/>
          </p:cNvSpPr>
          <p:nvPr/>
        </p:nvSpPr>
        <p:spPr bwMode="auto">
          <a:xfrm>
            <a:off x="1920875" y="449580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7600" name="Oval 15"/>
          <p:cNvSpPr>
            <a:spLocks/>
          </p:cNvSpPr>
          <p:nvPr/>
        </p:nvSpPr>
        <p:spPr bwMode="auto">
          <a:xfrm>
            <a:off x="1219200" y="449580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7601" name="Oval 16"/>
          <p:cNvSpPr>
            <a:spLocks/>
          </p:cNvSpPr>
          <p:nvPr/>
        </p:nvSpPr>
        <p:spPr bwMode="auto">
          <a:xfrm flipH="1">
            <a:off x="5353050" y="352107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7602" name="Oval 17"/>
          <p:cNvSpPr>
            <a:spLocks/>
          </p:cNvSpPr>
          <p:nvPr/>
        </p:nvSpPr>
        <p:spPr bwMode="auto">
          <a:xfrm>
            <a:off x="3124200" y="352107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7603" name="Oval 18"/>
          <p:cNvSpPr>
            <a:spLocks/>
          </p:cNvSpPr>
          <p:nvPr/>
        </p:nvSpPr>
        <p:spPr bwMode="auto">
          <a:xfrm>
            <a:off x="4229100" y="352107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7604" name="Oval 19"/>
          <p:cNvSpPr>
            <a:spLocks/>
          </p:cNvSpPr>
          <p:nvPr/>
        </p:nvSpPr>
        <p:spPr bwMode="auto">
          <a:xfrm>
            <a:off x="1981200" y="3521075"/>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67605" name="Oval 20"/>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7606" name="Oval 21"/>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7607" name="Oval 22"/>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67608" name="Rectangle 23"/>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67609" name="Oval 24"/>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7610" name="Rectangle 25"/>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67611" name="Oval 26"/>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7612" name="Rectangle 27"/>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67613" name="Oval 28"/>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67614" name="Rectangle 29"/>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67615" name="Oval 30"/>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7616" name="Rectangle 31"/>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67617" name="Oval 32"/>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67618" name="Rectangle 33"/>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67619" name="Rectangle 34"/>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67620" name="Rectangle 35"/>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67621" name="Rectangle 36"/>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67622" name="Rectangle 37"/>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67623" name="Rectangle 38"/>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67624" name="Rectangle 39"/>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67625" name="Rectangle 40"/>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67626" name="Rectangle 41"/>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67627" name="Rectangle 42"/>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67628" name="Rectangle 43"/>
          <p:cNvSpPr>
            <a:spLocks/>
          </p:cNvSpPr>
          <p:nvPr/>
        </p:nvSpPr>
        <p:spPr bwMode="auto">
          <a:xfrm>
            <a:off x="2498725" y="6316663"/>
            <a:ext cx="2035175"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[5,6,7] </a:t>
            </a:r>
            <a:r>
              <a:rPr lang="en-US" sz="1600">
                <a:solidFill>
                  <a:srgbClr val="00FF00"/>
                </a:solidFill>
                <a:latin typeface="Arial" charset="0"/>
                <a:cs typeface="Arial" charset="0"/>
                <a:sym typeface="Arial" charset="0"/>
              </a:rPr>
              <a:t>+ [8,9]</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3"/>
          <p:cNvSpPr>
            <a:spLocks/>
          </p:cNvSpPr>
          <p:nvPr/>
        </p:nvSpPr>
        <p:spPr bwMode="auto">
          <a:xfrm>
            <a:off x="457200" y="1371600"/>
            <a:ext cx="7162800" cy="4724400"/>
          </a:xfrm>
          <a:prstGeom prst="rect">
            <a:avLst/>
          </a:prstGeom>
          <a:solidFill>
            <a:srgbClr val="00CECE"/>
          </a:solidFill>
          <a:ln w="12700">
            <a:noFill/>
            <a:miter lim="800000"/>
            <a:headEnd/>
            <a:tailEnd/>
          </a:ln>
        </p:spPr>
        <p:txBody>
          <a:bodyPr lIns="0" tIns="0" rIns="0" bIns="0"/>
          <a:lstStyle/>
          <a:p>
            <a:endParaRPr lang="en-US"/>
          </a:p>
        </p:txBody>
      </p:sp>
      <p:sp>
        <p:nvSpPr>
          <p:cNvPr id="72708" name="Rectangle 4"/>
          <p:cNvSpPr>
            <a:spLocks noGrp="1" noChangeArrowheads="1"/>
          </p:cNvSpPr>
          <p:nvPr>
            <p:ph type="title"/>
          </p:nvPr>
        </p:nvSpPr>
        <p:spPr/>
        <p:txBody>
          <a:bodyPr rIns="130174"/>
          <a:lstStyle/>
          <a:p>
            <a:pPr indent="0" eaLnBrk="1" hangingPunct="1">
              <a:defRPr/>
            </a:pPr>
            <a:r>
              <a:rPr lang="en-US"/>
              <a:t>Breadth-First Snapshot 5</a:t>
            </a:r>
          </a:p>
        </p:txBody>
      </p:sp>
      <p:sp>
        <p:nvSpPr>
          <p:cNvPr id="68614"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68615"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68616"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68617" name="Line 8"/>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68618" name="Line 9"/>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68619" name="Line 10"/>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68620" name="Line 11"/>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68621" name="Line 12"/>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68622" name="Line 13"/>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68623" name="Line 14"/>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68624" name="Line 15"/>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68625" name="Oval 16"/>
          <p:cNvSpPr>
            <a:spLocks/>
          </p:cNvSpPr>
          <p:nvPr/>
        </p:nvSpPr>
        <p:spPr bwMode="auto">
          <a:xfrm>
            <a:off x="1920875"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8626" name="Oval 17"/>
          <p:cNvSpPr>
            <a:spLocks/>
          </p:cNvSpPr>
          <p:nvPr/>
        </p:nvSpPr>
        <p:spPr bwMode="auto">
          <a:xfrm>
            <a:off x="2622550" y="449580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8627" name="Oval 18"/>
          <p:cNvSpPr>
            <a:spLocks/>
          </p:cNvSpPr>
          <p:nvPr/>
        </p:nvSpPr>
        <p:spPr bwMode="auto">
          <a:xfrm>
            <a:off x="3324225" y="449580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8628" name="Oval 19"/>
          <p:cNvSpPr>
            <a:spLocks/>
          </p:cNvSpPr>
          <p:nvPr/>
        </p:nvSpPr>
        <p:spPr bwMode="auto">
          <a:xfrm>
            <a:off x="121920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8629" name="Oval 20"/>
          <p:cNvSpPr>
            <a:spLocks/>
          </p:cNvSpPr>
          <p:nvPr/>
        </p:nvSpPr>
        <p:spPr bwMode="auto">
          <a:xfrm flipH="1">
            <a:off x="5353050" y="352107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8630" name="Oval 21"/>
          <p:cNvSpPr>
            <a:spLocks/>
          </p:cNvSpPr>
          <p:nvPr/>
        </p:nvSpPr>
        <p:spPr bwMode="auto">
          <a:xfrm>
            <a:off x="3124200" y="3521075"/>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68631" name="Oval 22"/>
          <p:cNvSpPr>
            <a:spLocks/>
          </p:cNvSpPr>
          <p:nvPr/>
        </p:nvSpPr>
        <p:spPr bwMode="auto">
          <a:xfrm>
            <a:off x="4229100" y="352107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8632" name="Oval 23"/>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8633" name="Oval 2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8634" name="Oval 2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8635" name="Oval 26"/>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68636" name="Rectangle 2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68637" name="Oval 2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8638" name="Rectangle 2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68639" name="Oval 3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8640" name="Rectangle 3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68641" name="Oval 3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68642" name="Rectangle 3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68643" name="Oval 3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8644" name="Rectangle 3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68645" name="Oval 3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68646" name="Rectangle 3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68647" name="Rectangle 38"/>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68648" name="Rectangle 39"/>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68649" name="Rectangle 40"/>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68650" name="Rectangle 41"/>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68651" name="Rectangle 42"/>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68652" name="Rectangle 43"/>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68653" name="Rectangle 44"/>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68654" name="Rectangle 45"/>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68655" name="Rectangle 46"/>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68656" name="Rectangle 47"/>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68657" name="Rectangle 48"/>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68658" name="Rectangle 49"/>
          <p:cNvSpPr>
            <a:spLocks/>
          </p:cNvSpPr>
          <p:nvPr/>
        </p:nvSpPr>
        <p:spPr bwMode="auto">
          <a:xfrm>
            <a:off x="2498725" y="6316663"/>
            <a:ext cx="2414588"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[6,7,8,9] </a:t>
            </a:r>
            <a:r>
              <a:rPr lang="en-US" sz="1600">
                <a:solidFill>
                  <a:srgbClr val="00FF00"/>
                </a:solidFill>
                <a:latin typeface="Arial" charset="0"/>
                <a:cs typeface="Arial" charset="0"/>
                <a:sym typeface="Arial" charset="0"/>
              </a:rPr>
              <a:t>+ [10,11]</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3"/>
          <p:cNvSpPr>
            <a:spLocks/>
          </p:cNvSpPr>
          <p:nvPr/>
        </p:nvSpPr>
        <p:spPr bwMode="auto">
          <a:xfrm>
            <a:off x="304800" y="1371600"/>
            <a:ext cx="7315200" cy="4648200"/>
          </a:xfrm>
          <a:prstGeom prst="rect">
            <a:avLst/>
          </a:prstGeom>
          <a:solidFill>
            <a:srgbClr val="00CECE"/>
          </a:solidFill>
          <a:ln w="12700">
            <a:noFill/>
            <a:miter lim="800000"/>
            <a:headEnd/>
            <a:tailEnd/>
          </a:ln>
        </p:spPr>
        <p:txBody>
          <a:bodyPr lIns="0" tIns="0" rIns="0" bIns="0"/>
          <a:lstStyle/>
          <a:p>
            <a:endParaRPr lang="en-US"/>
          </a:p>
        </p:txBody>
      </p:sp>
      <p:sp>
        <p:nvSpPr>
          <p:cNvPr id="73732" name="Rectangle 4"/>
          <p:cNvSpPr>
            <a:spLocks noGrp="1" noChangeArrowheads="1"/>
          </p:cNvSpPr>
          <p:nvPr>
            <p:ph type="title"/>
          </p:nvPr>
        </p:nvSpPr>
        <p:spPr/>
        <p:txBody>
          <a:bodyPr rIns="130174"/>
          <a:lstStyle/>
          <a:p>
            <a:pPr indent="0" eaLnBrk="1" hangingPunct="1">
              <a:defRPr/>
            </a:pPr>
            <a:r>
              <a:rPr lang="en-US"/>
              <a:t>Breadth-First Snapshot 6</a:t>
            </a:r>
          </a:p>
        </p:txBody>
      </p:sp>
      <p:sp>
        <p:nvSpPr>
          <p:cNvPr id="69638"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69639"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69640"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69641" name="Line 8"/>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69642" name="Line 9"/>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69643" name="Line 10"/>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69644" name="Line 11"/>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69645" name="Line 12"/>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69646" name="Line 13"/>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69647" name="Line 14"/>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69648" name="Line 15"/>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69649" name="Line 16"/>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69650" name="Line 17"/>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69651" name="Oval 18"/>
          <p:cNvSpPr>
            <a:spLocks/>
          </p:cNvSpPr>
          <p:nvPr/>
        </p:nvSpPr>
        <p:spPr bwMode="auto">
          <a:xfrm>
            <a:off x="1920875"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9652" name="Oval 19"/>
          <p:cNvSpPr>
            <a:spLocks/>
          </p:cNvSpPr>
          <p:nvPr/>
        </p:nvSpPr>
        <p:spPr bwMode="auto">
          <a:xfrm>
            <a:off x="262255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9653" name="Oval 20"/>
          <p:cNvSpPr>
            <a:spLocks/>
          </p:cNvSpPr>
          <p:nvPr/>
        </p:nvSpPr>
        <p:spPr bwMode="auto">
          <a:xfrm>
            <a:off x="4027488" y="449580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9654" name="Oval 21"/>
          <p:cNvSpPr>
            <a:spLocks/>
          </p:cNvSpPr>
          <p:nvPr/>
        </p:nvSpPr>
        <p:spPr bwMode="auto">
          <a:xfrm>
            <a:off x="4729163" y="449580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9655" name="Oval 22"/>
          <p:cNvSpPr>
            <a:spLocks/>
          </p:cNvSpPr>
          <p:nvPr/>
        </p:nvSpPr>
        <p:spPr bwMode="auto">
          <a:xfrm>
            <a:off x="3324225"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9656" name="Oval 23"/>
          <p:cNvSpPr>
            <a:spLocks/>
          </p:cNvSpPr>
          <p:nvPr/>
        </p:nvSpPr>
        <p:spPr bwMode="auto">
          <a:xfrm>
            <a:off x="121920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9657" name="Oval 24"/>
          <p:cNvSpPr>
            <a:spLocks/>
          </p:cNvSpPr>
          <p:nvPr/>
        </p:nvSpPr>
        <p:spPr bwMode="auto">
          <a:xfrm flipH="1">
            <a:off x="5353050" y="352107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9658" name="Oval 25"/>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9659" name="Oval 26"/>
          <p:cNvSpPr>
            <a:spLocks/>
          </p:cNvSpPr>
          <p:nvPr/>
        </p:nvSpPr>
        <p:spPr bwMode="auto">
          <a:xfrm>
            <a:off x="4229100" y="3521075"/>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69660" name="Oval 27"/>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9661" name="Oval 28"/>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9662" name="Oval 29"/>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9663" name="Oval 30"/>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69664" name="Rectangle 31"/>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69665" name="Oval 32"/>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69666" name="Rectangle 33"/>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69667" name="Oval 34"/>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69668" name="Rectangle 35"/>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69669" name="Oval 36"/>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69670" name="Rectangle 37"/>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69671" name="Oval 38"/>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69672" name="Rectangle 39"/>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69673" name="Oval 40"/>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69674" name="Rectangle 41"/>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69675" name="Rectangle 42"/>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69676" name="Rectangle 43"/>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69677" name="Rectangle 44"/>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69678" name="Rectangle 45"/>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69679" name="Rectangle 46"/>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69680" name="Rectangle 47"/>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69681" name="Rectangle 48"/>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69682" name="Rectangle 49"/>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69683" name="Rectangle 50"/>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69684" name="Rectangle 51"/>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69685" name="Rectangle 52"/>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69686" name="Rectangle 53"/>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69687" name="Rectangle 54"/>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69688" name="Rectangle 55"/>
          <p:cNvSpPr>
            <a:spLocks/>
          </p:cNvSpPr>
          <p:nvPr/>
        </p:nvSpPr>
        <p:spPr bwMode="auto">
          <a:xfrm>
            <a:off x="2498725" y="6316663"/>
            <a:ext cx="2811463"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[7,8,9,10,11] </a:t>
            </a:r>
            <a:r>
              <a:rPr lang="en-US" sz="1600">
                <a:solidFill>
                  <a:srgbClr val="00FF00"/>
                </a:solidFill>
                <a:latin typeface="Arial" charset="0"/>
                <a:cs typeface="Arial" charset="0"/>
                <a:sym typeface="Arial" charset="0"/>
              </a:rPr>
              <a:t>+ [12,13]</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3"/>
          <p:cNvSpPr>
            <a:spLocks/>
          </p:cNvSpPr>
          <p:nvPr/>
        </p:nvSpPr>
        <p:spPr bwMode="auto">
          <a:xfrm>
            <a:off x="304800" y="1371600"/>
            <a:ext cx="7315200" cy="4800600"/>
          </a:xfrm>
          <a:prstGeom prst="rect">
            <a:avLst/>
          </a:prstGeom>
          <a:solidFill>
            <a:srgbClr val="00CECE"/>
          </a:solidFill>
          <a:ln w="12700">
            <a:noFill/>
            <a:miter lim="800000"/>
            <a:headEnd/>
            <a:tailEnd/>
          </a:ln>
        </p:spPr>
        <p:txBody>
          <a:bodyPr lIns="0" tIns="0" rIns="0" bIns="0"/>
          <a:lstStyle/>
          <a:p>
            <a:endParaRPr lang="en-US"/>
          </a:p>
        </p:txBody>
      </p:sp>
      <p:sp>
        <p:nvSpPr>
          <p:cNvPr id="74756" name="Rectangle 4"/>
          <p:cNvSpPr>
            <a:spLocks noGrp="1" noChangeArrowheads="1"/>
          </p:cNvSpPr>
          <p:nvPr>
            <p:ph type="title"/>
          </p:nvPr>
        </p:nvSpPr>
        <p:spPr/>
        <p:txBody>
          <a:bodyPr rIns="130174"/>
          <a:lstStyle/>
          <a:p>
            <a:pPr indent="0" eaLnBrk="1" hangingPunct="1">
              <a:defRPr/>
            </a:pPr>
            <a:r>
              <a:rPr lang="en-US"/>
              <a:t>Breadth-First Snapshot 7</a:t>
            </a:r>
          </a:p>
        </p:txBody>
      </p:sp>
      <p:sp>
        <p:nvSpPr>
          <p:cNvPr id="70662"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70663"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70664"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70665" name="Line 8"/>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0666" name="Line 9"/>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0667" name="Line 10"/>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70668" name="Line 11"/>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70669" name="Line 12"/>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0670" name="Line 13"/>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0671" name="Line 14"/>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70672" name="Line 15"/>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0673" name="Line 16"/>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0674" name="Line 17"/>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0675" name="Line 18"/>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0676" name="Line 19"/>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70677" name="Oval 20"/>
          <p:cNvSpPr>
            <a:spLocks/>
          </p:cNvSpPr>
          <p:nvPr/>
        </p:nvSpPr>
        <p:spPr bwMode="auto">
          <a:xfrm flipH="1">
            <a:off x="6134100" y="449580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0678" name="Oval 21"/>
          <p:cNvSpPr>
            <a:spLocks/>
          </p:cNvSpPr>
          <p:nvPr/>
        </p:nvSpPr>
        <p:spPr bwMode="auto">
          <a:xfrm>
            <a:off x="1920875"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0679" name="Oval 22"/>
          <p:cNvSpPr>
            <a:spLocks/>
          </p:cNvSpPr>
          <p:nvPr/>
        </p:nvSpPr>
        <p:spPr bwMode="auto">
          <a:xfrm>
            <a:off x="262255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0680" name="Oval 23"/>
          <p:cNvSpPr>
            <a:spLocks/>
          </p:cNvSpPr>
          <p:nvPr/>
        </p:nvSpPr>
        <p:spPr bwMode="auto">
          <a:xfrm>
            <a:off x="4027488"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0681" name="Oval 24"/>
          <p:cNvSpPr>
            <a:spLocks/>
          </p:cNvSpPr>
          <p:nvPr/>
        </p:nvSpPr>
        <p:spPr bwMode="auto">
          <a:xfrm>
            <a:off x="4729163"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0682" name="Oval 25"/>
          <p:cNvSpPr>
            <a:spLocks/>
          </p:cNvSpPr>
          <p:nvPr/>
        </p:nvSpPr>
        <p:spPr bwMode="auto">
          <a:xfrm>
            <a:off x="5430838" y="449580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0683" name="Oval 26"/>
          <p:cNvSpPr>
            <a:spLocks/>
          </p:cNvSpPr>
          <p:nvPr/>
        </p:nvSpPr>
        <p:spPr bwMode="auto">
          <a:xfrm>
            <a:off x="3324225"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0684" name="Oval 27"/>
          <p:cNvSpPr>
            <a:spLocks/>
          </p:cNvSpPr>
          <p:nvPr/>
        </p:nvSpPr>
        <p:spPr bwMode="auto">
          <a:xfrm>
            <a:off x="121920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0685" name="Oval 28"/>
          <p:cNvSpPr>
            <a:spLocks/>
          </p:cNvSpPr>
          <p:nvPr/>
        </p:nvSpPr>
        <p:spPr bwMode="auto">
          <a:xfrm flipH="1">
            <a:off x="5353050" y="3521075"/>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70686" name="Oval 29"/>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0687" name="Oval 30"/>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0688" name="Oval 31"/>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0689" name="Oval 32"/>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0690" name="Oval 33"/>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0691" name="Oval 34"/>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70692" name="Rectangle 35"/>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70693" name="Oval 36"/>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0694" name="Rectangle 37"/>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70695" name="Oval 38"/>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0696" name="Rectangle 39"/>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70697" name="Oval 40"/>
          <p:cNvSpPr>
            <a:spLocks/>
          </p:cNvSpPr>
          <p:nvPr/>
        </p:nvSpPr>
        <p:spPr bwMode="auto">
          <a:xfrm>
            <a:off x="8769350" y="250825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70698" name="Rectangle 41"/>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70699" name="Oval 42"/>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0700" name="Rectangle 43"/>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70701" name="Oval 44"/>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70702" name="Rectangle 45"/>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70703" name="Rectangle 46"/>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70704" name="Rectangle 47"/>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70705" name="Rectangle 48"/>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70706" name="Rectangle 49"/>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70707" name="Rectangle 50"/>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70708" name="Rectangle 51"/>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70709" name="Rectangle 52"/>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70710" name="Rectangle 53"/>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70711" name="Rectangle 54"/>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70712" name="Rectangle 55"/>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70713" name="Rectangle 56"/>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70714" name="Rectangle 57"/>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70715" name="Rectangle 58"/>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70716" name="Rectangle 59"/>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70717" name="Rectangle 60"/>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70718" name="Rectangle 61"/>
          <p:cNvSpPr>
            <a:spLocks/>
          </p:cNvSpPr>
          <p:nvPr/>
        </p:nvSpPr>
        <p:spPr bwMode="auto">
          <a:xfrm>
            <a:off x="2498725" y="6316663"/>
            <a:ext cx="3206750"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[8,9.10,11,12,13] </a:t>
            </a:r>
            <a:r>
              <a:rPr lang="en-US" sz="1600">
                <a:solidFill>
                  <a:srgbClr val="00FF00"/>
                </a:solidFill>
                <a:latin typeface="Arial" charset="0"/>
                <a:cs typeface="Arial" charset="0"/>
                <a:sym typeface="Arial" charset="0"/>
              </a:rPr>
              <a:t>+ [14,15]</a:t>
            </a: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3"/>
          <p:cNvSpPr>
            <a:spLocks/>
          </p:cNvSpPr>
          <p:nvPr/>
        </p:nvSpPr>
        <p:spPr bwMode="auto">
          <a:xfrm>
            <a:off x="304800" y="1371600"/>
            <a:ext cx="7315200" cy="4648200"/>
          </a:xfrm>
          <a:prstGeom prst="rect">
            <a:avLst/>
          </a:prstGeom>
          <a:solidFill>
            <a:srgbClr val="00CECE"/>
          </a:solidFill>
          <a:ln w="12700">
            <a:noFill/>
            <a:miter lim="800000"/>
            <a:headEnd/>
            <a:tailEnd/>
          </a:ln>
        </p:spPr>
        <p:txBody>
          <a:bodyPr lIns="0" tIns="0" rIns="0" bIns="0"/>
          <a:lstStyle/>
          <a:p>
            <a:endParaRPr lang="en-US"/>
          </a:p>
        </p:txBody>
      </p:sp>
      <p:sp>
        <p:nvSpPr>
          <p:cNvPr id="75780" name="Rectangle 4"/>
          <p:cNvSpPr>
            <a:spLocks noGrp="1" noChangeArrowheads="1"/>
          </p:cNvSpPr>
          <p:nvPr>
            <p:ph type="title"/>
          </p:nvPr>
        </p:nvSpPr>
        <p:spPr/>
        <p:txBody>
          <a:bodyPr rIns="130174"/>
          <a:lstStyle/>
          <a:p>
            <a:pPr indent="0" eaLnBrk="1" hangingPunct="1">
              <a:defRPr/>
            </a:pPr>
            <a:r>
              <a:rPr lang="en-US"/>
              <a:t>Breadth-First Snapshot 8</a:t>
            </a:r>
          </a:p>
        </p:txBody>
      </p:sp>
      <p:sp>
        <p:nvSpPr>
          <p:cNvPr id="71686"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71687"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71688"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71689"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71690"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1691"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1692"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71693"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71694" name="Line 13"/>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1695" name="Line 14"/>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1696" name="Line 15"/>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71697" name="Line 16"/>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1698" name="Line 17"/>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1699" name="Line 18"/>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1700" name="Line 19"/>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1701" name="Line 20"/>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71702" name="Line 21"/>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71703" name="Oval 22"/>
          <p:cNvSpPr>
            <a:spLocks/>
          </p:cNvSpPr>
          <p:nvPr/>
        </p:nvSpPr>
        <p:spPr bwMode="auto">
          <a:xfrm>
            <a:off x="887413"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1704" name="Oval 23"/>
          <p:cNvSpPr>
            <a:spLocks/>
          </p:cNvSpPr>
          <p:nvPr/>
        </p:nvSpPr>
        <p:spPr bwMode="auto">
          <a:xfrm>
            <a:off x="457200"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1705" name="Oval 24"/>
          <p:cNvSpPr>
            <a:spLocks/>
          </p:cNvSpPr>
          <p:nvPr/>
        </p:nvSpPr>
        <p:spPr bwMode="auto">
          <a:xfrm flipH="1">
            <a:off x="613410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1706" name="Oval 25"/>
          <p:cNvSpPr>
            <a:spLocks/>
          </p:cNvSpPr>
          <p:nvPr/>
        </p:nvSpPr>
        <p:spPr bwMode="auto">
          <a:xfrm>
            <a:off x="1920875"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1707" name="Oval 26"/>
          <p:cNvSpPr>
            <a:spLocks/>
          </p:cNvSpPr>
          <p:nvPr/>
        </p:nvSpPr>
        <p:spPr bwMode="auto">
          <a:xfrm>
            <a:off x="262255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1708" name="Oval 27"/>
          <p:cNvSpPr>
            <a:spLocks/>
          </p:cNvSpPr>
          <p:nvPr/>
        </p:nvSpPr>
        <p:spPr bwMode="auto">
          <a:xfrm>
            <a:off x="4027488"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1709" name="Oval 28"/>
          <p:cNvSpPr>
            <a:spLocks/>
          </p:cNvSpPr>
          <p:nvPr/>
        </p:nvSpPr>
        <p:spPr bwMode="auto">
          <a:xfrm>
            <a:off x="4729163"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1710" name="Oval 29"/>
          <p:cNvSpPr>
            <a:spLocks/>
          </p:cNvSpPr>
          <p:nvPr/>
        </p:nvSpPr>
        <p:spPr bwMode="auto">
          <a:xfrm>
            <a:off x="5430838"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1711" name="Oval 30"/>
          <p:cNvSpPr>
            <a:spLocks/>
          </p:cNvSpPr>
          <p:nvPr/>
        </p:nvSpPr>
        <p:spPr bwMode="auto">
          <a:xfrm>
            <a:off x="3324225"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1712" name="Oval 31"/>
          <p:cNvSpPr>
            <a:spLocks/>
          </p:cNvSpPr>
          <p:nvPr/>
        </p:nvSpPr>
        <p:spPr bwMode="auto">
          <a:xfrm>
            <a:off x="1219200" y="449580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71713" name="Oval 32"/>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1714" name="Oval 33"/>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1715" name="Oval 34"/>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1716" name="Oval 35"/>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1717" name="Oval 36"/>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1718" name="Oval 37"/>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1719" name="Oval 38"/>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71720" name="Rectangle 39"/>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71721" name="Oval 40"/>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1722" name="Rectangle 41"/>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71723" name="Oval 42"/>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1724" name="Rectangle 43"/>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71725" name="Oval 44"/>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71726" name="Rectangle 45"/>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71727" name="Oval 46"/>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1728" name="Rectangle 47"/>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71729" name="Oval 48"/>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71730" name="Rectangle 49"/>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71731" name="Rectangle 50"/>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71732" name="Rectangle 51"/>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71733" name="Rectangle 52"/>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71734" name="Rectangle 53"/>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71735" name="Rectangle 54"/>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71736" name="Rectangle 55"/>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71737" name="Rectangle 56"/>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71738" name="Rectangle 57"/>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71739" name="Rectangle 58"/>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71740" name="Rectangle 59"/>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71741" name="Rectangle 60"/>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71742" name="Rectangle 61"/>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71743" name="Rectangle 62"/>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71744" name="Rectangle 63"/>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71745" name="Rectangle 64"/>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71746" name="Rectangle 65"/>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71747" name="Rectangle 66"/>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71748" name="Rectangle 67"/>
          <p:cNvSpPr>
            <a:spLocks/>
          </p:cNvSpPr>
          <p:nvPr/>
        </p:nvSpPr>
        <p:spPr bwMode="auto">
          <a:xfrm>
            <a:off x="2498725" y="6316663"/>
            <a:ext cx="3602038"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[9,10,11,12,13,14,15] </a:t>
            </a:r>
            <a:r>
              <a:rPr lang="en-US" sz="1600">
                <a:solidFill>
                  <a:srgbClr val="00FF00"/>
                </a:solidFill>
                <a:latin typeface="Arial" charset="0"/>
                <a:cs typeface="Arial" charset="0"/>
                <a:sym typeface="Arial" charset="0"/>
              </a:rPr>
              <a:t>+ [16,17]</a:t>
            </a: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3"/>
          <p:cNvSpPr>
            <a:spLocks/>
          </p:cNvSpPr>
          <p:nvPr/>
        </p:nvSpPr>
        <p:spPr bwMode="auto">
          <a:xfrm>
            <a:off x="304800" y="1371600"/>
            <a:ext cx="7315200" cy="4724400"/>
          </a:xfrm>
          <a:prstGeom prst="rect">
            <a:avLst/>
          </a:prstGeom>
          <a:solidFill>
            <a:srgbClr val="00CECE"/>
          </a:solidFill>
          <a:ln w="12700">
            <a:noFill/>
            <a:miter lim="800000"/>
            <a:headEnd/>
            <a:tailEnd/>
          </a:ln>
        </p:spPr>
        <p:txBody>
          <a:bodyPr lIns="0" tIns="0" rIns="0" bIns="0"/>
          <a:lstStyle/>
          <a:p>
            <a:endParaRPr lang="en-US"/>
          </a:p>
        </p:txBody>
      </p:sp>
      <p:sp>
        <p:nvSpPr>
          <p:cNvPr id="76804" name="Rectangle 4"/>
          <p:cNvSpPr>
            <a:spLocks noGrp="1" noChangeArrowheads="1"/>
          </p:cNvSpPr>
          <p:nvPr>
            <p:ph type="title"/>
          </p:nvPr>
        </p:nvSpPr>
        <p:spPr/>
        <p:txBody>
          <a:bodyPr rIns="130174"/>
          <a:lstStyle/>
          <a:p>
            <a:pPr indent="0" eaLnBrk="1" hangingPunct="1">
              <a:defRPr/>
            </a:pPr>
            <a:r>
              <a:rPr lang="en-US"/>
              <a:t>Breadth-First Snapshot 9</a:t>
            </a:r>
          </a:p>
        </p:txBody>
      </p:sp>
      <p:sp>
        <p:nvSpPr>
          <p:cNvPr id="72710"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72711"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72712"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72713"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72714"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2715"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2716"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72717"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72718" name="Line 13"/>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2719" name="Line 14"/>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2720" name="Line 15"/>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72721" name="Line 16"/>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2722" name="Line 17"/>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2723" name="Line 18"/>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2724" name="Line 19"/>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2725" name="Line 20"/>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72726" name="Line 21"/>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72727" name="Line 22"/>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72728" name="Line 23"/>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72729" name="Oval 24"/>
          <p:cNvSpPr>
            <a:spLocks/>
          </p:cNvSpPr>
          <p:nvPr/>
        </p:nvSpPr>
        <p:spPr bwMode="auto">
          <a:xfrm>
            <a:off x="8874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2730" name="Oval 25"/>
          <p:cNvSpPr>
            <a:spLocks/>
          </p:cNvSpPr>
          <p:nvPr/>
        </p:nvSpPr>
        <p:spPr bwMode="auto">
          <a:xfrm>
            <a:off x="1317625"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2731" name="Oval 26"/>
          <p:cNvSpPr>
            <a:spLocks/>
          </p:cNvSpPr>
          <p:nvPr/>
        </p:nvSpPr>
        <p:spPr bwMode="auto">
          <a:xfrm>
            <a:off x="1747838"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2732" name="Oval 27"/>
          <p:cNvSpPr>
            <a:spLocks/>
          </p:cNvSpPr>
          <p:nvPr/>
        </p:nvSpPr>
        <p:spPr bwMode="auto">
          <a:xfrm>
            <a:off x="4572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2733" name="Oval 28"/>
          <p:cNvSpPr>
            <a:spLocks/>
          </p:cNvSpPr>
          <p:nvPr/>
        </p:nvSpPr>
        <p:spPr bwMode="auto">
          <a:xfrm flipH="1">
            <a:off x="613410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2734" name="Oval 29"/>
          <p:cNvSpPr>
            <a:spLocks/>
          </p:cNvSpPr>
          <p:nvPr/>
        </p:nvSpPr>
        <p:spPr bwMode="auto">
          <a:xfrm>
            <a:off x="1920875" y="449580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72735" name="Oval 30"/>
          <p:cNvSpPr>
            <a:spLocks/>
          </p:cNvSpPr>
          <p:nvPr/>
        </p:nvSpPr>
        <p:spPr bwMode="auto">
          <a:xfrm>
            <a:off x="262255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2736" name="Oval 31"/>
          <p:cNvSpPr>
            <a:spLocks/>
          </p:cNvSpPr>
          <p:nvPr/>
        </p:nvSpPr>
        <p:spPr bwMode="auto">
          <a:xfrm>
            <a:off x="4027488"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2737" name="Oval 32"/>
          <p:cNvSpPr>
            <a:spLocks/>
          </p:cNvSpPr>
          <p:nvPr/>
        </p:nvSpPr>
        <p:spPr bwMode="auto">
          <a:xfrm>
            <a:off x="4729163"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2738" name="Oval 33"/>
          <p:cNvSpPr>
            <a:spLocks/>
          </p:cNvSpPr>
          <p:nvPr/>
        </p:nvSpPr>
        <p:spPr bwMode="auto">
          <a:xfrm>
            <a:off x="5430838"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2739" name="Oval 34"/>
          <p:cNvSpPr>
            <a:spLocks/>
          </p:cNvSpPr>
          <p:nvPr/>
        </p:nvSpPr>
        <p:spPr bwMode="auto">
          <a:xfrm>
            <a:off x="3324225"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2740" name="Oval 35"/>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2741" name="Oval 36"/>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2742" name="Oval 37"/>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2743" name="Oval 38"/>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2744" name="Oval 39"/>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2745" name="Oval 40"/>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2746" name="Oval 41"/>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2747" name="Oval 42"/>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72748" name="Rectangle 43"/>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72749" name="Oval 44"/>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2750" name="Rectangle 45"/>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72751" name="Oval 46"/>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2752" name="Rectangle 47"/>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72753" name="Oval 48"/>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72754" name="Rectangle 49"/>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72755" name="Oval 50"/>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2756" name="Rectangle 51"/>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72757" name="Oval 52"/>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72758" name="Rectangle 53"/>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72759" name="Rectangle 54"/>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72760" name="Rectangle 55"/>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72761" name="Rectangle 56"/>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72762" name="Rectangle 57"/>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72763" name="Rectangle 58"/>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72764" name="Rectangle 59"/>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72765" name="Rectangle 60"/>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72766" name="Rectangle 61"/>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72767" name="Rectangle 62"/>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72768" name="Rectangle 63"/>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72769" name="Rectangle 64"/>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72770" name="Rectangle 65"/>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72771" name="Rectangle 66"/>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72772" name="Rectangle 67"/>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72773" name="Rectangle 68"/>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72774" name="Rectangle 69"/>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72775" name="Rectangle 70"/>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72776" name="Rectangle 71"/>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72777" name="Rectangle 72"/>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72778" name="Rectangle 73"/>
          <p:cNvSpPr>
            <a:spLocks/>
          </p:cNvSpPr>
          <p:nvPr/>
        </p:nvSpPr>
        <p:spPr bwMode="auto">
          <a:xfrm>
            <a:off x="2498725" y="6316663"/>
            <a:ext cx="3997325"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[10,11,12,13,14,15,16,17] </a:t>
            </a:r>
            <a:r>
              <a:rPr lang="en-US" sz="1600">
                <a:solidFill>
                  <a:srgbClr val="00FF00"/>
                </a:solidFill>
                <a:latin typeface="Arial" charset="0"/>
                <a:cs typeface="Arial" charset="0"/>
                <a:sym typeface="Arial" charset="0"/>
              </a:rPr>
              <a:t>+ [18,19]</a:t>
            </a: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3"/>
          <p:cNvSpPr>
            <a:spLocks/>
          </p:cNvSpPr>
          <p:nvPr/>
        </p:nvSpPr>
        <p:spPr bwMode="auto">
          <a:xfrm>
            <a:off x="304800" y="1371600"/>
            <a:ext cx="7315200" cy="4724400"/>
          </a:xfrm>
          <a:prstGeom prst="rect">
            <a:avLst/>
          </a:prstGeom>
          <a:solidFill>
            <a:srgbClr val="00CECE"/>
          </a:solidFill>
          <a:ln w="12700">
            <a:noFill/>
            <a:miter lim="800000"/>
            <a:headEnd/>
            <a:tailEnd/>
          </a:ln>
        </p:spPr>
        <p:txBody>
          <a:bodyPr lIns="0" tIns="0" rIns="0" bIns="0"/>
          <a:lstStyle/>
          <a:p>
            <a:endParaRPr lang="en-US"/>
          </a:p>
        </p:txBody>
      </p:sp>
      <p:sp>
        <p:nvSpPr>
          <p:cNvPr id="77828" name="Rectangle 4"/>
          <p:cNvSpPr>
            <a:spLocks noGrp="1" noChangeArrowheads="1"/>
          </p:cNvSpPr>
          <p:nvPr>
            <p:ph type="title"/>
          </p:nvPr>
        </p:nvSpPr>
        <p:spPr/>
        <p:txBody>
          <a:bodyPr rIns="130174"/>
          <a:lstStyle/>
          <a:p>
            <a:pPr indent="0" eaLnBrk="1" hangingPunct="1">
              <a:defRPr/>
            </a:pPr>
            <a:r>
              <a:rPr lang="en-US"/>
              <a:t>Breadth-First Snapshot 10</a:t>
            </a:r>
          </a:p>
        </p:txBody>
      </p:sp>
      <p:sp>
        <p:nvSpPr>
          <p:cNvPr id="73734"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73735"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73736"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73737"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73738"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3739"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3740"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73741"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73742" name="Line 13"/>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3743" name="Line 14"/>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3744" name="Line 15"/>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73745" name="Line 16"/>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3746" name="Line 17"/>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3747" name="Line 18"/>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3748" name="Line 19"/>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3749" name="Line 20"/>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73750" name="Line 21"/>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73751" name="Line 22"/>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73752" name="Line 23"/>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73753" name="Line 24"/>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73754" name="Line 25"/>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73755" name="Oval 26"/>
          <p:cNvSpPr>
            <a:spLocks/>
          </p:cNvSpPr>
          <p:nvPr/>
        </p:nvSpPr>
        <p:spPr bwMode="auto">
          <a:xfrm>
            <a:off x="8874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3756" name="Oval 27"/>
          <p:cNvSpPr>
            <a:spLocks/>
          </p:cNvSpPr>
          <p:nvPr/>
        </p:nvSpPr>
        <p:spPr bwMode="auto">
          <a:xfrm>
            <a:off x="13176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3757" name="Oval 28"/>
          <p:cNvSpPr>
            <a:spLocks/>
          </p:cNvSpPr>
          <p:nvPr/>
        </p:nvSpPr>
        <p:spPr bwMode="auto">
          <a:xfrm>
            <a:off x="17478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3758" name="Oval 29"/>
          <p:cNvSpPr>
            <a:spLocks/>
          </p:cNvSpPr>
          <p:nvPr/>
        </p:nvSpPr>
        <p:spPr bwMode="auto">
          <a:xfrm>
            <a:off x="2178050"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3759" name="Oval 30"/>
          <p:cNvSpPr>
            <a:spLocks/>
          </p:cNvSpPr>
          <p:nvPr/>
        </p:nvSpPr>
        <p:spPr bwMode="auto">
          <a:xfrm>
            <a:off x="2609850"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3760" name="Oval 31"/>
          <p:cNvSpPr>
            <a:spLocks/>
          </p:cNvSpPr>
          <p:nvPr/>
        </p:nvSpPr>
        <p:spPr bwMode="auto">
          <a:xfrm>
            <a:off x="4572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3761" name="Oval 32"/>
          <p:cNvSpPr>
            <a:spLocks/>
          </p:cNvSpPr>
          <p:nvPr/>
        </p:nvSpPr>
        <p:spPr bwMode="auto">
          <a:xfrm flipH="1">
            <a:off x="613410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3762" name="Oval 33"/>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3763" name="Oval 34"/>
          <p:cNvSpPr>
            <a:spLocks/>
          </p:cNvSpPr>
          <p:nvPr/>
        </p:nvSpPr>
        <p:spPr bwMode="auto">
          <a:xfrm>
            <a:off x="2622550" y="449580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73764" name="Oval 35"/>
          <p:cNvSpPr>
            <a:spLocks/>
          </p:cNvSpPr>
          <p:nvPr/>
        </p:nvSpPr>
        <p:spPr bwMode="auto">
          <a:xfrm>
            <a:off x="4027488"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3765" name="Oval 36"/>
          <p:cNvSpPr>
            <a:spLocks/>
          </p:cNvSpPr>
          <p:nvPr/>
        </p:nvSpPr>
        <p:spPr bwMode="auto">
          <a:xfrm>
            <a:off x="4729163"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3766" name="Oval 37"/>
          <p:cNvSpPr>
            <a:spLocks/>
          </p:cNvSpPr>
          <p:nvPr/>
        </p:nvSpPr>
        <p:spPr bwMode="auto">
          <a:xfrm>
            <a:off x="5430838"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3767" name="Oval 38"/>
          <p:cNvSpPr>
            <a:spLocks/>
          </p:cNvSpPr>
          <p:nvPr/>
        </p:nvSpPr>
        <p:spPr bwMode="auto">
          <a:xfrm>
            <a:off x="3324225"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3768" name="Oval 39"/>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3769" name="Oval 40"/>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3770" name="Oval 41"/>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3771" name="Oval 42"/>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3772" name="Oval 43"/>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3773" name="Oval 4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3774" name="Oval 4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3775" name="Oval 46"/>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73776" name="Rectangle 4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73777" name="Oval 4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3778" name="Rectangle 4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73779" name="Oval 5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3780" name="Rectangle 5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73781" name="Oval 5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73782" name="Rectangle 5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73783" name="Oval 5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3784" name="Rectangle 5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73785" name="Oval 5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73786" name="Rectangle 5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73787" name="Rectangle 58"/>
          <p:cNvSpPr>
            <a:spLocks/>
          </p:cNvSpPr>
          <p:nvPr/>
        </p:nvSpPr>
        <p:spPr bwMode="auto">
          <a:xfrm>
            <a:off x="3429000" y="15763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73788" name="Rectangle 59"/>
          <p:cNvSpPr>
            <a:spLocks/>
          </p:cNvSpPr>
          <p:nvPr/>
        </p:nvSpPr>
        <p:spPr bwMode="auto">
          <a:xfrm>
            <a:off x="2514600" y="2519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73789" name="Rectangle 60"/>
          <p:cNvSpPr>
            <a:spLocks/>
          </p:cNvSpPr>
          <p:nvPr/>
        </p:nvSpPr>
        <p:spPr bwMode="auto">
          <a:xfrm>
            <a:off x="4343400" y="2519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73790" name="Rectangle 61"/>
          <p:cNvSpPr>
            <a:spLocks/>
          </p:cNvSpPr>
          <p:nvPr/>
        </p:nvSpPr>
        <p:spPr bwMode="auto">
          <a:xfrm>
            <a:off x="1752600" y="352583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73791" name="Rectangle 62"/>
          <p:cNvSpPr>
            <a:spLocks/>
          </p:cNvSpPr>
          <p:nvPr/>
        </p:nvSpPr>
        <p:spPr bwMode="auto">
          <a:xfrm>
            <a:off x="2895600" y="352583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73792" name="Rectangle 63"/>
          <p:cNvSpPr>
            <a:spLocks/>
          </p:cNvSpPr>
          <p:nvPr/>
        </p:nvSpPr>
        <p:spPr bwMode="auto">
          <a:xfrm>
            <a:off x="4038600" y="352583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73793" name="Rectangle 64"/>
          <p:cNvSpPr>
            <a:spLocks/>
          </p:cNvSpPr>
          <p:nvPr/>
        </p:nvSpPr>
        <p:spPr bwMode="auto">
          <a:xfrm>
            <a:off x="5105400" y="3527425"/>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73794" name="Rectangle 65"/>
          <p:cNvSpPr>
            <a:spLocks/>
          </p:cNvSpPr>
          <p:nvPr/>
        </p:nvSpPr>
        <p:spPr bwMode="auto">
          <a:xfrm>
            <a:off x="990600" y="45005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73795" name="Rectangle 66"/>
          <p:cNvSpPr>
            <a:spLocks/>
          </p:cNvSpPr>
          <p:nvPr/>
        </p:nvSpPr>
        <p:spPr bwMode="auto">
          <a:xfrm>
            <a:off x="1676400" y="45005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73796" name="Rectangle 67"/>
          <p:cNvSpPr>
            <a:spLocks/>
          </p:cNvSpPr>
          <p:nvPr/>
        </p:nvSpPr>
        <p:spPr bwMode="auto">
          <a:xfrm>
            <a:off x="2362200" y="4500563"/>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73797" name="Rectangle 68"/>
          <p:cNvSpPr>
            <a:spLocks/>
          </p:cNvSpPr>
          <p:nvPr/>
        </p:nvSpPr>
        <p:spPr bwMode="auto">
          <a:xfrm>
            <a:off x="3048000" y="4500563"/>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73798" name="Rectangle 69"/>
          <p:cNvSpPr>
            <a:spLocks/>
          </p:cNvSpPr>
          <p:nvPr/>
        </p:nvSpPr>
        <p:spPr bwMode="auto">
          <a:xfrm>
            <a:off x="3733800" y="4500563"/>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73799" name="Rectangle 70"/>
          <p:cNvSpPr>
            <a:spLocks/>
          </p:cNvSpPr>
          <p:nvPr/>
        </p:nvSpPr>
        <p:spPr bwMode="auto">
          <a:xfrm>
            <a:off x="4419600" y="4500563"/>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73800" name="Rectangle 71"/>
          <p:cNvSpPr>
            <a:spLocks/>
          </p:cNvSpPr>
          <p:nvPr/>
        </p:nvSpPr>
        <p:spPr bwMode="auto">
          <a:xfrm>
            <a:off x="5105400" y="4500563"/>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73801" name="Rectangle 72"/>
          <p:cNvSpPr>
            <a:spLocks/>
          </p:cNvSpPr>
          <p:nvPr/>
        </p:nvSpPr>
        <p:spPr bwMode="auto">
          <a:xfrm>
            <a:off x="5867400" y="4500563"/>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73802" name="Rectangle 73"/>
          <p:cNvSpPr>
            <a:spLocks/>
          </p:cNvSpPr>
          <p:nvPr/>
        </p:nvSpPr>
        <p:spPr bwMode="auto">
          <a:xfrm>
            <a:off x="477838" y="5781675"/>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73803" name="Rectangle 74"/>
          <p:cNvSpPr>
            <a:spLocks/>
          </p:cNvSpPr>
          <p:nvPr/>
        </p:nvSpPr>
        <p:spPr bwMode="auto">
          <a:xfrm>
            <a:off x="858838" y="5781675"/>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73804" name="Rectangle 75"/>
          <p:cNvSpPr>
            <a:spLocks/>
          </p:cNvSpPr>
          <p:nvPr/>
        </p:nvSpPr>
        <p:spPr bwMode="auto">
          <a:xfrm>
            <a:off x="1316038" y="5781675"/>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73805" name="Rectangle 76"/>
          <p:cNvSpPr>
            <a:spLocks/>
          </p:cNvSpPr>
          <p:nvPr/>
        </p:nvSpPr>
        <p:spPr bwMode="auto">
          <a:xfrm>
            <a:off x="1697038" y="5781675"/>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73806" name="Rectangle 77"/>
          <p:cNvSpPr>
            <a:spLocks/>
          </p:cNvSpPr>
          <p:nvPr/>
        </p:nvSpPr>
        <p:spPr bwMode="auto">
          <a:xfrm>
            <a:off x="2154238" y="5781675"/>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73807" name="Rectangle 78"/>
          <p:cNvSpPr>
            <a:spLocks/>
          </p:cNvSpPr>
          <p:nvPr/>
        </p:nvSpPr>
        <p:spPr bwMode="auto">
          <a:xfrm>
            <a:off x="2611438" y="5781675"/>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73808" name="Rectangle 79"/>
          <p:cNvSpPr>
            <a:spLocks/>
          </p:cNvSpPr>
          <p:nvPr/>
        </p:nvSpPr>
        <p:spPr bwMode="auto">
          <a:xfrm>
            <a:off x="2498725" y="6307138"/>
            <a:ext cx="4279900"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[11,12,13,14,15,16,17,18,19] </a:t>
            </a:r>
            <a:r>
              <a:rPr lang="en-US" sz="1600">
                <a:solidFill>
                  <a:srgbClr val="00FF00"/>
                </a:solidFill>
                <a:latin typeface="Arial" charset="0"/>
                <a:cs typeface="Arial" charset="0"/>
                <a:sym typeface="Arial" charset="0"/>
              </a:rPr>
              <a:t>+ [20,21]</a:t>
            </a: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3"/>
          <p:cNvSpPr>
            <a:spLocks/>
          </p:cNvSpPr>
          <p:nvPr/>
        </p:nvSpPr>
        <p:spPr bwMode="auto">
          <a:xfrm>
            <a:off x="304800" y="1371600"/>
            <a:ext cx="7315200" cy="4724400"/>
          </a:xfrm>
          <a:prstGeom prst="rect">
            <a:avLst/>
          </a:prstGeom>
          <a:solidFill>
            <a:srgbClr val="00CECE"/>
          </a:solidFill>
          <a:ln w="12700">
            <a:noFill/>
            <a:miter lim="800000"/>
            <a:headEnd/>
            <a:tailEnd/>
          </a:ln>
        </p:spPr>
        <p:txBody>
          <a:bodyPr lIns="0" tIns="0" rIns="0" bIns="0"/>
          <a:lstStyle/>
          <a:p>
            <a:endParaRPr lang="en-US"/>
          </a:p>
        </p:txBody>
      </p:sp>
      <p:sp>
        <p:nvSpPr>
          <p:cNvPr id="78852" name="Rectangle 4"/>
          <p:cNvSpPr>
            <a:spLocks noGrp="1" noChangeArrowheads="1"/>
          </p:cNvSpPr>
          <p:nvPr>
            <p:ph type="title"/>
          </p:nvPr>
        </p:nvSpPr>
        <p:spPr/>
        <p:txBody>
          <a:bodyPr rIns="130174"/>
          <a:lstStyle/>
          <a:p>
            <a:pPr indent="0" eaLnBrk="1" hangingPunct="1">
              <a:defRPr/>
            </a:pPr>
            <a:r>
              <a:rPr lang="en-US"/>
              <a:t>Breadth-First Snapshot 11</a:t>
            </a:r>
          </a:p>
        </p:txBody>
      </p:sp>
      <p:sp>
        <p:nvSpPr>
          <p:cNvPr id="74758"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74759"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74760"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74761"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74762"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4763"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4764"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74765"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74766" name="Line 13"/>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4767" name="Line 14"/>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4768" name="Line 15"/>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74769" name="Line 16"/>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4770" name="Line 17"/>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4771" name="Line 18"/>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4772" name="Line 19"/>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4773" name="Line 20"/>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74774" name="Line 21"/>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74775" name="Line 22"/>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74776" name="Line 23"/>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74777" name="Line 24"/>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74778" name="Line 25"/>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74779" name="Line 26"/>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74780" name="Line 27"/>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74781" name="Oval 28"/>
          <p:cNvSpPr>
            <a:spLocks/>
          </p:cNvSpPr>
          <p:nvPr/>
        </p:nvSpPr>
        <p:spPr bwMode="auto">
          <a:xfrm>
            <a:off x="8874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4782" name="Oval 29"/>
          <p:cNvSpPr>
            <a:spLocks/>
          </p:cNvSpPr>
          <p:nvPr/>
        </p:nvSpPr>
        <p:spPr bwMode="auto">
          <a:xfrm>
            <a:off x="13176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4783" name="Oval 30"/>
          <p:cNvSpPr>
            <a:spLocks/>
          </p:cNvSpPr>
          <p:nvPr/>
        </p:nvSpPr>
        <p:spPr bwMode="auto">
          <a:xfrm>
            <a:off x="17478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4784" name="Oval 31"/>
          <p:cNvSpPr>
            <a:spLocks/>
          </p:cNvSpPr>
          <p:nvPr/>
        </p:nvSpPr>
        <p:spPr bwMode="auto">
          <a:xfrm>
            <a:off x="21780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4785" name="Oval 32"/>
          <p:cNvSpPr>
            <a:spLocks/>
          </p:cNvSpPr>
          <p:nvPr/>
        </p:nvSpPr>
        <p:spPr bwMode="auto">
          <a:xfrm>
            <a:off x="26098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4786" name="Oval 33"/>
          <p:cNvSpPr>
            <a:spLocks/>
          </p:cNvSpPr>
          <p:nvPr/>
        </p:nvSpPr>
        <p:spPr bwMode="auto">
          <a:xfrm>
            <a:off x="3040063"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4787" name="Oval 34"/>
          <p:cNvSpPr>
            <a:spLocks/>
          </p:cNvSpPr>
          <p:nvPr/>
        </p:nvSpPr>
        <p:spPr bwMode="auto">
          <a:xfrm>
            <a:off x="3470275"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4788" name="Oval 35"/>
          <p:cNvSpPr>
            <a:spLocks/>
          </p:cNvSpPr>
          <p:nvPr/>
        </p:nvSpPr>
        <p:spPr bwMode="auto">
          <a:xfrm>
            <a:off x="4572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4789" name="Oval 36"/>
          <p:cNvSpPr>
            <a:spLocks/>
          </p:cNvSpPr>
          <p:nvPr/>
        </p:nvSpPr>
        <p:spPr bwMode="auto">
          <a:xfrm flipH="1">
            <a:off x="613410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4790" name="Oval 37"/>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4791" name="Oval 38"/>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4792" name="Oval 39"/>
          <p:cNvSpPr>
            <a:spLocks/>
          </p:cNvSpPr>
          <p:nvPr/>
        </p:nvSpPr>
        <p:spPr bwMode="auto">
          <a:xfrm>
            <a:off x="4027488"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4793" name="Oval 40"/>
          <p:cNvSpPr>
            <a:spLocks/>
          </p:cNvSpPr>
          <p:nvPr/>
        </p:nvSpPr>
        <p:spPr bwMode="auto">
          <a:xfrm>
            <a:off x="4729163"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4794" name="Oval 41"/>
          <p:cNvSpPr>
            <a:spLocks/>
          </p:cNvSpPr>
          <p:nvPr/>
        </p:nvSpPr>
        <p:spPr bwMode="auto">
          <a:xfrm>
            <a:off x="5430838"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4795" name="Oval 42"/>
          <p:cNvSpPr>
            <a:spLocks/>
          </p:cNvSpPr>
          <p:nvPr/>
        </p:nvSpPr>
        <p:spPr bwMode="auto">
          <a:xfrm>
            <a:off x="3324225" y="449580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74796" name="Oval 43"/>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4797" name="Oval 44"/>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4798" name="Oval 45"/>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4799" name="Oval 46"/>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4800" name="Oval 47"/>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4801" name="Oval 48"/>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4802" name="Oval 49"/>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4803" name="Oval 50"/>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74804" name="Rectangle 51"/>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74805" name="Oval 52"/>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4806" name="Rectangle 53"/>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74807" name="Oval 54"/>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4808" name="Rectangle 55"/>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74809" name="Oval 56"/>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74810" name="Rectangle 57"/>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74811" name="Oval 58"/>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4812" name="Rectangle 59"/>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74813" name="Oval 60"/>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74814" name="Rectangle 61"/>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74815" name="Rectangle 62"/>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74816" name="Rectangle 63"/>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74817" name="Rectangle 64"/>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74818" name="Rectangle 65"/>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74819" name="Rectangle 66"/>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74820" name="Rectangle 67"/>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74821" name="Rectangle 68"/>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74822" name="Rectangle 69"/>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74823" name="Rectangle 70"/>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74824" name="Rectangle 71"/>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74825" name="Rectangle 72"/>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74826" name="Rectangle 73"/>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74827" name="Rectangle 74"/>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74828" name="Rectangle 75"/>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74829" name="Rectangle 76"/>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74830" name="Rectangle 77"/>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74831" name="Rectangle 78"/>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74832" name="Rectangle 79"/>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74833" name="Rectangle 80"/>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74834" name="Rectangle 81"/>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74835" name="Rectangle 82"/>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74836" name="Rectangle 83"/>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74837" name="Rectangle 84"/>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74838" name="Rectangle 85"/>
          <p:cNvSpPr>
            <a:spLocks/>
          </p:cNvSpPr>
          <p:nvPr/>
        </p:nvSpPr>
        <p:spPr bwMode="auto">
          <a:xfrm>
            <a:off x="2498725" y="6316663"/>
            <a:ext cx="5084763"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[12, 13, 14, 15, 16, 17, 18, 19, 20, 21] </a:t>
            </a:r>
            <a:r>
              <a:rPr lang="en-US" sz="1600">
                <a:solidFill>
                  <a:srgbClr val="00FF00"/>
                </a:solidFill>
                <a:latin typeface="Arial" charset="0"/>
                <a:cs typeface="Arial" charset="0"/>
                <a:sym typeface="Arial" charset="0"/>
              </a:rPr>
              <a:t>+ [22,23]</a:t>
            </a: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3"/>
          <p:cNvSpPr>
            <a:spLocks/>
          </p:cNvSpPr>
          <p:nvPr/>
        </p:nvSpPr>
        <p:spPr bwMode="auto">
          <a:xfrm>
            <a:off x="0" y="1371600"/>
            <a:ext cx="7620000" cy="5029200"/>
          </a:xfrm>
          <a:prstGeom prst="rect">
            <a:avLst/>
          </a:prstGeom>
          <a:solidFill>
            <a:srgbClr val="00CECE"/>
          </a:solidFill>
          <a:ln w="12700">
            <a:noFill/>
            <a:miter lim="800000"/>
            <a:headEnd/>
            <a:tailEnd/>
          </a:ln>
        </p:spPr>
        <p:txBody>
          <a:bodyPr lIns="0" tIns="0" rIns="0" bIns="0"/>
          <a:lstStyle/>
          <a:p>
            <a:endParaRPr lang="en-US"/>
          </a:p>
        </p:txBody>
      </p:sp>
      <p:sp>
        <p:nvSpPr>
          <p:cNvPr id="79876" name="Rectangle 4"/>
          <p:cNvSpPr>
            <a:spLocks noGrp="1" noChangeArrowheads="1"/>
          </p:cNvSpPr>
          <p:nvPr>
            <p:ph type="title"/>
          </p:nvPr>
        </p:nvSpPr>
        <p:spPr/>
        <p:txBody>
          <a:bodyPr rIns="130174"/>
          <a:lstStyle/>
          <a:p>
            <a:pPr indent="0" eaLnBrk="1" hangingPunct="1">
              <a:defRPr/>
            </a:pPr>
            <a:r>
              <a:rPr lang="en-US"/>
              <a:t>Breadth-First Snapshot 12</a:t>
            </a:r>
          </a:p>
        </p:txBody>
      </p:sp>
      <p:sp>
        <p:nvSpPr>
          <p:cNvPr id="75782"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75783"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75784"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75785"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75786"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5787"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5788"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75789"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75790" name="Line 13"/>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5791" name="Line 14"/>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5792" name="Line 15"/>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75793" name="Line 16"/>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5794" name="Line 17"/>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5795" name="Line 18"/>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5796" name="Line 19"/>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5797" name="Line 20"/>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75798" name="Line 21"/>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75799" name="Line 22"/>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75800" name="Line 23"/>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75801" name="Line 24"/>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75802" name="Line 25"/>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75803" name="Line 26"/>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75804" name="Line 27"/>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75805" name="Line 28"/>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75806" name="Line 29"/>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75807" name="Oval 30"/>
          <p:cNvSpPr>
            <a:spLocks/>
          </p:cNvSpPr>
          <p:nvPr/>
        </p:nvSpPr>
        <p:spPr bwMode="auto">
          <a:xfrm>
            <a:off x="8874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5808" name="Oval 31"/>
          <p:cNvSpPr>
            <a:spLocks/>
          </p:cNvSpPr>
          <p:nvPr/>
        </p:nvSpPr>
        <p:spPr bwMode="auto">
          <a:xfrm>
            <a:off x="13176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5809" name="Oval 32"/>
          <p:cNvSpPr>
            <a:spLocks/>
          </p:cNvSpPr>
          <p:nvPr/>
        </p:nvSpPr>
        <p:spPr bwMode="auto">
          <a:xfrm>
            <a:off x="17478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5810" name="Oval 33"/>
          <p:cNvSpPr>
            <a:spLocks/>
          </p:cNvSpPr>
          <p:nvPr/>
        </p:nvSpPr>
        <p:spPr bwMode="auto">
          <a:xfrm>
            <a:off x="21780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5811" name="Oval 34"/>
          <p:cNvSpPr>
            <a:spLocks/>
          </p:cNvSpPr>
          <p:nvPr/>
        </p:nvSpPr>
        <p:spPr bwMode="auto">
          <a:xfrm>
            <a:off x="26098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5812" name="Oval 35"/>
          <p:cNvSpPr>
            <a:spLocks/>
          </p:cNvSpPr>
          <p:nvPr/>
        </p:nvSpPr>
        <p:spPr bwMode="auto">
          <a:xfrm>
            <a:off x="304006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5813" name="Oval 36"/>
          <p:cNvSpPr>
            <a:spLocks/>
          </p:cNvSpPr>
          <p:nvPr/>
        </p:nvSpPr>
        <p:spPr bwMode="auto">
          <a:xfrm>
            <a:off x="347027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5814" name="Oval 37"/>
          <p:cNvSpPr>
            <a:spLocks/>
          </p:cNvSpPr>
          <p:nvPr/>
        </p:nvSpPr>
        <p:spPr bwMode="auto">
          <a:xfrm>
            <a:off x="3900488" y="5505450"/>
            <a:ext cx="304800" cy="304800"/>
          </a:xfrm>
          <a:prstGeom prst="ellipse">
            <a:avLst/>
          </a:prstGeom>
          <a:solidFill>
            <a:srgbClr val="00FF00"/>
          </a:solidFill>
          <a:ln w="76200">
            <a:solidFill>
              <a:srgbClr val="FC0128"/>
            </a:solidFill>
            <a:round/>
            <a:headEnd/>
            <a:tailEnd/>
          </a:ln>
        </p:spPr>
        <p:txBody>
          <a:bodyPr lIns="0" tIns="0" rIns="0" bIns="0"/>
          <a:lstStyle/>
          <a:p>
            <a:endParaRPr lang="en-US"/>
          </a:p>
        </p:txBody>
      </p:sp>
      <p:sp>
        <p:nvSpPr>
          <p:cNvPr id="75815" name="Oval 38"/>
          <p:cNvSpPr>
            <a:spLocks/>
          </p:cNvSpPr>
          <p:nvPr/>
        </p:nvSpPr>
        <p:spPr bwMode="auto">
          <a:xfrm>
            <a:off x="4330700"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5816" name="Oval 39"/>
          <p:cNvSpPr>
            <a:spLocks/>
          </p:cNvSpPr>
          <p:nvPr/>
        </p:nvSpPr>
        <p:spPr bwMode="auto">
          <a:xfrm>
            <a:off x="4572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5817" name="Oval 40"/>
          <p:cNvSpPr>
            <a:spLocks/>
          </p:cNvSpPr>
          <p:nvPr/>
        </p:nvSpPr>
        <p:spPr bwMode="auto">
          <a:xfrm flipH="1">
            <a:off x="613410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5818" name="Oval 41"/>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5819" name="Oval 42"/>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5820" name="Oval 43"/>
          <p:cNvSpPr>
            <a:spLocks/>
          </p:cNvSpPr>
          <p:nvPr/>
        </p:nvSpPr>
        <p:spPr bwMode="auto">
          <a:xfrm>
            <a:off x="4027488" y="449580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75821" name="Oval 44"/>
          <p:cNvSpPr>
            <a:spLocks/>
          </p:cNvSpPr>
          <p:nvPr/>
        </p:nvSpPr>
        <p:spPr bwMode="auto">
          <a:xfrm>
            <a:off x="4729163"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5822" name="Oval 45"/>
          <p:cNvSpPr>
            <a:spLocks/>
          </p:cNvSpPr>
          <p:nvPr/>
        </p:nvSpPr>
        <p:spPr bwMode="auto">
          <a:xfrm>
            <a:off x="5430838"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5823" name="Oval 46"/>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5824" name="Oval 47"/>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5825" name="Oval 48"/>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5826" name="Oval 49"/>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5827" name="Oval 50"/>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5828" name="Oval 51"/>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5829" name="Oval 52"/>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5830" name="Oval 53"/>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5831" name="Oval 54"/>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75832" name="Rectangle 55"/>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75833" name="Oval 56"/>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5834" name="Rectangle 57"/>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75835" name="Oval 58"/>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5836" name="Rectangle 59"/>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75837" name="Oval 60"/>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75838" name="Rectangle 61"/>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75839" name="Oval 62"/>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5840" name="Rectangle 63"/>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75841" name="Oval 64"/>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75842" name="Rectangle 65"/>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75843" name="Rectangle 66"/>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75844" name="Rectangle 67"/>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75845" name="Rectangle 68"/>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75846" name="Rectangle 69"/>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75847" name="Rectangle 70"/>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75848" name="Rectangle 71"/>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75849" name="Rectangle 72"/>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75850" name="Rectangle 73"/>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75851" name="Rectangle 74"/>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75852" name="Rectangle 75"/>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75853" name="Rectangle 76"/>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75854" name="Rectangle 77"/>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75855" name="Rectangle 78"/>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75856" name="Rectangle 79"/>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75857" name="Rectangle 80"/>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75858" name="Rectangle 81"/>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75859" name="Rectangle 82"/>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75860" name="Rectangle 83"/>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75861" name="Rectangle 84"/>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75862" name="Rectangle 85"/>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75863" name="Rectangle 86"/>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75864" name="Rectangle 87"/>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75865" name="Rectangle 88"/>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75866" name="Rectangle 89"/>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75867" name="Rectangle 90"/>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75868" name="Rectangle 91"/>
          <p:cNvSpPr>
            <a:spLocks/>
          </p:cNvSpPr>
          <p:nvPr/>
        </p:nvSpPr>
        <p:spPr bwMode="auto">
          <a:xfrm>
            <a:off x="2498725" y="6316663"/>
            <a:ext cx="4266873" cy="246221"/>
          </a:xfrm>
          <a:prstGeom prst="rect">
            <a:avLst/>
          </a:prstGeom>
          <a:noFill/>
          <a:ln w="12700">
            <a:noFill/>
            <a:miter lim="800000"/>
            <a:headEnd/>
            <a:tailEnd/>
          </a:ln>
        </p:spPr>
        <p:txBody>
          <a:bodyPr wrap="none" lIns="0" tIns="0" rIns="40639" bIns="0">
            <a:spAutoFit/>
          </a:bodyPr>
          <a:lstStyle/>
          <a:p>
            <a:pPr marL="39688"/>
            <a:r>
              <a:rPr lang="en-US" sz="1600" dirty="0">
                <a:solidFill>
                  <a:srgbClr val="FAFD00"/>
                </a:solidFill>
                <a:latin typeface="Arial" charset="0"/>
                <a:cs typeface="Arial" charset="0"/>
                <a:sym typeface="Arial" charset="0"/>
              </a:rPr>
              <a:t>Fringe: [13,14,15,16,17,18,19,20,21] </a:t>
            </a:r>
            <a:r>
              <a:rPr lang="en-US" sz="1600" dirty="0">
                <a:solidFill>
                  <a:srgbClr val="00FF00"/>
                </a:solidFill>
                <a:latin typeface="Arial" charset="0"/>
                <a:cs typeface="Arial" charset="0"/>
                <a:sym typeface="Arial" charset="0"/>
              </a:rPr>
              <a:t>+ [24,25]</a:t>
            </a:r>
          </a:p>
        </p:txBody>
      </p:sp>
      <p:sp>
        <p:nvSpPr>
          <p:cNvPr id="75869" name="Rectangle 92"/>
          <p:cNvSpPr>
            <a:spLocks/>
          </p:cNvSpPr>
          <p:nvPr/>
        </p:nvSpPr>
        <p:spPr bwMode="auto">
          <a:xfrm>
            <a:off x="7620000" y="4035425"/>
            <a:ext cx="1536700" cy="1460500"/>
          </a:xfrm>
          <a:prstGeom prst="rect">
            <a:avLst/>
          </a:prstGeom>
          <a:noFill/>
          <a:ln w="12700">
            <a:noFill/>
            <a:miter lim="800000"/>
            <a:headEnd/>
            <a:tailEnd/>
          </a:ln>
        </p:spPr>
        <p:txBody>
          <a:bodyPr lIns="0" tIns="0" rIns="40639" bIns="0"/>
          <a:lstStyle/>
          <a:p>
            <a:pPr marL="39688"/>
            <a:r>
              <a:rPr lang="en-US" sz="1600">
                <a:solidFill>
                  <a:schemeClr val="tx1"/>
                </a:solidFill>
                <a:cs typeface="Times New Roman" charset="0"/>
              </a:rPr>
              <a:t>Note: </a:t>
            </a:r>
          </a:p>
          <a:p>
            <a:pPr marL="39688"/>
            <a:r>
              <a:rPr lang="en-US" sz="1600">
                <a:solidFill>
                  <a:schemeClr val="tx1"/>
                </a:solidFill>
                <a:cs typeface="Times New Roman" charset="0"/>
              </a:rPr>
              <a:t>The goal node is “visible” here, but we can not perform the goal test yet.</a:t>
            </a: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3"/>
          <p:cNvSpPr>
            <a:spLocks/>
          </p:cNvSpPr>
          <p:nvPr/>
        </p:nvSpPr>
        <p:spPr bwMode="auto">
          <a:xfrm>
            <a:off x="304800" y="1371600"/>
            <a:ext cx="7315200" cy="4800600"/>
          </a:xfrm>
          <a:prstGeom prst="rect">
            <a:avLst/>
          </a:prstGeom>
          <a:solidFill>
            <a:srgbClr val="00CECE"/>
          </a:solidFill>
          <a:ln w="12700">
            <a:noFill/>
            <a:miter lim="800000"/>
            <a:headEnd/>
            <a:tailEnd/>
          </a:ln>
        </p:spPr>
        <p:txBody>
          <a:bodyPr lIns="0" tIns="0" rIns="0" bIns="0"/>
          <a:lstStyle/>
          <a:p>
            <a:endParaRPr lang="en-US"/>
          </a:p>
        </p:txBody>
      </p:sp>
      <p:sp>
        <p:nvSpPr>
          <p:cNvPr id="80900" name="Rectangle 4"/>
          <p:cNvSpPr>
            <a:spLocks noGrp="1" noChangeArrowheads="1"/>
          </p:cNvSpPr>
          <p:nvPr>
            <p:ph type="title"/>
          </p:nvPr>
        </p:nvSpPr>
        <p:spPr/>
        <p:txBody>
          <a:bodyPr rIns="130174"/>
          <a:lstStyle/>
          <a:p>
            <a:pPr indent="0" eaLnBrk="1" hangingPunct="1">
              <a:defRPr/>
            </a:pPr>
            <a:r>
              <a:rPr lang="en-US"/>
              <a:t>Breadth-First Snapshot 13</a:t>
            </a:r>
          </a:p>
        </p:txBody>
      </p:sp>
      <p:sp>
        <p:nvSpPr>
          <p:cNvPr id="76806"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76807"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76808"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76809"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76810"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6811"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6812"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76813"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76814" name="Line 13"/>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6815" name="Line 14"/>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6816" name="Line 15"/>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76817" name="Line 16"/>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6818" name="Line 17"/>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6819" name="Line 18"/>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6820" name="Line 19"/>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6821" name="Line 20"/>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76822" name="Line 21"/>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76823" name="Line 22"/>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76824" name="Line 23"/>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76825" name="Line 24"/>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76826" name="Line 25"/>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76827" name="Line 26"/>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76828" name="Line 27"/>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76829" name="Line 28"/>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76830" name="Line 29"/>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76831" name="Line 30"/>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76832" name="Line 31"/>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76833" name="Oval 32"/>
          <p:cNvSpPr>
            <a:spLocks/>
          </p:cNvSpPr>
          <p:nvPr/>
        </p:nvSpPr>
        <p:spPr bwMode="auto">
          <a:xfrm>
            <a:off x="8874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6834" name="Oval 33"/>
          <p:cNvSpPr>
            <a:spLocks/>
          </p:cNvSpPr>
          <p:nvPr/>
        </p:nvSpPr>
        <p:spPr bwMode="auto">
          <a:xfrm>
            <a:off x="13176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6835" name="Oval 34"/>
          <p:cNvSpPr>
            <a:spLocks/>
          </p:cNvSpPr>
          <p:nvPr/>
        </p:nvSpPr>
        <p:spPr bwMode="auto">
          <a:xfrm>
            <a:off x="17478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6836" name="Oval 35"/>
          <p:cNvSpPr>
            <a:spLocks/>
          </p:cNvSpPr>
          <p:nvPr/>
        </p:nvSpPr>
        <p:spPr bwMode="auto">
          <a:xfrm>
            <a:off x="21780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6837" name="Oval 36"/>
          <p:cNvSpPr>
            <a:spLocks/>
          </p:cNvSpPr>
          <p:nvPr/>
        </p:nvSpPr>
        <p:spPr bwMode="auto">
          <a:xfrm>
            <a:off x="26098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6838" name="Oval 37"/>
          <p:cNvSpPr>
            <a:spLocks/>
          </p:cNvSpPr>
          <p:nvPr/>
        </p:nvSpPr>
        <p:spPr bwMode="auto">
          <a:xfrm>
            <a:off x="304006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6839" name="Oval 38"/>
          <p:cNvSpPr>
            <a:spLocks/>
          </p:cNvSpPr>
          <p:nvPr/>
        </p:nvSpPr>
        <p:spPr bwMode="auto">
          <a:xfrm>
            <a:off x="347027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6840" name="Oval 39"/>
          <p:cNvSpPr>
            <a:spLocks/>
          </p:cNvSpPr>
          <p:nvPr/>
        </p:nvSpPr>
        <p:spPr bwMode="auto">
          <a:xfrm>
            <a:off x="3900488" y="5505450"/>
            <a:ext cx="304800" cy="304800"/>
          </a:xfrm>
          <a:prstGeom prst="ellipse">
            <a:avLst/>
          </a:prstGeom>
          <a:solidFill>
            <a:srgbClr val="FAFD00"/>
          </a:solidFill>
          <a:ln w="76200">
            <a:solidFill>
              <a:srgbClr val="FC0128"/>
            </a:solidFill>
            <a:round/>
            <a:headEnd/>
            <a:tailEnd/>
          </a:ln>
        </p:spPr>
        <p:txBody>
          <a:bodyPr lIns="0" tIns="0" rIns="0" bIns="0"/>
          <a:lstStyle/>
          <a:p>
            <a:endParaRPr lang="en-US"/>
          </a:p>
        </p:txBody>
      </p:sp>
      <p:sp>
        <p:nvSpPr>
          <p:cNvPr id="76841" name="Oval 40"/>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6842" name="Oval 41"/>
          <p:cNvSpPr>
            <a:spLocks/>
          </p:cNvSpPr>
          <p:nvPr/>
        </p:nvSpPr>
        <p:spPr bwMode="auto">
          <a:xfrm>
            <a:off x="5192713"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6843" name="Oval 42"/>
          <p:cNvSpPr>
            <a:spLocks/>
          </p:cNvSpPr>
          <p:nvPr/>
        </p:nvSpPr>
        <p:spPr bwMode="auto">
          <a:xfrm>
            <a:off x="4762500"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6844" name="Oval 43"/>
          <p:cNvSpPr>
            <a:spLocks/>
          </p:cNvSpPr>
          <p:nvPr/>
        </p:nvSpPr>
        <p:spPr bwMode="auto">
          <a:xfrm>
            <a:off x="4572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6845" name="Oval 44"/>
          <p:cNvSpPr>
            <a:spLocks/>
          </p:cNvSpPr>
          <p:nvPr/>
        </p:nvSpPr>
        <p:spPr bwMode="auto">
          <a:xfrm flipH="1">
            <a:off x="613410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6846" name="Oval 45"/>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6847" name="Oval 46"/>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6848" name="Oval 47"/>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6849" name="Oval 48"/>
          <p:cNvSpPr>
            <a:spLocks/>
          </p:cNvSpPr>
          <p:nvPr/>
        </p:nvSpPr>
        <p:spPr bwMode="auto">
          <a:xfrm>
            <a:off x="4729163" y="449580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76850" name="Oval 49"/>
          <p:cNvSpPr>
            <a:spLocks/>
          </p:cNvSpPr>
          <p:nvPr/>
        </p:nvSpPr>
        <p:spPr bwMode="auto">
          <a:xfrm>
            <a:off x="5430838"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6851" name="Oval 50"/>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6852" name="Oval 51"/>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6853" name="Oval 52"/>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6854" name="Oval 53"/>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6855" name="Oval 54"/>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6856" name="Oval 55"/>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6857" name="Oval 56"/>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6858" name="Oval 57"/>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6859" name="Oval 58"/>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76860" name="Rectangle 59"/>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76861" name="Oval 60"/>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6862" name="Rectangle 61"/>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76863" name="Oval 62"/>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6864" name="Rectangle 63"/>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76865" name="Oval 64"/>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76866" name="Rectangle 65"/>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76867" name="Oval 66"/>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6868" name="Rectangle 67"/>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76869" name="Oval 68"/>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76870" name="Rectangle 69"/>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76871" name="Rectangle 70"/>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76872" name="Rectangle 71"/>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76873" name="Rectangle 72"/>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76874" name="Rectangle 73"/>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76875" name="Rectangle 74"/>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76876" name="Rectangle 75"/>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76877" name="Rectangle 76"/>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76878" name="Rectangle 77"/>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76879" name="Rectangle 78"/>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76880" name="Rectangle 79"/>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76881" name="Rectangle 80"/>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76882" name="Rectangle 81"/>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76883" name="Rectangle 82"/>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76884" name="Rectangle 83"/>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76885" name="Rectangle 84"/>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76886" name="Rectangle 85"/>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76887" name="Rectangle 86"/>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76888" name="Rectangle 87"/>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76889" name="Rectangle 88"/>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76890" name="Rectangle 89"/>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76891" name="Rectangle 90"/>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76892" name="Rectangle 91"/>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76893" name="Rectangle 92"/>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76894" name="Rectangle 93"/>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76895" name="Rectangle 94"/>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76896" name="Rectangle 95"/>
          <p:cNvSpPr>
            <a:spLocks/>
          </p:cNvSpPr>
          <p:nvPr/>
        </p:nvSpPr>
        <p:spPr bwMode="auto">
          <a:xfrm>
            <a:off x="4743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76897" name="Rectangle 96"/>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76898" name="Rectangle 97"/>
          <p:cNvSpPr>
            <a:spLocks/>
          </p:cNvSpPr>
          <p:nvPr/>
        </p:nvSpPr>
        <p:spPr bwMode="auto">
          <a:xfrm>
            <a:off x="2498725" y="6316663"/>
            <a:ext cx="5141913"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[14,15,16,17,18,19,20,21,22,23,24,25] </a:t>
            </a:r>
            <a:r>
              <a:rPr lang="en-US" sz="1600">
                <a:solidFill>
                  <a:srgbClr val="00FF00"/>
                </a:solidFill>
                <a:latin typeface="Arial" charset="0"/>
                <a:cs typeface="Arial" charset="0"/>
                <a:sym typeface="Arial" charset="0"/>
              </a:rPr>
              <a:t>+ [26,27]</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3"/>
          <p:cNvSpPr>
            <a:spLocks/>
          </p:cNvSpPr>
          <p:nvPr/>
        </p:nvSpPr>
        <p:spPr bwMode="auto">
          <a:xfrm>
            <a:off x="0" y="1371600"/>
            <a:ext cx="7620000" cy="5029200"/>
          </a:xfrm>
          <a:prstGeom prst="rect">
            <a:avLst/>
          </a:prstGeom>
          <a:solidFill>
            <a:srgbClr val="00CECE"/>
          </a:solidFill>
          <a:ln w="12700">
            <a:noFill/>
            <a:miter lim="800000"/>
            <a:headEnd/>
            <a:tailEnd/>
          </a:ln>
        </p:spPr>
        <p:txBody>
          <a:bodyPr lIns="0" tIns="0" rIns="0" bIns="0"/>
          <a:lstStyle/>
          <a:p>
            <a:endParaRPr lang="en-US"/>
          </a:p>
        </p:txBody>
      </p:sp>
      <p:sp>
        <p:nvSpPr>
          <p:cNvPr id="81924" name="Rectangle 4"/>
          <p:cNvSpPr>
            <a:spLocks noGrp="1" noChangeArrowheads="1"/>
          </p:cNvSpPr>
          <p:nvPr>
            <p:ph type="title"/>
          </p:nvPr>
        </p:nvSpPr>
        <p:spPr/>
        <p:txBody>
          <a:bodyPr rIns="130174"/>
          <a:lstStyle/>
          <a:p>
            <a:pPr indent="0" eaLnBrk="1" hangingPunct="1">
              <a:defRPr/>
            </a:pPr>
            <a:r>
              <a:rPr lang="en-US"/>
              <a:t>Breadth-First Snapshot 14</a:t>
            </a:r>
          </a:p>
        </p:txBody>
      </p:sp>
      <p:sp>
        <p:nvSpPr>
          <p:cNvPr id="77830"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77831"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77832"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77833"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77834"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7835"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7836"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77837"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77838" name="Line 13"/>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7839" name="Line 14"/>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7840" name="Line 15"/>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77841" name="Line 16"/>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7842" name="Line 17"/>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7843" name="Line 18"/>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7844" name="Line 19"/>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7845" name="Line 20"/>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77846" name="Line 21"/>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77847" name="Line 22"/>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77848" name="Line 23"/>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77849" name="Line 24"/>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77850" name="Line 25"/>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77851" name="Line 26"/>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77852" name="Line 27"/>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77853" name="Line 28"/>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77854" name="Line 29"/>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77855" name="Line 30"/>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77856" name="Line 31"/>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77857" name="Line 32"/>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77858" name="Line 33"/>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77859" name="Oval 34"/>
          <p:cNvSpPr>
            <a:spLocks/>
          </p:cNvSpPr>
          <p:nvPr/>
        </p:nvSpPr>
        <p:spPr bwMode="auto">
          <a:xfrm>
            <a:off x="8874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60" name="Oval 35"/>
          <p:cNvSpPr>
            <a:spLocks/>
          </p:cNvSpPr>
          <p:nvPr/>
        </p:nvSpPr>
        <p:spPr bwMode="auto">
          <a:xfrm>
            <a:off x="13176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61" name="Oval 36"/>
          <p:cNvSpPr>
            <a:spLocks/>
          </p:cNvSpPr>
          <p:nvPr/>
        </p:nvSpPr>
        <p:spPr bwMode="auto">
          <a:xfrm>
            <a:off x="17478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62" name="Oval 37"/>
          <p:cNvSpPr>
            <a:spLocks/>
          </p:cNvSpPr>
          <p:nvPr/>
        </p:nvSpPr>
        <p:spPr bwMode="auto">
          <a:xfrm>
            <a:off x="21780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63" name="Oval 38"/>
          <p:cNvSpPr>
            <a:spLocks/>
          </p:cNvSpPr>
          <p:nvPr/>
        </p:nvSpPr>
        <p:spPr bwMode="auto">
          <a:xfrm>
            <a:off x="26098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64" name="Oval 39"/>
          <p:cNvSpPr>
            <a:spLocks/>
          </p:cNvSpPr>
          <p:nvPr/>
        </p:nvSpPr>
        <p:spPr bwMode="auto">
          <a:xfrm>
            <a:off x="304006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65" name="Oval 40"/>
          <p:cNvSpPr>
            <a:spLocks/>
          </p:cNvSpPr>
          <p:nvPr/>
        </p:nvSpPr>
        <p:spPr bwMode="auto">
          <a:xfrm>
            <a:off x="347027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66" name="Oval 41"/>
          <p:cNvSpPr>
            <a:spLocks/>
          </p:cNvSpPr>
          <p:nvPr/>
        </p:nvSpPr>
        <p:spPr bwMode="auto">
          <a:xfrm>
            <a:off x="3900488" y="5505450"/>
            <a:ext cx="304800" cy="304800"/>
          </a:xfrm>
          <a:prstGeom prst="ellipse">
            <a:avLst/>
          </a:prstGeom>
          <a:solidFill>
            <a:srgbClr val="FAFD00"/>
          </a:solidFill>
          <a:ln w="76200">
            <a:solidFill>
              <a:srgbClr val="FC0128"/>
            </a:solidFill>
            <a:round/>
            <a:headEnd/>
            <a:tailEnd/>
          </a:ln>
        </p:spPr>
        <p:txBody>
          <a:bodyPr lIns="0" tIns="0" rIns="0" bIns="0"/>
          <a:lstStyle/>
          <a:p>
            <a:endParaRPr lang="en-US"/>
          </a:p>
        </p:txBody>
      </p:sp>
      <p:sp>
        <p:nvSpPr>
          <p:cNvPr id="77867" name="Oval 42"/>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68" name="Oval 43"/>
          <p:cNvSpPr>
            <a:spLocks/>
          </p:cNvSpPr>
          <p:nvPr/>
        </p:nvSpPr>
        <p:spPr bwMode="auto">
          <a:xfrm>
            <a:off x="51927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69" name="Oval 44"/>
          <p:cNvSpPr>
            <a:spLocks/>
          </p:cNvSpPr>
          <p:nvPr/>
        </p:nvSpPr>
        <p:spPr bwMode="auto">
          <a:xfrm>
            <a:off x="6053138"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7870" name="Oval 45"/>
          <p:cNvSpPr>
            <a:spLocks/>
          </p:cNvSpPr>
          <p:nvPr/>
        </p:nvSpPr>
        <p:spPr bwMode="auto">
          <a:xfrm>
            <a:off x="47625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71" name="Oval 46"/>
          <p:cNvSpPr>
            <a:spLocks/>
          </p:cNvSpPr>
          <p:nvPr/>
        </p:nvSpPr>
        <p:spPr bwMode="auto">
          <a:xfrm>
            <a:off x="5622925"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7872" name="Oval 47"/>
          <p:cNvSpPr>
            <a:spLocks/>
          </p:cNvSpPr>
          <p:nvPr/>
        </p:nvSpPr>
        <p:spPr bwMode="auto">
          <a:xfrm>
            <a:off x="4572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73" name="Oval 48"/>
          <p:cNvSpPr>
            <a:spLocks/>
          </p:cNvSpPr>
          <p:nvPr/>
        </p:nvSpPr>
        <p:spPr bwMode="auto">
          <a:xfrm flipH="1">
            <a:off x="613410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74" name="Oval 49"/>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75" name="Oval 50"/>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76" name="Oval 51"/>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77" name="Oval 52"/>
          <p:cNvSpPr>
            <a:spLocks/>
          </p:cNvSpPr>
          <p:nvPr/>
        </p:nvSpPr>
        <p:spPr bwMode="auto">
          <a:xfrm>
            <a:off x="4729163"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78" name="Oval 53"/>
          <p:cNvSpPr>
            <a:spLocks/>
          </p:cNvSpPr>
          <p:nvPr/>
        </p:nvSpPr>
        <p:spPr bwMode="auto">
          <a:xfrm>
            <a:off x="5430838" y="449580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77879" name="Oval 54"/>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80" name="Oval 55"/>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81" name="Oval 56"/>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82" name="Oval 57"/>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83" name="Oval 58"/>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84" name="Oval 59"/>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85" name="Oval 60"/>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86" name="Oval 61"/>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87" name="Oval 62"/>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77888" name="Rectangle 63"/>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77889" name="Oval 64"/>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7890" name="Rectangle 65"/>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77891" name="Oval 66"/>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7892" name="Rectangle 67"/>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77893" name="Oval 68"/>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77894" name="Rectangle 69"/>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77895" name="Oval 70"/>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7896" name="Rectangle 71"/>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77897" name="Oval 72"/>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77898" name="Rectangle 73"/>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77899" name="Rectangle 74"/>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77900" name="Rectangle 75"/>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77901" name="Rectangle 76"/>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77902" name="Rectangle 77"/>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77903" name="Rectangle 78"/>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77904" name="Rectangle 79"/>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77905" name="Rectangle 80"/>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77906" name="Rectangle 81"/>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77907" name="Rectangle 82"/>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77908" name="Rectangle 83"/>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77909" name="Rectangle 84"/>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77910" name="Rectangle 85"/>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77911" name="Rectangle 86"/>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77912" name="Rectangle 87"/>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77913" name="Rectangle 88"/>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77914" name="Rectangle 89"/>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77915" name="Rectangle 90"/>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77916" name="Rectangle 91"/>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77917" name="Rectangle 92"/>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77918" name="Rectangle 93"/>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77919" name="Rectangle 94"/>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77920" name="Rectangle 95"/>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77921" name="Rectangle 96"/>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77922" name="Rectangle 97"/>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77923" name="Rectangle 98"/>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77924" name="Rectangle 99"/>
          <p:cNvSpPr>
            <a:spLocks/>
          </p:cNvSpPr>
          <p:nvPr/>
        </p:nvSpPr>
        <p:spPr bwMode="auto">
          <a:xfrm>
            <a:off x="4743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77925" name="Rectangle 100"/>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77926" name="Rectangle 101"/>
          <p:cNvSpPr>
            <a:spLocks/>
          </p:cNvSpPr>
          <p:nvPr/>
        </p:nvSpPr>
        <p:spPr bwMode="auto">
          <a:xfrm>
            <a:off x="5657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77927" name="Rectangle 102"/>
          <p:cNvSpPr>
            <a:spLocks/>
          </p:cNvSpPr>
          <p:nvPr/>
        </p:nvSpPr>
        <p:spPr bwMode="auto">
          <a:xfrm>
            <a:off x="6038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77928" name="Rectangle 103"/>
          <p:cNvSpPr>
            <a:spLocks/>
          </p:cNvSpPr>
          <p:nvPr/>
        </p:nvSpPr>
        <p:spPr bwMode="auto">
          <a:xfrm>
            <a:off x="2498725" y="6316663"/>
            <a:ext cx="5424488"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[15,16,17,18,19,20,21,22,23,24,25,26,27] </a:t>
            </a:r>
            <a:r>
              <a:rPr lang="en-US" sz="1600">
                <a:solidFill>
                  <a:srgbClr val="00FF00"/>
                </a:solidFill>
                <a:latin typeface="Arial" charset="0"/>
                <a:cs typeface="Arial" charset="0"/>
                <a:sym typeface="Arial" charset="0"/>
              </a:rPr>
              <a:t>+ [28,29]</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3"/>
          <p:cNvSpPr>
            <a:spLocks/>
          </p:cNvSpPr>
          <p:nvPr/>
        </p:nvSpPr>
        <p:spPr bwMode="auto">
          <a:xfrm>
            <a:off x="304800" y="1524000"/>
            <a:ext cx="7162800" cy="4648200"/>
          </a:xfrm>
          <a:prstGeom prst="rect">
            <a:avLst/>
          </a:prstGeom>
          <a:solidFill>
            <a:srgbClr val="00CECE"/>
          </a:solidFill>
          <a:ln w="12700">
            <a:noFill/>
            <a:miter lim="800000"/>
            <a:headEnd/>
            <a:tailEnd/>
          </a:ln>
        </p:spPr>
        <p:txBody>
          <a:bodyPr lIns="0" tIns="0" rIns="0" bIns="0"/>
          <a:lstStyle/>
          <a:p>
            <a:endParaRPr lang="en-US"/>
          </a:p>
        </p:txBody>
      </p:sp>
      <p:sp>
        <p:nvSpPr>
          <p:cNvPr id="82948" name="Rectangle 4"/>
          <p:cNvSpPr>
            <a:spLocks noGrp="1" noChangeArrowheads="1"/>
          </p:cNvSpPr>
          <p:nvPr>
            <p:ph type="title"/>
          </p:nvPr>
        </p:nvSpPr>
        <p:spPr/>
        <p:txBody>
          <a:bodyPr rIns="130174"/>
          <a:lstStyle/>
          <a:p>
            <a:pPr indent="0" eaLnBrk="1" hangingPunct="1">
              <a:defRPr/>
            </a:pPr>
            <a:r>
              <a:rPr lang="en-US"/>
              <a:t>Breadth-First Snapshot 15</a:t>
            </a:r>
          </a:p>
        </p:txBody>
      </p:sp>
      <p:sp>
        <p:nvSpPr>
          <p:cNvPr id="78854"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78855"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78856"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78857"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78858"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8859"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8860"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78861"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78862"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78863"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8864"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8865"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78866"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8867"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8868"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8869"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8870"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78871"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78872"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78873"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78874"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78875"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78876"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78877"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78878"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78879"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78880"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78881"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78882"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78883"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78884"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sp>
        <p:nvSpPr>
          <p:cNvPr id="78885" name="Oval 36"/>
          <p:cNvSpPr>
            <a:spLocks/>
          </p:cNvSpPr>
          <p:nvPr/>
        </p:nvSpPr>
        <p:spPr bwMode="auto">
          <a:xfrm flipH="1">
            <a:off x="6915150"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8886" name="Oval 37"/>
          <p:cNvSpPr>
            <a:spLocks/>
          </p:cNvSpPr>
          <p:nvPr/>
        </p:nvSpPr>
        <p:spPr bwMode="auto">
          <a:xfrm>
            <a:off x="8874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887" name="Oval 38"/>
          <p:cNvSpPr>
            <a:spLocks/>
          </p:cNvSpPr>
          <p:nvPr/>
        </p:nvSpPr>
        <p:spPr bwMode="auto">
          <a:xfrm>
            <a:off x="13176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888" name="Oval 39"/>
          <p:cNvSpPr>
            <a:spLocks/>
          </p:cNvSpPr>
          <p:nvPr/>
        </p:nvSpPr>
        <p:spPr bwMode="auto">
          <a:xfrm>
            <a:off x="17478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889" name="Oval 40"/>
          <p:cNvSpPr>
            <a:spLocks/>
          </p:cNvSpPr>
          <p:nvPr/>
        </p:nvSpPr>
        <p:spPr bwMode="auto">
          <a:xfrm>
            <a:off x="21780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890" name="Oval 41"/>
          <p:cNvSpPr>
            <a:spLocks/>
          </p:cNvSpPr>
          <p:nvPr/>
        </p:nvSpPr>
        <p:spPr bwMode="auto">
          <a:xfrm>
            <a:off x="26098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891" name="Oval 42"/>
          <p:cNvSpPr>
            <a:spLocks/>
          </p:cNvSpPr>
          <p:nvPr/>
        </p:nvSpPr>
        <p:spPr bwMode="auto">
          <a:xfrm>
            <a:off x="304006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892" name="Oval 43"/>
          <p:cNvSpPr>
            <a:spLocks/>
          </p:cNvSpPr>
          <p:nvPr/>
        </p:nvSpPr>
        <p:spPr bwMode="auto">
          <a:xfrm>
            <a:off x="347027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893" name="Oval 44"/>
          <p:cNvSpPr>
            <a:spLocks/>
          </p:cNvSpPr>
          <p:nvPr/>
        </p:nvSpPr>
        <p:spPr bwMode="auto">
          <a:xfrm>
            <a:off x="3900488" y="5505450"/>
            <a:ext cx="304800" cy="304800"/>
          </a:xfrm>
          <a:prstGeom prst="ellipse">
            <a:avLst/>
          </a:prstGeom>
          <a:solidFill>
            <a:srgbClr val="FAFD00"/>
          </a:solidFill>
          <a:ln w="76200">
            <a:solidFill>
              <a:srgbClr val="FC0128"/>
            </a:solidFill>
            <a:round/>
            <a:headEnd/>
            <a:tailEnd/>
          </a:ln>
        </p:spPr>
        <p:txBody>
          <a:bodyPr lIns="0" tIns="0" rIns="0" bIns="0"/>
          <a:lstStyle/>
          <a:p>
            <a:endParaRPr lang="en-US"/>
          </a:p>
        </p:txBody>
      </p:sp>
      <p:sp>
        <p:nvSpPr>
          <p:cNvPr id="78894" name="Oval 45"/>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895" name="Oval 46"/>
          <p:cNvSpPr>
            <a:spLocks/>
          </p:cNvSpPr>
          <p:nvPr/>
        </p:nvSpPr>
        <p:spPr bwMode="auto">
          <a:xfrm>
            <a:off x="51927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896" name="Oval 47"/>
          <p:cNvSpPr>
            <a:spLocks/>
          </p:cNvSpPr>
          <p:nvPr/>
        </p:nvSpPr>
        <p:spPr bwMode="auto">
          <a:xfrm>
            <a:off x="60531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897" name="Oval 48"/>
          <p:cNvSpPr>
            <a:spLocks/>
          </p:cNvSpPr>
          <p:nvPr/>
        </p:nvSpPr>
        <p:spPr bwMode="auto">
          <a:xfrm>
            <a:off x="6483350"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8898" name="Oval 49"/>
          <p:cNvSpPr>
            <a:spLocks/>
          </p:cNvSpPr>
          <p:nvPr/>
        </p:nvSpPr>
        <p:spPr bwMode="auto">
          <a:xfrm>
            <a:off x="47625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899" name="Oval 50"/>
          <p:cNvSpPr>
            <a:spLocks/>
          </p:cNvSpPr>
          <p:nvPr/>
        </p:nvSpPr>
        <p:spPr bwMode="auto">
          <a:xfrm>
            <a:off x="56229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900" name="Oval 51"/>
          <p:cNvSpPr>
            <a:spLocks/>
          </p:cNvSpPr>
          <p:nvPr/>
        </p:nvSpPr>
        <p:spPr bwMode="auto">
          <a:xfrm>
            <a:off x="4572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901" name="Oval 52"/>
          <p:cNvSpPr>
            <a:spLocks/>
          </p:cNvSpPr>
          <p:nvPr/>
        </p:nvSpPr>
        <p:spPr bwMode="auto">
          <a:xfrm flipH="1">
            <a:off x="6134100" y="449580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78902" name="Oval 53"/>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03" name="Oval 54"/>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04" name="Oval 55"/>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05" name="Oval 56"/>
          <p:cNvSpPr>
            <a:spLocks/>
          </p:cNvSpPr>
          <p:nvPr/>
        </p:nvSpPr>
        <p:spPr bwMode="auto">
          <a:xfrm>
            <a:off x="4729163"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06" name="Oval 57"/>
          <p:cNvSpPr>
            <a:spLocks/>
          </p:cNvSpPr>
          <p:nvPr/>
        </p:nvSpPr>
        <p:spPr bwMode="auto">
          <a:xfrm>
            <a:off x="543083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07" name="Oval 58"/>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08" name="Oval 59"/>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09" name="Oval 60"/>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10" name="Oval 61"/>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11" name="Oval 62"/>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12" name="Oval 63"/>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13" name="Oval 6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14" name="Oval 6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15" name="Oval 66"/>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78916" name="Rectangle 6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78917" name="Oval 6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8918" name="Rectangle 6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78919" name="Oval 7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8920" name="Rectangle 7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78921" name="Oval 7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78922" name="Rectangle 7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78923" name="Oval 7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8924" name="Rectangle 7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78925" name="Oval 7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78926" name="Rectangle 7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78927" name="Rectangle 78"/>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78928" name="Rectangle 79"/>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78929" name="Rectangle 80"/>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78930" name="Rectangle 81"/>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78931" name="Rectangle 82"/>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78932" name="Rectangle 83"/>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78933" name="Rectangle 84"/>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78934" name="Rectangle 85"/>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78935" name="Rectangle 86"/>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78936" name="Rectangle 87"/>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78937" name="Rectangle 88"/>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78938" name="Rectangle 89"/>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78939" name="Rectangle 90"/>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78940" name="Rectangle 91"/>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78941" name="Rectangle 92"/>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78942" name="Rectangle 93"/>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78943" name="Rectangle 94"/>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78944" name="Rectangle 95"/>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78945" name="Rectangle 96"/>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78946" name="Rectangle 97"/>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78947" name="Rectangle 98"/>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78948" name="Rectangle 99"/>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78949" name="Rectangle 100"/>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78950" name="Rectangle 101"/>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78951" name="Rectangle 102"/>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78952" name="Rectangle 103"/>
          <p:cNvSpPr>
            <a:spLocks/>
          </p:cNvSpPr>
          <p:nvPr/>
        </p:nvSpPr>
        <p:spPr bwMode="auto">
          <a:xfrm>
            <a:off x="4743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78953" name="Rectangle 104"/>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78954" name="Rectangle 105"/>
          <p:cNvSpPr>
            <a:spLocks/>
          </p:cNvSpPr>
          <p:nvPr/>
        </p:nvSpPr>
        <p:spPr bwMode="auto">
          <a:xfrm>
            <a:off x="5657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78955" name="Rectangle 106"/>
          <p:cNvSpPr>
            <a:spLocks/>
          </p:cNvSpPr>
          <p:nvPr/>
        </p:nvSpPr>
        <p:spPr bwMode="auto">
          <a:xfrm>
            <a:off x="6038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78956" name="Rectangle 107"/>
          <p:cNvSpPr>
            <a:spLocks/>
          </p:cNvSpPr>
          <p:nvPr/>
        </p:nvSpPr>
        <p:spPr bwMode="auto">
          <a:xfrm>
            <a:off x="6496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78957" name="Rectangle 108"/>
          <p:cNvSpPr>
            <a:spLocks/>
          </p:cNvSpPr>
          <p:nvPr/>
        </p:nvSpPr>
        <p:spPr bwMode="auto">
          <a:xfrm>
            <a:off x="6953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78958" name="Rectangle 109"/>
          <p:cNvSpPr>
            <a:spLocks/>
          </p:cNvSpPr>
          <p:nvPr/>
        </p:nvSpPr>
        <p:spPr bwMode="auto">
          <a:xfrm>
            <a:off x="2498725" y="6316663"/>
            <a:ext cx="5693545" cy="246221"/>
          </a:xfrm>
          <a:prstGeom prst="rect">
            <a:avLst/>
          </a:prstGeom>
          <a:noFill/>
          <a:ln w="12700">
            <a:noFill/>
            <a:miter lim="800000"/>
            <a:headEnd/>
            <a:tailEnd/>
          </a:ln>
        </p:spPr>
        <p:txBody>
          <a:bodyPr wrap="none" lIns="0" tIns="0" rIns="40639" bIns="0">
            <a:spAutoFit/>
          </a:bodyPr>
          <a:lstStyle/>
          <a:p>
            <a:pPr marL="39688"/>
            <a:r>
              <a:rPr lang="en-US" sz="1600" dirty="0">
                <a:solidFill>
                  <a:srgbClr val="FAFD00"/>
                </a:solidFill>
                <a:latin typeface="Arial" charset="0"/>
                <a:cs typeface="Arial" charset="0"/>
                <a:sym typeface="Arial" charset="0"/>
              </a:rPr>
              <a:t>Fringe: [16,17,18,19,20,21,22,23,24,25,26,27,28,29] </a:t>
            </a:r>
            <a:r>
              <a:rPr lang="en-US" sz="1600" dirty="0">
                <a:solidFill>
                  <a:srgbClr val="00FF00"/>
                </a:solidFill>
                <a:latin typeface="Arial" charset="0"/>
                <a:cs typeface="Arial" charset="0"/>
                <a:sym typeface="Arial" charset="0"/>
              </a:rPr>
              <a:t>+ [30,31]</a:t>
            </a: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3"/>
          <p:cNvSpPr>
            <a:spLocks/>
          </p:cNvSpPr>
          <p:nvPr/>
        </p:nvSpPr>
        <p:spPr bwMode="auto">
          <a:xfrm>
            <a:off x="228600" y="1371600"/>
            <a:ext cx="7391400" cy="4724400"/>
          </a:xfrm>
          <a:prstGeom prst="rect">
            <a:avLst/>
          </a:prstGeom>
          <a:solidFill>
            <a:srgbClr val="00CECE"/>
          </a:solidFill>
          <a:ln w="12700">
            <a:noFill/>
            <a:miter lim="800000"/>
            <a:headEnd/>
            <a:tailEnd/>
          </a:ln>
        </p:spPr>
        <p:txBody>
          <a:bodyPr lIns="0" tIns="0" rIns="0" bIns="0"/>
          <a:lstStyle/>
          <a:p>
            <a:endParaRPr lang="en-US"/>
          </a:p>
        </p:txBody>
      </p:sp>
      <p:sp>
        <p:nvSpPr>
          <p:cNvPr id="83972" name="Rectangle 4"/>
          <p:cNvSpPr>
            <a:spLocks noGrp="1" noChangeArrowheads="1"/>
          </p:cNvSpPr>
          <p:nvPr>
            <p:ph type="title"/>
          </p:nvPr>
        </p:nvSpPr>
        <p:spPr/>
        <p:txBody>
          <a:bodyPr rIns="130174"/>
          <a:lstStyle/>
          <a:p>
            <a:pPr indent="0" eaLnBrk="1" hangingPunct="1">
              <a:defRPr/>
            </a:pPr>
            <a:r>
              <a:rPr lang="en-US"/>
              <a:t>Breadth-First Snapshot 16</a:t>
            </a:r>
          </a:p>
        </p:txBody>
      </p:sp>
      <p:sp>
        <p:nvSpPr>
          <p:cNvPr id="79878"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79879"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79880"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79881"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79882"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9883"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79884"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79885"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79886"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79887"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9888"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79889"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79890"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9891"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9892"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79893"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79894"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79895"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79896"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79897"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79898"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79899"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79900"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79901"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79902"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79903"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79904"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79905"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79906"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79907"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79908"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sp>
        <p:nvSpPr>
          <p:cNvPr id="79909" name="Oval 36"/>
          <p:cNvSpPr>
            <a:spLocks/>
          </p:cNvSpPr>
          <p:nvPr/>
        </p:nvSpPr>
        <p:spPr bwMode="auto">
          <a:xfrm flipH="1">
            <a:off x="69151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10" name="Oval 37"/>
          <p:cNvSpPr>
            <a:spLocks/>
          </p:cNvSpPr>
          <p:nvPr/>
        </p:nvSpPr>
        <p:spPr bwMode="auto">
          <a:xfrm>
            <a:off x="8874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11" name="Oval 38"/>
          <p:cNvSpPr>
            <a:spLocks/>
          </p:cNvSpPr>
          <p:nvPr/>
        </p:nvSpPr>
        <p:spPr bwMode="auto">
          <a:xfrm>
            <a:off x="13176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12" name="Oval 39"/>
          <p:cNvSpPr>
            <a:spLocks/>
          </p:cNvSpPr>
          <p:nvPr/>
        </p:nvSpPr>
        <p:spPr bwMode="auto">
          <a:xfrm>
            <a:off x="17478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13" name="Oval 40"/>
          <p:cNvSpPr>
            <a:spLocks/>
          </p:cNvSpPr>
          <p:nvPr/>
        </p:nvSpPr>
        <p:spPr bwMode="auto">
          <a:xfrm>
            <a:off x="21780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14" name="Oval 41"/>
          <p:cNvSpPr>
            <a:spLocks/>
          </p:cNvSpPr>
          <p:nvPr/>
        </p:nvSpPr>
        <p:spPr bwMode="auto">
          <a:xfrm>
            <a:off x="26098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15" name="Oval 42"/>
          <p:cNvSpPr>
            <a:spLocks/>
          </p:cNvSpPr>
          <p:nvPr/>
        </p:nvSpPr>
        <p:spPr bwMode="auto">
          <a:xfrm>
            <a:off x="304006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16" name="Oval 43"/>
          <p:cNvSpPr>
            <a:spLocks/>
          </p:cNvSpPr>
          <p:nvPr/>
        </p:nvSpPr>
        <p:spPr bwMode="auto">
          <a:xfrm>
            <a:off x="347027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17" name="Oval 44"/>
          <p:cNvSpPr>
            <a:spLocks/>
          </p:cNvSpPr>
          <p:nvPr/>
        </p:nvSpPr>
        <p:spPr bwMode="auto">
          <a:xfrm>
            <a:off x="3900488" y="5505450"/>
            <a:ext cx="304800" cy="304800"/>
          </a:xfrm>
          <a:prstGeom prst="ellipse">
            <a:avLst/>
          </a:prstGeom>
          <a:solidFill>
            <a:srgbClr val="FAFD00"/>
          </a:solidFill>
          <a:ln w="76200">
            <a:solidFill>
              <a:srgbClr val="FC0128"/>
            </a:solidFill>
            <a:round/>
            <a:headEnd/>
            <a:tailEnd/>
          </a:ln>
        </p:spPr>
        <p:txBody>
          <a:bodyPr lIns="0" tIns="0" rIns="0" bIns="0"/>
          <a:lstStyle/>
          <a:p>
            <a:endParaRPr lang="en-US"/>
          </a:p>
        </p:txBody>
      </p:sp>
      <p:sp>
        <p:nvSpPr>
          <p:cNvPr id="79918" name="Oval 45"/>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19" name="Oval 46"/>
          <p:cNvSpPr>
            <a:spLocks/>
          </p:cNvSpPr>
          <p:nvPr/>
        </p:nvSpPr>
        <p:spPr bwMode="auto">
          <a:xfrm>
            <a:off x="51927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20" name="Oval 47"/>
          <p:cNvSpPr>
            <a:spLocks/>
          </p:cNvSpPr>
          <p:nvPr/>
        </p:nvSpPr>
        <p:spPr bwMode="auto">
          <a:xfrm>
            <a:off x="60531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21" name="Oval 48"/>
          <p:cNvSpPr>
            <a:spLocks/>
          </p:cNvSpPr>
          <p:nvPr/>
        </p:nvSpPr>
        <p:spPr bwMode="auto">
          <a:xfrm>
            <a:off x="64833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22" name="Oval 49"/>
          <p:cNvSpPr>
            <a:spLocks/>
          </p:cNvSpPr>
          <p:nvPr/>
        </p:nvSpPr>
        <p:spPr bwMode="auto">
          <a:xfrm>
            <a:off x="47625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23" name="Oval 50"/>
          <p:cNvSpPr>
            <a:spLocks/>
          </p:cNvSpPr>
          <p:nvPr/>
        </p:nvSpPr>
        <p:spPr bwMode="auto">
          <a:xfrm>
            <a:off x="56229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24" name="Oval 51"/>
          <p:cNvSpPr>
            <a:spLocks/>
          </p:cNvSpPr>
          <p:nvPr/>
        </p:nvSpPr>
        <p:spPr bwMode="auto">
          <a:xfrm>
            <a:off x="457200" y="550545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79925" name="Oval 52"/>
          <p:cNvSpPr>
            <a:spLocks/>
          </p:cNvSpPr>
          <p:nvPr/>
        </p:nvSpPr>
        <p:spPr bwMode="auto">
          <a:xfrm flipH="1">
            <a:off x="61341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26" name="Oval 53"/>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27" name="Oval 54"/>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28" name="Oval 55"/>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29" name="Oval 56"/>
          <p:cNvSpPr>
            <a:spLocks/>
          </p:cNvSpPr>
          <p:nvPr/>
        </p:nvSpPr>
        <p:spPr bwMode="auto">
          <a:xfrm>
            <a:off x="4729163"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30" name="Oval 57"/>
          <p:cNvSpPr>
            <a:spLocks/>
          </p:cNvSpPr>
          <p:nvPr/>
        </p:nvSpPr>
        <p:spPr bwMode="auto">
          <a:xfrm>
            <a:off x="543083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31" name="Oval 58"/>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32" name="Oval 59"/>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33" name="Oval 60"/>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34" name="Oval 61"/>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35" name="Oval 62"/>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36" name="Oval 63"/>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37" name="Oval 6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38" name="Oval 6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39" name="Oval 66"/>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79940" name="Rectangle 6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79941" name="Oval 6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79942" name="Rectangle 6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79943" name="Oval 7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79944" name="Rectangle 7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79945" name="Oval 7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79946" name="Rectangle 7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79947" name="Oval 7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79948" name="Rectangle 7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79949" name="Oval 7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79950" name="Rectangle 7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79951" name="Rectangle 78"/>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79952" name="Rectangle 79"/>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79953" name="Rectangle 80"/>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79954" name="Rectangle 81"/>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79955" name="Rectangle 82"/>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79956" name="Rectangle 83"/>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79957" name="Rectangle 84"/>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79958" name="Rectangle 85"/>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79959" name="Rectangle 86"/>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79960" name="Rectangle 87"/>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79961" name="Rectangle 88"/>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79962" name="Rectangle 89"/>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79963" name="Rectangle 90"/>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79964" name="Rectangle 91"/>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79965" name="Rectangle 92"/>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79966" name="Rectangle 93"/>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79967" name="Rectangle 94"/>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79968" name="Rectangle 95"/>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79969" name="Rectangle 96"/>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79970" name="Rectangle 97"/>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79971" name="Rectangle 98"/>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79972" name="Rectangle 99"/>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79973" name="Rectangle 100"/>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79974" name="Rectangle 101"/>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79975" name="Rectangle 102"/>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79976" name="Rectangle 103"/>
          <p:cNvSpPr>
            <a:spLocks/>
          </p:cNvSpPr>
          <p:nvPr/>
        </p:nvSpPr>
        <p:spPr bwMode="auto">
          <a:xfrm>
            <a:off x="4743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79977" name="Rectangle 104"/>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79978" name="Rectangle 105"/>
          <p:cNvSpPr>
            <a:spLocks/>
          </p:cNvSpPr>
          <p:nvPr/>
        </p:nvSpPr>
        <p:spPr bwMode="auto">
          <a:xfrm>
            <a:off x="5657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79979" name="Rectangle 106"/>
          <p:cNvSpPr>
            <a:spLocks/>
          </p:cNvSpPr>
          <p:nvPr/>
        </p:nvSpPr>
        <p:spPr bwMode="auto">
          <a:xfrm>
            <a:off x="6038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79980" name="Rectangle 107"/>
          <p:cNvSpPr>
            <a:spLocks/>
          </p:cNvSpPr>
          <p:nvPr/>
        </p:nvSpPr>
        <p:spPr bwMode="auto">
          <a:xfrm>
            <a:off x="6496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79981" name="Rectangle 108"/>
          <p:cNvSpPr>
            <a:spLocks/>
          </p:cNvSpPr>
          <p:nvPr/>
        </p:nvSpPr>
        <p:spPr bwMode="auto">
          <a:xfrm>
            <a:off x="6953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79982" name="Rectangle 109"/>
          <p:cNvSpPr>
            <a:spLocks/>
          </p:cNvSpPr>
          <p:nvPr/>
        </p:nvSpPr>
        <p:spPr bwMode="auto">
          <a:xfrm>
            <a:off x="2498725" y="6316663"/>
            <a:ext cx="5192713"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[17,18,19,20,21,22,23,24,25,26,27,28,29,30,31] </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3"/>
          <p:cNvSpPr>
            <a:spLocks/>
          </p:cNvSpPr>
          <p:nvPr/>
        </p:nvSpPr>
        <p:spPr bwMode="auto">
          <a:xfrm>
            <a:off x="381000" y="1371600"/>
            <a:ext cx="7239000" cy="4800600"/>
          </a:xfrm>
          <a:prstGeom prst="rect">
            <a:avLst/>
          </a:prstGeom>
          <a:solidFill>
            <a:srgbClr val="00CECE"/>
          </a:solidFill>
          <a:ln w="12700">
            <a:noFill/>
            <a:miter lim="800000"/>
            <a:headEnd/>
            <a:tailEnd/>
          </a:ln>
        </p:spPr>
        <p:txBody>
          <a:bodyPr lIns="0" tIns="0" rIns="0" bIns="0"/>
          <a:lstStyle/>
          <a:p>
            <a:endParaRPr lang="en-US"/>
          </a:p>
        </p:txBody>
      </p:sp>
      <p:sp>
        <p:nvSpPr>
          <p:cNvPr id="84996" name="Rectangle 4"/>
          <p:cNvSpPr>
            <a:spLocks noGrp="1" noChangeArrowheads="1"/>
          </p:cNvSpPr>
          <p:nvPr>
            <p:ph type="title"/>
          </p:nvPr>
        </p:nvSpPr>
        <p:spPr/>
        <p:txBody>
          <a:bodyPr rIns="130174"/>
          <a:lstStyle/>
          <a:p>
            <a:pPr indent="0" eaLnBrk="1" hangingPunct="1">
              <a:defRPr/>
            </a:pPr>
            <a:r>
              <a:rPr lang="en-US"/>
              <a:t>Breadth-First Snapshot 17</a:t>
            </a:r>
          </a:p>
        </p:txBody>
      </p:sp>
      <p:sp>
        <p:nvSpPr>
          <p:cNvPr id="80902"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80903"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80904"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80905"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80906"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0907"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0908"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80909"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80910"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80911"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0912"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0913"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80914"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0915"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0916"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0917"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0918"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80919"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80920"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80921"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80922"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80923"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0924"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0925"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80926"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0927"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80928"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80929"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80930"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0931"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80932"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sp>
        <p:nvSpPr>
          <p:cNvPr id="80933" name="Oval 36"/>
          <p:cNvSpPr>
            <a:spLocks/>
          </p:cNvSpPr>
          <p:nvPr/>
        </p:nvSpPr>
        <p:spPr bwMode="auto">
          <a:xfrm flipH="1">
            <a:off x="69151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34" name="Oval 37"/>
          <p:cNvSpPr>
            <a:spLocks/>
          </p:cNvSpPr>
          <p:nvPr/>
        </p:nvSpPr>
        <p:spPr bwMode="auto">
          <a:xfrm>
            <a:off x="887413" y="550545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80935" name="Oval 38"/>
          <p:cNvSpPr>
            <a:spLocks/>
          </p:cNvSpPr>
          <p:nvPr/>
        </p:nvSpPr>
        <p:spPr bwMode="auto">
          <a:xfrm>
            <a:off x="13176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36" name="Oval 39"/>
          <p:cNvSpPr>
            <a:spLocks/>
          </p:cNvSpPr>
          <p:nvPr/>
        </p:nvSpPr>
        <p:spPr bwMode="auto">
          <a:xfrm>
            <a:off x="17478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37" name="Oval 40"/>
          <p:cNvSpPr>
            <a:spLocks/>
          </p:cNvSpPr>
          <p:nvPr/>
        </p:nvSpPr>
        <p:spPr bwMode="auto">
          <a:xfrm>
            <a:off x="21780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38" name="Oval 41"/>
          <p:cNvSpPr>
            <a:spLocks/>
          </p:cNvSpPr>
          <p:nvPr/>
        </p:nvSpPr>
        <p:spPr bwMode="auto">
          <a:xfrm>
            <a:off x="26098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39" name="Oval 42"/>
          <p:cNvSpPr>
            <a:spLocks/>
          </p:cNvSpPr>
          <p:nvPr/>
        </p:nvSpPr>
        <p:spPr bwMode="auto">
          <a:xfrm>
            <a:off x="304006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40" name="Oval 43"/>
          <p:cNvSpPr>
            <a:spLocks/>
          </p:cNvSpPr>
          <p:nvPr/>
        </p:nvSpPr>
        <p:spPr bwMode="auto">
          <a:xfrm>
            <a:off x="347027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41" name="Oval 44"/>
          <p:cNvSpPr>
            <a:spLocks/>
          </p:cNvSpPr>
          <p:nvPr/>
        </p:nvSpPr>
        <p:spPr bwMode="auto">
          <a:xfrm>
            <a:off x="3900488" y="5505450"/>
            <a:ext cx="304800" cy="304800"/>
          </a:xfrm>
          <a:prstGeom prst="ellipse">
            <a:avLst/>
          </a:prstGeom>
          <a:solidFill>
            <a:srgbClr val="FAFD00"/>
          </a:solidFill>
          <a:ln w="76200">
            <a:solidFill>
              <a:srgbClr val="FC0128"/>
            </a:solidFill>
            <a:round/>
            <a:headEnd/>
            <a:tailEnd/>
          </a:ln>
        </p:spPr>
        <p:txBody>
          <a:bodyPr lIns="0" tIns="0" rIns="0" bIns="0"/>
          <a:lstStyle/>
          <a:p>
            <a:endParaRPr lang="en-US"/>
          </a:p>
        </p:txBody>
      </p:sp>
      <p:sp>
        <p:nvSpPr>
          <p:cNvPr id="80942" name="Oval 45"/>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43" name="Oval 46"/>
          <p:cNvSpPr>
            <a:spLocks/>
          </p:cNvSpPr>
          <p:nvPr/>
        </p:nvSpPr>
        <p:spPr bwMode="auto">
          <a:xfrm>
            <a:off x="51927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44" name="Oval 47"/>
          <p:cNvSpPr>
            <a:spLocks/>
          </p:cNvSpPr>
          <p:nvPr/>
        </p:nvSpPr>
        <p:spPr bwMode="auto">
          <a:xfrm>
            <a:off x="60531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45" name="Oval 48"/>
          <p:cNvSpPr>
            <a:spLocks/>
          </p:cNvSpPr>
          <p:nvPr/>
        </p:nvSpPr>
        <p:spPr bwMode="auto">
          <a:xfrm>
            <a:off x="64833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46" name="Oval 49"/>
          <p:cNvSpPr>
            <a:spLocks/>
          </p:cNvSpPr>
          <p:nvPr/>
        </p:nvSpPr>
        <p:spPr bwMode="auto">
          <a:xfrm>
            <a:off x="47625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47" name="Oval 50"/>
          <p:cNvSpPr>
            <a:spLocks/>
          </p:cNvSpPr>
          <p:nvPr/>
        </p:nvSpPr>
        <p:spPr bwMode="auto">
          <a:xfrm>
            <a:off x="56229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48" name="Oval 51"/>
          <p:cNvSpPr>
            <a:spLocks/>
          </p:cNvSpPr>
          <p:nvPr/>
        </p:nvSpPr>
        <p:spPr bwMode="auto">
          <a:xfrm>
            <a:off x="45720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49" name="Oval 52"/>
          <p:cNvSpPr>
            <a:spLocks/>
          </p:cNvSpPr>
          <p:nvPr/>
        </p:nvSpPr>
        <p:spPr bwMode="auto">
          <a:xfrm flipH="1">
            <a:off x="61341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50" name="Oval 53"/>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51" name="Oval 54"/>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52" name="Oval 55"/>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53" name="Oval 56"/>
          <p:cNvSpPr>
            <a:spLocks/>
          </p:cNvSpPr>
          <p:nvPr/>
        </p:nvSpPr>
        <p:spPr bwMode="auto">
          <a:xfrm>
            <a:off x="4729163"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54" name="Oval 57"/>
          <p:cNvSpPr>
            <a:spLocks/>
          </p:cNvSpPr>
          <p:nvPr/>
        </p:nvSpPr>
        <p:spPr bwMode="auto">
          <a:xfrm>
            <a:off x="543083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55" name="Oval 58"/>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56" name="Oval 59"/>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57" name="Oval 60"/>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58" name="Oval 61"/>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59" name="Oval 62"/>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60" name="Oval 63"/>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61" name="Oval 6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62" name="Oval 6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63" name="Oval 66"/>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80964" name="Rectangle 6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80965" name="Oval 6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0966" name="Rectangle 6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80967" name="Oval 7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0968" name="Rectangle 7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80969" name="Oval 7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80970" name="Rectangle 7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80971" name="Oval 7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80972" name="Rectangle 7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80973" name="Oval 7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80974" name="Rectangle 7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80975" name="Rectangle 78"/>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80976" name="Rectangle 79"/>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80977" name="Rectangle 80"/>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80978" name="Rectangle 81"/>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80979" name="Rectangle 82"/>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80980" name="Rectangle 83"/>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80981" name="Rectangle 84"/>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80982" name="Rectangle 85"/>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80983" name="Rectangle 86"/>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80984" name="Rectangle 87"/>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80985" name="Rectangle 88"/>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80986" name="Rectangle 89"/>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80987" name="Rectangle 90"/>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80988" name="Rectangle 91"/>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80989" name="Rectangle 92"/>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80990" name="Rectangle 93"/>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80991" name="Rectangle 94"/>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80992" name="Rectangle 95"/>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80993" name="Rectangle 96"/>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80994" name="Rectangle 97"/>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80995" name="Rectangle 98"/>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80996" name="Rectangle 99"/>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80997" name="Rectangle 100"/>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80998" name="Rectangle 101"/>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80999" name="Rectangle 102"/>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81000" name="Rectangle 103"/>
          <p:cNvSpPr>
            <a:spLocks/>
          </p:cNvSpPr>
          <p:nvPr/>
        </p:nvSpPr>
        <p:spPr bwMode="auto">
          <a:xfrm>
            <a:off x="4743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81001" name="Rectangle 104"/>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81002" name="Rectangle 105"/>
          <p:cNvSpPr>
            <a:spLocks/>
          </p:cNvSpPr>
          <p:nvPr/>
        </p:nvSpPr>
        <p:spPr bwMode="auto">
          <a:xfrm>
            <a:off x="5657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81003" name="Rectangle 106"/>
          <p:cNvSpPr>
            <a:spLocks/>
          </p:cNvSpPr>
          <p:nvPr/>
        </p:nvSpPr>
        <p:spPr bwMode="auto">
          <a:xfrm>
            <a:off x="6038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81004" name="Rectangle 107"/>
          <p:cNvSpPr>
            <a:spLocks/>
          </p:cNvSpPr>
          <p:nvPr/>
        </p:nvSpPr>
        <p:spPr bwMode="auto">
          <a:xfrm>
            <a:off x="6496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81005" name="Rectangle 108"/>
          <p:cNvSpPr>
            <a:spLocks/>
          </p:cNvSpPr>
          <p:nvPr/>
        </p:nvSpPr>
        <p:spPr bwMode="auto">
          <a:xfrm>
            <a:off x="6953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81006" name="Rectangle 109"/>
          <p:cNvSpPr>
            <a:spLocks/>
          </p:cNvSpPr>
          <p:nvPr/>
        </p:nvSpPr>
        <p:spPr bwMode="auto">
          <a:xfrm>
            <a:off x="2498725" y="6316663"/>
            <a:ext cx="4910138"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[18,19,20,21,22,23,24,25,26,27,28,29,30,31] </a:t>
            </a: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3"/>
          <p:cNvSpPr>
            <a:spLocks/>
          </p:cNvSpPr>
          <p:nvPr/>
        </p:nvSpPr>
        <p:spPr bwMode="auto">
          <a:xfrm>
            <a:off x="0" y="1371600"/>
            <a:ext cx="7620000" cy="5029200"/>
          </a:xfrm>
          <a:prstGeom prst="rect">
            <a:avLst/>
          </a:prstGeom>
          <a:solidFill>
            <a:srgbClr val="00CECE"/>
          </a:solidFill>
          <a:ln w="12700">
            <a:noFill/>
            <a:miter lim="800000"/>
            <a:headEnd/>
            <a:tailEnd/>
          </a:ln>
        </p:spPr>
        <p:txBody>
          <a:bodyPr lIns="0" tIns="0" rIns="0" bIns="0"/>
          <a:lstStyle/>
          <a:p>
            <a:endParaRPr lang="en-US"/>
          </a:p>
        </p:txBody>
      </p:sp>
      <p:sp>
        <p:nvSpPr>
          <p:cNvPr id="86020" name="Rectangle 4"/>
          <p:cNvSpPr>
            <a:spLocks noGrp="1" noChangeArrowheads="1"/>
          </p:cNvSpPr>
          <p:nvPr>
            <p:ph type="title"/>
          </p:nvPr>
        </p:nvSpPr>
        <p:spPr/>
        <p:txBody>
          <a:bodyPr rIns="130174"/>
          <a:lstStyle/>
          <a:p>
            <a:pPr indent="0" eaLnBrk="1" hangingPunct="1">
              <a:defRPr/>
            </a:pPr>
            <a:r>
              <a:rPr lang="en-US"/>
              <a:t>Breadth-First Snapshot 18</a:t>
            </a:r>
          </a:p>
        </p:txBody>
      </p:sp>
      <p:sp>
        <p:nvSpPr>
          <p:cNvPr id="81926"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81927"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81928"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81929"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81930"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1931"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1932"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81933"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81934"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81935"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1936"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1937"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81938"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1939"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1940"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1941"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1942"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81943"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81944"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81945"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81946"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81947"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1948"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1949"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81950"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1951"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81952"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81953"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81954"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1955"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81956"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sp>
        <p:nvSpPr>
          <p:cNvPr id="81957" name="Oval 36"/>
          <p:cNvSpPr>
            <a:spLocks/>
          </p:cNvSpPr>
          <p:nvPr/>
        </p:nvSpPr>
        <p:spPr bwMode="auto">
          <a:xfrm flipH="1">
            <a:off x="69151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58" name="Oval 37"/>
          <p:cNvSpPr>
            <a:spLocks/>
          </p:cNvSpPr>
          <p:nvPr/>
        </p:nvSpPr>
        <p:spPr bwMode="auto">
          <a:xfrm>
            <a:off x="887413"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59" name="Oval 38"/>
          <p:cNvSpPr>
            <a:spLocks/>
          </p:cNvSpPr>
          <p:nvPr/>
        </p:nvSpPr>
        <p:spPr bwMode="auto">
          <a:xfrm>
            <a:off x="1317625" y="550545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81960" name="Oval 39"/>
          <p:cNvSpPr>
            <a:spLocks/>
          </p:cNvSpPr>
          <p:nvPr/>
        </p:nvSpPr>
        <p:spPr bwMode="auto">
          <a:xfrm>
            <a:off x="17478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61" name="Oval 40"/>
          <p:cNvSpPr>
            <a:spLocks/>
          </p:cNvSpPr>
          <p:nvPr/>
        </p:nvSpPr>
        <p:spPr bwMode="auto">
          <a:xfrm>
            <a:off x="21780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62" name="Oval 41"/>
          <p:cNvSpPr>
            <a:spLocks/>
          </p:cNvSpPr>
          <p:nvPr/>
        </p:nvSpPr>
        <p:spPr bwMode="auto">
          <a:xfrm>
            <a:off x="26098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63" name="Oval 42"/>
          <p:cNvSpPr>
            <a:spLocks/>
          </p:cNvSpPr>
          <p:nvPr/>
        </p:nvSpPr>
        <p:spPr bwMode="auto">
          <a:xfrm>
            <a:off x="304006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64" name="Oval 43"/>
          <p:cNvSpPr>
            <a:spLocks/>
          </p:cNvSpPr>
          <p:nvPr/>
        </p:nvSpPr>
        <p:spPr bwMode="auto">
          <a:xfrm>
            <a:off x="347027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65" name="Oval 44"/>
          <p:cNvSpPr>
            <a:spLocks/>
          </p:cNvSpPr>
          <p:nvPr/>
        </p:nvSpPr>
        <p:spPr bwMode="auto">
          <a:xfrm>
            <a:off x="3900488" y="5505450"/>
            <a:ext cx="304800" cy="304800"/>
          </a:xfrm>
          <a:prstGeom prst="ellipse">
            <a:avLst/>
          </a:prstGeom>
          <a:solidFill>
            <a:srgbClr val="FAFD00"/>
          </a:solidFill>
          <a:ln w="76200">
            <a:solidFill>
              <a:srgbClr val="FC0128"/>
            </a:solidFill>
            <a:round/>
            <a:headEnd/>
            <a:tailEnd/>
          </a:ln>
        </p:spPr>
        <p:txBody>
          <a:bodyPr lIns="0" tIns="0" rIns="0" bIns="0"/>
          <a:lstStyle/>
          <a:p>
            <a:endParaRPr lang="en-US"/>
          </a:p>
        </p:txBody>
      </p:sp>
      <p:sp>
        <p:nvSpPr>
          <p:cNvPr id="81966" name="Oval 45"/>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67" name="Oval 46"/>
          <p:cNvSpPr>
            <a:spLocks/>
          </p:cNvSpPr>
          <p:nvPr/>
        </p:nvSpPr>
        <p:spPr bwMode="auto">
          <a:xfrm>
            <a:off x="51927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68" name="Oval 47"/>
          <p:cNvSpPr>
            <a:spLocks/>
          </p:cNvSpPr>
          <p:nvPr/>
        </p:nvSpPr>
        <p:spPr bwMode="auto">
          <a:xfrm>
            <a:off x="60531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69" name="Oval 48"/>
          <p:cNvSpPr>
            <a:spLocks/>
          </p:cNvSpPr>
          <p:nvPr/>
        </p:nvSpPr>
        <p:spPr bwMode="auto">
          <a:xfrm>
            <a:off x="64833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70" name="Oval 49"/>
          <p:cNvSpPr>
            <a:spLocks/>
          </p:cNvSpPr>
          <p:nvPr/>
        </p:nvSpPr>
        <p:spPr bwMode="auto">
          <a:xfrm>
            <a:off x="47625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71" name="Oval 50"/>
          <p:cNvSpPr>
            <a:spLocks/>
          </p:cNvSpPr>
          <p:nvPr/>
        </p:nvSpPr>
        <p:spPr bwMode="auto">
          <a:xfrm>
            <a:off x="56229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72" name="Oval 51"/>
          <p:cNvSpPr>
            <a:spLocks/>
          </p:cNvSpPr>
          <p:nvPr/>
        </p:nvSpPr>
        <p:spPr bwMode="auto">
          <a:xfrm>
            <a:off x="45720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73" name="Oval 52"/>
          <p:cNvSpPr>
            <a:spLocks/>
          </p:cNvSpPr>
          <p:nvPr/>
        </p:nvSpPr>
        <p:spPr bwMode="auto">
          <a:xfrm flipH="1">
            <a:off x="61341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74" name="Oval 53"/>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75" name="Oval 54"/>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76" name="Oval 55"/>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77" name="Oval 56"/>
          <p:cNvSpPr>
            <a:spLocks/>
          </p:cNvSpPr>
          <p:nvPr/>
        </p:nvSpPr>
        <p:spPr bwMode="auto">
          <a:xfrm>
            <a:off x="4729163"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78" name="Oval 57"/>
          <p:cNvSpPr>
            <a:spLocks/>
          </p:cNvSpPr>
          <p:nvPr/>
        </p:nvSpPr>
        <p:spPr bwMode="auto">
          <a:xfrm>
            <a:off x="543083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79" name="Oval 58"/>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80" name="Oval 59"/>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81" name="Oval 60"/>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82" name="Oval 61"/>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83" name="Oval 62"/>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84" name="Oval 63"/>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85" name="Oval 6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86" name="Oval 6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87" name="Oval 66"/>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81988" name="Rectangle 6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81989" name="Oval 6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1990" name="Rectangle 6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81991" name="Oval 7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1992" name="Rectangle 7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81993" name="Oval 7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81994" name="Rectangle 7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81995" name="Oval 7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81996" name="Rectangle 7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81997" name="Oval 7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81998" name="Rectangle 7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81999" name="Rectangle 78"/>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82000" name="Rectangle 79"/>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82001" name="Rectangle 80"/>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82002" name="Rectangle 81"/>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82003" name="Rectangle 82"/>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82004" name="Rectangle 83"/>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82005" name="Rectangle 84"/>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82006" name="Rectangle 85"/>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82007" name="Rectangle 86"/>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82008" name="Rectangle 87"/>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82009" name="Rectangle 88"/>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82010" name="Rectangle 89"/>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82011" name="Rectangle 90"/>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82012" name="Rectangle 91"/>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82013" name="Rectangle 92"/>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82014" name="Rectangle 93"/>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82015" name="Rectangle 94"/>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82016" name="Rectangle 95"/>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82017" name="Rectangle 96"/>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82018" name="Rectangle 97"/>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82019" name="Rectangle 98"/>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82020" name="Rectangle 99"/>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82021" name="Rectangle 100"/>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82022" name="Rectangle 101"/>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82023" name="Rectangle 102"/>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82024" name="Rectangle 103"/>
          <p:cNvSpPr>
            <a:spLocks/>
          </p:cNvSpPr>
          <p:nvPr/>
        </p:nvSpPr>
        <p:spPr bwMode="auto">
          <a:xfrm>
            <a:off x="4743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82025" name="Rectangle 104"/>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82026" name="Rectangle 105"/>
          <p:cNvSpPr>
            <a:spLocks/>
          </p:cNvSpPr>
          <p:nvPr/>
        </p:nvSpPr>
        <p:spPr bwMode="auto">
          <a:xfrm>
            <a:off x="5657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82027" name="Rectangle 106"/>
          <p:cNvSpPr>
            <a:spLocks/>
          </p:cNvSpPr>
          <p:nvPr/>
        </p:nvSpPr>
        <p:spPr bwMode="auto">
          <a:xfrm>
            <a:off x="6038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82028" name="Rectangle 107"/>
          <p:cNvSpPr>
            <a:spLocks/>
          </p:cNvSpPr>
          <p:nvPr/>
        </p:nvSpPr>
        <p:spPr bwMode="auto">
          <a:xfrm>
            <a:off x="6496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82029" name="Rectangle 108"/>
          <p:cNvSpPr>
            <a:spLocks/>
          </p:cNvSpPr>
          <p:nvPr/>
        </p:nvSpPr>
        <p:spPr bwMode="auto">
          <a:xfrm>
            <a:off x="6953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82030" name="Rectangle 109"/>
          <p:cNvSpPr>
            <a:spLocks/>
          </p:cNvSpPr>
          <p:nvPr/>
        </p:nvSpPr>
        <p:spPr bwMode="auto">
          <a:xfrm>
            <a:off x="2497138" y="6316663"/>
            <a:ext cx="4629150"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[19,20,21,22,23,24,25,26,27,28,29,30,31] </a:t>
            </a: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3"/>
          <p:cNvSpPr>
            <a:spLocks/>
          </p:cNvSpPr>
          <p:nvPr/>
        </p:nvSpPr>
        <p:spPr bwMode="auto">
          <a:xfrm>
            <a:off x="0" y="1371600"/>
            <a:ext cx="7620000" cy="5029200"/>
          </a:xfrm>
          <a:prstGeom prst="rect">
            <a:avLst/>
          </a:prstGeom>
          <a:solidFill>
            <a:srgbClr val="00CECE"/>
          </a:solidFill>
          <a:ln w="12700">
            <a:noFill/>
            <a:miter lim="800000"/>
            <a:headEnd/>
            <a:tailEnd/>
          </a:ln>
        </p:spPr>
        <p:txBody>
          <a:bodyPr lIns="0" tIns="0" rIns="0" bIns="0"/>
          <a:lstStyle/>
          <a:p>
            <a:endParaRPr lang="en-US"/>
          </a:p>
        </p:txBody>
      </p:sp>
      <p:sp>
        <p:nvSpPr>
          <p:cNvPr id="87044" name="Rectangle 4"/>
          <p:cNvSpPr>
            <a:spLocks noGrp="1" noChangeArrowheads="1"/>
          </p:cNvSpPr>
          <p:nvPr>
            <p:ph type="title"/>
          </p:nvPr>
        </p:nvSpPr>
        <p:spPr/>
        <p:txBody>
          <a:bodyPr rIns="130174"/>
          <a:lstStyle/>
          <a:p>
            <a:pPr indent="0" eaLnBrk="1" hangingPunct="1">
              <a:defRPr/>
            </a:pPr>
            <a:r>
              <a:rPr lang="en-US"/>
              <a:t>Breadth-First Snapshot 19</a:t>
            </a:r>
          </a:p>
        </p:txBody>
      </p:sp>
      <p:sp>
        <p:nvSpPr>
          <p:cNvPr id="82950"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82951"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82952"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82953"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82954"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2955"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2956"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82957"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82958"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82959"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2960"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2961"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82962"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2963"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2964"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2965"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2966"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82967"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82968"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82969"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82970"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82971"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2972"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2973"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82974"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2975"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82976"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82977"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82978"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2979"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82980"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sp>
        <p:nvSpPr>
          <p:cNvPr id="82981" name="Oval 36"/>
          <p:cNvSpPr>
            <a:spLocks/>
          </p:cNvSpPr>
          <p:nvPr/>
        </p:nvSpPr>
        <p:spPr bwMode="auto">
          <a:xfrm flipH="1">
            <a:off x="69151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2982" name="Oval 37"/>
          <p:cNvSpPr>
            <a:spLocks/>
          </p:cNvSpPr>
          <p:nvPr/>
        </p:nvSpPr>
        <p:spPr bwMode="auto">
          <a:xfrm>
            <a:off x="887413"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2983" name="Oval 38"/>
          <p:cNvSpPr>
            <a:spLocks/>
          </p:cNvSpPr>
          <p:nvPr/>
        </p:nvSpPr>
        <p:spPr bwMode="auto">
          <a:xfrm>
            <a:off x="1317625"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2984" name="Oval 39"/>
          <p:cNvSpPr>
            <a:spLocks/>
          </p:cNvSpPr>
          <p:nvPr/>
        </p:nvSpPr>
        <p:spPr bwMode="auto">
          <a:xfrm>
            <a:off x="1747838" y="550545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82985" name="Oval 40"/>
          <p:cNvSpPr>
            <a:spLocks/>
          </p:cNvSpPr>
          <p:nvPr/>
        </p:nvSpPr>
        <p:spPr bwMode="auto">
          <a:xfrm>
            <a:off x="21780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2986" name="Oval 41"/>
          <p:cNvSpPr>
            <a:spLocks/>
          </p:cNvSpPr>
          <p:nvPr/>
        </p:nvSpPr>
        <p:spPr bwMode="auto">
          <a:xfrm>
            <a:off x="26098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2987" name="Oval 42"/>
          <p:cNvSpPr>
            <a:spLocks/>
          </p:cNvSpPr>
          <p:nvPr/>
        </p:nvSpPr>
        <p:spPr bwMode="auto">
          <a:xfrm>
            <a:off x="304006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2988" name="Oval 43"/>
          <p:cNvSpPr>
            <a:spLocks/>
          </p:cNvSpPr>
          <p:nvPr/>
        </p:nvSpPr>
        <p:spPr bwMode="auto">
          <a:xfrm>
            <a:off x="347027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2989" name="Oval 44"/>
          <p:cNvSpPr>
            <a:spLocks/>
          </p:cNvSpPr>
          <p:nvPr/>
        </p:nvSpPr>
        <p:spPr bwMode="auto">
          <a:xfrm>
            <a:off x="3900488" y="5505450"/>
            <a:ext cx="304800" cy="304800"/>
          </a:xfrm>
          <a:prstGeom prst="ellipse">
            <a:avLst/>
          </a:prstGeom>
          <a:solidFill>
            <a:srgbClr val="FAFD00"/>
          </a:solidFill>
          <a:ln w="76200">
            <a:solidFill>
              <a:srgbClr val="FC0128"/>
            </a:solidFill>
            <a:round/>
            <a:headEnd/>
            <a:tailEnd/>
          </a:ln>
        </p:spPr>
        <p:txBody>
          <a:bodyPr lIns="0" tIns="0" rIns="0" bIns="0"/>
          <a:lstStyle/>
          <a:p>
            <a:endParaRPr lang="en-US"/>
          </a:p>
        </p:txBody>
      </p:sp>
      <p:sp>
        <p:nvSpPr>
          <p:cNvPr id="82990" name="Oval 45"/>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2991" name="Oval 46"/>
          <p:cNvSpPr>
            <a:spLocks/>
          </p:cNvSpPr>
          <p:nvPr/>
        </p:nvSpPr>
        <p:spPr bwMode="auto">
          <a:xfrm>
            <a:off x="51927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2992" name="Oval 47"/>
          <p:cNvSpPr>
            <a:spLocks/>
          </p:cNvSpPr>
          <p:nvPr/>
        </p:nvSpPr>
        <p:spPr bwMode="auto">
          <a:xfrm>
            <a:off x="60531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2993" name="Oval 48"/>
          <p:cNvSpPr>
            <a:spLocks/>
          </p:cNvSpPr>
          <p:nvPr/>
        </p:nvSpPr>
        <p:spPr bwMode="auto">
          <a:xfrm>
            <a:off x="64833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2994" name="Oval 49"/>
          <p:cNvSpPr>
            <a:spLocks/>
          </p:cNvSpPr>
          <p:nvPr/>
        </p:nvSpPr>
        <p:spPr bwMode="auto">
          <a:xfrm>
            <a:off x="47625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2995" name="Oval 50"/>
          <p:cNvSpPr>
            <a:spLocks/>
          </p:cNvSpPr>
          <p:nvPr/>
        </p:nvSpPr>
        <p:spPr bwMode="auto">
          <a:xfrm>
            <a:off x="56229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2996" name="Oval 51"/>
          <p:cNvSpPr>
            <a:spLocks/>
          </p:cNvSpPr>
          <p:nvPr/>
        </p:nvSpPr>
        <p:spPr bwMode="auto">
          <a:xfrm>
            <a:off x="45720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2997" name="Oval 52"/>
          <p:cNvSpPr>
            <a:spLocks/>
          </p:cNvSpPr>
          <p:nvPr/>
        </p:nvSpPr>
        <p:spPr bwMode="auto">
          <a:xfrm flipH="1">
            <a:off x="61341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2998" name="Oval 53"/>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2999" name="Oval 54"/>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00" name="Oval 55"/>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01" name="Oval 56"/>
          <p:cNvSpPr>
            <a:spLocks/>
          </p:cNvSpPr>
          <p:nvPr/>
        </p:nvSpPr>
        <p:spPr bwMode="auto">
          <a:xfrm>
            <a:off x="4729163"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02" name="Oval 57"/>
          <p:cNvSpPr>
            <a:spLocks/>
          </p:cNvSpPr>
          <p:nvPr/>
        </p:nvSpPr>
        <p:spPr bwMode="auto">
          <a:xfrm>
            <a:off x="543083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03" name="Oval 58"/>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04" name="Oval 59"/>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05" name="Oval 60"/>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06" name="Oval 61"/>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07" name="Oval 62"/>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08" name="Oval 63"/>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09" name="Oval 6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10" name="Oval 6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11" name="Oval 66"/>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83012" name="Rectangle 6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83013" name="Oval 6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3014" name="Rectangle 6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83015" name="Oval 7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3016" name="Rectangle 7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83017" name="Oval 7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83018" name="Rectangle 7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83019" name="Oval 7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83020" name="Rectangle 7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83021" name="Oval 7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83022" name="Rectangle 7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83023" name="Rectangle 78"/>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83024" name="Rectangle 79"/>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83025" name="Rectangle 80"/>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83026" name="Rectangle 81"/>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83027" name="Rectangle 82"/>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83028" name="Rectangle 83"/>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83029" name="Rectangle 84"/>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83030" name="Rectangle 85"/>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83031" name="Rectangle 86"/>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83032" name="Rectangle 87"/>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83033" name="Rectangle 88"/>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83034" name="Rectangle 89"/>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83035" name="Rectangle 90"/>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83036" name="Rectangle 91"/>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83037" name="Rectangle 92"/>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83038" name="Rectangle 93"/>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83039" name="Rectangle 94"/>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83040" name="Rectangle 95"/>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83041" name="Rectangle 96"/>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83042" name="Rectangle 97"/>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83043" name="Rectangle 98"/>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83044" name="Rectangle 99"/>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83045" name="Rectangle 100"/>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83046" name="Rectangle 101"/>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83047" name="Rectangle 102"/>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83048" name="Rectangle 103"/>
          <p:cNvSpPr>
            <a:spLocks/>
          </p:cNvSpPr>
          <p:nvPr/>
        </p:nvSpPr>
        <p:spPr bwMode="auto">
          <a:xfrm>
            <a:off x="4743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83049" name="Rectangle 104"/>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83050" name="Rectangle 105"/>
          <p:cNvSpPr>
            <a:spLocks/>
          </p:cNvSpPr>
          <p:nvPr/>
        </p:nvSpPr>
        <p:spPr bwMode="auto">
          <a:xfrm>
            <a:off x="5657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83051" name="Rectangle 106"/>
          <p:cNvSpPr>
            <a:spLocks/>
          </p:cNvSpPr>
          <p:nvPr/>
        </p:nvSpPr>
        <p:spPr bwMode="auto">
          <a:xfrm>
            <a:off x="6038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83052" name="Rectangle 107"/>
          <p:cNvSpPr>
            <a:spLocks/>
          </p:cNvSpPr>
          <p:nvPr/>
        </p:nvSpPr>
        <p:spPr bwMode="auto">
          <a:xfrm>
            <a:off x="6496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83053" name="Rectangle 108"/>
          <p:cNvSpPr>
            <a:spLocks/>
          </p:cNvSpPr>
          <p:nvPr/>
        </p:nvSpPr>
        <p:spPr bwMode="auto">
          <a:xfrm>
            <a:off x="6953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83054" name="Rectangle 109"/>
          <p:cNvSpPr>
            <a:spLocks/>
          </p:cNvSpPr>
          <p:nvPr/>
        </p:nvSpPr>
        <p:spPr bwMode="auto">
          <a:xfrm>
            <a:off x="2498725" y="6316663"/>
            <a:ext cx="4344988"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[20,21,22,23,24,25,26,27,28,29,30,31] </a:t>
            </a: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3"/>
          <p:cNvSpPr>
            <a:spLocks/>
          </p:cNvSpPr>
          <p:nvPr/>
        </p:nvSpPr>
        <p:spPr bwMode="auto">
          <a:xfrm>
            <a:off x="0" y="1371600"/>
            <a:ext cx="7620000" cy="5029200"/>
          </a:xfrm>
          <a:prstGeom prst="rect">
            <a:avLst/>
          </a:prstGeom>
          <a:solidFill>
            <a:srgbClr val="00CECE"/>
          </a:solidFill>
          <a:ln w="12700">
            <a:noFill/>
            <a:miter lim="800000"/>
            <a:headEnd/>
            <a:tailEnd/>
          </a:ln>
        </p:spPr>
        <p:txBody>
          <a:bodyPr lIns="0" tIns="0" rIns="0" bIns="0"/>
          <a:lstStyle/>
          <a:p>
            <a:endParaRPr lang="en-US"/>
          </a:p>
        </p:txBody>
      </p:sp>
      <p:sp>
        <p:nvSpPr>
          <p:cNvPr id="88068" name="Rectangle 4"/>
          <p:cNvSpPr>
            <a:spLocks noGrp="1" noChangeArrowheads="1"/>
          </p:cNvSpPr>
          <p:nvPr>
            <p:ph type="title"/>
          </p:nvPr>
        </p:nvSpPr>
        <p:spPr/>
        <p:txBody>
          <a:bodyPr rIns="130174"/>
          <a:lstStyle/>
          <a:p>
            <a:pPr indent="0" eaLnBrk="1" hangingPunct="1">
              <a:defRPr/>
            </a:pPr>
            <a:r>
              <a:rPr lang="en-US"/>
              <a:t>Breadth-First Snapshot 20</a:t>
            </a:r>
          </a:p>
        </p:txBody>
      </p:sp>
      <p:sp>
        <p:nvSpPr>
          <p:cNvPr id="83974"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83975"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83976"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83977"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83978"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3979"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3980"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83981"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83982"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83983"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3984"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3985"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83986"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3987"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3988"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3989"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3990"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83991"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83992"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83993"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83994"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83995"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3996"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3997"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83998"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3999"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84000"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84001"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84002"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4003"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84004"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sp>
        <p:nvSpPr>
          <p:cNvPr id="84005" name="Oval 36"/>
          <p:cNvSpPr>
            <a:spLocks/>
          </p:cNvSpPr>
          <p:nvPr/>
        </p:nvSpPr>
        <p:spPr bwMode="auto">
          <a:xfrm flipH="1">
            <a:off x="69151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4006" name="Oval 37"/>
          <p:cNvSpPr>
            <a:spLocks/>
          </p:cNvSpPr>
          <p:nvPr/>
        </p:nvSpPr>
        <p:spPr bwMode="auto">
          <a:xfrm>
            <a:off x="887413"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07" name="Oval 38"/>
          <p:cNvSpPr>
            <a:spLocks/>
          </p:cNvSpPr>
          <p:nvPr/>
        </p:nvSpPr>
        <p:spPr bwMode="auto">
          <a:xfrm>
            <a:off x="1317625"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08" name="Oval 39"/>
          <p:cNvSpPr>
            <a:spLocks/>
          </p:cNvSpPr>
          <p:nvPr/>
        </p:nvSpPr>
        <p:spPr bwMode="auto">
          <a:xfrm>
            <a:off x="1747838"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09" name="Oval 40"/>
          <p:cNvSpPr>
            <a:spLocks/>
          </p:cNvSpPr>
          <p:nvPr/>
        </p:nvSpPr>
        <p:spPr bwMode="auto">
          <a:xfrm>
            <a:off x="2178050" y="550545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84010" name="Oval 41"/>
          <p:cNvSpPr>
            <a:spLocks/>
          </p:cNvSpPr>
          <p:nvPr/>
        </p:nvSpPr>
        <p:spPr bwMode="auto">
          <a:xfrm>
            <a:off x="26098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4011" name="Oval 42"/>
          <p:cNvSpPr>
            <a:spLocks/>
          </p:cNvSpPr>
          <p:nvPr/>
        </p:nvSpPr>
        <p:spPr bwMode="auto">
          <a:xfrm>
            <a:off x="304006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4012" name="Oval 43"/>
          <p:cNvSpPr>
            <a:spLocks/>
          </p:cNvSpPr>
          <p:nvPr/>
        </p:nvSpPr>
        <p:spPr bwMode="auto">
          <a:xfrm>
            <a:off x="347027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4013" name="Oval 44"/>
          <p:cNvSpPr>
            <a:spLocks/>
          </p:cNvSpPr>
          <p:nvPr/>
        </p:nvSpPr>
        <p:spPr bwMode="auto">
          <a:xfrm>
            <a:off x="3900488" y="5505450"/>
            <a:ext cx="304800" cy="304800"/>
          </a:xfrm>
          <a:prstGeom prst="ellipse">
            <a:avLst/>
          </a:prstGeom>
          <a:solidFill>
            <a:srgbClr val="FAFD00"/>
          </a:solidFill>
          <a:ln w="76200">
            <a:solidFill>
              <a:srgbClr val="FC0128"/>
            </a:solidFill>
            <a:round/>
            <a:headEnd/>
            <a:tailEnd/>
          </a:ln>
        </p:spPr>
        <p:txBody>
          <a:bodyPr lIns="0" tIns="0" rIns="0" bIns="0"/>
          <a:lstStyle/>
          <a:p>
            <a:endParaRPr lang="en-US"/>
          </a:p>
        </p:txBody>
      </p:sp>
      <p:sp>
        <p:nvSpPr>
          <p:cNvPr id="84014" name="Oval 45"/>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4015" name="Oval 46"/>
          <p:cNvSpPr>
            <a:spLocks/>
          </p:cNvSpPr>
          <p:nvPr/>
        </p:nvSpPr>
        <p:spPr bwMode="auto">
          <a:xfrm>
            <a:off x="51927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4016" name="Oval 47"/>
          <p:cNvSpPr>
            <a:spLocks/>
          </p:cNvSpPr>
          <p:nvPr/>
        </p:nvSpPr>
        <p:spPr bwMode="auto">
          <a:xfrm>
            <a:off x="60531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4017" name="Oval 48"/>
          <p:cNvSpPr>
            <a:spLocks/>
          </p:cNvSpPr>
          <p:nvPr/>
        </p:nvSpPr>
        <p:spPr bwMode="auto">
          <a:xfrm>
            <a:off x="64833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4018" name="Oval 49"/>
          <p:cNvSpPr>
            <a:spLocks/>
          </p:cNvSpPr>
          <p:nvPr/>
        </p:nvSpPr>
        <p:spPr bwMode="auto">
          <a:xfrm>
            <a:off x="47625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4019" name="Oval 50"/>
          <p:cNvSpPr>
            <a:spLocks/>
          </p:cNvSpPr>
          <p:nvPr/>
        </p:nvSpPr>
        <p:spPr bwMode="auto">
          <a:xfrm>
            <a:off x="56229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4020" name="Oval 51"/>
          <p:cNvSpPr>
            <a:spLocks/>
          </p:cNvSpPr>
          <p:nvPr/>
        </p:nvSpPr>
        <p:spPr bwMode="auto">
          <a:xfrm>
            <a:off x="45720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21" name="Oval 52"/>
          <p:cNvSpPr>
            <a:spLocks/>
          </p:cNvSpPr>
          <p:nvPr/>
        </p:nvSpPr>
        <p:spPr bwMode="auto">
          <a:xfrm flipH="1">
            <a:off x="61341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22" name="Oval 53"/>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23" name="Oval 54"/>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24" name="Oval 55"/>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25" name="Oval 56"/>
          <p:cNvSpPr>
            <a:spLocks/>
          </p:cNvSpPr>
          <p:nvPr/>
        </p:nvSpPr>
        <p:spPr bwMode="auto">
          <a:xfrm>
            <a:off x="4729163"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26" name="Oval 57"/>
          <p:cNvSpPr>
            <a:spLocks/>
          </p:cNvSpPr>
          <p:nvPr/>
        </p:nvSpPr>
        <p:spPr bwMode="auto">
          <a:xfrm>
            <a:off x="543083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27" name="Oval 58"/>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28" name="Oval 59"/>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29" name="Oval 60"/>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30" name="Oval 61"/>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31" name="Oval 62"/>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32" name="Oval 63"/>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33" name="Oval 6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34" name="Oval 6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35" name="Oval 66"/>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84036" name="Rectangle 6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84037" name="Oval 6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4038" name="Rectangle 6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84039" name="Oval 7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4040" name="Rectangle 7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84041" name="Oval 7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84042" name="Rectangle 7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84043" name="Oval 7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84044" name="Rectangle 7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84045" name="Oval 7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84046" name="Rectangle 7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84047" name="Rectangle 78"/>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84048" name="Rectangle 79"/>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84049" name="Rectangle 80"/>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84050" name="Rectangle 81"/>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84051" name="Rectangle 82"/>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84052" name="Rectangle 83"/>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84053" name="Rectangle 84"/>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84054" name="Rectangle 85"/>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84055" name="Rectangle 86"/>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84056" name="Rectangle 87"/>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84057" name="Rectangle 88"/>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84058" name="Rectangle 89"/>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84059" name="Rectangle 90"/>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84060" name="Rectangle 91"/>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84061" name="Rectangle 92"/>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84062" name="Rectangle 93"/>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84063" name="Rectangle 94"/>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84064" name="Rectangle 95"/>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84065" name="Rectangle 96"/>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84066" name="Rectangle 97"/>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84067" name="Rectangle 98"/>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84068" name="Rectangle 99"/>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84069" name="Rectangle 100"/>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84070" name="Rectangle 101"/>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84071" name="Rectangle 102"/>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84072" name="Rectangle 103"/>
          <p:cNvSpPr>
            <a:spLocks/>
          </p:cNvSpPr>
          <p:nvPr/>
        </p:nvSpPr>
        <p:spPr bwMode="auto">
          <a:xfrm>
            <a:off x="4743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84073" name="Rectangle 104"/>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84074" name="Rectangle 105"/>
          <p:cNvSpPr>
            <a:spLocks/>
          </p:cNvSpPr>
          <p:nvPr/>
        </p:nvSpPr>
        <p:spPr bwMode="auto">
          <a:xfrm>
            <a:off x="5657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84075" name="Rectangle 106"/>
          <p:cNvSpPr>
            <a:spLocks/>
          </p:cNvSpPr>
          <p:nvPr/>
        </p:nvSpPr>
        <p:spPr bwMode="auto">
          <a:xfrm>
            <a:off x="6038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84076" name="Rectangle 107"/>
          <p:cNvSpPr>
            <a:spLocks/>
          </p:cNvSpPr>
          <p:nvPr/>
        </p:nvSpPr>
        <p:spPr bwMode="auto">
          <a:xfrm>
            <a:off x="6496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84077" name="Rectangle 108"/>
          <p:cNvSpPr>
            <a:spLocks/>
          </p:cNvSpPr>
          <p:nvPr/>
        </p:nvSpPr>
        <p:spPr bwMode="auto">
          <a:xfrm>
            <a:off x="6953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84078" name="Rectangle 109"/>
          <p:cNvSpPr>
            <a:spLocks/>
          </p:cNvSpPr>
          <p:nvPr/>
        </p:nvSpPr>
        <p:spPr bwMode="auto">
          <a:xfrm>
            <a:off x="2498725" y="6316663"/>
            <a:ext cx="4062413"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[21,22,23,24,25,26,27,28,29,30,31] </a:t>
            </a: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3"/>
          <p:cNvSpPr>
            <a:spLocks/>
          </p:cNvSpPr>
          <p:nvPr/>
        </p:nvSpPr>
        <p:spPr bwMode="auto">
          <a:xfrm>
            <a:off x="0" y="1371600"/>
            <a:ext cx="7620000" cy="5029200"/>
          </a:xfrm>
          <a:prstGeom prst="rect">
            <a:avLst/>
          </a:prstGeom>
          <a:solidFill>
            <a:srgbClr val="00CECE"/>
          </a:solidFill>
          <a:ln w="12700">
            <a:noFill/>
            <a:miter lim="800000"/>
            <a:headEnd/>
            <a:tailEnd/>
          </a:ln>
        </p:spPr>
        <p:txBody>
          <a:bodyPr lIns="0" tIns="0" rIns="0" bIns="0"/>
          <a:lstStyle/>
          <a:p>
            <a:endParaRPr lang="en-US"/>
          </a:p>
        </p:txBody>
      </p:sp>
      <p:sp>
        <p:nvSpPr>
          <p:cNvPr id="89092" name="Rectangle 4"/>
          <p:cNvSpPr>
            <a:spLocks noGrp="1" noChangeArrowheads="1"/>
          </p:cNvSpPr>
          <p:nvPr>
            <p:ph type="title"/>
          </p:nvPr>
        </p:nvSpPr>
        <p:spPr/>
        <p:txBody>
          <a:bodyPr rIns="130174"/>
          <a:lstStyle/>
          <a:p>
            <a:pPr indent="0" eaLnBrk="1" hangingPunct="1">
              <a:defRPr/>
            </a:pPr>
            <a:r>
              <a:rPr lang="en-US"/>
              <a:t>Breadth-First Snapshot 21</a:t>
            </a:r>
          </a:p>
        </p:txBody>
      </p:sp>
      <p:sp>
        <p:nvSpPr>
          <p:cNvPr id="84998"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84999"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85000"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85001"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85002"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5003"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5004"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85005"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85006"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85007"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5008"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5009"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85010"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5011"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5012"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5013"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5014"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85015"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85016"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85017"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85018"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85019"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5020"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5021"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85022"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5023"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85024"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85025"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85026"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5027"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85028"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sp>
        <p:nvSpPr>
          <p:cNvPr id="85029" name="Oval 36"/>
          <p:cNvSpPr>
            <a:spLocks/>
          </p:cNvSpPr>
          <p:nvPr/>
        </p:nvSpPr>
        <p:spPr bwMode="auto">
          <a:xfrm flipH="1">
            <a:off x="69151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5030" name="Oval 37"/>
          <p:cNvSpPr>
            <a:spLocks/>
          </p:cNvSpPr>
          <p:nvPr/>
        </p:nvSpPr>
        <p:spPr bwMode="auto">
          <a:xfrm>
            <a:off x="887413"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31" name="Oval 38"/>
          <p:cNvSpPr>
            <a:spLocks/>
          </p:cNvSpPr>
          <p:nvPr/>
        </p:nvSpPr>
        <p:spPr bwMode="auto">
          <a:xfrm>
            <a:off x="1317625"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32" name="Oval 39"/>
          <p:cNvSpPr>
            <a:spLocks/>
          </p:cNvSpPr>
          <p:nvPr/>
        </p:nvSpPr>
        <p:spPr bwMode="auto">
          <a:xfrm>
            <a:off x="1747838"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33" name="Oval 40"/>
          <p:cNvSpPr>
            <a:spLocks/>
          </p:cNvSpPr>
          <p:nvPr/>
        </p:nvSpPr>
        <p:spPr bwMode="auto">
          <a:xfrm>
            <a:off x="217805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34" name="Oval 41"/>
          <p:cNvSpPr>
            <a:spLocks/>
          </p:cNvSpPr>
          <p:nvPr/>
        </p:nvSpPr>
        <p:spPr bwMode="auto">
          <a:xfrm>
            <a:off x="2609850" y="550545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85035" name="Oval 42"/>
          <p:cNvSpPr>
            <a:spLocks/>
          </p:cNvSpPr>
          <p:nvPr/>
        </p:nvSpPr>
        <p:spPr bwMode="auto">
          <a:xfrm>
            <a:off x="304006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5036" name="Oval 43"/>
          <p:cNvSpPr>
            <a:spLocks/>
          </p:cNvSpPr>
          <p:nvPr/>
        </p:nvSpPr>
        <p:spPr bwMode="auto">
          <a:xfrm>
            <a:off x="347027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5037" name="Oval 44"/>
          <p:cNvSpPr>
            <a:spLocks/>
          </p:cNvSpPr>
          <p:nvPr/>
        </p:nvSpPr>
        <p:spPr bwMode="auto">
          <a:xfrm>
            <a:off x="3900488" y="5505450"/>
            <a:ext cx="304800" cy="304800"/>
          </a:xfrm>
          <a:prstGeom prst="ellipse">
            <a:avLst/>
          </a:prstGeom>
          <a:solidFill>
            <a:srgbClr val="FAFD00"/>
          </a:solidFill>
          <a:ln w="76200">
            <a:solidFill>
              <a:srgbClr val="FC0128"/>
            </a:solidFill>
            <a:round/>
            <a:headEnd/>
            <a:tailEnd/>
          </a:ln>
        </p:spPr>
        <p:txBody>
          <a:bodyPr lIns="0" tIns="0" rIns="0" bIns="0"/>
          <a:lstStyle/>
          <a:p>
            <a:endParaRPr lang="en-US"/>
          </a:p>
        </p:txBody>
      </p:sp>
      <p:sp>
        <p:nvSpPr>
          <p:cNvPr id="85038" name="Oval 45"/>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5039" name="Oval 46"/>
          <p:cNvSpPr>
            <a:spLocks/>
          </p:cNvSpPr>
          <p:nvPr/>
        </p:nvSpPr>
        <p:spPr bwMode="auto">
          <a:xfrm>
            <a:off x="51927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5040" name="Oval 47"/>
          <p:cNvSpPr>
            <a:spLocks/>
          </p:cNvSpPr>
          <p:nvPr/>
        </p:nvSpPr>
        <p:spPr bwMode="auto">
          <a:xfrm>
            <a:off x="60531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5041" name="Oval 48"/>
          <p:cNvSpPr>
            <a:spLocks/>
          </p:cNvSpPr>
          <p:nvPr/>
        </p:nvSpPr>
        <p:spPr bwMode="auto">
          <a:xfrm>
            <a:off x="64833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5042" name="Oval 49"/>
          <p:cNvSpPr>
            <a:spLocks/>
          </p:cNvSpPr>
          <p:nvPr/>
        </p:nvSpPr>
        <p:spPr bwMode="auto">
          <a:xfrm>
            <a:off x="47625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5043" name="Oval 50"/>
          <p:cNvSpPr>
            <a:spLocks/>
          </p:cNvSpPr>
          <p:nvPr/>
        </p:nvSpPr>
        <p:spPr bwMode="auto">
          <a:xfrm>
            <a:off x="56229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5044" name="Oval 51"/>
          <p:cNvSpPr>
            <a:spLocks/>
          </p:cNvSpPr>
          <p:nvPr/>
        </p:nvSpPr>
        <p:spPr bwMode="auto">
          <a:xfrm>
            <a:off x="45720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45" name="Oval 52"/>
          <p:cNvSpPr>
            <a:spLocks/>
          </p:cNvSpPr>
          <p:nvPr/>
        </p:nvSpPr>
        <p:spPr bwMode="auto">
          <a:xfrm flipH="1">
            <a:off x="61341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46" name="Oval 53"/>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47" name="Oval 54"/>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48" name="Oval 55"/>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49" name="Oval 56"/>
          <p:cNvSpPr>
            <a:spLocks/>
          </p:cNvSpPr>
          <p:nvPr/>
        </p:nvSpPr>
        <p:spPr bwMode="auto">
          <a:xfrm>
            <a:off x="4729163"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50" name="Oval 57"/>
          <p:cNvSpPr>
            <a:spLocks/>
          </p:cNvSpPr>
          <p:nvPr/>
        </p:nvSpPr>
        <p:spPr bwMode="auto">
          <a:xfrm>
            <a:off x="543083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51" name="Oval 58"/>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52" name="Oval 59"/>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53" name="Oval 60"/>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54" name="Oval 61"/>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55" name="Oval 62"/>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56" name="Oval 63"/>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57" name="Oval 6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58" name="Oval 6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59" name="Oval 66"/>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85060" name="Rectangle 6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85061" name="Oval 6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5062" name="Rectangle 6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85063" name="Oval 7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5064" name="Rectangle 7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85065" name="Oval 7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85066" name="Rectangle 7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85067" name="Oval 7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85068" name="Rectangle 7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85069" name="Oval 7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85070" name="Rectangle 7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85071" name="Rectangle 78"/>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85072" name="Rectangle 79"/>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85073" name="Rectangle 80"/>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85074" name="Rectangle 81"/>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85075" name="Rectangle 82"/>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85076" name="Rectangle 83"/>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85077" name="Rectangle 84"/>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85078" name="Rectangle 85"/>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85079" name="Rectangle 86"/>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85080" name="Rectangle 87"/>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85081" name="Rectangle 88"/>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85082" name="Rectangle 89"/>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85083" name="Rectangle 90"/>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85084" name="Rectangle 91"/>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85085" name="Rectangle 92"/>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85086" name="Rectangle 93"/>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85087" name="Rectangle 94"/>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85088" name="Rectangle 95"/>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85089" name="Rectangle 96"/>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85090" name="Rectangle 97"/>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85091" name="Rectangle 98"/>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85092" name="Rectangle 99"/>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85093" name="Rectangle 100"/>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85094" name="Rectangle 101"/>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85095" name="Rectangle 102"/>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85096" name="Rectangle 103"/>
          <p:cNvSpPr>
            <a:spLocks/>
          </p:cNvSpPr>
          <p:nvPr/>
        </p:nvSpPr>
        <p:spPr bwMode="auto">
          <a:xfrm>
            <a:off x="4743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85097" name="Rectangle 104"/>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85098" name="Rectangle 105"/>
          <p:cNvSpPr>
            <a:spLocks/>
          </p:cNvSpPr>
          <p:nvPr/>
        </p:nvSpPr>
        <p:spPr bwMode="auto">
          <a:xfrm>
            <a:off x="5657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85099" name="Rectangle 106"/>
          <p:cNvSpPr>
            <a:spLocks/>
          </p:cNvSpPr>
          <p:nvPr/>
        </p:nvSpPr>
        <p:spPr bwMode="auto">
          <a:xfrm>
            <a:off x="6038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85100" name="Rectangle 107"/>
          <p:cNvSpPr>
            <a:spLocks/>
          </p:cNvSpPr>
          <p:nvPr/>
        </p:nvSpPr>
        <p:spPr bwMode="auto">
          <a:xfrm>
            <a:off x="6496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85101" name="Rectangle 108"/>
          <p:cNvSpPr>
            <a:spLocks/>
          </p:cNvSpPr>
          <p:nvPr/>
        </p:nvSpPr>
        <p:spPr bwMode="auto">
          <a:xfrm>
            <a:off x="6953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85102" name="Rectangle 109"/>
          <p:cNvSpPr>
            <a:spLocks/>
          </p:cNvSpPr>
          <p:nvPr/>
        </p:nvSpPr>
        <p:spPr bwMode="auto">
          <a:xfrm>
            <a:off x="2498725" y="6316663"/>
            <a:ext cx="3781425"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[22,23,24,25,26,27,28,29,30,31] </a:t>
            </a: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3"/>
          <p:cNvSpPr>
            <a:spLocks/>
          </p:cNvSpPr>
          <p:nvPr/>
        </p:nvSpPr>
        <p:spPr bwMode="auto">
          <a:xfrm>
            <a:off x="0" y="1371600"/>
            <a:ext cx="7620000" cy="5029200"/>
          </a:xfrm>
          <a:prstGeom prst="rect">
            <a:avLst/>
          </a:prstGeom>
          <a:solidFill>
            <a:srgbClr val="00CECE"/>
          </a:solidFill>
          <a:ln w="12700">
            <a:noFill/>
            <a:miter lim="800000"/>
            <a:headEnd/>
            <a:tailEnd/>
          </a:ln>
        </p:spPr>
        <p:txBody>
          <a:bodyPr lIns="0" tIns="0" rIns="0" bIns="0"/>
          <a:lstStyle/>
          <a:p>
            <a:endParaRPr lang="en-US"/>
          </a:p>
        </p:txBody>
      </p:sp>
      <p:sp>
        <p:nvSpPr>
          <p:cNvPr id="90116" name="Rectangle 4"/>
          <p:cNvSpPr>
            <a:spLocks noGrp="1" noChangeArrowheads="1"/>
          </p:cNvSpPr>
          <p:nvPr>
            <p:ph type="title"/>
          </p:nvPr>
        </p:nvSpPr>
        <p:spPr/>
        <p:txBody>
          <a:bodyPr rIns="130174"/>
          <a:lstStyle/>
          <a:p>
            <a:pPr indent="0" eaLnBrk="1" hangingPunct="1">
              <a:defRPr/>
            </a:pPr>
            <a:r>
              <a:rPr lang="en-US"/>
              <a:t>Breadth-First Snapshot 22</a:t>
            </a:r>
          </a:p>
        </p:txBody>
      </p:sp>
      <p:sp>
        <p:nvSpPr>
          <p:cNvPr id="86022"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86023"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86024"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86025"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86026"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6027"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6028"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86029"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86030"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86031"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6032"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6033"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86034"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6035"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6036"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6037"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6038"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86039"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86040"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86041"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86042"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86043"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6044"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6045"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86046"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6047"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86048"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86049"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86050"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6051"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86052"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sp>
        <p:nvSpPr>
          <p:cNvPr id="86053" name="Oval 36"/>
          <p:cNvSpPr>
            <a:spLocks/>
          </p:cNvSpPr>
          <p:nvPr/>
        </p:nvSpPr>
        <p:spPr bwMode="auto">
          <a:xfrm flipH="1">
            <a:off x="69151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6054" name="Oval 37"/>
          <p:cNvSpPr>
            <a:spLocks/>
          </p:cNvSpPr>
          <p:nvPr/>
        </p:nvSpPr>
        <p:spPr bwMode="auto">
          <a:xfrm>
            <a:off x="887413"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55" name="Oval 38"/>
          <p:cNvSpPr>
            <a:spLocks/>
          </p:cNvSpPr>
          <p:nvPr/>
        </p:nvSpPr>
        <p:spPr bwMode="auto">
          <a:xfrm>
            <a:off x="1317625"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56" name="Oval 39"/>
          <p:cNvSpPr>
            <a:spLocks/>
          </p:cNvSpPr>
          <p:nvPr/>
        </p:nvSpPr>
        <p:spPr bwMode="auto">
          <a:xfrm>
            <a:off x="1747838"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57" name="Oval 40"/>
          <p:cNvSpPr>
            <a:spLocks/>
          </p:cNvSpPr>
          <p:nvPr/>
        </p:nvSpPr>
        <p:spPr bwMode="auto">
          <a:xfrm>
            <a:off x="217805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58" name="Oval 41"/>
          <p:cNvSpPr>
            <a:spLocks/>
          </p:cNvSpPr>
          <p:nvPr/>
        </p:nvSpPr>
        <p:spPr bwMode="auto">
          <a:xfrm>
            <a:off x="260985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59" name="Oval 42"/>
          <p:cNvSpPr>
            <a:spLocks/>
          </p:cNvSpPr>
          <p:nvPr/>
        </p:nvSpPr>
        <p:spPr bwMode="auto">
          <a:xfrm>
            <a:off x="3040063" y="550545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86060" name="Oval 43"/>
          <p:cNvSpPr>
            <a:spLocks/>
          </p:cNvSpPr>
          <p:nvPr/>
        </p:nvSpPr>
        <p:spPr bwMode="auto">
          <a:xfrm>
            <a:off x="347027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6061" name="Oval 44"/>
          <p:cNvSpPr>
            <a:spLocks/>
          </p:cNvSpPr>
          <p:nvPr/>
        </p:nvSpPr>
        <p:spPr bwMode="auto">
          <a:xfrm>
            <a:off x="3900488" y="5505450"/>
            <a:ext cx="304800" cy="304800"/>
          </a:xfrm>
          <a:prstGeom prst="ellipse">
            <a:avLst/>
          </a:prstGeom>
          <a:solidFill>
            <a:srgbClr val="FAFD00"/>
          </a:solidFill>
          <a:ln w="76200">
            <a:solidFill>
              <a:srgbClr val="FC0128"/>
            </a:solidFill>
            <a:round/>
            <a:headEnd/>
            <a:tailEnd/>
          </a:ln>
        </p:spPr>
        <p:txBody>
          <a:bodyPr lIns="0" tIns="0" rIns="0" bIns="0"/>
          <a:lstStyle/>
          <a:p>
            <a:endParaRPr lang="en-US"/>
          </a:p>
        </p:txBody>
      </p:sp>
      <p:sp>
        <p:nvSpPr>
          <p:cNvPr id="86062" name="Oval 45"/>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6063" name="Oval 46"/>
          <p:cNvSpPr>
            <a:spLocks/>
          </p:cNvSpPr>
          <p:nvPr/>
        </p:nvSpPr>
        <p:spPr bwMode="auto">
          <a:xfrm>
            <a:off x="51927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6064" name="Oval 47"/>
          <p:cNvSpPr>
            <a:spLocks/>
          </p:cNvSpPr>
          <p:nvPr/>
        </p:nvSpPr>
        <p:spPr bwMode="auto">
          <a:xfrm>
            <a:off x="60531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6065" name="Oval 48"/>
          <p:cNvSpPr>
            <a:spLocks/>
          </p:cNvSpPr>
          <p:nvPr/>
        </p:nvSpPr>
        <p:spPr bwMode="auto">
          <a:xfrm>
            <a:off x="64833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6066" name="Oval 49"/>
          <p:cNvSpPr>
            <a:spLocks/>
          </p:cNvSpPr>
          <p:nvPr/>
        </p:nvSpPr>
        <p:spPr bwMode="auto">
          <a:xfrm>
            <a:off x="47625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6067" name="Oval 50"/>
          <p:cNvSpPr>
            <a:spLocks/>
          </p:cNvSpPr>
          <p:nvPr/>
        </p:nvSpPr>
        <p:spPr bwMode="auto">
          <a:xfrm>
            <a:off x="56229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6068" name="Oval 51"/>
          <p:cNvSpPr>
            <a:spLocks/>
          </p:cNvSpPr>
          <p:nvPr/>
        </p:nvSpPr>
        <p:spPr bwMode="auto">
          <a:xfrm>
            <a:off x="45720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69" name="Oval 52"/>
          <p:cNvSpPr>
            <a:spLocks/>
          </p:cNvSpPr>
          <p:nvPr/>
        </p:nvSpPr>
        <p:spPr bwMode="auto">
          <a:xfrm flipH="1">
            <a:off x="61341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70" name="Oval 53"/>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71" name="Oval 54"/>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72" name="Oval 55"/>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73" name="Oval 56"/>
          <p:cNvSpPr>
            <a:spLocks/>
          </p:cNvSpPr>
          <p:nvPr/>
        </p:nvSpPr>
        <p:spPr bwMode="auto">
          <a:xfrm>
            <a:off x="4729163"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74" name="Oval 57"/>
          <p:cNvSpPr>
            <a:spLocks/>
          </p:cNvSpPr>
          <p:nvPr/>
        </p:nvSpPr>
        <p:spPr bwMode="auto">
          <a:xfrm>
            <a:off x="543083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75" name="Oval 58"/>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76" name="Oval 59"/>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77" name="Oval 60"/>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78" name="Oval 61"/>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79" name="Oval 62"/>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80" name="Oval 63"/>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81" name="Oval 6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82" name="Oval 6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83" name="Oval 66"/>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86084" name="Rectangle 6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86085" name="Oval 6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6086" name="Rectangle 6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86087" name="Oval 7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6088" name="Rectangle 7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86089" name="Oval 7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86090" name="Rectangle 7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86091" name="Oval 7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86092" name="Rectangle 7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86093" name="Oval 7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86094" name="Rectangle 7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86095" name="Rectangle 78"/>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86096" name="Rectangle 79"/>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86097" name="Rectangle 80"/>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86098" name="Rectangle 81"/>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86099" name="Rectangle 82"/>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86100" name="Rectangle 83"/>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86101" name="Rectangle 84"/>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86102" name="Rectangle 85"/>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86103" name="Rectangle 86"/>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86104" name="Rectangle 87"/>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86105" name="Rectangle 88"/>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86106" name="Rectangle 89"/>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86107" name="Rectangle 90"/>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86108" name="Rectangle 91"/>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86109" name="Rectangle 92"/>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86110" name="Rectangle 93"/>
          <p:cNvSpPr>
            <a:spLocks/>
          </p:cNvSpPr>
          <p:nvPr/>
        </p:nvSpPr>
        <p:spPr bwMode="auto">
          <a:xfrm>
            <a:off x="477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86111" name="Rectangle 94"/>
          <p:cNvSpPr>
            <a:spLocks/>
          </p:cNvSpPr>
          <p:nvPr/>
        </p:nvSpPr>
        <p:spPr bwMode="auto">
          <a:xfrm>
            <a:off x="858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86112" name="Rectangle 95"/>
          <p:cNvSpPr>
            <a:spLocks/>
          </p:cNvSpPr>
          <p:nvPr/>
        </p:nvSpPr>
        <p:spPr bwMode="auto">
          <a:xfrm>
            <a:off x="1316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86113" name="Rectangle 96"/>
          <p:cNvSpPr>
            <a:spLocks/>
          </p:cNvSpPr>
          <p:nvPr/>
        </p:nvSpPr>
        <p:spPr bwMode="auto">
          <a:xfrm>
            <a:off x="1697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86114" name="Rectangle 97"/>
          <p:cNvSpPr>
            <a:spLocks/>
          </p:cNvSpPr>
          <p:nvPr/>
        </p:nvSpPr>
        <p:spPr bwMode="auto">
          <a:xfrm>
            <a:off x="21542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86115" name="Rectangle 98"/>
          <p:cNvSpPr>
            <a:spLocks/>
          </p:cNvSpPr>
          <p:nvPr/>
        </p:nvSpPr>
        <p:spPr bwMode="auto">
          <a:xfrm>
            <a:off x="2611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86116" name="Rectangle 99"/>
          <p:cNvSpPr>
            <a:spLocks/>
          </p:cNvSpPr>
          <p:nvPr/>
        </p:nvSpPr>
        <p:spPr bwMode="auto">
          <a:xfrm>
            <a:off x="2992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86117" name="Rectangle 100"/>
          <p:cNvSpPr>
            <a:spLocks/>
          </p:cNvSpPr>
          <p:nvPr/>
        </p:nvSpPr>
        <p:spPr bwMode="auto">
          <a:xfrm>
            <a:off x="34496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86118" name="Rectangle 101"/>
          <p:cNvSpPr>
            <a:spLocks/>
          </p:cNvSpPr>
          <p:nvPr/>
        </p:nvSpPr>
        <p:spPr bwMode="auto">
          <a:xfrm>
            <a:off x="3906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86119" name="Rectangle 102"/>
          <p:cNvSpPr>
            <a:spLocks/>
          </p:cNvSpPr>
          <p:nvPr/>
        </p:nvSpPr>
        <p:spPr bwMode="auto">
          <a:xfrm>
            <a:off x="4364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86120" name="Rectangle 103"/>
          <p:cNvSpPr>
            <a:spLocks/>
          </p:cNvSpPr>
          <p:nvPr/>
        </p:nvSpPr>
        <p:spPr bwMode="auto">
          <a:xfrm>
            <a:off x="4745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86121" name="Rectangle 104"/>
          <p:cNvSpPr>
            <a:spLocks/>
          </p:cNvSpPr>
          <p:nvPr/>
        </p:nvSpPr>
        <p:spPr bwMode="auto">
          <a:xfrm>
            <a:off x="52022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86122" name="Rectangle 105"/>
          <p:cNvSpPr>
            <a:spLocks/>
          </p:cNvSpPr>
          <p:nvPr/>
        </p:nvSpPr>
        <p:spPr bwMode="auto">
          <a:xfrm>
            <a:off x="5659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86123" name="Rectangle 106"/>
          <p:cNvSpPr>
            <a:spLocks/>
          </p:cNvSpPr>
          <p:nvPr/>
        </p:nvSpPr>
        <p:spPr bwMode="auto">
          <a:xfrm>
            <a:off x="6040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86124" name="Rectangle 107"/>
          <p:cNvSpPr>
            <a:spLocks/>
          </p:cNvSpPr>
          <p:nvPr/>
        </p:nvSpPr>
        <p:spPr bwMode="auto">
          <a:xfrm>
            <a:off x="64976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86125" name="Rectangle 108"/>
          <p:cNvSpPr>
            <a:spLocks/>
          </p:cNvSpPr>
          <p:nvPr/>
        </p:nvSpPr>
        <p:spPr bwMode="auto">
          <a:xfrm>
            <a:off x="6954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86126" name="Rectangle 109"/>
          <p:cNvSpPr>
            <a:spLocks/>
          </p:cNvSpPr>
          <p:nvPr/>
        </p:nvSpPr>
        <p:spPr bwMode="auto">
          <a:xfrm>
            <a:off x="2498725" y="6316663"/>
            <a:ext cx="3498850"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[23,24,25,26,27,28,29,30,31] </a:t>
            </a: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3"/>
          <p:cNvSpPr>
            <a:spLocks/>
          </p:cNvSpPr>
          <p:nvPr/>
        </p:nvSpPr>
        <p:spPr bwMode="auto">
          <a:xfrm>
            <a:off x="0" y="1371600"/>
            <a:ext cx="7620000" cy="5029200"/>
          </a:xfrm>
          <a:prstGeom prst="rect">
            <a:avLst/>
          </a:prstGeom>
          <a:solidFill>
            <a:srgbClr val="00CECE"/>
          </a:solidFill>
          <a:ln w="12700">
            <a:noFill/>
            <a:miter lim="800000"/>
            <a:headEnd/>
            <a:tailEnd/>
          </a:ln>
        </p:spPr>
        <p:txBody>
          <a:bodyPr lIns="0" tIns="0" rIns="0" bIns="0"/>
          <a:lstStyle/>
          <a:p>
            <a:endParaRPr lang="en-US"/>
          </a:p>
        </p:txBody>
      </p:sp>
      <p:sp>
        <p:nvSpPr>
          <p:cNvPr id="91140" name="Rectangle 4"/>
          <p:cNvSpPr>
            <a:spLocks noGrp="1" noChangeArrowheads="1"/>
          </p:cNvSpPr>
          <p:nvPr>
            <p:ph type="title"/>
          </p:nvPr>
        </p:nvSpPr>
        <p:spPr/>
        <p:txBody>
          <a:bodyPr rIns="130174"/>
          <a:lstStyle/>
          <a:p>
            <a:pPr indent="0" eaLnBrk="1" hangingPunct="1">
              <a:defRPr/>
            </a:pPr>
            <a:r>
              <a:rPr lang="en-US"/>
              <a:t>Breadth-First Snapshot 23</a:t>
            </a:r>
          </a:p>
        </p:txBody>
      </p:sp>
      <p:sp>
        <p:nvSpPr>
          <p:cNvPr id="87046"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87047"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87048"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87049"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87050"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7051"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7052"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87053"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87054"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87055"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7056"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7057"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87058"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7059"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7060"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7061"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7062"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87063"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87064"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87065"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87066"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87067"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7068"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7069"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87070"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7071"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87072"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87073"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87074"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7075"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87076"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sp>
        <p:nvSpPr>
          <p:cNvPr id="87077" name="Oval 36"/>
          <p:cNvSpPr>
            <a:spLocks/>
          </p:cNvSpPr>
          <p:nvPr/>
        </p:nvSpPr>
        <p:spPr bwMode="auto">
          <a:xfrm flipH="1">
            <a:off x="69151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7078" name="Oval 37"/>
          <p:cNvSpPr>
            <a:spLocks/>
          </p:cNvSpPr>
          <p:nvPr/>
        </p:nvSpPr>
        <p:spPr bwMode="auto">
          <a:xfrm>
            <a:off x="887413" y="54864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79" name="Oval 38"/>
          <p:cNvSpPr>
            <a:spLocks/>
          </p:cNvSpPr>
          <p:nvPr/>
        </p:nvSpPr>
        <p:spPr bwMode="auto">
          <a:xfrm>
            <a:off x="1317625" y="54864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80" name="Oval 39"/>
          <p:cNvSpPr>
            <a:spLocks/>
          </p:cNvSpPr>
          <p:nvPr/>
        </p:nvSpPr>
        <p:spPr bwMode="auto">
          <a:xfrm>
            <a:off x="1747838" y="54864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81" name="Oval 40"/>
          <p:cNvSpPr>
            <a:spLocks/>
          </p:cNvSpPr>
          <p:nvPr/>
        </p:nvSpPr>
        <p:spPr bwMode="auto">
          <a:xfrm>
            <a:off x="2178050" y="54864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82" name="Oval 41"/>
          <p:cNvSpPr>
            <a:spLocks/>
          </p:cNvSpPr>
          <p:nvPr/>
        </p:nvSpPr>
        <p:spPr bwMode="auto">
          <a:xfrm>
            <a:off x="2609850" y="54864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83" name="Oval 42"/>
          <p:cNvSpPr>
            <a:spLocks/>
          </p:cNvSpPr>
          <p:nvPr/>
        </p:nvSpPr>
        <p:spPr bwMode="auto">
          <a:xfrm>
            <a:off x="3040063" y="54864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84" name="Oval 43"/>
          <p:cNvSpPr>
            <a:spLocks/>
          </p:cNvSpPr>
          <p:nvPr/>
        </p:nvSpPr>
        <p:spPr bwMode="auto">
          <a:xfrm>
            <a:off x="3470275" y="5505450"/>
            <a:ext cx="304800" cy="304800"/>
          </a:xfrm>
          <a:prstGeom prst="ellipse">
            <a:avLst/>
          </a:prstGeom>
          <a:solidFill>
            <a:srgbClr val="FF8000"/>
          </a:solidFill>
          <a:ln w="12700">
            <a:solidFill>
              <a:srgbClr val="000020"/>
            </a:solidFill>
            <a:round/>
            <a:headEnd/>
            <a:tailEnd/>
          </a:ln>
        </p:spPr>
        <p:txBody>
          <a:bodyPr lIns="0" tIns="0" rIns="0" bIns="0"/>
          <a:lstStyle/>
          <a:p>
            <a:endParaRPr lang="en-US"/>
          </a:p>
        </p:txBody>
      </p:sp>
      <p:sp>
        <p:nvSpPr>
          <p:cNvPr id="87085" name="Oval 44"/>
          <p:cNvSpPr>
            <a:spLocks/>
          </p:cNvSpPr>
          <p:nvPr/>
        </p:nvSpPr>
        <p:spPr bwMode="auto">
          <a:xfrm>
            <a:off x="3900488" y="5505450"/>
            <a:ext cx="304800" cy="304800"/>
          </a:xfrm>
          <a:prstGeom prst="ellipse">
            <a:avLst/>
          </a:prstGeom>
          <a:solidFill>
            <a:srgbClr val="FAFD00"/>
          </a:solidFill>
          <a:ln w="76200">
            <a:solidFill>
              <a:srgbClr val="FC0128"/>
            </a:solidFill>
            <a:round/>
            <a:headEnd/>
            <a:tailEnd/>
          </a:ln>
        </p:spPr>
        <p:txBody>
          <a:bodyPr lIns="0" tIns="0" rIns="0" bIns="0"/>
          <a:lstStyle/>
          <a:p>
            <a:endParaRPr lang="en-US"/>
          </a:p>
        </p:txBody>
      </p:sp>
      <p:sp>
        <p:nvSpPr>
          <p:cNvPr id="87086" name="Oval 45"/>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7087" name="Oval 46"/>
          <p:cNvSpPr>
            <a:spLocks/>
          </p:cNvSpPr>
          <p:nvPr/>
        </p:nvSpPr>
        <p:spPr bwMode="auto">
          <a:xfrm>
            <a:off x="51927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7088" name="Oval 47"/>
          <p:cNvSpPr>
            <a:spLocks/>
          </p:cNvSpPr>
          <p:nvPr/>
        </p:nvSpPr>
        <p:spPr bwMode="auto">
          <a:xfrm>
            <a:off x="60531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7089" name="Oval 48"/>
          <p:cNvSpPr>
            <a:spLocks/>
          </p:cNvSpPr>
          <p:nvPr/>
        </p:nvSpPr>
        <p:spPr bwMode="auto">
          <a:xfrm>
            <a:off x="64833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7090" name="Oval 49"/>
          <p:cNvSpPr>
            <a:spLocks/>
          </p:cNvSpPr>
          <p:nvPr/>
        </p:nvSpPr>
        <p:spPr bwMode="auto">
          <a:xfrm>
            <a:off x="47625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7091" name="Oval 50"/>
          <p:cNvSpPr>
            <a:spLocks/>
          </p:cNvSpPr>
          <p:nvPr/>
        </p:nvSpPr>
        <p:spPr bwMode="auto">
          <a:xfrm>
            <a:off x="56229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7092" name="Oval 51"/>
          <p:cNvSpPr>
            <a:spLocks/>
          </p:cNvSpPr>
          <p:nvPr/>
        </p:nvSpPr>
        <p:spPr bwMode="auto">
          <a:xfrm>
            <a:off x="45720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93" name="Oval 52"/>
          <p:cNvSpPr>
            <a:spLocks/>
          </p:cNvSpPr>
          <p:nvPr/>
        </p:nvSpPr>
        <p:spPr bwMode="auto">
          <a:xfrm flipH="1">
            <a:off x="61341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94" name="Oval 53"/>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95" name="Oval 54"/>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96" name="Oval 55"/>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97" name="Oval 56"/>
          <p:cNvSpPr>
            <a:spLocks/>
          </p:cNvSpPr>
          <p:nvPr/>
        </p:nvSpPr>
        <p:spPr bwMode="auto">
          <a:xfrm>
            <a:off x="4729163"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98" name="Oval 57"/>
          <p:cNvSpPr>
            <a:spLocks/>
          </p:cNvSpPr>
          <p:nvPr/>
        </p:nvSpPr>
        <p:spPr bwMode="auto">
          <a:xfrm>
            <a:off x="543083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099" name="Oval 58"/>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100" name="Oval 59"/>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101" name="Oval 60"/>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102" name="Oval 61"/>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103" name="Oval 62"/>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104" name="Oval 63"/>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105" name="Oval 6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106" name="Oval 6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107" name="Oval 66"/>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87108" name="Rectangle 6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87109" name="Oval 6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7110" name="Rectangle 6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87111" name="Oval 7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7112" name="Rectangle 7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87113" name="Oval 7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87114" name="Rectangle 7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87115" name="Oval 7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87116" name="Rectangle 7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87117" name="Oval 7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87118" name="Rectangle 7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87119" name="Rectangle 78"/>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87120" name="Rectangle 79"/>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87121" name="Rectangle 80"/>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87122" name="Rectangle 81"/>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87123" name="Rectangle 82"/>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87124" name="Rectangle 83"/>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87125" name="Rectangle 84"/>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87126" name="Rectangle 85"/>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87127" name="Rectangle 86"/>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87128" name="Rectangle 87"/>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87129" name="Rectangle 88"/>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87130" name="Rectangle 89"/>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87131" name="Rectangle 90"/>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87132" name="Rectangle 91"/>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87133" name="Rectangle 92"/>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87134" name="Rectangle 93"/>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87135" name="Rectangle 94"/>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87136" name="Rectangle 95"/>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87137" name="Rectangle 96"/>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87138" name="Rectangle 97"/>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87139" name="Rectangle 98"/>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87140" name="Rectangle 99"/>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87141" name="Rectangle 100"/>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87142" name="Rectangle 101"/>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87143" name="Rectangle 102"/>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87144" name="Rectangle 103"/>
          <p:cNvSpPr>
            <a:spLocks/>
          </p:cNvSpPr>
          <p:nvPr/>
        </p:nvSpPr>
        <p:spPr bwMode="auto">
          <a:xfrm>
            <a:off x="4743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87145" name="Rectangle 104"/>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87146" name="Rectangle 105"/>
          <p:cNvSpPr>
            <a:spLocks/>
          </p:cNvSpPr>
          <p:nvPr/>
        </p:nvSpPr>
        <p:spPr bwMode="auto">
          <a:xfrm>
            <a:off x="5657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87147" name="Rectangle 106"/>
          <p:cNvSpPr>
            <a:spLocks/>
          </p:cNvSpPr>
          <p:nvPr/>
        </p:nvSpPr>
        <p:spPr bwMode="auto">
          <a:xfrm>
            <a:off x="6038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87148" name="Rectangle 107"/>
          <p:cNvSpPr>
            <a:spLocks/>
          </p:cNvSpPr>
          <p:nvPr/>
        </p:nvSpPr>
        <p:spPr bwMode="auto">
          <a:xfrm>
            <a:off x="6496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87149" name="Rectangle 108"/>
          <p:cNvSpPr>
            <a:spLocks/>
          </p:cNvSpPr>
          <p:nvPr/>
        </p:nvSpPr>
        <p:spPr bwMode="auto">
          <a:xfrm>
            <a:off x="6953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87150" name="Rectangle 109"/>
          <p:cNvSpPr>
            <a:spLocks/>
          </p:cNvSpPr>
          <p:nvPr/>
        </p:nvSpPr>
        <p:spPr bwMode="auto">
          <a:xfrm>
            <a:off x="2498725" y="6316663"/>
            <a:ext cx="3216275"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[24,25,26,27,28,29,30,31] </a:t>
            </a: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3"/>
          <p:cNvSpPr>
            <a:spLocks/>
          </p:cNvSpPr>
          <p:nvPr/>
        </p:nvSpPr>
        <p:spPr bwMode="auto">
          <a:xfrm>
            <a:off x="228600" y="1371600"/>
            <a:ext cx="7315200" cy="4876800"/>
          </a:xfrm>
          <a:prstGeom prst="rect">
            <a:avLst/>
          </a:prstGeom>
          <a:solidFill>
            <a:srgbClr val="00CECE"/>
          </a:solidFill>
          <a:ln w="12700">
            <a:noFill/>
            <a:miter lim="800000"/>
            <a:headEnd/>
            <a:tailEnd/>
          </a:ln>
        </p:spPr>
        <p:txBody>
          <a:bodyPr lIns="0" tIns="0" rIns="0" bIns="0"/>
          <a:lstStyle/>
          <a:p>
            <a:endParaRPr lang="en-US"/>
          </a:p>
        </p:txBody>
      </p:sp>
      <p:sp>
        <p:nvSpPr>
          <p:cNvPr id="92164" name="Rectangle 4"/>
          <p:cNvSpPr>
            <a:spLocks noGrp="1" noChangeArrowheads="1"/>
          </p:cNvSpPr>
          <p:nvPr>
            <p:ph type="title"/>
          </p:nvPr>
        </p:nvSpPr>
        <p:spPr/>
        <p:txBody>
          <a:bodyPr rIns="130174"/>
          <a:lstStyle/>
          <a:p>
            <a:pPr indent="0" eaLnBrk="1" hangingPunct="1">
              <a:defRPr/>
            </a:pPr>
            <a:r>
              <a:rPr lang="en-US"/>
              <a:t>Breadth-First Snapshot 24</a:t>
            </a:r>
          </a:p>
        </p:txBody>
      </p:sp>
      <p:sp>
        <p:nvSpPr>
          <p:cNvPr id="88070"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88071"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88072"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88073"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88074"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8075"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88076"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88077"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88078"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88079"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8080"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88081"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88082"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8083"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8084"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88085"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88086"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88087"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88088"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88089"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88090"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88091"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8092"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8093"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88094"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88095"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88096"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88097"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88098"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88099"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88100"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sp>
        <p:nvSpPr>
          <p:cNvPr id="88101" name="Oval 36"/>
          <p:cNvSpPr>
            <a:spLocks/>
          </p:cNvSpPr>
          <p:nvPr/>
        </p:nvSpPr>
        <p:spPr bwMode="auto">
          <a:xfrm flipH="1">
            <a:off x="69151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8102" name="Oval 37"/>
          <p:cNvSpPr>
            <a:spLocks/>
          </p:cNvSpPr>
          <p:nvPr/>
        </p:nvSpPr>
        <p:spPr bwMode="auto">
          <a:xfrm>
            <a:off x="887413"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03" name="Oval 38"/>
          <p:cNvSpPr>
            <a:spLocks/>
          </p:cNvSpPr>
          <p:nvPr/>
        </p:nvSpPr>
        <p:spPr bwMode="auto">
          <a:xfrm>
            <a:off x="1317625"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04" name="Oval 39"/>
          <p:cNvSpPr>
            <a:spLocks/>
          </p:cNvSpPr>
          <p:nvPr/>
        </p:nvSpPr>
        <p:spPr bwMode="auto">
          <a:xfrm>
            <a:off x="1747838"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05" name="Oval 40"/>
          <p:cNvSpPr>
            <a:spLocks/>
          </p:cNvSpPr>
          <p:nvPr/>
        </p:nvSpPr>
        <p:spPr bwMode="auto">
          <a:xfrm>
            <a:off x="217805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06" name="Oval 41"/>
          <p:cNvSpPr>
            <a:spLocks/>
          </p:cNvSpPr>
          <p:nvPr/>
        </p:nvSpPr>
        <p:spPr bwMode="auto">
          <a:xfrm>
            <a:off x="260985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07" name="Oval 42"/>
          <p:cNvSpPr>
            <a:spLocks/>
          </p:cNvSpPr>
          <p:nvPr/>
        </p:nvSpPr>
        <p:spPr bwMode="auto">
          <a:xfrm>
            <a:off x="3040063"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08" name="Oval 43"/>
          <p:cNvSpPr>
            <a:spLocks/>
          </p:cNvSpPr>
          <p:nvPr/>
        </p:nvSpPr>
        <p:spPr bwMode="auto">
          <a:xfrm>
            <a:off x="3470275"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09" name="Oval 44"/>
          <p:cNvSpPr>
            <a:spLocks/>
          </p:cNvSpPr>
          <p:nvPr/>
        </p:nvSpPr>
        <p:spPr bwMode="auto">
          <a:xfrm>
            <a:off x="3900488" y="5505450"/>
            <a:ext cx="304800" cy="304800"/>
          </a:xfrm>
          <a:prstGeom prst="ellipse">
            <a:avLst/>
          </a:prstGeom>
          <a:solidFill>
            <a:srgbClr val="FF8000"/>
          </a:solidFill>
          <a:ln w="76200">
            <a:solidFill>
              <a:srgbClr val="FC0128"/>
            </a:solidFill>
            <a:round/>
            <a:headEnd/>
            <a:tailEnd/>
          </a:ln>
        </p:spPr>
        <p:txBody>
          <a:bodyPr lIns="0" tIns="0" rIns="0" bIns="0"/>
          <a:lstStyle/>
          <a:p>
            <a:endParaRPr lang="en-US"/>
          </a:p>
        </p:txBody>
      </p:sp>
      <p:sp>
        <p:nvSpPr>
          <p:cNvPr id="88110" name="Oval 45"/>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8111" name="Oval 46"/>
          <p:cNvSpPr>
            <a:spLocks/>
          </p:cNvSpPr>
          <p:nvPr/>
        </p:nvSpPr>
        <p:spPr bwMode="auto">
          <a:xfrm>
            <a:off x="51927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8112" name="Oval 47"/>
          <p:cNvSpPr>
            <a:spLocks/>
          </p:cNvSpPr>
          <p:nvPr/>
        </p:nvSpPr>
        <p:spPr bwMode="auto">
          <a:xfrm>
            <a:off x="6053138"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8113" name="Oval 48"/>
          <p:cNvSpPr>
            <a:spLocks/>
          </p:cNvSpPr>
          <p:nvPr/>
        </p:nvSpPr>
        <p:spPr bwMode="auto">
          <a:xfrm>
            <a:off x="64833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8114" name="Oval 49"/>
          <p:cNvSpPr>
            <a:spLocks/>
          </p:cNvSpPr>
          <p:nvPr/>
        </p:nvSpPr>
        <p:spPr bwMode="auto">
          <a:xfrm>
            <a:off x="47625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8115" name="Oval 50"/>
          <p:cNvSpPr>
            <a:spLocks/>
          </p:cNvSpPr>
          <p:nvPr/>
        </p:nvSpPr>
        <p:spPr bwMode="auto">
          <a:xfrm>
            <a:off x="5622925"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8116" name="Oval 51"/>
          <p:cNvSpPr>
            <a:spLocks/>
          </p:cNvSpPr>
          <p:nvPr/>
        </p:nvSpPr>
        <p:spPr bwMode="auto">
          <a:xfrm>
            <a:off x="457200" y="550545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17" name="Oval 52"/>
          <p:cNvSpPr>
            <a:spLocks/>
          </p:cNvSpPr>
          <p:nvPr/>
        </p:nvSpPr>
        <p:spPr bwMode="auto">
          <a:xfrm flipH="1">
            <a:off x="61341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18" name="Oval 53"/>
          <p:cNvSpPr>
            <a:spLocks/>
          </p:cNvSpPr>
          <p:nvPr/>
        </p:nvSpPr>
        <p:spPr bwMode="auto">
          <a:xfrm>
            <a:off x="192087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19" name="Oval 54"/>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20" name="Oval 55"/>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21" name="Oval 56"/>
          <p:cNvSpPr>
            <a:spLocks/>
          </p:cNvSpPr>
          <p:nvPr/>
        </p:nvSpPr>
        <p:spPr bwMode="auto">
          <a:xfrm>
            <a:off x="4729163"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22" name="Oval 57"/>
          <p:cNvSpPr>
            <a:spLocks/>
          </p:cNvSpPr>
          <p:nvPr/>
        </p:nvSpPr>
        <p:spPr bwMode="auto">
          <a:xfrm>
            <a:off x="543083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23" name="Oval 58"/>
          <p:cNvSpPr>
            <a:spLocks/>
          </p:cNvSpPr>
          <p:nvPr/>
        </p:nvSpPr>
        <p:spPr bwMode="auto">
          <a:xfrm>
            <a:off x="3324225"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24" name="Oval 59"/>
          <p:cNvSpPr>
            <a:spLocks/>
          </p:cNvSpPr>
          <p:nvPr/>
        </p:nvSpPr>
        <p:spPr bwMode="auto">
          <a:xfrm>
            <a:off x="121920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25" name="Oval 60"/>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26" name="Oval 61"/>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27" name="Oval 62"/>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28" name="Oval 63"/>
          <p:cNvSpPr>
            <a:spLocks/>
          </p:cNvSpPr>
          <p:nvPr/>
        </p:nvSpPr>
        <p:spPr bwMode="auto">
          <a:xfrm>
            <a:off x="1981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29" name="Oval 6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30" name="Oval 6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31" name="Oval 66"/>
          <p:cNvSpPr>
            <a:spLocks/>
          </p:cNvSpPr>
          <p:nvPr/>
        </p:nvSpPr>
        <p:spPr bwMode="auto">
          <a:xfrm>
            <a:off x="3657600" y="1570038"/>
            <a:ext cx="304800" cy="304800"/>
          </a:xfrm>
          <a:prstGeom prst="ellipse">
            <a:avLst/>
          </a:prstGeom>
          <a:solidFill>
            <a:schemeClr val="accent1"/>
          </a:solidFill>
          <a:ln w="76200">
            <a:solidFill>
              <a:srgbClr val="000020"/>
            </a:solidFill>
            <a:round/>
            <a:headEnd/>
            <a:tailEnd/>
          </a:ln>
        </p:spPr>
        <p:txBody>
          <a:bodyPr lIns="0" tIns="0" rIns="0" bIns="0"/>
          <a:lstStyle/>
          <a:p>
            <a:endParaRPr lang="en-US"/>
          </a:p>
        </p:txBody>
      </p:sp>
      <p:sp>
        <p:nvSpPr>
          <p:cNvPr id="88132" name="Rectangle 6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88133" name="Oval 6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88134" name="Rectangle 6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88135" name="Oval 7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88136" name="Rectangle 7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88137" name="Oval 7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88138" name="Rectangle 7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88139" name="Oval 7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88140" name="Rectangle 7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dirty="0">
                <a:solidFill>
                  <a:schemeClr val="tx1"/>
                </a:solidFill>
                <a:cs typeface="Times New Roman" charset="0"/>
              </a:rPr>
              <a:t>Visible</a:t>
            </a:r>
          </a:p>
        </p:txBody>
      </p:sp>
      <p:sp>
        <p:nvSpPr>
          <p:cNvPr id="88141" name="Oval 7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88142" name="Rectangle 7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88143" name="Rectangle 78"/>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88144" name="Rectangle 79"/>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88145" name="Rectangle 80"/>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88146" name="Rectangle 81"/>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88147" name="Rectangle 82"/>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88148" name="Rectangle 83"/>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88149" name="Rectangle 84"/>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88150" name="Rectangle 85"/>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88151" name="Rectangle 86"/>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88152" name="Rectangle 87"/>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88153" name="Rectangle 88"/>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88154" name="Rectangle 89"/>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88155" name="Rectangle 90"/>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88156" name="Rectangle 91"/>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88157" name="Rectangle 92"/>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88158" name="Rectangle 93"/>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88159" name="Rectangle 94"/>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88160" name="Rectangle 95"/>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88161" name="Rectangle 96"/>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88162" name="Rectangle 97"/>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88163" name="Rectangle 98"/>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88164" name="Rectangle 99"/>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88165" name="Rectangle 100"/>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88166" name="Rectangle 101"/>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88167" name="Rectangle 102"/>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88168" name="Rectangle 103"/>
          <p:cNvSpPr>
            <a:spLocks/>
          </p:cNvSpPr>
          <p:nvPr/>
        </p:nvSpPr>
        <p:spPr bwMode="auto">
          <a:xfrm>
            <a:off x="4743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88169" name="Rectangle 104"/>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88170" name="Rectangle 105"/>
          <p:cNvSpPr>
            <a:spLocks/>
          </p:cNvSpPr>
          <p:nvPr/>
        </p:nvSpPr>
        <p:spPr bwMode="auto">
          <a:xfrm>
            <a:off x="5657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88171" name="Rectangle 106"/>
          <p:cNvSpPr>
            <a:spLocks/>
          </p:cNvSpPr>
          <p:nvPr/>
        </p:nvSpPr>
        <p:spPr bwMode="auto">
          <a:xfrm>
            <a:off x="6038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88172" name="Rectangle 107"/>
          <p:cNvSpPr>
            <a:spLocks/>
          </p:cNvSpPr>
          <p:nvPr/>
        </p:nvSpPr>
        <p:spPr bwMode="auto">
          <a:xfrm>
            <a:off x="6496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88173" name="Rectangle 108"/>
          <p:cNvSpPr>
            <a:spLocks/>
          </p:cNvSpPr>
          <p:nvPr/>
        </p:nvSpPr>
        <p:spPr bwMode="auto">
          <a:xfrm>
            <a:off x="6953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88174" name="Rectangle 109"/>
          <p:cNvSpPr>
            <a:spLocks/>
          </p:cNvSpPr>
          <p:nvPr/>
        </p:nvSpPr>
        <p:spPr bwMode="auto">
          <a:xfrm>
            <a:off x="2498725" y="6316663"/>
            <a:ext cx="2933700"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[25,26,27,28,29,30,31] </a:t>
            </a:r>
          </a:p>
        </p:txBody>
      </p:sp>
      <p:sp>
        <p:nvSpPr>
          <p:cNvPr id="88175" name="Rectangle 110"/>
          <p:cNvSpPr>
            <a:spLocks/>
          </p:cNvSpPr>
          <p:nvPr/>
        </p:nvSpPr>
        <p:spPr bwMode="auto">
          <a:xfrm>
            <a:off x="7620000" y="4035425"/>
            <a:ext cx="1536700" cy="1689100"/>
          </a:xfrm>
          <a:prstGeom prst="rect">
            <a:avLst/>
          </a:prstGeom>
          <a:noFill/>
          <a:ln w="12700">
            <a:noFill/>
            <a:miter lim="800000"/>
            <a:headEnd/>
            <a:tailEnd/>
          </a:ln>
        </p:spPr>
        <p:txBody>
          <a:bodyPr lIns="0" tIns="0" rIns="40639" bIns="0"/>
          <a:lstStyle/>
          <a:p>
            <a:pPr marL="39688"/>
            <a:r>
              <a:rPr lang="en-US" sz="1600">
                <a:solidFill>
                  <a:schemeClr val="tx1"/>
                </a:solidFill>
                <a:cs typeface="Times New Roman" charset="0"/>
              </a:rPr>
              <a:t>Note: </a:t>
            </a:r>
          </a:p>
          <a:p>
            <a:pPr marL="39688"/>
            <a:r>
              <a:rPr lang="en-US" sz="1600">
                <a:solidFill>
                  <a:schemeClr val="tx1"/>
                </a:solidFill>
                <a:cs typeface="Times New Roman" charset="0"/>
              </a:rPr>
              <a:t>The goal test is positive for this node, and a solution is found in 24 steps.</a:t>
            </a: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Uniform-Cost -First</a:t>
            </a:r>
          </a:p>
        </p:txBody>
      </p:sp>
      <p:sp>
        <p:nvSpPr>
          <p:cNvPr id="3" name="Content Placeholder 2"/>
          <p:cNvSpPr>
            <a:spLocks noGrp="1"/>
          </p:cNvSpPr>
          <p:nvPr>
            <p:ph sz="quarter" idx="1"/>
          </p:nvPr>
        </p:nvSpPr>
        <p:spPr>
          <a:xfrm>
            <a:off x="301752" y="1676400"/>
            <a:ext cx="8503920" cy="4422648"/>
          </a:xfrm>
        </p:spPr>
        <p:txBody>
          <a:bodyPr/>
          <a:lstStyle/>
          <a:p>
            <a:r>
              <a:rPr lang="en-US" dirty="0"/>
              <a:t>BFS is optimal when all step costs are equal, because it always expands the shallowest unexpanded node.</a:t>
            </a:r>
          </a:p>
          <a:p>
            <a:pPr>
              <a:buNone/>
            </a:pPr>
            <a:endParaRPr lang="en-US" dirty="0"/>
          </a:p>
          <a:p>
            <a:r>
              <a:rPr lang="en-US" dirty="0"/>
              <a:t>Instead of expanding the shallowest node, </a:t>
            </a:r>
            <a:r>
              <a:rPr lang="en-US" b="1" dirty="0"/>
              <a:t>uniform cost search, expands node n with the lowest path cost.  </a:t>
            </a:r>
          </a:p>
          <a:p>
            <a:endParaRPr lang="en-US" dirty="0"/>
          </a:p>
          <a:p>
            <a:r>
              <a:rPr lang="en-US" dirty="0"/>
              <a:t>If all steps cost is equal, this is identical to BFS.</a:t>
            </a:r>
          </a:p>
          <a:p>
            <a:endParaRPr lang="en-US" dirty="0"/>
          </a:p>
          <a:p>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3"/>
          <p:cNvSpPr>
            <a:spLocks noGrp="1" noChangeArrowheads="1"/>
          </p:cNvSpPr>
          <p:nvPr>
            <p:ph type="body" idx="1"/>
          </p:nvPr>
        </p:nvSpPr>
        <p:spPr/>
        <p:txBody>
          <a:bodyPr rIns="130174"/>
          <a:lstStyle/>
          <a:p>
            <a:pPr eaLnBrk="1" hangingPunct="1"/>
            <a:r>
              <a:rPr lang="en-US" dirty="0"/>
              <a:t>The nodes with the lowest cost are explored first</a:t>
            </a:r>
          </a:p>
          <a:p>
            <a:pPr marL="723900" lvl="1" eaLnBrk="1" hangingPunct="1"/>
            <a:r>
              <a:rPr lang="en-US" dirty="0"/>
              <a:t>Similar to BREADTH-FIRST, but with an evaluation of the cost for each reachable node</a:t>
            </a:r>
          </a:p>
          <a:p>
            <a:pPr marL="723900" lvl="1" eaLnBrk="1" hangingPunct="1"/>
            <a:r>
              <a:rPr lang="en-US" dirty="0">
                <a:latin typeface="Arial Italic" charset="0"/>
                <a:cs typeface="Arial Italic" charset="0"/>
                <a:sym typeface="Arial Italic" charset="0"/>
              </a:rPr>
              <a:t>g(n) = </a:t>
            </a:r>
            <a:r>
              <a:rPr lang="en-US" dirty="0"/>
              <a:t>path cost(n) = sum of individual edge costs to reach the current node(Cost from initial to current node)</a:t>
            </a:r>
          </a:p>
        </p:txBody>
      </p:sp>
      <p:sp>
        <p:nvSpPr>
          <p:cNvPr id="89093" name="Rectangle 4"/>
          <p:cNvSpPr>
            <a:spLocks/>
          </p:cNvSpPr>
          <p:nvPr/>
        </p:nvSpPr>
        <p:spPr bwMode="auto">
          <a:xfrm>
            <a:off x="533400" y="3736975"/>
            <a:ext cx="7912100" cy="965200"/>
          </a:xfrm>
          <a:prstGeom prst="rect">
            <a:avLst/>
          </a:prstGeom>
          <a:solidFill>
            <a:srgbClr val="0099FF"/>
          </a:solidFill>
          <a:ln w="12700">
            <a:solidFill>
              <a:srgbClr val="000020"/>
            </a:solidFill>
            <a:miter lim="800000"/>
            <a:headEnd/>
            <a:tailEnd/>
          </a:ln>
        </p:spPr>
        <p:txBody>
          <a:bodyPr wrap="none" lIns="0" tIns="0" rIns="40639" bIns="0">
            <a:spAutoFit/>
          </a:bodyPr>
          <a:lstStyle/>
          <a:p>
            <a:pPr marL="39688"/>
            <a:r>
              <a:rPr lang="en-US" sz="1800" b="1" dirty="0">
                <a:solidFill>
                  <a:srgbClr val="000020"/>
                </a:solidFill>
                <a:latin typeface="Courier" charset="0"/>
                <a:ea typeface="Courier" charset="0"/>
                <a:cs typeface="Courier" charset="0"/>
                <a:sym typeface="Courier" charset="0"/>
              </a:rPr>
              <a:t>function</a:t>
            </a:r>
            <a:r>
              <a:rPr lang="en-US" sz="1800" dirty="0">
                <a:solidFill>
                  <a:srgbClr val="000020"/>
                </a:solidFill>
                <a:latin typeface="Courier" charset="0"/>
                <a:ea typeface="Courier" charset="0"/>
                <a:cs typeface="Courier" charset="0"/>
                <a:sym typeface="Courier" charset="0"/>
              </a:rPr>
              <a:t> UNIFORM-COST-SEARCH(</a:t>
            </a:r>
            <a:r>
              <a:rPr lang="en-US" sz="1800" i="1" dirty="0">
                <a:solidFill>
                  <a:srgbClr val="000020"/>
                </a:solidFill>
                <a:latin typeface="Courier" charset="0"/>
                <a:ea typeface="Courier" charset="0"/>
                <a:cs typeface="Courier" charset="0"/>
                <a:sym typeface="Courier" charset="0"/>
              </a:rPr>
              <a:t>problem</a:t>
            </a:r>
            <a:r>
              <a:rPr lang="en-US" sz="1800" dirty="0">
                <a:solidFill>
                  <a:srgbClr val="000020"/>
                </a:solidFill>
                <a:latin typeface="Courier" charset="0"/>
                <a:ea typeface="Courier" charset="0"/>
                <a:cs typeface="Courier" charset="0"/>
                <a:sym typeface="Courier" charset="0"/>
              </a:rPr>
              <a:t>) </a:t>
            </a:r>
            <a:r>
              <a:rPr lang="en-US" sz="1800" b="1" dirty="0">
                <a:solidFill>
                  <a:srgbClr val="000020"/>
                </a:solidFill>
                <a:latin typeface="Courier" charset="0"/>
                <a:ea typeface="Courier" charset="0"/>
                <a:cs typeface="Courier" charset="0"/>
                <a:sym typeface="Courier" charset="0"/>
              </a:rPr>
              <a:t>returns</a:t>
            </a:r>
            <a:r>
              <a:rPr lang="en-US" sz="1800" dirty="0">
                <a:solidFill>
                  <a:srgbClr val="000020"/>
                </a:solidFill>
                <a:latin typeface="Courier" charset="0"/>
                <a:ea typeface="Courier" charset="0"/>
                <a:cs typeface="Courier" charset="0"/>
                <a:sym typeface="Courier" charset="0"/>
              </a:rPr>
              <a:t> </a:t>
            </a:r>
            <a:r>
              <a:rPr lang="en-US" sz="1800" i="1" dirty="0">
                <a:solidFill>
                  <a:srgbClr val="000020"/>
                </a:solidFill>
                <a:latin typeface="Courier" charset="0"/>
                <a:ea typeface="Courier" charset="0"/>
                <a:cs typeface="Courier" charset="0"/>
                <a:sym typeface="Courier" charset="0"/>
              </a:rPr>
              <a:t>solution</a:t>
            </a:r>
          </a:p>
          <a:p>
            <a:pPr marL="39688"/>
            <a:r>
              <a:rPr lang="en-US" sz="1800" dirty="0">
                <a:solidFill>
                  <a:srgbClr val="000020"/>
                </a:solidFill>
                <a:latin typeface="Courier" charset="0"/>
                <a:ea typeface="Courier" charset="0"/>
                <a:cs typeface="Courier" charset="0"/>
                <a:sym typeface="Courier" charset="0"/>
              </a:rPr>
              <a:t>	</a:t>
            </a:r>
          </a:p>
          <a:p>
            <a:pPr marL="39688"/>
            <a:r>
              <a:rPr lang="en-US" sz="1800" i="1" dirty="0">
                <a:solidFill>
                  <a:srgbClr val="000020"/>
                </a:solidFill>
                <a:latin typeface="Courier" charset="0"/>
                <a:ea typeface="Courier" charset="0"/>
                <a:cs typeface="Courier" charset="0"/>
                <a:sym typeface="Courier" charset="0"/>
              </a:rPr>
              <a:t>	</a:t>
            </a:r>
            <a:r>
              <a:rPr lang="en-US" sz="1800" b="1" dirty="0">
                <a:solidFill>
                  <a:srgbClr val="000020"/>
                </a:solidFill>
                <a:latin typeface="Courier" charset="0"/>
                <a:ea typeface="Courier" charset="0"/>
                <a:cs typeface="Courier" charset="0"/>
                <a:sym typeface="Courier" charset="0"/>
              </a:rPr>
              <a:t>return </a:t>
            </a:r>
            <a:r>
              <a:rPr lang="en-US" sz="1800" dirty="0">
                <a:solidFill>
                  <a:srgbClr val="000020"/>
                </a:solidFill>
                <a:latin typeface="Courier" charset="0"/>
                <a:ea typeface="Courier" charset="0"/>
                <a:cs typeface="Courier" charset="0"/>
                <a:sym typeface="Courier" charset="0"/>
              </a:rPr>
              <a:t>TREE-SEARCH(</a:t>
            </a:r>
            <a:r>
              <a:rPr lang="en-US" sz="1800" i="1" dirty="0">
                <a:solidFill>
                  <a:srgbClr val="000020"/>
                </a:solidFill>
                <a:latin typeface="Courier" charset="0"/>
                <a:ea typeface="Courier" charset="0"/>
                <a:cs typeface="Courier" charset="0"/>
                <a:sym typeface="Courier" charset="0"/>
              </a:rPr>
              <a:t>problem, </a:t>
            </a:r>
            <a:r>
              <a:rPr lang="en-US" sz="1800" dirty="0">
                <a:solidFill>
                  <a:srgbClr val="000020"/>
                </a:solidFill>
                <a:latin typeface="Courier" charset="0"/>
                <a:ea typeface="Courier" charset="0"/>
                <a:cs typeface="Courier" charset="0"/>
                <a:sym typeface="Courier" charset="0"/>
              </a:rPr>
              <a:t>COST-FN,</a:t>
            </a:r>
            <a:r>
              <a:rPr lang="en-US" sz="1800" i="1" dirty="0">
                <a:solidFill>
                  <a:srgbClr val="000020"/>
                </a:solidFill>
                <a:latin typeface="Courier" charset="0"/>
                <a:ea typeface="Courier" charset="0"/>
                <a:cs typeface="Courier" charset="0"/>
                <a:sym typeface="Courier" charset="0"/>
              </a:rPr>
              <a:t> </a:t>
            </a:r>
            <a:r>
              <a:rPr lang="en-US" sz="1800" dirty="0">
                <a:solidFill>
                  <a:srgbClr val="000020"/>
                </a:solidFill>
                <a:latin typeface="Courier" charset="0"/>
                <a:ea typeface="Courier" charset="0"/>
                <a:cs typeface="Courier" charset="0"/>
                <a:sym typeface="Courier" charset="0"/>
              </a:rPr>
              <a:t>FIFO-QUEUE())</a:t>
            </a:r>
          </a:p>
        </p:txBody>
      </p:sp>
      <p:sp>
        <p:nvSpPr>
          <p:cNvPr id="93189" name="Rectangle 5"/>
          <p:cNvSpPr>
            <a:spLocks noGrp="1" noChangeArrowheads="1"/>
          </p:cNvSpPr>
          <p:nvPr>
            <p:ph type="title"/>
          </p:nvPr>
        </p:nvSpPr>
        <p:spPr/>
        <p:txBody>
          <a:bodyPr rIns="130174"/>
          <a:lstStyle/>
          <a:p>
            <a:pPr indent="0" eaLnBrk="1" hangingPunct="1">
              <a:defRPr/>
            </a:pPr>
            <a:r>
              <a:rPr lang="en-US" dirty="0"/>
              <a:t>Uniform-Cost -First</a:t>
            </a:r>
          </a:p>
        </p:txBody>
      </p:sp>
      <p:graphicFrame>
        <p:nvGraphicFramePr>
          <p:cNvPr id="93190" name="Group 6"/>
          <p:cNvGraphicFramePr>
            <a:graphicFrameLocks noGrp="1"/>
          </p:cNvGraphicFramePr>
          <p:nvPr/>
        </p:nvGraphicFramePr>
        <p:xfrm>
          <a:off x="685800" y="5060950"/>
          <a:ext cx="4876800" cy="1381760"/>
        </p:xfrm>
        <a:graphic>
          <a:graphicData uri="http://schemas.openxmlformats.org/drawingml/2006/table">
            <a:tbl>
              <a:tblPr/>
              <a:tblGrid>
                <a:gridCol w="19050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334963">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600" b="0" i="0" u="none" strike="noStrike" cap="none" normalizeH="0" baseline="0" dirty="0">
                          <a:ln>
                            <a:noFill/>
                          </a:ln>
                          <a:solidFill>
                            <a:srgbClr val="000020"/>
                          </a:solidFill>
                          <a:effectLst/>
                          <a:latin typeface="Arial" charset="0"/>
                          <a:ea typeface="ヒラギノ角ゴ ProN W3" charset="0"/>
                          <a:cs typeface="ヒラギノ角ゴ ProN W3" charset="0"/>
                          <a:sym typeface="Arial" charset="0"/>
                        </a:rPr>
                        <a:t>Time Complexity</a:t>
                      </a:r>
                    </a:p>
                  </a:txBody>
                  <a:tcPr marL="50800" marR="50800" marT="50800" marB="5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600" b="0" i="0" u="none" strike="noStrike" cap="none" normalizeH="0" baseline="0" dirty="0" err="1">
                          <a:ln>
                            <a:noFill/>
                          </a:ln>
                          <a:solidFill>
                            <a:srgbClr val="000020"/>
                          </a:solidFill>
                          <a:effectLst/>
                          <a:latin typeface="Arial" charset="0"/>
                          <a:ea typeface="ヒラギノ角ゴ ProN W3" charset="0"/>
                          <a:cs typeface="ヒラギノ角ゴ ProN W3" charset="0"/>
                          <a:sym typeface="Arial" charset="0"/>
                        </a:rPr>
                        <a:t>b</a:t>
                      </a:r>
                      <a:r>
                        <a:rPr kumimoji="0" lang="en-US" sz="1600" b="0" i="0" u="none" strike="noStrike" cap="none" normalizeH="0" baseline="30000" dirty="0" err="1">
                          <a:ln>
                            <a:noFill/>
                          </a:ln>
                          <a:solidFill>
                            <a:srgbClr val="000020"/>
                          </a:solidFill>
                          <a:effectLst/>
                          <a:latin typeface="Arial" charset="0"/>
                          <a:ea typeface="ヒラギノ角ゴ ProN W3" charset="0"/>
                          <a:cs typeface="ヒラギノ角ゴ ProN W3" charset="0"/>
                          <a:sym typeface="Arial" charset="0"/>
                        </a:rPr>
                        <a:t>C</a:t>
                      </a:r>
                      <a:r>
                        <a:rPr kumimoji="0" lang="en-US" sz="1600" b="0" i="0" u="none" strike="noStrike" cap="none" normalizeH="0" baseline="30000" dirty="0">
                          <a:ln>
                            <a:noFill/>
                          </a:ln>
                          <a:solidFill>
                            <a:srgbClr val="000020"/>
                          </a:solidFill>
                          <a:effectLst/>
                          <a:latin typeface="Arial" charset="0"/>
                          <a:ea typeface="ヒラギノ角ゴ ProN W3" charset="0"/>
                          <a:cs typeface="ヒラギノ角ゴ ProN W3" charset="0"/>
                          <a:sym typeface="Arial" charset="0"/>
                        </a:rPr>
                        <a:t>*/e</a:t>
                      </a:r>
                    </a:p>
                  </a:txBody>
                  <a:tcPr marL="50800" marR="50800" marT="50800" marB="5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0"/>
                  </a:ext>
                </a:extLst>
              </a:tr>
              <a:tr h="334963">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600" b="0" i="0" u="none" strike="noStrike" cap="none" normalizeH="0" baseline="0">
                          <a:ln>
                            <a:noFill/>
                          </a:ln>
                          <a:solidFill>
                            <a:srgbClr val="000020"/>
                          </a:solidFill>
                          <a:effectLst/>
                          <a:latin typeface="Arial" charset="0"/>
                          <a:ea typeface="ヒラギノ角ゴ ProN W3" charset="0"/>
                          <a:cs typeface="ヒラギノ角ゴ ProN W3" charset="0"/>
                          <a:sym typeface="Arial" charset="0"/>
                        </a:rPr>
                        <a:t>Space Complexity</a:t>
                      </a:r>
                    </a:p>
                  </a:txBody>
                  <a:tcPr marL="50800" marR="50800" marT="50800" marB="5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600" b="0" i="0" u="none" strike="noStrike" cap="none" normalizeH="0" baseline="0">
                          <a:ln>
                            <a:noFill/>
                          </a:ln>
                          <a:solidFill>
                            <a:srgbClr val="000020"/>
                          </a:solidFill>
                          <a:effectLst/>
                          <a:latin typeface="Arial" charset="0"/>
                          <a:ea typeface="ヒラギノ角ゴ ProN W3" charset="0"/>
                          <a:cs typeface="ヒラギノ角ゴ ProN W3" charset="0"/>
                          <a:sym typeface="Arial" charset="0"/>
                        </a:rPr>
                        <a:t>b</a:t>
                      </a:r>
                      <a:r>
                        <a:rPr kumimoji="0" lang="en-US" sz="1600" b="0" i="0" u="none" strike="noStrike" cap="none" normalizeH="0" baseline="30000">
                          <a:ln>
                            <a:noFill/>
                          </a:ln>
                          <a:solidFill>
                            <a:srgbClr val="000020"/>
                          </a:solidFill>
                          <a:effectLst/>
                          <a:latin typeface="Arial" charset="0"/>
                          <a:ea typeface="ヒラギノ角ゴ ProN W3" charset="0"/>
                          <a:cs typeface="ヒラギノ角ゴ ProN W3" charset="0"/>
                          <a:sym typeface="Arial" charset="0"/>
                        </a:rPr>
                        <a:t>C*/e</a:t>
                      </a:r>
                    </a:p>
                  </a:txBody>
                  <a:tcPr marL="50800" marR="50800" marT="50800" marB="5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1"/>
                  </a:ext>
                </a:extLst>
              </a:tr>
              <a:tr h="336550">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600" b="0" i="0" u="none" strike="noStrike" cap="none" normalizeH="0" baseline="0">
                          <a:ln>
                            <a:noFill/>
                          </a:ln>
                          <a:solidFill>
                            <a:srgbClr val="000020"/>
                          </a:solidFill>
                          <a:effectLst/>
                          <a:latin typeface="Arial" charset="0"/>
                          <a:ea typeface="ヒラギノ角ゴ ProN W3" charset="0"/>
                          <a:cs typeface="ヒラギノ角ゴ ProN W3" charset="0"/>
                          <a:sym typeface="Arial" charset="0"/>
                        </a:rPr>
                        <a:t>Completeness</a:t>
                      </a:r>
                    </a:p>
                  </a:txBody>
                  <a:tcPr marL="50800" marR="50800" marT="50800" marB="5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600" b="0" i="0" u="none" strike="noStrike" cap="none" normalizeH="0" baseline="0">
                          <a:ln>
                            <a:noFill/>
                          </a:ln>
                          <a:solidFill>
                            <a:srgbClr val="000020"/>
                          </a:solidFill>
                          <a:effectLst/>
                          <a:latin typeface="Arial" charset="0"/>
                          <a:ea typeface="ヒラギノ角ゴ ProN W3" charset="0"/>
                          <a:cs typeface="ヒラギノ角ゴ ProN W3" charset="0"/>
                          <a:sym typeface="Arial" charset="0"/>
                        </a:rPr>
                        <a:t>yes (finite b, step costs &gt;= e)</a:t>
                      </a:r>
                    </a:p>
                  </a:txBody>
                  <a:tcPr marL="50800" marR="50800" marT="50800" marB="5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2"/>
                  </a:ext>
                </a:extLst>
              </a:tr>
              <a:tr h="334963">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600" b="0" i="0" u="none" strike="noStrike" cap="none" normalizeH="0" baseline="0">
                          <a:ln>
                            <a:noFill/>
                          </a:ln>
                          <a:solidFill>
                            <a:srgbClr val="000020"/>
                          </a:solidFill>
                          <a:effectLst/>
                          <a:latin typeface="Arial" charset="0"/>
                          <a:ea typeface="ヒラギノ角ゴ ProN W3" charset="0"/>
                          <a:cs typeface="ヒラギノ角ゴ ProN W3" charset="0"/>
                          <a:sym typeface="Arial" charset="0"/>
                        </a:rPr>
                        <a:t>Optimality</a:t>
                      </a:r>
                    </a:p>
                  </a:txBody>
                  <a:tcPr marL="50800" marR="50800" marT="50800" marB="5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600" b="0" i="0" u="none" strike="noStrike" cap="none" normalizeH="0" baseline="0">
                          <a:ln>
                            <a:noFill/>
                          </a:ln>
                          <a:solidFill>
                            <a:srgbClr val="000020"/>
                          </a:solidFill>
                          <a:effectLst/>
                          <a:latin typeface="Arial" charset="0"/>
                          <a:ea typeface="ヒラギノ角ゴ ProN W3" charset="0"/>
                          <a:cs typeface="ヒラギノ角ゴ ProN W3" charset="0"/>
                          <a:sym typeface="Arial" charset="0"/>
                        </a:rPr>
                        <a:t>yes</a:t>
                      </a:r>
                    </a:p>
                  </a:txBody>
                  <a:tcPr marL="50800" marR="50800" marT="50800" marB="5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3"/>
                  </a:ext>
                </a:extLst>
              </a:tr>
            </a:tbl>
          </a:graphicData>
        </a:graphic>
      </p:graphicFrame>
      <p:graphicFrame>
        <p:nvGraphicFramePr>
          <p:cNvPr id="93221" name="Group 37"/>
          <p:cNvGraphicFramePr>
            <a:graphicFrameLocks noGrp="1"/>
          </p:cNvGraphicFramePr>
          <p:nvPr/>
        </p:nvGraphicFramePr>
        <p:xfrm>
          <a:off x="6629400" y="5257800"/>
          <a:ext cx="2514600" cy="853440"/>
        </p:xfrm>
        <a:graphic>
          <a:graphicData uri="http://schemas.openxmlformats.org/drawingml/2006/table">
            <a:tbl>
              <a:tblPr/>
              <a:tblGrid>
                <a:gridCol w="4572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274638">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200" b="0" i="0" u="none" strike="noStrike" cap="none" normalizeH="0" baseline="0">
                          <a:ln>
                            <a:noFill/>
                          </a:ln>
                          <a:solidFill>
                            <a:srgbClr val="000020"/>
                          </a:solidFill>
                          <a:effectLst/>
                          <a:latin typeface="Arial" charset="0"/>
                          <a:ea typeface="ヒラギノ角ゴ ProN W3" charset="0"/>
                          <a:cs typeface="ヒラギノ角ゴ ProN W3" charset="0"/>
                          <a:sym typeface="Arial" charset="0"/>
                        </a:rPr>
                        <a:t>b</a:t>
                      </a:r>
                    </a:p>
                  </a:txBody>
                  <a:tcPr marL="50800" marR="50800" marT="50800" marB="5080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solidFill>
                      <a:srgbClr val="00FFFF"/>
                    </a:solidFill>
                  </a:tcPr>
                </a:tc>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200" b="0" i="0" u="none" strike="noStrike" cap="none" normalizeH="0" baseline="0">
                          <a:ln>
                            <a:noFill/>
                          </a:ln>
                          <a:solidFill>
                            <a:srgbClr val="000020"/>
                          </a:solidFill>
                          <a:effectLst/>
                          <a:latin typeface="Arial" charset="0"/>
                          <a:ea typeface="ヒラギノ角ゴ ProN W3" charset="0"/>
                          <a:cs typeface="ヒラギノ角ゴ ProN W3" charset="0"/>
                          <a:sym typeface="Arial" charset="0"/>
                        </a:rPr>
                        <a:t>branching factor</a:t>
                      </a:r>
                    </a:p>
                  </a:txBody>
                  <a:tcPr marL="50800" marR="50800" marT="50800" marB="5080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cap="flat">
                      <a:noFill/>
                    </a:lnB>
                    <a:lnTlToBr>
                      <a:noFill/>
                    </a:lnTlToBr>
                    <a:lnBlToTr>
                      <a:noFill/>
                    </a:lnBlToTr>
                    <a:solidFill>
                      <a:srgbClr val="00FFFF"/>
                    </a:solidFill>
                  </a:tcPr>
                </a:tc>
                <a:extLst>
                  <a:ext uri="{0D108BD9-81ED-4DB2-BD59-A6C34878D82A}">
                    <a16:rowId xmlns:a16="http://schemas.microsoft.com/office/drawing/2014/main" val="10000"/>
                  </a:ext>
                </a:extLst>
              </a:tr>
              <a:tr h="274638">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200" b="0" i="0" u="none" strike="noStrike" cap="none" normalizeH="0" baseline="0">
                          <a:ln>
                            <a:noFill/>
                          </a:ln>
                          <a:solidFill>
                            <a:srgbClr val="000020"/>
                          </a:solidFill>
                          <a:effectLst/>
                          <a:latin typeface="Arial" charset="0"/>
                          <a:ea typeface="ヒラギノ角ゴ ProN W3" charset="0"/>
                          <a:cs typeface="ヒラギノ角ゴ ProN W3" charset="0"/>
                          <a:sym typeface="Arial" charset="0"/>
                        </a:rPr>
                        <a:t>C*</a:t>
                      </a:r>
                    </a:p>
                  </a:txBody>
                  <a:tcPr marL="50800" marR="50800" marT="50800" marB="50800" horzOverflow="overflow">
                    <a:lnL w="12700" cap="flat" cmpd="sng" algn="ctr">
                      <a:solidFill>
                        <a:srgbClr val="000000"/>
                      </a:solidFill>
                      <a:prstDash val="solid"/>
                      <a:round/>
                      <a:headEnd type="none" w="med" len="med"/>
                      <a:tailEnd type="none" w="med" len="med"/>
                    </a:lnL>
                    <a:lnR cap="flat">
                      <a:noFill/>
                    </a:lnR>
                    <a:lnT cap="flat">
                      <a:noFill/>
                    </a:lnT>
                    <a:lnB cap="flat">
                      <a:noFill/>
                    </a:lnB>
                    <a:lnTlToBr>
                      <a:noFill/>
                    </a:lnTlToBr>
                    <a:lnBlToTr>
                      <a:noFill/>
                    </a:lnBlToTr>
                    <a:solidFill>
                      <a:srgbClr val="00FFFF"/>
                    </a:solidFill>
                  </a:tcPr>
                </a:tc>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200" b="0" i="0" u="none" strike="noStrike" cap="none" normalizeH="0" baseline="0">
                          <a:ln>
                            <a:noFill/>
                          </a:ln>
                          <a:solidFill>
                            <a:srgbClr val="000020"/>
                          </a:solidFill>
                          <a:effectLst/>
                          <a:latin typeface="Arial" charset="0"/>
                          <a:ea typeface="ヒラギノ角ゴ ProN W3" charset="0"/>
                          <a:cs typeface="ヒラギノ角ゴ ProN W3" charset="0"/>
                          <a:sym typeface="Arial" charset="0"/>
                        </a:rPr>
                        <a:t>cost of the optimal solution</a:t>
                      </a:r>
                    </a:p>
                  </a:txBody>
                  <a:tcPr marL="50800" marR="50800" marT="50800" marB="50800" horzOverflow="overflow">
                    <a:lnL cap="flat">
                      <a:noFill/>
                    </a:lnL>
                    <a:lnR w="12700" cap="flat" cmpd="sng" algn="ctr">
                      <a:solidFill>
                        <a:srgbClr val="000000"/>
                      </a:solidFill>
                      <a:prstDash val="solid"/>
                      <a:round/>
                      <a:headEnd type="none" w="med" len="med"/>
                      <a:tailEnd type="none" w="med" len="med"/>
                    </a:lnR>
                    <a:lnT cap="flat">
                      <a:noFill/>
                    </a:lnT>
                    <a:lnB cap="flat">
                      <a:noFill/>
                    </a:lnB>
                    <a:lnTlToBr>
                      <a:noFill/>
                    </a:lnTlToBr>
                    <a:lnBlToTr>
                      <a:noFill/>
                    </a:lnBlToTr>
                    <a:solidFill>
                      <a:srgbClr val="00FFFF"/>
                    </a:solidFill>
                  </a:tcPr>
                </a:tc>
                <a:extLst>
                  <a:ext uri="{0D108BD9-81ED-4DB2-BD59-A6C34878D82A}">
                    <a16:rowId xmlns:a16="http://schemas.microsoft.com/office/drawing/2014/main" val="10001"/>
                  </a:ext>
                </a:extLst>
              </a:tr>
              <a:tr h="273050">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200" b="0" i="0" u="none" strike="noStrike" cap="none" normalizeH="0" baseline="0">
                          <a:ln>
                            <a:noFill/>
                          </a:ln>
                          <a:solidFill>
                            <a:srgbClr val="000020"/>
                          </a:solidFill>
                          <a:effectLst/>
                          <a:latin typeface="Arial" charset="0"/>
                          <a:ea typeface="ヒラギノ角ゴ ProN W3" charset="0"/>
                          <a:cs typeface="ヒラギノ角ゴ ProN W3" charset="0"/>
                          <a:sym typeface="Arial" charset="0"/>
                        </a:rPr>
                        <a:t>e</a:t>
                      </a:r>
                    </a:p>
                  </a:txBody>
                  <a:tcPr marL="50800" marR="50800" marT="50800" marB="50800" horzOverflow="overflow">
                    <a:lnL w="12700" cap="flat" cmpd="sng" algn="ctr">
                      <a:solidFill>
                        <a:srgbClr val="000000"/>
                      </a:solidFill>
                      <a:prstDash val="solid"/>
                      <a:round/>
                      <a:headEnd type="none" w="med" len="med"/>
                      <a:tailEnd type="none" w="med" len="med"/>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9688" marR="0" lvl="0" indent="0" algn="l" defTabSz="914400" rtl="0" eaLnBrk="1" fontAlgn="base" latinLnBrk="0" hangingPunct="1">
                        <a:lnSpc>
                          <a:spcPct val="100000"/>
                        </a:lnSpc>
                        <a:spcBef>
                          <a:spcPct val="0"/>
                        </a:spcBef>
                        <a:spcAft>
                          <a:spcPct val="0"/>
                        </a:spcAft>
                        <a:buClr>
                          <a:srgbClr val="FAFD00"/>
                        </a:buClr>
                        <a:buSzPct val="75000"/>
                        <a:buFont typeface="Wingdings" charset="2"/>
                        <a:buNone/>
                        <a:tabLst/>
                      </a:pPr>
                      <a:r>
                        <a:rPr kumimoji="0" lang="en-US" sz="1200" b="0" i="0" u="none" strike="noStrike" cap="none" normalizeH="0" baseline="0">
                          <a:ln>
                            <a:noFill/>
                          </a:ln>
                          <a:solidFill>
                            <a:srgbClr val="000020"/>
                          </a:solidFill>
                          <a:effectLst/>
                          <a:latin typeface="Arial" charset="0"/>
                          <a:ea typeface="ヒラギノ角ゴ ProN W3" charset="0"/>
                          <a:cs typeface="ヒラギノ角ゴ ProN W3" charset="0"/>
                          <a:sym typeface="Arial" charset="0"/>
                        </a:rPr>
                        <a:t>minimum cost per action</a:t>
                      </a:r>
                    </a:p>
                  </a:txBody>
                  <a:tcPr marL="50800" marR="50800" marT="50800" marB="50800"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3"/>
          <p:cNvSpPr>
            <a:spLocks/>
          </p:cNvSpPr>
          <p:nvPr/>
        </p:nvSpPr>
        <p:spPr bwMode="auto">
          <a:xfrm>
            <a:off x="228600" y="1447800"/>
            <a:ext cx="7391400" cy="4648200"/>
          </a:xfrm>
          <a:prstGeom prst="rect">
            <a:avLst/>
          </a:prstGeom>
          <a:solidFill>
            <a:srgbClr val="00CECE"/>
          </a:solidFill>
          <a:ln w="12700">
            <a:noFill/>
            <a:miter lim="800000"/>
            <a:headEnd/>
            <a:tailEnd/>
          </a:ln>
        </p:spPr>
        <p:txBody>
          <a:bodyPr lIns="0" tIns="0" rIns="0" bIns="0"/>
          <a:lstStyle/>
          <a:p>
            <a:endParaRPr lang="en-US"/>
          </a:p>
        </p:txBody>
      </p:sp>
      <p:sp>
        <p:nvSpPr>
          <p:cNvPr id="94212" name="Rectangle 4"/>
          <p:cNvSpPr>
            <a:spLocks noGrp="1" noChangeArrowheads="1"/>
          </p:cNvSpPr>
          <p:nvPr>
            <p:ph type="title"/>
          </p:nvPr>
        </p:nvSpPr>
        <p:spPr/>
        <p:txBody>
          <a:bodyPr rIns="130174"/>
          <a:lstStyle/>
          <a:p>
            <a:pPr indent="0" eaLnBrk="1" hangingPunct="1">
              <a:defRPr/>
            </a:pPr>
            <a:r>
              <a:rPr lang="en-US"/>
              <a:t>Uniform-Cost Snapshot</a:t>
            </a:r>
          </a:p>
        </p:txBody>
      </p:sp>
      <p:sp>
        <p:nvSpPr>
          <p:cNvPr id="90118" name="Oval 5"/>
          <p:cNvSpPr>
            <a:spLocks/>
          </p:cNvSpPr>
          <p:nvPr/>
        </p:nvSpPr>
        <p:spPr bwMode="auto">
          <a:xfrm>
            <a:off x="8769350"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90119"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90120"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90121"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90122"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90123"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90124"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90125"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90126"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90127"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90128"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90129"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90130"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90131"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90132"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90133"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90134"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90135"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90136"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90137"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90138"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90139"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90140"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90141"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90142"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90143"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90144"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90145"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90146"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90147"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90148"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sp>
        <p:nvSpPr>
          <p:cNvPr id="90149" name="Oval 36"/>
          <p:cNvSpPr>
            <a:spLocks/>
          </p:cNvSpPr>
          <p:nvPr/>
        </p:nvSpPr>
        <p:spPr bwMode="auto">
          <a:xfrm flipH="1">
            <a:off x="6915150" y="5505450"/>
            <a:ext cx="304800" cy="304800"/>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90150" name="Oval 37"/>
          <p:cNvSpPr>
            <a:spLocks/>
          </p:cNvSpPr>
          <p:nvPr/>
        </p:nvSpPr>
        <p:spPr bwMode="auto">
          <a:xfrm>
            <a:off x="887413" y="5505450"/>
            <a:ext cx="304800" cy="304800"/>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90151" name="Oval 38"/>
          <p:cNvSpPr>
            <a:spLocks/>
          </p:cNvSpPr>
          <p:nvPr/>
        </p:nvSpPr>
        <p:spPr bwMode="auto">
          <a:xfrm>
            <a:off x="1317625" y="5505450"/>
            <a:ext cx="304800" cy="304800"/>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90152" name="Oval 39"/>
          <p:cNvSpPr>
            <a:spLocks/>
          </p:cNvSpPr>
          <p:nvPr/>
        </p:nvSpPr>
        <p:spPr bwMode="auto">
          <a:xfrm>
            <a:off x="1747838" y="5505450"/>
            <a:ext cx="304800" cy="304800"/>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90153" name="Oval 40"/>
          <p:cNvSpPr>
            <a:spLocks/>
          </p:cNvSpPr>
          <p:nvPr/>
        </p:nvSpPr>
        <p:spPr bwMode="auto">
          <a:xfrm>
            <a:off x="21780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90154" name="Oval 41"/>
          <p:cNvSpPr>
            <a:spLocks/>
          </p:cNvSpPr>
          <p:nvPr/>
        </p:nvSpPr>
        <p:spPr bwMode="auto">
          <a:xfrm>
            <a:off x="260985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90155" name="Oval 42"/>
          <p:cNvSpPr>
            <a:spLocks/>
          </p:cNvSpPr>
          <p:nvPr/>
        </p:nvSpPr>
        <p:spPr bwMode="auto">
          <a:xfrm>
            <a:off x="3040063"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90156" name="Oval 43"/>
          <p:cNvSpPr>
            <a:spLocks/>
          </p:cNvSpPr>
          <p:nvPr/>
        </p:nvSpPr>
        <p:spPr bwMode="auto">
          <a:xfrm>
            <a:off x="3470275" y="5505450"/>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90157" name="Oval 44"/>
          <p:cNvSpPr>
            <a:spLocks/>
          </p:cNvSpPr>
          <p:nvPr/>
        </p:nvSpPr>
        <p:spPr bwMode="auto">
          <a:xfrm>
            <a:off x="3900488" y="5505450"/>
            <a:ext cx="304800" cy="304800"/>
          </a:xfrm>
          <a:prstGeom prst="ellipse">
            <a:avLst/>
          </a:prstGeom>
          <a:solidFill>
            <a:srgbClr val="FAFD00"/>
          </a:solidFill>
          <a:ln w="76200">
            <a:solidFill>
              <a:srgbClr val="FC0128"/>
            </a:solidFill>
            <a:round/>
            <a:headEnd/>
            <a:tailEnd/>
          </a:ln>
        </p:spPr>
        <p:txBody>
          <a:bodyPr lIns="0" tIns="0" rIns="0" bIns="0"/>
          <a:lstStyle/>
          <a:p>
            <a:endParaRPr lang="en-US"/>
          </a:p>
        </p:txBody>
      </p:sp>
      <p:sp>
        <p:nvSpPr>
          <p:cNvPr id="90158" name="Oval 45"/>
          <p:cNvSpPr>
            <a:spLocks/>
          </p:cNvSpPr>
          <p:nvPr/>
        </p:nvSpPr>
        <p:spPr bwMode="auto">
          <a:xfrm>
            <a:off x="43307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90159" name="Oval 46"/>
          <p:cNvSpPr>
            <a:spLocks/>
          </p:cNvSpPr>
          <p:nvPr/>
        </p:nvSpPr>
        <p:spPr bwMode="auto">
          <a:xfrm>
            <a:off x="5192713"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90160" name="Oval 47"/>
          <p:cNvSpPr>
            <a:spLocks/>
          </p:cNvSpPr>
          <p:nvPr/>
        </p:nvSpPr>
        <p:spPr bwMode="auto">
          <a:xfrm>
            <a:off x="6053138" y="5505450"/>
            <a:ext cx="304800" cy="304800"/>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90161" name="Oval 48"/>
          <p:cNvSpPr>
            <a:spLocks/>
          </p:cNvSpPr>
          <p:nvPr/>
        </p:nvSpPr>
        <p:spPr bwMode="auto">
          <a:xfrm>
            <a:off x="6483350" y="5505450"/>
            <a:ext cx="304800" cy="304800"/>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90162" name="Oval 49"/>
          <p:cNvSpPr>
            <a:spLocks/>
          </p:cNvSpPr>
          <p:nvPr/>
        </p:nvSpPr>
        <p:spPr bwMode="auto">
          <a:xfrm>
            <a:off x="4762500" y="550545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90163" name="Oval 50"/>
          <p:cNvSpPr>
            <a:spLocks/>
          </p:cNvSpPr>
          <p:nvPr/>
        </p:nvSpPr>
        <p:spPr bwMode="auto">
          <a:xfrm>
            <a:off x="5622925" y="5505450"/>
            <a:ext cx="304800" cy="304800"/>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90164" name="Oval 51"/>
          <p:cNvSpPr>
            <a:spLocks/>
          </p:cNvSpPr>
          <p:nvPr/>
        </p:nvSpPr>
        <p:spPr bwMode="auto">
          <a:xfrm>
            <a:off x="457200" y="5505450"/>
            <a:ext cx="304800" cy="304800"/>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90165" name="Oval 52"/>
          <p:cNvSpPr>
            <a:spLocks/>
          </p:cNvSpPr>
          <p:nvPr/>
        </p:nvSpPr>
        <p:spPr bwMode="auto">
          <a:xfrm flipH="1">
            <a:off x="6134100"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90166" name="Oval 53"/>
          <p:cNvSpPr>
            <a:spLocks/>
          </p:cNvSpPr>
          <p:nvPr/>
        </p:nvSpPr>
        <p:spPr bwMode="auto">
          <a:xfrm>
            <a:off x="1920875" y="4495800"/>
            <a:ext cx="304800" cy="304800"/>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90167" name="Oval 54"/>
          <p:cNvSpPr>
            <a:spLocks/>
          </p:cNvSpPr>
          <p:nvPr/>
        </p:nvSpPr>
        <p:spPr bwMode="auto">
          <a:xfrm>
            <a:off x="2622550"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90168" name="Oval 55"/>
          <p:cNvSpPr>
            <a:spLocks/>
          </p:cNvSpPr>
          <p:nvPr/>
        </p:nvSpPr>
        <p:spPr bwMode="auto">
          <a:xfrm>
            <a:off x="4027488"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90169" name="Oval 56"/>
          <p:cNvSpPr>
            <a:spLocks/>
          </p:cNvSpPr>
          <p:nvPr/>
        </p:nvSpPr>
        <p:spPr bwMode="auto">
          <a:xfrm>
            <a:off x="4729163" y="4495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90170" name="Oval 57"/>
          <p:cNvSpPr>
            <a:spLocks/>
          </p:cNvSpPr>
          <p:nvPr/>
        </p:nvSpPr>
        <p:spPr bwMode="auto">
          <a:xfrm>
            <a:off x="5430838" y="4495800"/>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90171" name="Oval 58"/>
          <p:cNvSpPr>
            <a:spLocks/>
          </p:cNvSpPr>
          <p:nvPr/>
        </p:nvSpPr>
        <p:spPr bwMode="auto">
          <a:xfrm>
            <a:off x="3324225" y="449580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90172" name="Oval 59"/>
          <p:cNvSpPr>
            <a:spLocks/>
          </p:cNvSpPr>
          <p:nvPr/>
        </p:nvSpPr>
        <p:spPr bwMode="auto">
          <a:xfrm>
            <a:off x="1219200" y="4495800"/>
            <a:ext cx="304800" cy="304800"/>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90173" name="Oval 60"/>
          <p:cNvSpPr>
            <a:spLocks/>
          </p:cNvSpPr>
          <p:nvPr/>
        </p:nvSpPr>
        <p:spPr bwMode="auto">
          <a:xfrm flipH="1">
            <a:off x="535305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90174" name="Oval 61"/>
          <p:cNvSpPr>
            <a:spLocks/>
          </p:cNvSpPr>
          <p:nvPr/>
        </p:nvSpPr>
        <p:spPr bwMode="auto">
          <a:xfrm>
            <a:off x="31242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90175" name="Oval 62"/>
          <p:cNvSpPr>
            <a:spLocks/>
          </p:cNvSpPr>
          <p:nvPr/>
        </p:nvSpPr>
        <p:spPr bwMode="auto">
          <a:xfrm>
            <a:off x="4229100" y="3521075"/>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90176" name="Oval 63"/>
          <p:cNvSpPr>
            <a:spLocks/>
          </p:cNvSpPr>
          <p:nvPr/>
        </p:nvSpPr>
        <p:spPr bwMode="auto">
          <a:xfrm>
            <a:off x="1981200" y="352107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90177" name="Oval 64"/>
          <p:cNvSpPr>
            <a:spLocks/>
          </p:cNvSpPr>
          <p:nvPr/>
        </p:nvSpPr>
        <p:spPr bwMode="auto">
          <a:xfrm flipH="1">
            <a:off x="45720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90178" name="Oval 65"/>
          <p:cNvSpPr>
            <a:spLocks/>
          </p:cNvSpPr>
          <p:nvPr/>
        </p:nvSpPr>
        <p:spPr bwMode="auto">
          <a:xfrm>
            <a:off x="2743200" y="25146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90179" name="Oval 66"/>
          <p:cNvSpPr>
            <a:spLocks/>
          </p:cNvSpPr>
          <p:nvPr/>
        </p:nvSpPr>
        <p:spPr bwMode="auto">
          <a:xfrm>
            <a:off x="3657600" y="1570038"/>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90180" name="Rectangle 67"/>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Initial</a:t>
            </a:r>
          </a:p>
        </p:txBody>
      </p:sp>
      <p:sp>
        <p:nvSpPr>
          <p:cNvPr id="90181" name="Oval 68"/>
          <p:cNvSpPr>
            <a:spLocks/>
          </p:cNvSpPr>
          <p:nvPr/>
        </p:nvSpPr>
        <p:spPr bwMode="auto">
          <a:xfrm>
            <a:off x="8769350"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90182" name="Rectangle 69"/>
          <p:cNvSpPr>
            <a:spLocks/>
          </p:cNvSpPr>
          <p:nvPr/>
        </p:nvSpPr>
        <p:spPr bwMode="auto">
          <a:xfrm>
            <a:off x="7620000"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Visited</a:t>
            </a:r>
          </a:p>
        </p:txBody>
      </p:sp>
      <p:sp>
        <p:nvSpPr>
          <p:cNvPr id="90183" name="Oval 70"/>
          <p:cNvSpPr>
            <a:spLocks/>
          </p:cNvSpPr>
          <p:nvPr/>
        </p:nvSpPr>
        <p:spPr bwMode="auto">
          <a:xfrm>
            <a:off x="8769350"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90184" name="Rectangle 71"/>
          <p:cNvSpPr>
            <a:spLocks/>
          </p:cNvSpPr>
          <p:nvPr/>
        </p:nvSpPr>
        <p:spPr bwMode="auto">
          <a:xfrm>
            <a:off x="7620000"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Fringe</a:t>
            </a:r>
          </a:p>
        </p:txBody>
      </p:sp>
      <p:sp>
        <p:nvSpPr>
          <p:cNvPr id="90185" name="Oval 72"/>
          <p:cNvSpPr>
            <a:spLocks/>
          </p:cNvSpPr>
          <p:nvPr/>
        </p:nvSpPr>
        <p:spPr bwMode="auto">
          <a:xfrm>
            <a:off x="8769350"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90186" name="Rectangle 73"/>
          <p:cNvSpPr>
            <a:spLocks/>
          </p:cNvSpPr>
          <p:nvPr/>
        </p:nvSpPr>
        <p:spPr bwMode="auto">
          <a:xfrm>
            <a:off x="7620000"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Current</a:t>
            </a:r>
          </a:p>
        </p:txBody>
      </p:sp>
      <p:sp>
        <p:nvSpPr>
          <p:cNvPr id="90187" name="Oval 74"/>
          <p:cNvSpPr>
            <a:spLocks/>
          </p:cNvSpPr>
          <p:nvPr/>
        </p:nvSpPr>
        <p:spPr bwMode="auto">
          <a:xfrm>
            <a:off x="8769350"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90188" name="Rectangle 75"/>
          <p:cNvSpPr>
            <a:spLocks/>
          </p:cNvSpPr>
          <p:nvPr/>
        </p:nvSpPr>
        <p:spPr bwMode="auto">
          <a:xfrm>
            <a:off x="7620000"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Visible</a:t>
            </a:r>
          </a:p>
        </p:txBody>
      </p:sp>
      <p:sp>
        <p:nvSpPr>
          <p:cNvPr id="90189" name="Oval 76"/>
          <p:cNvSpPr>
            <a:spLocks/>
          </p:cNvSpPr>
          <p:nvPr/>
        </p:nvSpPr>
        <p:spPr bwMode="auto">
          <a:xfrm>
            <a:off x="8769350"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90190" name="Rectangle 77"/>
          <p:cNvSpPr>
            <a:spLocks/>
          </p:cNvSpPr>
          <p:nvPr/>
        </p:nvSpPr>
        <p:spPr bwMode="auto">
          <a:xfrm>
            <a:off x="7620000"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charset="0"/>
              </a:rPr>
              <a:t>Goal</a:t>
            </a:r>
          </a:p>
        </p:txBody>
      </p:sp>
      <p:sp>
        <p:nvSpPr>
          <p:cNvPr id="90191" name="Rectangle 78"/>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90192" name="Rectangle 79"/>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90193" name="Rectangle 80"/>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90194" name="Rectangle 81"/>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90195" name="Rectangle 82"/>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90196" name="Rectangle 83"/>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90197" name="Rectangle 84"/>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90198" name="Rectangle 85"/>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90199" name="Rectangle 86"/>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90200" name="Rectangle 87"/>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90201" name="Rectangle 88"/>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90202" name="Rectangle 89"/>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90203" name="Rectangle 90"/>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90204" name="Rectangle 91"/>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90205" name="Rectangle 92"/>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90206" name="Rectangle 93"/>
          <p:cNvSpPr>
            <a:spLocks/>
          </p:cNvSpPr>
          <p:nvPr/>
        </p:nvSpPr>
        <p:spPr bwMode="auto">
          <a:xfrm>
            <a:off x="477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90207" name="Rectangle 94"/>
          <p:cNvSpPr>
            <a:spLocks/>
          </p:cNvSpPr>
          <p:nvPr/>
        </p:nvSpPr>
        <p:spPr bwMode="auto">
          <a:xfrm>
            <a:off x="858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90208" name="Rectangle 95"/>
          <p:cNvSpPr>
            <a:spLocks/>
          </p:cNvSpPr>
          <p:nvPr/>
        </p:nvSpPr>
        <p:spPr bwMode="auto">
          <a:xfrm>
            <a:off x="1316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90209" name="Rectangle 96"/>
          <p:cNvSpPr>
            <a:spLocks/>
          </p:cNvSpPr>
          <p:nvPr/>
        </p:nvSpPr>
        <p:spPr bwMode="auto">
          <a:xfrm>
            <a:off x="1697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90210" name="Rectangle 97"/>
          <p:cNvSpPr>
            <a:spLocks/>
          </p:cNvSpPr>
          <p:nvPr/>
        </p:nvSpPr>
        <p:spPr bwMode="auto">
          <a:xfrm>
            <a:off x="21542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90211" name="Rectangle 98"/>
          <p:cNvSpPr>
            <a:spLocks/>
          </p:cNvSpPr>
          <p:nvPr/>
        </p:nvSpPr>
        <p:spPr bwMode="auto">
          <a:xfrm>
            <a:off x="2611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90212" name="Rectangle 99"/>
          <p:cNvSpPr>
            <a:spLocks/>
          </p:cNvSpPr>
          <p:nvPr/>
        </p:nvSpPr>
        <p:spPr bwMode="auto">
          <a:xfrm>
            <a:off x="2992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90213" name="Rectangle 100"/>
          <p:cNvSpPr>
            <a:spLocks/>
          </p:cNvSpPr>
          <p:nvPr/>
        </p:nvSpPr>
        <p:spPr bwMode="auto">
          <a:xfrm>
            <a:off x="34496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90214" name="Rectangle 101"/>
          <p:cNvSpPr>
            <a:spLocks/>
          </p:cNvSpPr>
          <p:nvPr/>
        </p:nvSpPr>
        <p:spPr bwMode="auto">
          <a:xfrm>
            <a:off x="3906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90215" name="Rectangle 102"/>
          <p:cNvSpPr>
            <a:spLocks/>
          </p:cNvSpPr>
          <p:nvPr/>
        </p:nvSpPr>
        <p:spPr bwMode="auto">
          <a:xfrm>
            <a:off x="4364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90216" name="Rectangle 103"/>
          <p:cNvSpPr>
            <a:spLocks/>
          </p:cNvSpPr>
          <p:nvPr/>
        </p:nvSpPr>
        <p:spPr bwMode="auto">
          <a:xfrm>
            <a:off x="4745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90217" name="Rectangle 104"/>
          <p:cNvSpPr>
            <a:spLocks/>
          </p:cNvSpPr>
          <p:nvPr/>
        </p:nvSpPr>
        <p:spPr bwMode="auto">
          <a:xfrm>
            <a:off x="52022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90218" name="Rectangle 105"/>
          <p:cNvSpPr>
            <a:spLocks/>
          </p:cNvSpPr>
          <p:nvPr/>
        </p:nvSpPr>
        <p:spPr bwMode="auto">
          <a:xfrm>
            <a:off x="5659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90219" name="Rectangle 106"/>
          <p:cNvSpPr>
            <a:spLocks/>
          </p:cNvSpPr>
          <p:nvPr/>
        </p:nvSpPr>
        <p:spPr bwMode="auto">
          <a:xfrm>
            <a:off x="6040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90220" name="Rectangle 107"/>
          <p:cNvSpPr>
            <a:spLocks/>
          </p:cNvSpPr>
          <p:nvPr/>
        </p:nvSpPr>
        <p:spPr bwMode="auto">
          <a:xfrm>
            <a:off x="64976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90221" name="Rectangle 108"/>
          <p:cNvSpPr>
            <a:spLocks/>
          </p:cNvSpPr>
          <p:nvPr/>
        </p:nvSpPr>
        <p:spPr bwMode="auto">
          <a:xfrm>
            <a:off x="6954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90222" name="Rectangle 109"/>
          <p:cNvSpPr>
            <a:spLocks/>
          </p:cNvSpPr>
          <p:nvPr/>
        </p:nvSpPr>
        <p:spPr bwMode="auto">
          <a:xfrm>
            <a:off x="2971800" y="2095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90223" name="Rectangle 110"/>
          <p:cNvSpPr>
            <a:spLocks/>
          </p:cNvSpPr>
          <p:nvPr/>
        </p:nvSpPr>
        <p:spPr bwMode="auto">
          <a:xfrm>
            <a:off x="4267200" y="2095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90224" name="Rectangle 111"/>
          <p:cNvSpPr>
            <a:spLocks/>
          </p:cNvSpPr>
          <p:nvPr/>
        </p:nvSpPr>
        <p:spPr bwMode="auto">
          <a:xfrm>
            <a:off x="22098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7</a:t>
            </a:r>
          </a:p>
        </p:txBody>
      </p:sp>
      <p:sp>
        <p:nvSpPr>
          <p:cNvPr id="90225" name="Rectangle 112"/>
          <p:cNvSpPr>
            <a:spLocks/>
          </p:cNvSpPr>
          <p:nvPr/>
        </p:nvSpPr>
        <p:spPr bwMode="auto">
          <a:xfrm>
            <a:off x="15240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90226" name="Rectangle 113"/>
          <p:cNvSpPr>
            <a:spLocks/>
          </p:cNvSpPr>
          <p:nvPr/>
        </p:nvSpPr>
        <p:spPr bwMode="auto">
          <a:xfrm>
            <a:off x="31242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90227" name="Rectangle 114"/>
          <p:cNvSpPr>
            <a:spLocks/>
          </p:cNvSpPr>
          <p:nvPr/>
        </p:nvSpPr>
        <p:spPr bwMode="auto">
          <a:xfrm>
            <a:off x="42672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90228" name="Rectangle 115"/>
          <p:cNvSpPr>
            <a:spLocks/>
          </p:cNvSpPr>
          <p:nvPr/>
        </p:nvSpPr>
        <p:spPr bwMode="auto">
          <a:xfrm>
            <a:off x="50292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90229" name="Rectangle 116"/>
          <p:cNvSpPr>
            <a:spLocks/>
          </p:cNvSpPr>
          <p:nvPr/>
        </p:nvSpPr>
        <p:spPr bwMode="auto">
          <a:xfrm>
            <a:off x="20574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5</a:t>
            </a:r>
          </a:p>
        </p:txBody>
      </p:sp>
      <p:sp>
        <p:nvSpPr>
          <p:cNvPr id="90230" name="Rectangle 117"/>
          <p:cNvSpPr>
            <a:spLocks/>
          </p:cNvSpPr>
          <p:nvPr/>
        </p:nvSpPr>
        <p:spPr bwMode="auto">
          <a:xfrm>
            <a:off x="27432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90231" name="Rectangle 118"/>
          <p:cNvSpPr>
            <a:spLocks/>
          </p:cNvSpPr>
          <p:nvPr/>
        </p:nvSpPr>
        <p:spPr bwMode="auto">
          <a:xfrm>
            <a:off x="34290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90232" name="Rectangle 119"/>
          <p:cNvSpPr>
            <a:spLocks/>
          </p:cNvSpPr>
          <p:nvPr/>
        </p:nvSpPr>
        <p:spPr bwMode="auto">
          <a:xfrm>
            <a:off x="39624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90233" name="Rectangle 120"/>
          <p:cNvSpPr>
            <a:spLocks/>
          </p:cNvSpPr>
          <p:nvPr/>
        </p:nvSpPr>
        <p:spPr bwMode="auto">
          <a:xfrm>
            <a:off x="43434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90234" name="Rectangle 121"/>
          <p:cNvSpPr>
            <a:spLocks/>
          </p:cNvSpPr>
          <p:nvPr/>
        </p:nvSpPr>
        <p:spPr bwMode="auto">
          <a:xfrm>
            <a:off x="52578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6</a:t>
            </a:r>
          </a:p>
        </p:txBody>
      </p:sp>
      <p:sp>
        <p:nvSpPr>
          <p:cNvPr id="90235" name="Rectangle 122"/>
          <p:cNvSpPr>
            <a:spLocks/>
          </p:cNvSpPr>
          <p:nvPr/>
        </p:nvSpPr>
        <p:spPr bwMode="auto">
          <a:xfrm>
            <a:off x="59436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9</a:t>
            </a:r>
          </a:p>
        </p:txBody>
      </p:sp>
      <p:sp>
        <p:nvSpPr>
          <p:cNvPr id="90236" name="Rectangle 123"/>
          <p:cNvSpPr>
            <a:spLocks/>
          </p:cNvSpPr>
          <p:nvPr/>
        </p:nvSpPr>
        <p:spPr bwMode="auto">
          <a:xfrm>
            <a:off x="762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90237" name="Rectangle 124"/>
          <p:cNvSpPr>
            <a:spLocks/>
          </p:cNvSpPr>
          <p:nvPr/>
        </p:nvSpPr>
        <p:spPr bwMode="auto">
          <a:xfrm>
            <a:off x="1143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90238" name="Rectangle 125"/>
          <p:cNvSpPr>
            <a:spLocks/>
          </p:cNvSpPr>
          <p:nvPr/>
        </p:nvSpPr>
        <p:spPr bwMode="auto">
          <a:xfrm>
            <a:off x="1524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7</a:t>
            </a:r>
          </a:p>
        </p:txBody>
      </p:sp>
      <p:sp>
        <p:nvSpPr>
          <p:cNvPr id="90239" name="Rectangle 126"/>
          <p:cNvSpPr>
            <a:spLocks/>
          </p:cNvSpPr>
          <p:nvPr/>
        </p:nvSpPr>
        <p:spPr bwMode="auto">
          <a:xfrm>
            <a:off x="1981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90240" name="Rectangle 127"/>
          <p:cNvSpPr>
            <a:spLocks/>
          </p:cNvSpPr>
          <p:nvPr/>
        </p:nvSpPr>
        <p:spPr bwMode="auto">
          <a:xfrm>
            <a:off x="2362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90241" name="Rectangle 128"/>
          <p:cNvSpPr>
            <a:spLocks/>
          </p:cNvSpPr>
          <p:nvPr/>
        </p:nvSpPr>
        <p:spPr bwMode="auto">
          <a:xfrm>
            <a:off x="2743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8</a:t>
            </a:r>
          </a:p>
        </p:txBody>
      </p:sp>
      <p:sp>
        <p:nvSpPr>
          <p:cNvPr id="90242" name="Rectangle 129"/>
          <p:cNvSpPr>
            <a:spLocks/>
          </p:cNvSpPr>
          <p:nvPr/>
        </p:nvSpPr>
        <p:spPr bwMode="auto">
          <a:xfrm>
            <a:off x="3124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6</a:t>
            </a:r>
          </a:p>
        </p:txBody>
      </p:sp>
      <p:sp>
        <p:nvSpPr>
          <p:cNvPr id="90243" name="Rectangle 130"/>
          <p:cNvSpPr>
            <a:spLocks/>
          </p:cNvSpPr>
          <p:nvPr/>
        </p:nvSpPr>
        <p:spPr bwMode="auto">
          <a:xfrm>
            <a:off x="3810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90244" name="Rectangle 131"/>
          <p:cNvSpPr>
            <a:spLocks/>
          </p:cNvSpPr>
          <p:nvPr/>
        </p:nvSpPr>
        <p:spPr bwMode="auto">
          <a:xfrm>
            <a:off x="43434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90245" name="Rectangle 132"/>
          <p:cNvSpPr>
            <a:spLocks/>
          </p:cNvSpPr>
          <p:nvPr/>
        </p:nvSpPr>
        <p:spPr bwMode="auto">
          <a:xfrm>
            <a:off x="4648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90246" name="Rectangle 133"/>
          <p:cNvSpPr>
            <a:spLocks/>
          </p:cNvSpPr>
          <p:nvPr/>
        </p:nvSpPr>
        <p:spPr bwMode="auto">
          <a:xfrm>
            <a:off x="51054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90247" name="Rectangle 134"/>
          <p:cNvSpPr>
            <a:spLocks/>
          </p:cNvSpPr>
          <p:nvPr/>
        </p:nvSpPr>
        <p:spPr bwMode="auto">
          <a:xfrm>
            <a:off x="5791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90248" name="Rectangle 135"/>
          <p:cNvSpPr>
            <a:spLocks/>
          </p:cNvSpPr>
          <p:nvPr/>
        </p:nvSpPr>
        <p:spPr bwMode="auto">
          <a:xfrm>
            <a:off x="6096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9</a:t>
            </a:r>
          </a:p>
        </p:txBody>
      </p:sp>
      <p:sp>
        <p:nvSpPr>
          <p:cNvPr id="90249" name="Rectangle 136"/>
          <p:cNvSpPr>
            <a:spLocks/>
          </p:cNvSpPr>
          <p:nvPr/>
        </p:nvSpPr>
        <p:spPr bwMode="auto">
          <a:xfrm>
            <a:off x="66294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90250" name="Rectangle 137"/>
          <p:cNvSpPr>
            <a:spLocks/>
          </p:cNvSpPr>
          <p:nvPr/>
        </p:nvSpPr>
        <p:spPr bwMode="auto">
          <a:xfrm>
            <a:off x="3505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5</a:t>
            </a:r>
          </a:p>
        </p:txBody>
      </p:sp>
      <p:sp>
        <p:nvSpPr>
          <p:cNvPr id="90251" name="Rectangle 138"/>
          <p:cNvSpPr>
            <a:spLocks/>
          </p:cNvSpPr>
          <p:nvPr/>
        </p:nvSpPr>
        <p:spPr bwMode="auto">
          <a:xfrm>
            <a:off x="5334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8</a:t>
            </a:r>
          </a:p>
        </p:txBody>
      </p:sp>
      <p:sp>
        <p:nvSpPr>
          <p:cNvPr id="90252" name="Rectangle 139"/>
          <p:cNvSpPr>
            <a:spLocks/>
          </p:cNvSpPr>
          <p:nvPr/>
        </p:nvSpPr>
        <p:spPr bwMode="auto">
          <a:xfrm>
            <a:off x="228600" y="6172200"/>
            <a:ext cx="8991600" cy="381000"/>
          </a:xfrm>
          <a:prstGeom prst="rect">
            <a:avLst/>
          </a:prstGeom>
          <a:noFill/>
          <a:ln w="12700">
            <a:noFill/>
            <a:miter lim="800000"/>
            <a:headEnd/>
            <a:tailEnd/>
          </a:ln>
        </p:spPr>
        <p:txBody>
          <a:bodyPr lIns="0" tIns="0" rIns="40639" bIns="0"/>
          <a:lstStyle/>
          <a:p>
            <a:pPr marL="39688"/>
            <a:r>
              <a:rPr lang="en-US" sz="1600" dirty="0">
                <a:solidFill>
                  <a:srgbClr val="FAFD00"/>
                </a:solidFill>
                <a:latin typeface="Arial" charset="0"/>
                <a:cs typeface="Arial" charset="0"/>
                <a:sym typeface="Arial" charset="0"/>
              </a:rPr>
              <a:t>Fringe: [27(</a:t>
            </a:r>
            <a:r>
              <a:rPr lang="en-US" sz="1600" dirty="0">
                <a:solidFill>
                  <a:srgbClr val="C000C0"/>
                </a:solidFill>
                <a:latin typeface="Arial" charset="0"/>
                <a:cs typeface="Arial" charset="0"/>
                <a:sym typeface="Arial" charset="0"/>
              </a:rPr>
              <a:t>10</a:t>
            </a:r>
            <a:r>
              <a:rPr lang="en-US" sz="1600" dirty="0">
                <a:solidFill>
                  <a:srgbClr val="FAFD00"/>
                </a:solidFill>
                <a:latin typeface="Arial" charset="0"/>
                <a:cs typeface="Arial" charset="0"/>
                <a:sym typeface="Arial" charset="0"/>
              </a:rPr>
              <a:t>), 4(</a:t>
            </a:r>
            <a:r>
              <a:rPr lang="en-US" sz="1600" dirty="0">
                <a:solidFill>
                  <a:srgbClr val="C000C0"/>
                </a:solidFill>
                <a:latin typeface="Arial" charset="0"/>
                <a:cs typeface="Arial" charset="0"/>
                <a:sym typeface="Arial" charset="0"/>
              </a:rPr>
              <a:t>11</a:t>
            </a:r>
            <a:r>
              <a:rPr lang="en-US" sz="1600" dirty="0">
                <a:solidFill>
                  <a:srgbClr val="FAFD00"/>
                </a:solidFill>
                <a:latin typeface="Arial" charset="0"/>
                <a:cs typeface="Arial" charset="0"/>
                <a:sym typeface="Arial" charset="0"/>
              </a:rPr>
              <a:t>), 25(</a:t>
            </a:r>
            <a:r>
              <a:rPr lang="en-US" sz="1600" dirty="0">
                <a:solidFill>
                  <a:srgbClr val="C000C0"/>
                </a:solidFill>
                <a:latin typeface="Arial" charset="0"/>
                <a:cs typeface="Arial" charset="0"/>
                <a:sym typeface="Arial" charset="0"/>
              </a:rPr>
              <a:t>12</a:t>
            </a:r>
            <a:r>
              <a:rPr lang="en-US" sz="1600" dirty="0">
                <a:solidFill>
                  <a:srgbClr val="FAFD00"/>
                </a:solidFill>
                <a:latin typeface="Arial" charset="0"/>
                <a:cs typeface="Arial" charset="0"/>
                <a:sym typeface="Arial" charset="0"/>
              </a:rPr>
              <a:t>), 26(</a:t>
            </a:r>
            <a:r>
              <a:rPr lang="en-US" sz="1600" dirty="0">
                <a:solidFill>
                  <a:srgbClr val="C000C0"/>
                </a:solidFill>
                <a:latin typeface="Arial" charset="0"/>
                <a:cs typeface="Arial" charset="0"/>
                <a:sym typeface="Arial" charset="0"/>
              </a:rPr>
              <a:t>12</a:t>
            </a:r>
            <a:r>
              <a:rPr lang="en-US" sz="1600" dirty="0">
                <a:solidFill>
                  <a:srgbClr val="FAFD00"/>
                </a:solidFill>
                <a:latin typeface="Arial" charset="0"/>
                <a:cs typeface="Arial" charset="0"/>
                <a:sym typeface="Arial" charset="0"/>
              </a:rPr>
              <a:t>), 14(</a:t>
            </a:r>
            <a:r>
              <a:rPr lang="en-US" sz="1600" dirty="0">
                <a:solidFill>
                  <a:srgbClr val="C000C0"/>
                </a:solidFill>
                <a:latin typeface="Arial" charset="0"/>
                <a:cs typeface="Arial" charset="0"/>
                <a:sym typeface="Arial" charset="0"/>
              </a:rPr>
              <a:t>13</a:t>
            </a:r>
            <a:r>
              <a:rPr lang="en-US" sz="1600" dirty="0">
                <a:solidFill>
                  <a:srgbClr val="FAFD00"/>
                </a:solidFill>
                <a:latin typeface="Arial" charset="0"/>
                <a:cs typeface="Arial" charset="0"/>
                <a:sym typeface="Arial" charset="0"/>
              </a:rPr>
              <a:t>), 24(</a:t>
            </a:r>
            <a:r>
              <a:rPr lang="en-US" sz="1600" dirty="0">
                <a:solidFill>
                  <a:srgbClr val="C000C0"/>
                </a:solidFill>
                <a:latin typeface="Arial" charset="0"/>
                <a:cs typeface="Arial" charset="0"/>
                <a:sym typeface="Arial" charset="0"/>
              </a:rPr>
              <a:t>13</a:t>
            </a:r>
            <a:r>
              <a:rPr lang="en-US" sz="1600" dirty="0">
                <a:solidFill>
                  <a:srgbClr val="FAFD00"/>
                </a:solidFill>
                <a:latin typeface="Arial" charset="0"/>
                <a:cs typeface="Arial" charset="0"/>
                <a:sym typeface="Arial" charset="0"/>
              </a:rPr>
              <a:t>), 20(</a:t>
            </a:r>
            <a:r>
              <a:rPr lang="en-US" sz="1600" dirty="0">
                <a:solidFill>
                  <a:srgbClr val="C000C0"/>
                </a:solidFill>
                <a:latin typeface="Arial" charset="0"/>
                <a:cs typeface="Arial" charset="0"/>
                <a:sym typeface="Arial" charset="0"/>
              </a:rPr>
              <a:t>14</a:t>
            </a:r>
            <a:r>
              <a:rPr lang="en-US" sz="1600" dirty="0">
                <a:solidFill>
                  <a:srgbClr val="FAFD00"/>
                </a:solidFill>
                <a:latin typeface="Arial" charset="0"/>
                <a:cs typeface="Arial" charset="0"/>
                <a:sym typeface="Arial" charset="0"/>
              </a:rPr>
              <a:t>)</a:t>
            </a:r>
            <a:r>
              <a:rPr lang="en-US" sz="1600" dirty="0">
                <a:solidFill>
                  <a:schemeClr val="tx1"/>
                </a:solidFill>
                <a:latin typeface="Arial" charset="0"/>
                <a:cs typeface="Arial" charset="0"/>
                <a:sym typeface="Arial" charset="0"/>
              </a:rPr>
              <a:t>, </a:t>
            </a:r>
            <a:r>
              <a:rPr lang="en-US" sz="1600" dirty="0">
                <a:solidFill>
                  <a:srgbClr val="FAFD00"/>
                </a:solidFill>
                <a:latin typeface="Arial" charset="0"/>
                <a:cs typeface="Arial" charset="0"/>
                <a:sym typeface="Arial" charset="0"/>
              </a:rPr>
              <a:t>15(</a:t>
            </a:r>
            <a:r>
              <a:rPr lang="en-US" sz="1600" dirty="0">
                <a:solidFill>
                  <a:srgbClr val="C000C0"/>
                </a:solidFill>
                <a:latin typeface="Arial" charset="0"/>
                <a:cs typeface="Arial" charset="0"/>
                <a:sym typeface="Arial" charset="0"/>
              </a:rPr>
              <a:t>16</a:t>
            </a:r>
            <a:r>
              <a:rPr lang="en-US" sz="1600" dirty="0">
                <a:solidFill>
                  <a:srgbClr val="FAFD00"/>
                </a:solidFill>
                <a:latin typeface="Arial" charset="0"/>
                <a:cs typeface="Arial" charset="0"/>
                <a:sym typeface="Arial" charset="0"/>
              </a:rPr>
              <a:t>), 21(</a:t>
            </a:r>
            <a:r>
              <a:rPr lang="en-US" sz="1600" dirty="0">
                <a:solidFill>
                  <a:srgbClr val="C000C0"/>
                </a:solidFill>
                <a:latin typeface="Arial" charset="0"/>
                <a:cs typeface="Arial" charset="0"/>
                <a:sym typeface="Arial" charset="0"/>
              </a:rPr>
              <a:t>18</a:t>
            </a:r>
            <a:r>
              <a:rPr lang="en-US" sz="1600" dirty="0">
                <a:solidFill>
                  <a:srgbClr val="FAFD00"/>
                </a:solidFill>
                <a:latin typeface="Arial" charset="0"/>
                <a:cs typeface="Arial" charset="0"/>
                <a:sym typeface="Arial" charset="0"/>
              </a:rPr>
              <a:t>)]</a:t>
            </a:r>
          </a:p>
          <a:p>
            <a:pPr marL="39688"/>
            <a:r>
              <a:rPr lang="en-US" sz="1600" dirty="0">
                <a:solidFill>
                  <a:srgbClr val="FAFD00"/>
                </a:solidFill>
                <a:latin typeface="Arial" charset="0"/>
                <a:cs typeface="Arial" charset="0"/>
                <a:sym typeface="Arial" charset="0"/>
              </a:rPr>
              <a:t>                                                 </a:t>
            </a:r>
            <a:r>
              <a:rPr lang="en-US" sz="1600" dirty="0">
                <a:solidFill>
                  <a:srgbClr val="00FF00"/>
                </a:solidFill>
                <a:latin typeface="Arial" charset="0"/>
                <a:cs typeface="Arial" charset="0"/>
                <a:sym typeface="Arial" charset="0"/>
              </a:rPr>
              <a:t>+ [22(</a:t>
            </a:r>
            <a:r>
              <a:rPr lang="en-US" sz="1600" dirty="0">
                <a:solidFill>
                  <a:srgbClr val="C000C0"/>
                </a:solidFill>
                <a:latin typeface="Arial" charset="0"/>
                <a:cs typeface="Arial" charset="0"/>
                <a:sym typeface="Arial" charset="0"/>
              </a:rPr>
              <a:t>16</a:t>
            </a:r>
            <a:r>
              <a:rPr lang="en-US" sz="1600" dirty="0">
                <a:solidFill>
                  <a:srgbClr val="00FF00"/>
                </a:solidFill>
                <a:latin typeface="Arial" charset="0"/>
                <a:cs typeface="Arial" charset="0"/>
                <a:sym typeface="Arial" charset="0"/>
              </a:rPr>
              <a:t>)</a:t>
            </a:r>
            <a:r>
              <a:rPr lang="en-US" sz="1600" dirty="0">
                <a:solidFill>
                  <a:schemeClr val="tx1"/>
                </a:solidFill>
                <a:latin typeface="Arial" charset="0"/>
                <a:cs typeface="Arial" charset="0"/>
                <a:sym typeface="Arial" charset="0"/>
              </a:rPr>
              <a:t>, </a:t>
            </a:r>
            <a:r>
              <a:rPr lang="en-US" sz="1600" dirty="0">
                <a:solidFill>
                  <a:srgbClr val="00FF00"/>
                </a:solidFill>
                <a:latin typeface="Arial" charset="0"/>
                <a:cs typeface="Arial" charset="0"/>
                <a:sym typeface="Arial" charset="0"/>
              </a:rPr>
              <a:t>23(</a:t>
            </a:r>
            <a:r>
              <a:rPr lang="en-US" sz="1600" dirty="0">
                <a:solidFill>
                  <a:srgbClr val="C000C0"/>
                </a:solidFill>
                <a:latin typeface="Arial" charset="0"/>
                <a:cs typeface="Arial" charset="0"/>
                <a:sym typeface="Arial" charset="0"/>
              </a:rPr>
              <a:t>15</a:t>
            </a:r>
            <a:r>
              <a:rPr lang="en-US" sz="1600" dirty="0">
                <a:solidFill>
                  <a:srgbClr val="00FF00"/>
                </a:solidFill>
                <a:latin typeface="Arial" charset="0"/>
                <a:cs typeface="Arial" charset="0"/>
                <a:sym typeface="Arial" charset="0"/>
              </a:rPr>
              <a:t>)]</a:t>
            </a:r>
            <a:r>
              <a:rPr lang="en-US" sz="1600" dirty="0">
                <a:solidFill>
                  <a:srgbClr val="FAFD00"/>
                </a:solidFill>
                <a:latin typeface="Arial" charset="0"/>
                <a:cs typeface="Arial" charset="0"/>
                <a:sym typeface="Arial" charset="0"/>
              </a:rPr>
              <a:t> </a:t>
            </a: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type="title"/>
          </p:nvPr>
        </p:nvSpPr>
        <p:spPr>
          <a:xfrm>
            <a:off x="228600" y="338138"/>
            <a:ext cx="8610600" cy="804862"/>
          </a:xfrm>
        </p:spPr>
        <p:txBody>
          <a:bodyPr rIns="130174"/>
          <a:lstStyle/>
          <a:p>
            <a:pPr indent="0" eaLnBrk="1" hangingPunct="1">
              <a:defRPr/>
            </a:pPr>
            <a:r>
              <a:rPr lang="en-US"/>
              <a:t>Uniform Cost Fringe Trace</a:t>
            </a:r>
          </a:p>
        </p:txBody>
      </p:sp>
      <p:sp>
        <p:nvSpPr>
          <p:cNvPr id="91141" name="Rectangle 4"/>
          <p:cNvSpPr>
            <a:spLocks noGrp="1" noChangeArrowheads="1"/>
          </p:cNvSpPr>
          <p:nvPr>
            <p:ph type="body" idx="1"/>
          </p:nvPr>
        </p:nvSpPr>
        <p:spPr>
          <a:xfrm>
            <a:off x="228600" y="1524000"/>
            <a:ext cx="8610600" cy="5334000"/>
          </a:xfrm>
        </p:spPr>
        <p:txBody>
          <a:bodyPr rIns="130174">
            <a:normAutofit/>
          </a:bodyPr>
          <a:lstStyle/>
          <a:p>
            <a:pPr marL="571500" indent="-533400" eaLnBrk="1" hangingPunct="1">
              <a:lnSpc>
                <a:spcPct val="90000"/>
              </a:lnSpc>
              <a:spcBef>
                <a:spcPct val="0"/>
              </a:spcBef>
              <a:buSzPct val="99000"/>
              <a:buFont typeface="Wingdings" charset="2"/>
              <a:buAutoNum type="arabicPeriod"/>
            </a:pPr>
            <a:r>
              <a:rPr lang="en-US" sz="1200" dirty="0"/>
              <a:t>[</a:t>
            </a:r>
            <a:r>
              <a:rPr lang="en-US" sz="1200" dirty="0">
                <a:solidFill>
                  <a:srgbClr val="FF0000"/>
                </a:solidFill>
                <a:latin typeface="Arial Bold" charset="0"/>
                <a:cs typeface="Arial Bold" charset="0"/>
                <a:sym typeface="Arial Bold" charset="0"/>
              </a:rPr>
              <a:t>1(0)</a:t>
            </a:r>
            <a:r>
              <a:rPr lang="en-US" sz="1200" dirty="0">
                <a:solidFill>
                  <a:srgbClr val="FF0000"/>
                </a:solidFill>
              </a:rPr>
              <a:t>]</a:t>
            </a:r>
          </a:p>
          <a:p>
            <a:pPr marL="571500" indent="-533400" eaLnBrk="1" hangingPunct="1">
              <a:lnSpc>
                <a:spcPct val="90000"/>
              </a:lnSpc>
              <a:spcBef>
                <a:spcPts val="463"/>
              </a:spcBef>
              <a:buSzPct val="99000"/>
              <a:buFont typeface="Wingdings" charset="2"/>
              <a:buAutoNum type="arabicPeriod"/>
            </a:pPr>
            <a:r>
              <a:rPr lang="en-US" sz="1200" dirty="0"/>
              <a:t>[</a:t>
            </a:r>
            <a:r>
              <a:rPr lang="en-US" sz="1200" dirty="0">
                <a:solidFill>
                  <a:srgbClr val="FF0000"/>
                </a:solidFill>
                <a:latin typeface="Arial Bold" charset="0"/>
                <a:cs typeface="Arial Bold" charset="0"/>
                <a:sym typeface="Arial Bold" charset="0"/>
              </a:rPr>
              <a:t>3(3)</a:t>
            </a:r>
            <a:r>
              <a:rPr lang="en-US" sz="1200" dirty="0">
                <a:solidFill>
                  <a:srgbClr val="FF0000"/>
                </a:solidFill>
              </a:rPr>
              <a:t>, </a:t>
            </a:r>
            <a:r>
              <a:rPr lang="en-US" sz="1200" dirty="0">
                <a:solidFill>
                  <a:srgbClr val="00B050"/>
                </a:solidFill>
              </a:rPr>
              <a:t>2(4)]</a:t>
            </a:r>
          </a:p>
          <a:p>
            <a:pPr marL="571500" indent="-533400" eaLnBrk="1" hangingPunct="1">
              <a:lnSpc>
                <a:spcPct val="90000"/>
              </a:lnSpc>
              <a:spcBef>
                <a:spcPts val="463"/>
              </a:spcBef>
              <a:buSzPct val="99000"/>
              <a:buFont typeface="Wingdings" charset="2"/>
              <a:buAutoNum type="arabicPeriod"/>
            </a:pPr>
            <a:r>
              <a:rPr lang="en-US" sz="1200" dirty="0"/>
              <a:t>[</a:t>
            </a:r>
            <a:r>
              <a:rPr lang="en-US" sz="1200" dirty="0">
                <a:solidFill>
                  <a:srgbClr val="FF0000"/>
                </a:solidFill>
                <a:latin typeface="Arial Bold" charset="0"/>
                <a:cs typeface="Arial Bold" charset="0"/>
                <a:sym typeface="Arial Bold" charset="0"/>
              </a:rPr>
              <a:t>2(4)</a:t>
            </a:r>
            <a:r>
              <a:rPr lang="en-US" sz="1200" dirty="0">
                <a:solidFill>
                  <a:srgbClr val="FF0000"/>
                </a:solidFill>
              </a:rPr>
              <a:t>, </a:t>
            </a:r>
            <a:r>
              <a:rPr lang="en-US" sz="1200" dirty="0">
                <a:solidFill>
                  <a:srgbClr val="00B050"/>
                </a:solidFill>
              </a:rPr>
              <a:t>6(5), 7(7)]</a:t>
            </a:r>
          </a:p>
          <a:p>
            <a:pPr marL="571500" indent="-533400" eaLnBrk="1" hangingPunct="1">
              <a:lnSpc>
                <a:spcPct val="90000"/>
              </a:lnSpc>
              <a:spcBef>
                <a:spcPts val="463"/>
              </a:spcBef>
              <a:buSzPct val="99000"/>
              <a:buFont typeface="Wingdings" charset="2"/>
              <a:buAutoNum type="arabicPeriod"/>
            </a:pPr>
            <a:r>
              <a:rPr lang="en-US" sz="1200" dirty="0"/>
              <a:t>[</a:t>
            </a:r>
            <a:r>
              <a:rPr lang="en-US" sz="1200" dirty="0">
                <a:solidFill>
                  <a:srgbClr val="FF0000"/>
                </a:solidFill>
                <a:latin typeface="Arial Bold" charset="0"/>
                <a:cs typeface="Arial Bold" charset="0"/>
                <a:sym typeface="Arial Bold" charset="0"/>
              </a:rPr>
              <a:t>6(5)</a:t>
            </a:r>
            <a:r>
              <a:rPr lang="en-US" sz="1200" dirty="0">
                <a:solidFill>
                  <a:srgbClr val="FF0000"/>
                </a:solidFill>
              </a:rPr>
              <a:t>, </a:t>
            </a:r>
            <a:r>
              <a:rPr lang="en-US" sz="1200" dirty="0">
                <a:solidFill>
                  <a:srgbClr val="00B050"/>
                </a:solidFill>
              </a:rPr>
              <a:t>5(6)</a:t>
            </a:r>
            <a:r>
              <a:rPr lang="en-US" sz="1200" dirty="0"/>
              <a:t>, 7(7), </a:t>
            </a:r>
            <a:r>
              <a:rPr lang="en-US" sz="1200" dirty="0">
                <a:solidFill>
                  <a:srgbClr val="00B050"/>
                </a:solidFill>
              </a:rPr>
              <a:t>4(11)]</a:t>
            </a:r>
          </a:p>
          <a:p>
            <a:pPr marL="571500" indent="-533400" eaLnBrk="1" hangingPunct="1">
              <a:lnSpc>
                <a:spcPct val="90000"/>
              </a:lnSpc>
              <a:spcBef>
                <a:spcPts val="463"/>
              </a:spcBef>
              <a:buSzPct val="99000"/>
              <a:buFont typeface="Wingdings" charset="2"/>
              <a:buAutoNum type="arabicPeriod"/>
            </a:pPr>
            <a:r>
              <a:rPr lang="en-US" sz="1200" dirty="0"/>
              <a:t>[</a:t>
            </a:r>
            <a:r>
              <a:rPr lang="en-US" sz="1200" dirty="0">
                <a:solidFill>
                  <a:srgbClr val="FF0000"/>
                </a:solidFill>
                <a:latin typeface="Arial Bold" charset="0"/>
                <a:cs typeface="Arial Bold" charset="0"/>
                <a:sym typeface="Arial Bold" charset="0"/>
              </a:rPr>
              <a:t>5(6)</a:t>
            </a:r>
            <a:r>
              <a:rPr lang="en-US" sz="1200" dirty="0">
                <a:solidFill>
                  <a:srgbClr val="FF0000"/>
                </a:solidFill>
              </a:rPr>
              <a:t>, </a:t>
            </a:r>
            <a:r>
              <a:rPr lang="en-US" sz="1200" dirty="0"/>
              <a:t>7(7), </a:t>
            </a:r>
            <a:r>
              <a:rPr lang="en-US" sz="1200" dirty="0">
                <a:solidFill>
                  <a:srgbClr val="00B050"/>
                </a:solidFill>
              </a:rPr>
              <a:t>13(8), 12(9), </a:t>
            </a:r>
            <a:r>
              <a:rPr lang="en-US" sz="1200" dirty="0"/>
              <a:t>4(11)]</a:t>
            </a:r>
          </a:p>
          <a:p>
            <a:pPr marL="571500" indent="-533400" eaLnBrk="1" hangingPunct="1">
              <a:lnSpc>
                <a:spcPct val="90000"/>
              </a:lnSpc>
              <a:spcBef>
                <a:spcPts val="463"/>
              </a:spcBef>
              <a:buSzPct val="99000"/>
              <a:buFont typeface="Wingdings" charset="2"/>
              <a:buAutoNum type="arabicPeriod"/>
            </a:pPr>
            <a:r>
              <a:rPr lang="en-US" sz="1200" dirty="0"/>
              <a:t>[</a:t>
            </a:r>
            <a:r>
              <a:rPr lang="en-US" sz="1200" dirty="0">
                <a:solidFill>
                  <a:srgbClr val="FF0000"/>
                </a:solidFill>
                <a:latin typeface="Arial Bold" charset="0"/>
                <a:cs typeface="Arial Bold" charset="0"/>
                <a:sym typeface="Arial Bold" charset="0"/>
              </a:rPr>
              <a:t>7(7)</a:t>
            </a:r>
            <a:r>
              <a:rPr lang="en-US" sz="1200" dirty="0">
                <a:solidFill>
                  <a:srgbClr val="FF0000"/>
                </a:solidFill>
              </a:rPr>
              <a:t>, </a:t>
            </a:r>
            <a:r>
              <a:rPr lang="en-US" sz="1200" dirty="0"/>
              <a:t>13(8), 12(9), </a:t>
            </a:r>
            <a:r>
              <a:rPr lang="en-US" sz="1200" dirty="0">
                <a:solidFill>
                  <a:srgbClr val="00B050"/>
                </a:solidFill>
              </a:rPr>
              <a:t>10(10), 11(10), </a:t>
            </a:r>
            <a:r>
              <a:rPr lang="en-US" sz="1200" dirty="0"/>
              <a:t>4(11)]</a:t>
            </a:r>
          </a:p>
          <a:p>
            <a:pPr marL="571500" indent="-533400" eaLnBrk="1" hangingPunct="1">
              <a:lnSpc>
                <a:spcPct val="90000"/>
              </a:lnSpc>
              <a:spcBef>
                <a:spcPts val="463"/>
              </a:spcBef>
              <a:buSzPct val="99000"/>
              <a:buFont typeface="Wingdings" charset="2"/>
              <a:buAutoNum type="arabicPeriod"/>
            </a:pPr>
            <a:r>
              <a:rPr lang="en-US" sz="1200" dirty="0"/>
              <a:t>[</a:t>
            </a:r>
            <a:r>
              <a:rPr lang="en-US" sz="1200" dirty="0">
                <a:solidFill>
                  <a:srgbClr val="FF0000"/>
                </a:solidFill>
                <a:latin typeface="Arial Bold" charset="0"/>
                <a:cs typeface="Arial Bold" charset="0"/>
                <a:sym typeface="Arial Bold" charset="0"/>
              </a:rPr>
              <a:t>13(8)</a:t>
            </a:r>
            <a:r>
              <a:rPr lang="en-US" sz="1200" dirty="0">
                <a:solidFill>
                  <a:srgbClr val="FF0000"/>
                </a:solidFill>
              </a:rPr>
              <a:t>, </a:t>
            </a:r>
            <a:r>
              <a:rPr lang="en-US" sz="1200" dirty="0"/>
              <a:t>12(9), 10(10), 11(10), 4(11), </a:t>
            </a:r>
            <a:r>
              <a:rPr lang="en-US" sz="1200" dirty="0">
                <a:solidFill>
                  <a:srgbClr val="00B050"/>
                </a:solidFill>
              </a:rPr>
              <a:t>14(13), 15(16)]</a:t>
            </a:r>
          </a:p>
          <a:p>
            <a:pPr marL="571500" indent="-533400" eaLnBrk="1" hangingPunct="1">
              <a:lnSpc>
                <a:spcPct val="90000"/>
              </a:lnSpc>
              <a:spcBef>
                <a:spcPts val="463"/>
              </a:spcBef>
              <a:buSzPct val="99000"/>
              <a:buFont typeface="Wingdings" charset="2"/>
              <a:buAutoNum type="arabicPeriod"/>
            </a:pPr>
            <a:r>
              <a:rPr lang="en-US" sz="1200" dirty="0"/>
              <a:t>[</a:t>
            </a:r>
            <a:r>
              <a:rPr lang="en-US" sz="1200" dirty="0">
                <a:solidFill>
                  <a:srgbClr val="FF0000"/>
                </a:solidFill>
                <a:latin typeface="Arial Bold" charset="0"/>
                <a:cs typeface="Arial Bold" charset="0"/>
                <a:sym typeface="Arial Bold" charset="0"/>
              </a:rPr>
              <a:t>12(9)</a:t>
            </a:r>
            <a:r>
              <a:rPr lang="en-US" sz="1200" dirty="0">
                <a:solidFill>
                  <a:srgbClr val="FF0000"/>
                </a:solidFill>
              </a:rPr>
              <a:t>, </a:t>
            </a:r>
            <a:r>
              <a:rPr lang="en-US" sz="1200" dirty="0"/>
              <a:t>10(10), 11(10), </a:t>
            </a:r>
            <a:r>
              <a:rPr lang="en-US" sz="1200" dirty="0">
                <a:solidFill>
                  <a:srgbClr val="00B050"/>
                </a:solidFill>
              </a:rPr>
              <a:t>27(10)</a:t>
            </a:r>
            <a:r>
              <a:rPr lang="en-US" sz="1200" dirty="0"/>
              <a:t>, 4(11), </a:t>
            </a:r>
            <a:r>
              <a:rPr lang="en-US" sz="1200" dirty="0">
                <a:solidFill>
                  <a:srgbClr val="00B050"/>
                </a:solidFill>
              </a:rPr>
              <a:t>26(12), </a:t>
            </a:r>
            <a:r>
              <a:rPr lang="en-US" sz="1200" dirty="0"/>
              <a:t>14(13), 15(16)]</a:t>
            </a:r>
          </a:p>
          <a:p>
            <a:pPr marL="571500" indent="-533400" eaLnBrk="1" hangingPunct="1">
              <a:lnSpc>
                <a:spcPct val="90000"/>
              </a:lnSpc>
              <a:spcBef>
                <a:spcPts val="463"/>
              </a:spcBef>
              <a:buSzPct val="99000"/>
              <a:buFont typeface="Wingdings" charset="2"/>
              <a:buAutoNum type="arabicPeriod"/>
            </a:pPr>
            <a:r>
              <a:rPr lang="en-US" sz="1200" dirty="0"/>
              <a:t>[</a:t>
            </a:r>
            <a:r>
              <a:rPr lang="en-US" sz="1200" dirty="0">
                <a:solidFill>
                  <a:srgbClr val="FF0000"/>
                </a:solidFill>
                <a:latin typeface="Arial Bold" charset="0"/>
                <a:cs typeface="Arial Bold" charset="0"/>
                <a:sym typeface="Arial Bold" charset="0"/>
              </a:rPr>
              <a:t>10(10)</a:t>
            </a:r>
            <a:r>
              <a:rPr lang="en-US" sz="1200" dirty="0">
                <a:solidFill>
                  <a:srgbClr val="FF0000"/>
                </a:solidFill>
              </a:rPr>
              <a:t>, </a:t>
            </a:r>
            <a:r>
              <a:rPr lang="en-US" sz="1200" dirty="0"/>
              <a:t>11(10), 27(10), 4(11), 26(12), </a:t>
            </a:r>
            <a:r>
              <a:rPr lang="en-US" sz="1200" dirty="0">
                <a:solidFill>
                  <a:srgbClr val="00B050"/>
                </a:solidFill>
              </a:rPr>
              <a:t>25(12)</a:t>
            </a:r>
            <a:r>
              <a:rPr lang="en-US" sz="1200" dirty="0"/>
              <a:t>, 14(13),</a:t>
            </a:r>
            <a:r>
              <a:rPr lang="en-US" sz="1200" dirty="0">
                <a:solidFill>
                  <a:srgbClr val="00FF00"/>
                </a:solidFill>
              </a:rPr>
              <a:t> </a:t>
            </a:r>
            <a:r>
              <a:rPr lang="en-US" sz="1200" dirty="0">
                <a:solidFill>
                  <a:srgbClr val="00B050"/>
                </a:solidFill>
              </a:rPr>
              <a:t>24(13),</a:t>
            </a:r>
            <a:r>
              <a:rPr lang="en-US" sz="1200" dirty="0"/>
              <a:t> 15(16)]</a:t>
            </a:r>
          </a:p>
          <a:p>
            <a:pPr marL="571500" indent="-533400" eaLnBrk="1" hangingPunct="1">
              <a:lnSpc>
                <a:spcPct val="90000"/>
              </a:lnSpc>
              <a:spcBef>
                <a:spcPts val="463"/>
              </a:spcBef>
              <a:buSzPct val="99000"/>
              <a:buFont typeface="Wingdings" charset="2"/>
              <a:buAutoNum type="arabicPeriod"/>
            </a:pPr>
            <a:r>
              <a:rPr lang="en-US" sz="1200" dirty="0"/>
              <a:t>[</a:t>
            </a:r>
            <a:r>
              <a:rPr lang="en-US" sz="1200" dirty="0">
                <a:solidFill>
                  <a:srgbClr val="FF0000"/>
                </a:solidFill>
                <a:latin typeface="Arial Bold" charset="0"/>
                <a:cs typeface="Arial Bold" charset="0"/>
                <a:sym typeface="Arial Bold" charset="0"/>
              </a:rPr>
              <a:t>11(10)</a:t>
            </a:r>
            <a:r>
              <a:rPr lang="en-US" sz="1200" dirty="0">
                <a:solidFill>
                  <a:srgbClr val="FF0000"/>
                </a:solidFill>
              </a:rPr>
              <a:t>, </a:t>
            </a:r>
            <a:r>
              <a:rPr lang="en-US" sz="1200" dirty="0"/>
              <a:t>27(10), 4(11), 25(12), 26(12), 14(13), 24(13),</a:t>
            </a:r>
            <a:r>
              <a:rPr lang="en-US" sz="1200" dirty="0">
                <a:solidFill>
                  <a:srgbClr val="00FF00"/>
                </a:solidFill>
              </a:rPr>
              <a:t> </a:t>
            </a:r>
            <a:r>
              <a:rPr lang="en-US" sz="1200" dirty="0">
                <a:solidFill>
                  <a:srgbClr val="00B050"/>
                </a:solidFill>
              </a:rPr>
              <a:t>20(14)</a:t>
            </a:r>
            <a:r>
              <a:rPr lang="en-US" sz="1200" dirty="0"/>
              <a:t>, 15(16), </a:t>
            </a:r>
            <a:r>
              <a:rPr lang="en-US" sz="1200" dirty="0">
                <a:solidFill>
                  <a:srgbClr val="00B050"/>
                </a:solidFill>
              </a:rPr>
              <a:t>21(18)</a:t>
            </a:r>
            <a:r>
              <a:rPr lang="en-US" sz="1200" dirty="0"/>
              <a:t>]</a:t>
            </a:r>
          </a:p>
          <a:p>
            <a:pPr marL="571500" indent="-533400" eaLnBrk="1" hangingPunct="1">
              <a:lnSpc>
                <a:spcPct val="90000"/>
              </a:lnSpc>
              <a:spcBef>
                <a:spcPts val="463"/>
              </a:spcBef>
              <a:buSzPct val="99000"/>
              <a:buFont typeface="Wingdings" charset="2"/>
              <a:buAutoNum type="arabicPeriod"/>
            </a:pPr>
            <a:r>
              <a:rPr lang="en-US" sz="1200" dirty="0"/>
              <a:t>[</a:t>
            </a:r>
            <a:r>
              <a:rPr lang="en-US" sz="1200" dirty="0">
                <a:solidFill>
                  <a:srgbClr val="FF0000"/>
                </a:solidFill>
                <a:latin typeface="Arial Bold" charset="0"/>
                <a:cs typeface="Arial Bold" charset="0"/>
                <a:sym typeface="Arial Bold" charset="0"/>
              </a:rPr>
              <a:t>27(10)</a:t>
            </a:r>
            <a:r>
              <a:rPr lang="en-US" sz="1200" dirty="0">
                <a:solidFill>
                  <a:srgbClr val="FF0000"/>
                </a:solidFill>
              </a:rPr>
              <a:t>, </a:t>
            </a:r>
            <a:r>
              <a:rPr lang="en-US" sz="1200" dirty="0"/>
              <a:t>4(11), 25(12), 26(12), 14(13), 24(13), 20(14), </a:t>
            </a:r>
            <a:r>
              <a:rPr lang="en-US" sz="1200" dirty="0">
                <a:solidFill>
                  <a:srgbClr val="00B050"/>
                </a:solidFill>
              </a:rPr>
              <a:t>23(15)</a:t>
            </a:r>
            <a:r>
              <a:rPr lang="en-US" sz="1200" dirty="0"/>
              <a:t>, 15(16), </a:t>
            </a:r>
            <a:r>
              <a:rPr lang="en-US" sz="1200" dirty="0">
                <a:solidFill>
                  <a:srgbClr val="00B050"/>
                </a:solidFill>
              </a:rPr>
              <a:t>22(16), </a:t>
            </a:r>
            <a:r>
              <a:rPr lang="en-US" sz="1200" dirty="0"/>
              <a:t>21(18)]</a:t>
            </a:r>
          </a:p>
          <a:p>
            <a:pPr marL="571500" indent="-533400" eaLnBrk="1" hangingPunct="1">
              <a:lnSpc>
                <a:spcPct val="90000"/>
              </a:lnSpc>
              <a:spcBef>
                <a:spcPts val="463"/>
              </a:spcBef>
              <a:buSzPct val="99000"/>
              <a:buFont typeface="Wingdings" charset="2"/>
              <a:buAutoNum type="arabicPeriod"/>
            </a:pPr>
            <a:r>
              <a:rPr lang="en-US" sz="1200" dirty="0">
                <a:solidFill>
                  <a:srgbClr val="FF0000"/>
                </a:solidFill>
              </a:rPr>
              <a:t>[</a:t>
            </a:r>
            <a:r>
              <a:rPr lang="en-US" sz="1200" dirty="0">
                <a:solidFill>
                  <a:srgbClr val="FF0000"/>
                </a:solidFill>
                <a:latin typeface="Arial Bold" charset="0"/>
                <a:cs typeface="Arial Bold" charset="0"/>
                <a:sym typeface="Arial Bold" charset="0"/>
              </a:rPr>
              <a:t>4(11)</a:t>
            </a:r>
            <a:r>
              <a:rPr lang="en-US" sz="1200" dirty="0">
                <a:solidFill>
                  <a:srgbClr val="FF0000"/>
                </a:solidFill>
              </a:rPr>
              <a:t>, </a:t>
            </a:r>
            <a:r>
              <a:rPr lang="en-US" sz="1200" dirty="0"/>
              <a:t>25(12), 26(12), 14(13), 24(13), 20(14), 23(15), 15(16), 22(16), 21(18)]</a:t>
            </a:r>
          </a:p>
          <a:p>
            <a:pPr marL="571500" indent="-533400" eaLnBrk="1" hangingPunct="1">
              <a:lnSpc>
                <a:spcPct val="90000"/>
              </a:lnSpc>
              <a:spcBef>
                <a:spcPts val="463"/>
              </a:spcBef>
              <a:buSzPct val="99000"/>
              <a:buFont typeface="Wingdings" charset="2"/>
              <a:buAutoNum type="arabicPeriod"/>
            </a:pPr>
            <a:r>
              <a:rPr lang="en-US" sz="1200" dirty="0"/>
              <a:t>[</a:t>
            </a:r>
            <a:r>
              <a:rPr lang="en-US" sz="1200" dirty="0">
                <a:solidFill>
                  <a:srgbClr val="FF0000"/>
                </a:solidFill>
                <a:latin typeface="Arial Bold" charset="0"/>
                <a:cs typeface="Arial Bold" charset="0"/>
                <a:sym typeface="Arial Bold" charset="0"/>
              </a:rPr>
              <a:t>25(12)</a:t>
            </a:r>
            <a:r>
              <a:rPr lang="en-US" sz="1200" dirty="0">
                <a:solidFill>
                  <a:srgbClr val="FF0000"/>
                </a:solidFill>
              </a:rPr>
              <a:t>, </a:t>
            </a:r>
            <a:r>
              <a:rPr lang="en-US" sz="1200" dirty="0"/>
              <a:t>26(12), 14(13), 24(13),</a:t>
            </a:r>
            <a:r>
              <a:rPr lang="en-US" sz="1200" dirty="0">
                <a:solidFill>
                  <a:srgbClr val="00B050"/>
                </a:solidFill>
              </a:rPr>
              <a:t>8(13)</a:t>
            </a:r>
            <a:r>
              <a:rPr lang="en-US" sz="1200" dirty="0"/>
              <a:t>, 20(14), 23(15), 15(16), 22(16), </a:t>
            </a:r>
            <a:r>
              <a:rPr lang="en-US" sz="1200" dirty="0">
                <a:solidFill>
                  <a:srgbClr val="00B050"/>
                </a:solidFill>
              </a:rPr>
              <a:t>9(16)</a:t>
            </a:r>
            <a:r>
              <a:rPr lang="en-US" sz="1200" dirty="0"/>
              <a:t>, 21(18)]</a:t>
            </a:r>
          </a:p>
          <a:p>
            <a:pPr marL="571500" indent="-533400" eaLnBrk="1" hangingPunct="1">
              <a:lnSpc>
                <a:spcPct val="90000"/>
              </a:lnSpc>
              <a:spcBef>
                <a:spcPts val="463"/>
              </a:spcBef>
              <a:buSzPct val="99000"/>
              <a:buFont typeface="Wingdings" charset="2"/>
              <a:buAutoNum type="arabicPeriod"/>
            </a:pPr>
            <a:r>
              <a:rPr lang="en-US" sz="1200" dirty="0">
                <a:solidFill>
                  <a:srgbClr val="FF0000"/>
                </a:solidFill>
              </a:rPr>
              <a:t>[</a:t>
            </a:r>
            <a:r>
              <a:rPr lang="en-US" sz="1200" dirty="0">
                <a:solidFill>
                  <a:srgbClr val="FF0000"/>
                </a:solidFill>
                <a:latin typeface="Arial Bold" charset="0"/>
                <a:cs typeface="Arial Bold" charset="0"/>
                <a:sym typeface="Arial Bold" charset="0"/>
              </a:rPr>
              <a:t>26(12)</a:t>
            </a:r>
            <a:r>
              <a:rPr lang="en-US" sz="1200" dirty="0">
                <a:solidFill>
                  <a:srgbClr val="FF0000"/>
                </a:solidFill>
              </a:rPr>
              <a:t>, </a:t>
            </a:r>
            <a:r>
              <a:rPr lang="en-US" sz="1200" dirty="0"/>
              <a:t>14(13), 24(13),8(13), 20(14), 23(15), 15(16), 22(16), 9(16), 21(18)]</a:t>
            </a:r>
          </a:p>
          <a:p>
            <a:pPr marL="571500" indent="-533400" eaLnBrk="1" hangingPunct="1">
              <a:lnSpc>
                <a:spcPct val="90000"/>
              </a:lnSpc>
              <a:spcBef>
                <a:spcPts val="463"/>
              </a:spcBef>
              <a:buSzPct val="99000"/>
              <a:buFont typeface="Wingdings" charset="2"/>
              <a:buAutoNum type="arabicPeriod"/>
            </a:pPr>
            <a:r>
              <a:rPr lang="en-US" sz="1200" dirty="0">
                <a:solidFill>
                  <a:srgbClr val="FF0000"/>
                </a:solidFill>
              </a:rPr>
              <a:t>[</a:t>
            </a:r>
            <a:r>
              <a:rPr lang="en-US" sz="1200" dirty="0">
                <a:solidFill>
                  <a:srgbClr val="FF0000"/>
                </a:solidFill>
                <a:latin typeface="Arial Bold" charset="0"/>
                <a:cs typeface="Arial Bold" charset="0"/>
                <a:sym typeface="Arial Bold" charset="0"/>
              </a:rPr>
              <a:t>14(13)</a:t>
            </a:r>
            <a:r>
              <a:rPr lang="en-US" sz="1200" dirty="0">
                <a:solidFill>
                  <a:srgbClr val="FF0000"/>
                </a:solidFill>
              </a:rPr>
              <a:t>, </a:t>
            </a:r>
            <a:r>
              <a:rPr lang="en-US" sz="1200" dirty="0"/>
              <a:t>24(13),8(13), 20(14), 23(15), 15(16), 22(16), 9(16), 21(18)]</a:t>
            </a:r>
          </a:p>
          <a:p>
            <a:pPr marL="571500" indent="-533400" eaLnBrk="1" hangingPunct="1">
              <a:lnSpc>
                <a:spcPct val="90000"/>
              </a:lnSpc>
              <a:spcBef>
                <a:spcPts val="463"/>
              </a:spcBef>
              <a:buSzPct val="99000"/>
              <a:buFont typeface="Wingdings" charset="2"/>
              <a:buAutoNum type="arabicPeriod"/>
            </a:pPr>
            <a:r>
              <a:rPr lang="en-US" sz="1200" dirty="0">
                <a:solidFill>
                  <a:srgbClr val="FF0000"/>
                </a:solidFill>
              </a:rPr>
              <a:t>[</a:t>
            </a:r>
            <a:r>
              <a:rPr lang="en-US" sz="1200" dirty="0">
                <a:solidFill>
                  <a:srgbClr val="FF0000"/>
                </a:solidFill>
                <a:latin typeface="Arial Bold" charset="0"/>
                <a:cs typeface="Arial Bold" charset="0"/>
                <a:sym typeface="Arial Bold" charset="0"/>
              </a:rPr>
              <a:t>24(13)</a:t>
            </a:r>
            <a:r>
              <a:rPr lang="en-US" sz="1200" dirty="0">
                <a:solidFill>
                  <a:srgbClr val="FF0000"/>
                </a:solidFill>
              </a:rPr>
              <a:t>,</a:t>
            </a:r>
            <a:r>
              <a:rPr lang="en-US" sz="1200" dirty="0"/>
              <a:t>8(13), 20(14), 23(15), 15(16), 22(16), 9(16), </a:t>
            </a:r>
            <a:r>
              <a:rPr lang="en-US" sz="1200" dirty="0">
                <a:solidFill>
                  <a:srgbClr val="00B050"/>
                </a:solidFill>
              </a:rPr>
              <a:t>29(16)</a:t>
            </a:r>
            <a:r>
              <a:rPr lang="en-US" sz="1200" dirty="0"/>
              <a:t>,21(18), </a:t>
            </a:r>
            <a:r>
              <a:rPr lang="en-US" sz="1200" dirty="0">
                <a:solidFill>
                  <a:srgbClr val="00B050"/>
                </a:solidFill>
              </a:rPr>
              <a:t>28(21)</a:t>
            </a:r>
            <a:r>
              <a:rPr lang="en-US" sz="1200" dirty="0"/>
              <a:t>]</a:t>
            </a:r>
          </a:p>
          <a:p>
            <a:pPr marL="571500" indent="-533400" eaLnBrk="1" hangingPunct="1">
              <a:lnSpc>
                <a:spcPct val="90000"/>
              </a:lnSpc>
              <a:spcBef>
                <a:spcPts val="463"/>
              </a:spcBef>
              <a:buFont typeface="Wingdings" charset="2"/>
              <a:buNone/>
            </a:pPr>
            <a:r>
              <a:rPr lang="en-US" sz="1200" dirty="0">
                <a:latin typeface="Arial Italic" charset="0"/>
                <a:sym typeface="Arial Italic" charset="0"/>
              </a:rPr>
              <a:t>	</a:t>
            </a:r>
            <a:r>
              <a:rPr lang="en-US" sz="1200" dirty="0">
                <a:solidFill>
                  <a:srgbClr val="FC0128"/>
                </a:solidFill>
                <a:latin typeface="Arial Italic" charset="0"/>
                <a:cs typeface="Arial Italic" charset="0"/>
                <a:sym typeface="Arial Italic" charset="0"/>
              </a:rPr>
              <a:t>Goal reached!</a:t>
            </a:r>
            <a:endParaRPr lang="en-US" sz="1200" dirty="0">
              <a:solidFill>
                <a:srgbClr val="FC0128"/>
              </a:solidFill>
              <a:latin typeface="Arial Italic" charset="0"/>
              <a:sym typeface="Arial Italic" charset="0"/>
            </a:endParaRPr>
          </a:p>
          <a:p>
            <a:pPr marL="571500" indent="-533400" eaLnBrk="1" hangingPunct="1">
              <a:lnSpc>
                <a:spcPct val="90000"/>
              </a:lnSpc>
              <a:spcBef>
                <a:spcPts val="463"/>
              </a:spcBef>
              <a:buSzPct val="99000"/>
              <a:buFont typeface="Wingdings" charset="2"/>
              <a:buAutoNum type="arabicPeriod" startAt="17"/>
            </a:pPr>
            <a:endParaRPr lang="en-US" sz="1200" dirty="0">
              <a:latin typeface="Arial Italic" charset="0"/>
              <a:sym typeface="Arial Italic" charset="0"/>
            </a:endParaRPr>
          </a:p>
          <a:p>
            <a:pPr marL="571500" indent="-533400" eaLnBrk="1" hangingPunct="1">
              <a:lnSpc>
                <a:spcPct val="90000"/>
              </a:lnSpc>
              <a:spcBef>
                <a:spcPts val="463"/>
              </a:spcBef>
              <a:buFont typeface="Wingdings" charset="2"/>
              <a:buNone/>
            </a:pPr>
            <a:r>
              <a:rPr lang="en-US" sz="1400" dirty="0">
                <a:latin typeface="Arial Italic" charset="0"/>
                <a:cs typeface="Arial Italic" charset="0"/>
                <a:sym typeface="Arial Italic" charset="0"/>
              </a:rPr>
              <a:t>Notation: </a:t>
            </a:r>
            <a:r>
              <a:rPr lang="en-US" sz="1400" dirty="0"/>
              <a:t>[</a:t>
            </a:r>
            <a:r>
              <a:rPr lang="en-US" sz="1400" dirty="0">
                <a:solidFill>
                  <a:srgbClr val="FF0000"/>
                </a:solidFill>
                <a:latin typeface="Arial Bold" charset="0"/>
                <a:sym typeface="Arial Bold" charset="0"/>
              </a:rPr>
              <a:t>Red:</a:t>
            </a:r>
            <a:r>
              <a:rPr lang="en-US" sz="1400" dirty="0">
                <a:solidFill>
                  <a:srgbClr val="FF0000"/>
                </a:solidFill>
                <a:latin typeface="Arial Bold" charset="0"/>
                <a:cs typeface="Arial Bold" charset="0"/>
                <a:sym typeface="Arial Bold" charset="0"/>
              </a:rPr>
              <a:t> Current Node</a:t>
            </a:r>
            <a:r>
              <a:rPr lang="en-US" sz="1400" dirty="0"/>
              <a:t>; Black: Old Fringe Node; </a:t>
            </a:r>
            <a:r>
              <a:rPr lang="en-US" sz="1400" dirty="0">
                <a:solidFill>
                  <a:srgbClr val="00B050"/>
                </a:solidFill>
                <a:latin typeface="Arial Italic" charset="0"/>
                <a:cs typeface="Arial Italic" charset="0"/>
                <a:sym typeface="Arial Italic" charset="0"/>
              </a:rPr>
              <a:t>Green: New Fringe Node</a:t>
            </a:r>
            <a:r>
              <a:rPr lang="en-US" sz="1400" dirty="0"/>
              <a:t>].</a:t>
            </a:r>
          </a:p>
          <a:p>
            <a:pPr marL="571500" indent="-533400" eaLnBrk="1" hangingPunct="1">
              <a:lnSpc>
                <a:spcPct val="90000"/>
              </a:lnSpc>
              <a:spcBef>
                <a:spcPts val="463"/>
              </a:spcBef>
              <a:buFont typeface="Wingdings" charset="2"/>
              <a:buNone/>
            </a:pPr>
            <a:r>
              <a:rPr lang="en-US" sz="1400" dirty="0">
                <a:latin typeface="Arial Italic" charset="0"/>
                <a:cs typeface="Arial Italic" charset="0"/>
                <a:sym typeface="Arial Italic" charset="0"/>
              </a:rPr>
              <a:t>Assumption: </a:t>
            </a:r>
            <a:r>
              <a:rPr lang="en-US" sz="1400" dirty="0"/>
              <a:t>New  nodes  with  the  same  cost as  existing  nodes  are added  after  the  existing  node.</a:t>
            </a: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noChangeArrowheads="1"/>
          </p:cNvSpPr>
          <p:nvPr>
            <p:ph type="title"/>
          </p:nvPr>
        </p:nvSpPr>
        <p:spPr/>
        <p:txBody>
          <a:bodyPr rIns="130174"/>
          <a:lstStyle/>
          <a:p>
            <a:pPr indent="0" eaLnBrk="1" hangingPunct="1">
              <a:defRPr/>
            </a:pPr>
            <a:r>
              <a:rPr lang="en-US"/>
              <a:t>Breadth-First vs. Uniform-Cost</a:t>
            </a:r>
          </a:p>
        </p:txBody>
      </p:sp>
      <p:sp>
        <p:nvSpPr>
          <p:cNvPr id="92165" name="Rectangle 4"/>
          <p:cNvSpPr>
            <a:spLocks noGrp="1" noChangeArrowheads="1"/>
          </p:cNvSpPr>
          <p:nvPr>
            <p:ph type="body" idx="1"/>
          </p:nvPr>
        </p:nvSpPr>
        <p:spPr/>
        <p:txBody>
          <a:bodyPr rIns="130174"/>
          <a:lstStyle/>
          <a:p>
            <a:pPr eaLnBrk="1" hangingPunct="1">
              <a:lnSpc>
                <a:spcPct val="90000"/>
              </a:lnSpc>
            </a:pPr>
            <a:r>
              <a:rPr lang="en-US" dirty="0"/>
              <a:t>Breadth-first always expands the shallowest node</a:t>
            </a:r>
          </a:p>
          <a:p>
            <a:pPr marL="723900" lvl="1" eaLnBrk="1" hangingPunct="1">
              <a:lnSpc>
                <a:spcPct val="90000"/>
              </a:lnSpc>
            </a:pPr>
            <a:r>
              <a:rPr lang="en-US" dirty="0"/>
              <a:t>only optimal if all step costs are equal</a:t>
            </a:r>
          </a:p>
          <a:p>
            <a:pPr eaLnBrk="1" hangingPunct="1">
              <a:lnSpc>
                <a:spcPct val="90000"/>
              </a:lnSpc>
            </a:pPr>
            <a:r>
              <a:rPr lang="en-US" dirty="0"/>
              <a:t>Uniform-cost considers the overall path cost</a:t>
            </a:r>
          </a:p>
          <a:p>
            <a:pPr marL="723900" lvl="1" eaLnBrk="1" hangingPunct="1">
              <a:lnSpc>
                <a:spcPct val="90000"/>
              </a:lnSpc>
            </a:pPr>
            <a:r>
              <a:rPr lang="en-US" dirty="0"/>
              <a:t>optimal for any (reasonable) cost function</a:t>
            </a:r>
          </a:p>
          <a:p>
            <a:pPr marL="1066800" lvl="2" eaLnBrk="1" hangingPunct="1">
              <a:lnSpc>
                <a:spcPct val="90000"/>
              </a:lnSpc>
            </a:pPr>
            <a:r>
              <a:rPr lang="en-US" dirty="0"/>
              <a:t>non-zero, positive</a:t>
            </a:r>
          </a:p>
          <a:p>
            <a:pPr marL="1066800" lvl="2" eaLnBrk="1" hangingPunct="1">
              <a:lnSpc>
                <a:spcPct val="90000"/>
              </a:lnSpc>
            </a:pPr>
            <a:endParaRPr lang="en-US" dirty="0"/>
          </a:p>
          <a:p>
            <a:pPr eaLnBrk="1" hangingPunct="1">
              <a:lnSpc>
                <a:spcPct val="90000"/>
              </a:lnSpc>
            </a:pPr>
            <a:r>
              <a:rPr lang="en-US" dirty="0"/>
              <a:t>Both are complete for non-extreme problems</a:t>
            </a:r>
          </a:p>
          <a:p>
            <a:pPr marL="723900" lvl="1" eaLnBrk="1" hangingPunct="1">
              <a:lnSpc>
                <a:spcPct val="90000"/>
              </a:lnSpc>
            </a:pPr>
            <a:r>
              <a:rPr lang="en-US" dirty="0"/>
              <a:t>finite number of branches</a:t>
            </a:r>
          </a:p>
          <a:p>
            <a:pPr marL="723900" lvl="1" eaLnBrk="1" hangingPunct="1">
              <a:lnSpc>
                <a:spcPct val="90000"/>
              </a:lnSpc>
            </a:pPr>
            <a:r>
              <a:rPr lang="en-US" dirty="0"/>
              <a:t>strictly positive search function</a:t>
            </a: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 First Search</a:t>
            </a:r>
          </a:p>
        </p:txBody>
      </p:sp>
      <p:pic>
        <p:nvPicPr>
          <p:cNvPr id="169986" name="Picture 2"/>
          <p:cNvPicPr>
            <a:picLocks noGrp="1" noChangeAspect="1" noChangeArrowheads="1"/>
          </p:cNvPicPr>
          <p:nvPr>
            <p:ph sz="quarter" idx="1"/>
          </p:nvPr>
        </p:nvPicPr>
        <p:blipFill>
          <a:blip r:embed="rId2"/>
          <a:stretch>
            <a:fillRect/>
          </a:stretch>
        </p:blipFill>
        <p:spPr bwMode="auto">
          <a:xfrm>
            <a:off x="1303154" y="1527175"/>
            <a:ext cx="6501180" cy="4572000"/>
          </a:xfrm>
          <a:prstGeom prst="rect">
            <a:avLst/>
          </a:prstGeom>
          <a:noFill/>
          <a:ln w="9525">
            <a:noFill/>
            <a:miter lim="800000"/>
            <a:headEnd/>
            <a:tailEnd/>
          </a:ln>
          <a:effec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 First Search</a:t>
            </a:r>
          </a:p>
        </p:txBody>
      </p:sp>
      <p:sp>
        <p:nvSpPr>
          <p:cNvPr id="3" name="Content Placeholder 2"/>
          <p:cNvSpPr>
            <a:spLocks noGrp="1"/>
          </p:cNvSpPr>
          <p:nvPr>
            <p:ph sz="quarter" idx="1"/>
          </p:nvPr>
        </p:nvSpPr>
        <p:spPr>
          <a:xfrm>
            <a:off x="301752" y="1676400"/>
            <a:ext cx="8503920" cy="4422648"/>
          </a:xfrm>
        </p:spPr>
        <p:txBody>
          <a:bodyPr/>
          <a:lstStyle/>
          <a:p>
            <a:r>
              <a:rPr lang="en-US" dirty="0"/>
              <a:t>Always expand deepest node in the current fringe of the search tree.</a:t>
            </a:r>
          </a:p>
          <a:p>
            <a:r>
              <a:rPr lang="en-US" dirty="0"/>
              <a:t>The search proceeds immediately to the deepest level of the search tree, where the nodes have no successors.</a:t>
            </a:r>
          </a:p>
          <a:p>
            <a:r>
              <a:rPr lang="en-US" dirty="0"/>
              <a:t>As those nodes are expanded, they are dropped from the fringe, so then the search backs up to the next shallowest node that still has unexplored successors.</a:t>
            </a:r>
          </a:p>
          <a:p>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2"/>
          </p:nvPr>
        </p:nvSpPr>
        <p:spPr>
          <a:noFill/>
        </p:spPr>
        <p:txBody>
          <a:bodyPr/>
          <a:lstStyle/>
          <a:p>
            <a:fld id="{9D328A7F-70FB-4C61-8D95-B7F8BC7ED7D2}" type="slidenum">
              <a:rPr lang="en-US"/>
              <a:pPr/>
              <a:t>119</a:t>
            </a:fld>
            <a:endParaRPr lang="en-US"/>
          </a:p>
        </p:txBody>
      </p:sp>
      <p:pic>
        <p:nvPicPr>
          <p:cNvPr id="25603" name="Picture 2"/>
          <p:cNvPicPr>
            <a:picLocks noChangeAspect="1" noChangeArrowheads="1"/>
          </p:cNvPicPr>
          <p:nvPr/>
        </p:nvPicPr>
        <p:blipFill>
          <a:blip r:embed="rId3"/>
          <a:srcRect l="3906" t="12500" r="3906" b="7292"/>
          <a:stretch>
            <a:fillRect/>
          </a:stretch>
        </p:blipFill>
        <p:spPr bwMode="auto">
          <a:xfrm>
            <a:off x="0" y="0"/>
            <a:ext cx="9144000" cy="5967413"/>
          </a:xfrm>
          <a:prstGeom prst="rect">
            <a:avLst/>
          </a:prstGeom>
          <a:noFill/>
          <a:ln w="12700">
            <a:noFill/>
            <a:miter lim="800000"/>
            <a:headEnd/>
            <a:tailEnd/>
          </a:ln>
        </p:spPr>
      </p:pic>
      <p:sp>
        <p:nvSpPr>
          <p:cNvPr id="4" name="TextBox 3"/>
          <p:cNvSpPr txBox="1"/>
          <p:nvPr/>
        </p:nvSpPr>
        <p:spPr>
          <a:xfrm>
            <a:off x="6934200" y="2743200"/>
            <a:ext cx="1919816" cy="830997"/>
          </a:xfrm>
          <a:prstGeom prst="rect">
            <a:avLst/>
          </a:prstGeom>
          <a:noFill/>
        </p:spPr>
        <p:txBody>
          <a:bodyPr wrap="none" rtlCol="0">
            <a:spAutoFit/>
          </a:bodyPr>
          <a:lstStyle/>
          <a:p>
            <a:r>
              <a:rPr lang="en-US" b="1" dirty="0">
                <a:solidFill>
                  <a:srgbClr val="3333CC"/>
                </a:solidFill>
              </a:rPr>
              <a:t>Fringe stack:</a:t>
            </a:r>
          </a:p>
          <a:p>
            <a:r>
              <a:rPr lang="en-US" b="1" dirty="0">
                <a:solidFill>
                  <a:srgbClr val="3333CC"/>
                </a:solidFill>
              </a:rPr>
              <a:t>          A</a:t>
            </a:r>
          </a:p>
        </p:txBody>
      </p:sp>
      <p:sp>
        <p:nvSpPr>
          <p:cNvPr id="5" name="TextBox 4"/>
          <p:cNvSpPr txBox="1"/>
          <p:nvPr/>
        </p:nvSpPr>
        <p:spPr>
          <a:xfrm>
            <a:off x="7162800" y="3810000"/>
            <a:ext cx="2057400" cy="2308324"/>
          </a:xfrm>
          <a:prstGeom prst="rect">
            <a:avLst/>
          </a:prstGeom>
          <a:noFill/>
        </p:spPr>
        <p:txBody>
          <a:bodyPr wrap="square" rtlCol="0">
            <a:spAutoFit/>
          </a:bodyPr>
          <a:lstStyle/>
          <a:p>
            <a:r>
              <a:rPr lang="en-US" b="1" dirty="0">
                <a:solidFill>
                  <a:schemeClr val="accent2"/>
                </a:solidFill>
              </a:rPr>
              <a:t>Expanding A, </a:t>
            </a:r>
          </a:p>
          <a:p>
            <a:r>
              <a:rPr lang="en-US" b="1" dirty="0">
                <a:solidFill>
                  <a:schemeClr val="accent2"/>
                </a:solidFill>
              </a:rPr>
              <a:t>gives stack:</a:t>
            </a:r>
          </a:p>
          <a:p>
            <a:r>
              <a:rPr lang="en-US" b="1" dirty="0">
                <a:solidFill>
                  <a:schemeClr val="accent2"/>
                </a:solidFill>
              </a:rPr>
              <a:t>      B</a:t>
            </a:r>
          </a:p>
          <a:p>
            <a:r>
              <a:rPr lang="en-US" b="1" dirty="0">
                <a:solidFill>
                  <a:schemeClr val="accent2"/>
                </a:solidFill>
              </a:rPr>
              <a:t>      C</a:t>
            </a:r>
          </a:p>
          <a:p>
            <a:endParaRPr lang="en-US" dirty="0"/>
          </a:p>
          <a:p>
            <a:r>
              <a:rPr lang="en-US" b="1" dirty="0"/>
              <a:t>So, B next.</a:t>
            </a: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12"/>
          </p:nvPr>
        </p:nvSpPr>
        <p:spPr>
          <a:noFill/>
        </p:spPr>
        <p:txBody>
          <a:bodyPr/>
          <a:lstStyle/>
          <a:p>
            <a:fld id="{CE288751-9CFB-402C-BA4B-0CE3AF84C565}" type="slidenum">
              <a:rPr lang="en-US"/>
              <a:pPr/>
              <a:t>120</a:t>
            </a:fld>
            <a:endParaRPr lang="en-US"/>
          </a:p>
        </p:txBody>
      </p:sp>
      <p:pic>
        <p:nvPicPr>
          <p:cNvPr id="26627" name="Picture 2"/>
          <p:cNvPicPr>
            <a:picLocks noChangeAspect="1" noChangeArrowheads="1"/>
          </p:cNvPicPr>
          <p:nvPr/>
        </p:nvPicPr>
        <p:blipFill>
          <a:blip r:embed="rId3"/>
          <a:srcRect l="2344" t="11458" r="3125" b="7292"/>
          <a:stretch>
            <a:fillRect/>
          </a:stretch>
        </p:blipFill>
        <p:spPr bwMode="auto">
          <a:xfrm>
            <a:off x="0" y="0"/>
            <a:ext cx="9220200" cy="5943600"/>
          </a:xfrm>
          <a:prstGeom prst="rect">
            <a:avLst/>
          </a:prstGeom>
          <a:noFill/>
          <a:ln w="12700">
            <a:noFill/>
            <a:miter lim="800000"/>
            <a:headEnd/>
            <a:tailEnd/>
          </a:ln>
        </p:spPr>
      </p:pic>
      <p:sp>
        <p:nvSpPr>
          <p:cNvPr id="4" name="Rectangle 3"/>
          <p:cNvSpPr/>
          <p:nvPr/>
        </p:nvSpPr>
        <p:spPr>
          <a:xfrm>
            <a:off x="6553200" y="2514600"/>
            <a:ext cx="2438400" cy="2031325"/>
          </a:xfrm>
          <a:prstGeom prst="rect">
            <a:avLst/>
          </a:prstGeom>
        </p:spPr>
        <p:txBody>
          <a:bodyPr wrap="square">
            <a:spAutoFit/>
          </a:bodyPr>
          <a:lstStyle/>
          <a:p>
            <a:r>
              <a:rPr lang="en-US" b="1" dirty="0">
                <a:solidFill>
                  <a:schemeClr val="accent2"/>
                </a:solidFill>
              </a:rPr>
              <a:t>Expanding B, gives stack:</a:t>
            </a:r>
          </a:p>
          <a:p>
            <a:r>
              <a:rPr lang="en-US" b="1" dirty="0">
                <a:solidFill>
                  <a:schemeClr val="accent2"/>
                </a:solidFill>
              </a:rPr>
              <a:t>      D</a:t>
            </a:r>
          </a:p>
          <a:p>
            <a:r>
              <a:rPr lang="en-US" b="1" dirty="0">
                <a:solidFill>
                  <a:schemeClr val="accent2"/>
                </a:solidFill>
              </a:rPr>
              <a:t>      E</a:t>
            </a:r>
          </a:p>
          <a:p>
            <a:r>
              <a:rPr lang="en-US" b="1" dirty="0">
                <a:solidFill>
                  <a:schemeClr val="accent2"/>
                </a:solidFill>
              </a:rPr>
              <a:t>      C</a:t>
            </a:r>
          </a:p>
          <a:p>
            <a:endParaRPr lang="en-US" b="1" dirty="0">
              <a:solidFill>
                <a:schemeClr val="accent2"/>
              </a:solidFill>
            </a:endParaRPr>
          </a:p>
          <a:p>
            <a:r>
              <a:rPr lang="en-US" b="1" dirty="0">
                <a:solidFill>
                  <a:schemeClr val="tx2"/>
                </a:solidFill>
              </a:rPr>
              <a:t>So, D next.</a:t>
            </a: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p:cNvSpPr>
            <a:spLocks noGrp="1"/>
          </p:cNvSpPr>
          <p:nvPr>
            <p:ph type="sldNum" sz="quarter" idx="12"/>
          </p:nvPr>
        </p:nvSpPr>
        <p:spPr>
          <a:noFill/>
        </p:spPr>
        <p:txBody>
          <a:bodyPr/>
          <a:lstStyle/>
          <a:p>
            <a:fld id="{EC36FD73-5B2F-44CD-B84D-D63A81EC7921}" type="slidenum">
              <a:rPr lang="en-US"/>
              <a:pPr/>
              <a:t>121</a:t>
            </a:fld>
            <a:endParaRPr lang="en-US"/>
          </a:p>
        </p:txBody>
      </p:sp>
      <p:pic>
        <p:nvPicPr>
          <p:cNvPr id="27651" name="Picture 2"/>
          <p:cNvPicPr>
            <a:picLocks noChangeAspect="1" noChangeArrowheads="1"/>
          </p:cNvPicPr>
          <p:nvPr/>
        </p:nvPicPr>
        <p:blipFill>
          <a:blip r:embed="rId3"/>
          <a:srcRect l="3125" t="10417" r="6250" b="7292"/>
          <a:stretch>
            <a:fillRect/>
          </a:stretch>
        </p:blipFill>
        <p:spPr bwMode="auto">
          <a:xfrm>
            <a:off x="0" y="228600"/>
            <a:ext cx="8839200" cy="5999163"/>
          </a:xfrm>
          <a:prstGeom prst="rect">
            <a:avLst/>
          </a:prstGeom>
          <a:noFill/>
          <a:ln w="12700">
            <a:noFill/>
            <a:miter lim="800000"/>
            <a:headEnd/>
            <a:tailEnd/>
          </a:ln>
        </p:spPr>
      </p:pic>
      <p:sp>
        <p:nvSpPr>
          <p:cNvPr id="4" name="Rectangle 3"/>
          <p:cNvSpPr/>
          <p:nvPr/>
        </p:nvSpPr>
        <p:spPr>
          <a:xfrm>
            <a:off x="6553200" y="1676400"/>
            <a:ext cx="2819400" cy="2585323"/>
          </a:xfrm>
          <a:prstGeom prst="rect">
            <a:avLst/>
          </a:prstGeom>
        </p:spPr>
        <p:txBody>
          <a:bodyPr wrap="square">
            <a:spAutoFit/>
          </a:bodyPr>
          <a:lstStyle/>
          <a:p>
            <a:r>
              <a:rPr lang="en-US" b="1" dirty="0">
                <a:solidFill>
                  <a:schemeClr val="accent2"/>
                </a:solidFill>
              </a:rPr>
              <a:t>Expanding D, gives stack:</a:t>
            </a:r>
          </a:p>
          <a:p>
            <a:r>
              <a:rPr lang="en-US" b="1" dirty="0">
                <a:solidFill>
                  <a:schemeClr val="accent2"/>
                </a:solidFill>
              </a:rPr>
              <a:t>      H</a:t>
            </a:r>
          </a:p>
          <a:p>
            <a:r>
              <a:rPr lang="en-US" b="1" dirty="0">
                <a:solidFill>
                  <a:schemeClr val="accent2"/>
                </a:solidFill>
              </a:rPr>
              <a:t>       I</a:t>
            </a:r>
          </a:p>
          <a:p>
            <a:r>
              <a:rPr lang="en-US" b="1" dirty="0">
                <a:solidFill>
                  <a:schemeClr val="accent2"/>
                </a:solidFill>
              </a:rPr>
              <a:t>      E</a:t>
            </a:r>
          </a:p>
          <a:p>
            <a:r>
              <a:rPr lang="en-US" b="1" dirty="0">
                <a:solidFill>
                  <a:schemeClr val="accent2"/>
                </a:solidFill>
              </a:rPr>
              <a:t>      C</a:t>
            </a:r>
          </a:p>
          <a:p>
            <a:endParaRPr lang="en-US" b="1" dirty="0">
              <a:solidFill>
                <a:schemeClr val="accent2"/>
              </a:solidFill>
            </a:endParaRPr>
          </a:p>
          <a:p>
            <a:r>
              <a:rPr lang="en-US" b="1" dirty="0">
                <a:solidFill>
                  <a:srgbClr val="000000"/>
                </a:solidFill>
              </a:rPr>
              <a:t>So, H next.</a:t>
            </a:r>
          </a:p>
          <a:p>
            <a:r>
              <a:rPr lang="en-US" b="1" dirty="0">
                <a:solidFill>
                  <a:srgbClr val="000000"/>
                </a:solidFill>
              </a:rPr>
              <a:t>etc.</a:t>
            </a: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2"/>
          </p:nvPr>
        </p:nvSpPr>
        <p:spPr>
          <a:noFill/>
        </p:spPr>
        <p:txBody>
          <a:bodyPr/>
          <a:lstStyle/>
          <a:p>
            <a:fld id="{C6F0890E-21B9-4E0C-B475-44425A4DA4A9}" type="slidenum">
              <a:rPr lang="en-US"/>
              <a:pPr/>
              <a:t>122</a:t>
            </a:fld>
            <a:endParaRPr lang="en-US"/>
          </a:p>
        </p:txBody>
      </p:sp>
      <p:pic>
        <p:nvPicPr>
          <p:cNvPr id="28675" name="Picture 2"/>
          <p:cNvPicPr>
            <a:picLocks noChangeAspect="1" noChangeArrowheads="1"/>
          </p:cNvPicPr>
          <p:nvPr/>
        </p:nvPicPr>
        <p:blipFill>
          <a:blip r:embed="rId3"/>
          <a:srcRect l="3125" t="11458" r="3906" b="9375"/>
          <a:stretch>
            <a:fillRect/>
          </a:stretch>
        </p:blipFill>
        <p:spPr bwMode="auto">
          <a:xfrm>
            <a:off x="0" y="0"/>
            <a:ext cx="9144000" cy="5840413"/>
          </a:xfrm>
          <a:prstGeom prst="rect">
            <a:avLst/>
          </a:prstGeom>
          <a:noFill/>
          <a:ln w="12700">
            <a:noFill/>
            <a:miter lim="800000"/>
            <a:headEnd/>
            <a:tailEnd/>
          </a:ln>
        </p:spPr>
      </p:pic>
      <p:sp>
        <p:nvSpPr>
          <p:cNvPr id="4" name="Rectangle 3"/>
          <p:cNvSpPr/>
          <p:nvPr/>
        </p:nvSpPr>
        <p:spPr>
          <a:xfrm>
            <a:off x="6553200" y="1676400"/>
            <a:ext cx="2819400" cy="2308324"/>
          </a:xfrm>
          <a:prstGeom prst="rect">
            <a:avLst/>
          </a:prstGeom>
        </p:spPr>
        <p:txBody>
          <a:bodyPr wrap="square">
            <a:spAutoFit/>
          </a:bodyPr>
          <a:lstStyle/>
          <a:p>
            <a:r>
              <a:rPr lang="en-US" b="1" dirty="0">
                <a:solidFill>
                  <a:schemeClr val="accent2"/>
                </a:solidFill>
              </a:rPr>
              <a:t>Expanding H, gives stack:</a:t>
            </a:r>
          </a:p>
          <a:p>
            <a:r>
              <a:rPr lang="en-US" b="1" dirty="0">
                <a:solidFill>
                  <a:schemeClr val="accent2"/>
                </a:solidFill>
              </a:rPr>
              <a:t>       I</a:t>
            </a:r>
          </a:p>
          <a:p>
            <a:r>
              <a:rPr lang="en-US" b="1" dirty="0">
                <a:solidFill>
                  <a:schemeClr val="accent2"/>
                </a:solidFill>
              </a:rPr>
              <a:t>      E</a:t>
            </a:r>
          </a:p>
          <a:p>
            <a:r>
              <a:rPr lang="en-US" b="1" dirty="0">
                <a:solidFill>
                  <a:schemeClr val="accent2"/>
                </a:solidFill>
              </a:rPr>
              <a:t>      C</a:t>
            </a:r>
          </a:p>
          <a:p>
            <a:endParaRPr lang="en-US" b="1" dirty="0">
              <a:solidFill>
                <a:schemeClr val="accent2"/>
              </a:solidFill>
            </a:endParaRPr>
          </a:p>
          <a:p>
            <a:r>
              <a:rPr lang="en-US" b="1" dirty="0">
                <a:solidFill>
                  <a:srgbClr val="000000"/>
                </a:solidFill>
              </a:rPr>
              <a:t>So, I next.</a:t>
            </a:r>
          </a:p>
          <a:p>
            <a:r>
              <a:rPr lang="en-US" b="1" dirty="0">
                <a:solidFill>
                  <a:srgbClr val="000000"/>
                </a:solidFill>
              </a:rPr>
              <a:t>etc.</a:t>
            </a: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p:cNvSpPr>
            <a:spLocks noGrp="1"/>
          </p:cNvSpPr>
          <p:nvPr>
            <p:ph type="sldNum" sz="quarter" idx="12"/>
          </p:nvPr>
        </p:nvSpPr>
        <p:spPr>
          <a:noFill/>
        </p:spPr>
        <p:txBody>
          <a:bodyPr/>
          <a:lstStyle/>
          <a:p>
            <a:fld id="{E8834325-DEB8-426C-BAD9-88BDB716EED7}" type="slidenum">
              <a:rPr lang="en-US"/>
              <a:pPr/>
              <a:t>123</a:t>
            </a:fld>
            <a:endParaRPr lang="en-US"/>
          </a:p>
        </p:txBody>
      </p:sp>
      <p:pic>
        <p:nvPicPr>
          <p:cNvPr id="29699" name="Picture 2"/>
          <p:cNvPicPr>
            <a:picLocks noChangeAspect="1" noChangeArrowheads="1"/>
          </p:cNvPicPr>
          <p:nvPr/>
        </p:nvPicPr>
        <p:blipFill>
          <a:blip r:embed="rId3"/>
          <a:srcRect l="3125" t="12500" r="4688" b="8333"/>
          <a:stretch>
            <a:fillRect/>
          </a:stretch>
        </p:blipFill>
        <p:spPr bwMode="auto">
          <a:xfrm>
            <a:off x="0" y="0"/>
            <a:ext cx="9144000" cy="5889625"/>
          </a:xfrm>
          <a:prstGeom prst="rect">
            <a:avLst/>
          </a:prstGeom>
          <a:noFill/>
          <a:ln w="12700">
            <a:noFill/>
            <a:miter lim="800000"/>
            <a:headEnd/>
            <a:tailEnd/>
          </a:ln>
        </p:spPr>
      </p:pic>
      <p:sp>
        <p:nvSpPr>
          <p:cNvPr id="4" name="Rectangle 3"/>
          <p:cNvSpPr/>
          <p:nvPr/>
        </p:nvSpPr>
        <p:spPr>
          <a:xfrm>
            <a:off x="6553200" y="1676400"/>
            <a:ext cx="2819400" cy="2031325"/>
          </a:xfrm>
          <a:prstGeom prst="rect">
            <a:avLst/>
          </a:prstGeom>
        </p:spPr>
        <p:txBody>
          <a:bodyPr wrap="square">
            <a:spAutoFit/>
          </a:bodyPr>
          <a:lstStyle/>
          <a:p>
            <a:r>
              <a:rPr lang="en-US" b="1" dirty="0">
                <a:solidFill>
                  <a:schemeClr val="accent2"/>
                </a:solidFill>
              </a:rPr>
              <a:t>Expanding I, gives stack:</a:t>
            </a:r>
          </a:p>
          <a:p>
            <a:r>
              <a:rPr lang="en-US" b="1" dirty="0">
                <a:solidFill>
                  <a:schemeClr val="accent2"/>
                </a:solidFill>
              </a:rPr>
              <a:t>      E</a:t>
            </a:r>
          </a:p>
          <a:p>
            <a:r>
              <a:rPr lang="en-US" b="1" dirty="0">
                <a:solidFill>
                  <a:schemeClr val="accent2"/>
                </a:solidFill>
              </a:rPr>
              <a:t>      C</a:t>
            </a:r>
          </a:p>
          <a:p>
            <a:endParaRPr lang="en-US" b="1" dirty="0">
              <a:solidFill>
                <a:schemeClr val="accent2"/>
              </a:solidFill>
            </a:endParaRPr>
          </a:p>
          <a:p>
            <a:r>
              <a:rPr lang="en-US" b="1" dirty="0">
                <a:solidFill>
                  <a:srgbClr val="000000"/>
                </a:solidFill>
              </a:rPr>
              <a:t>So, E next.</a:t>
            </a:r>
          </a:p>
          <a:p>
            <a:r>
              <a:rPr lang="en-US" b="1" dirty="0">
                <a:solidFill>
                  <a:srgbClr val="000000"/>
                </a:solidFill>
              </a:rPr>
              <a:t>etc.</a:t>
            </a: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p:cNvSpPr>
            <a:spLocks noGrp="1"/>
          </p:cNvSpPr>
          <p:nvPr>
            <p:ph type="sldNum" sz="quarter" idx="12"/>
          </p:nvPr>
        </p:nvSpPr>
        <p:spPr>
          <a:noFill/>
        </p:spPr>
        <p:txBody>
          <a:bodyPr/>
          <a:lstStyle/>
          <a:p>
            <a:fld id="{09A793CB-45A5-462F-9C23-FA0086350116}" type="slidenum">
              <a:rPr lang="en-US"/>
              <a:pPr/>
              <a:t>124</a:t>
            </a:fld>
            <a:endParaRPr lang="en-US"/>
          </a:p>
        </p:txBody>
      </p:sp>
      <p:pic>
        <p:nvPicPr>
          <p:cNvPr id="30723" name="Picture 2"/>
          <p:cNvPicPr>
            <a:picLocks noChangeAspect="1" noChangeArrowheads="1"/>
          </p:cNvPicPr>
          <p:nvPr/>
        </p:nvPicPr>
        <p:blipFill>
          <a:blip r:embed="rId3"/>
          <a:srcRect l="3125" t="11458" r="3906" b="8333"/>
          <a:stretch>
            <a:fillRect/>
          </a:stretch>
        </p:blipFill>
        <p:spPr bwMode="auto">
          <a:xfrm>
            <a:off x="0" y="0"/>
            <a:ext cx="9144000" cy="5916613"/>
          </a:xfrm>
          <a:prstGeom prst="rect">
            <a:avLst/>
          </a:prstGeom>
          <a:noFill/>
          <a:ln w="12700">
            <a:noFill/>
            <a:miter lim="800000"/>
            <a:headEnd/>
            <a:tailEnd/>
          </a:ln>
        </p:spPr>
      </p:pic>
      <p:sp>
        <p:nvSpPr>
          <p:cNvPr id="4" name="Rectangle 3"/>
          <p:cNvSpPr/>
          <p:nvPr/>
        </p:nvSpPr>
        <p:spPr>
          <a:xfrm>
            <a:off x="6553200" y="2514600"/>
            <a:ext cx="2438400" cy="2031325"/>
          </a:xfrm>
          <a:prstGeom prst="rect">
            <a:avLst/>
          </a:prstGeom>
        </p:spPr>
        <p:txBody>
          <a:bodyPr wrap="square">
            <a:spAutoFit/>
          </a:bodyPr>
          <a:lstStyle/>
          <a:p>
            <a:r>
              <a:rPr lang="en-US" b="1" dirty="0">
                <a:solidFill>
                  <a:schemeClr val="accent2"/>
                </a:solidFill>
              </a:rPr>
              <a:t>Expanding  E, gives stack:</a:t>
            </a:r>
          </a:p>
          <a:p>
            <a:r>
              <a:rPr lang="en-US" b="1" dirty="0">
                <a:solidFill>
                  <a:schemeClr val="accent2"/>
                </a:solidFill>
              </a:rPr>
              <a:t>      J</a:t>
            </a:r>
          </a:p>
          <a:p>
            <a:r>
              <a:rPr lang="en-US" b="1" dirty="0">
                <a:solidFill>
                  <a:schemeClr val="accent2"/>
                </a:solidFill>
              </a:rPr>
              <a:t>      K</a:t>
            </a:r>
          </a:p>
          <a:p>
            <a:r>
              <a:rPr lang="en-US" b="1" dirty="0">
                <a:solidFill>
                  <a:schemeClr val="accent2"/>
                </a:solidFill>
              </a:rPr>
              <a:t>      C</a:t>
            </a:r>
          </a:p>
          <a:p>
            <a:endParaRPr lang="en-US" b="1" dirty="0">
              <a:solidFill>
                <a:schemeClr val="accent2"/>
              </a:solidFill>
            </a:endParaRPr>
          </a:p>
          <a:p>
            <a:r>
              <a:rPr lang="en-US" b="1" dirty="0">
                <a:solidFill>
                  <a:schemeClr val="tx2"/>
                </a:solidFill>
              </a:rPr>
              <a:t>So, J next.</a:t>
            </a: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p:cNvSpPr>
            <a:spLocks noGrp="1"/>
          </p:cNvSpPr>
          <p:nvPr>
            <p:ph type="sldNum" sz="quarter" idx="12"/>
          </p:nvPr>
        </p:nvSpPr>
        <p:spPr>
          <a:noFill/>
        </p:spPr>
        <p:txBody>
          <a:bodyPr/>
          <a:lstStyle/>
          <a:p>
            <a:fld id="{572FBEFD-EC5A-4FE2-87E3-9FCD5322FD8D}" type="slidenum">
              <a:rPr lang="en-US"/>
              <a:pPr/>
              <a:t>125</a:t>
            </a:fld>
            <a:endParaRPr lang="en-US"/>
          </a:p>
        </p:txBody>
      </p:sp>
      <p:pic>
        <p:nvPicPr>
          <p:cNvPr id="31747" name="Picture 2"/>
          <p:cNvPicPr>
            <a:picLocks noChangeAspect="1" noChangeArrowheads="1"/>
          </p:cNvPicPr>
          <p:nvPr/>
        </p:nvPicPr>
        <p:blipFill>
          <a:blip r:embed="rId3"/>
          <a:srcRect l="3125" t="11458" r="3906" b="11458"/>
          <a:stretch>
            <a:fillRect/>
          </a:stretch>
        </p:blipFill>
        <p:spPr bwMode="auto">
          <a:xfrm>
            <a:off x="0" y="0"/>
            <a:ext cx="9144000" cy="5686425"/>
          </a:xfrm>
          <a:prstGeom prst="rect">
            <a:avLst/>
          </a:prstGeom>
          <a:noFill/>
          <a:ln w="12700">
            <a:noFill/>
            <a:miter lim="800000"/>
            <a:headEnd/>
            <a:tailEnd/>
          </a:ln>
        </p:spPr>
      </p:pic>
      <p:sp>
        <p:nvSpPr>
          <p:cNvPr id="4" name="Rectangle 3"/>
          <p:cNvSpPr/>
          <p:nvPr/>
        </p:nvSpPr>
        <p:spPr>
          <a:xfrm>
            <a:off x="6553200" y="2514600"/>
            <a:ext cx="2438400" cy="1754326"/>
          </a:xfrm>
          <a:prstGeom prst="rect">
            <a:avLst/>
          </a:prstGeom>
        </p:spPr>
        <p:txBody>
          <a:bodyPr wrap="square">
            <a:spAutoFit/>
          </a:bodyPr>
          <a:lstStyle/>
          <a:p>
            <a:r>
              <a:rPr lang="en-US" b="1" dirty="0">
                <a:solidFill>
                  <a:schemeClr val="accent2"/>
                </a:solidFill>
              </a:rPr>
              <a:t>Expanding  J, gives stack:</a:t>
            </a:r>
          </a:p>
          <a:p>
            <a:r>
              <a:rPr lang="en-US" b="1" dirty="0">
                <a:solidFill>
                  <a:schemeClr val="accent2"/>
                </a:solidFill>
              </a:rPr>
              <a:t>      K</a:t>
            </a:r>
          </a:p>
          <a:p>
            <a:r>
              <a:rPr lang="en-US" b="1" dirty="0">
                <a:solidFill>
                  <a:schemeClr val="accent2"/>
                </a:solidFill>
              </a:rPr>
              <a:t>      C</a:t>
            </a:r>
          </a:p>
          <a:p>
            <a:endParaRPr lang="en-US" b="1" dirty="0">
              <a:solidFill>
                <a:schemeClr val="accent2"/>
              </a:solidFill>
            </a:endParaRPr>
          </a:p>
          <a:p>
            <a:r>
              <a:rPr lang="en-US" b="1" dirty="0">
                <a:solidFill>
                  <a:schemeClr val="tx2"/>
                </a:solidFill>
              </a:rPr>
              <a:t>So, K next.</a:t>
            </a: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p:cNvSpPr>
            <a:spLocks noGrp="1"/>
          </p:cNvSpPr>
          <p:nvPr>
            <p:ph type="sldNum" sz="quarter" idx="12"/>
          </p:nvPr>
        </p:nvSpPr>
        <p:spPr>
          <a:noFill/>
        </p:spPr>
        <p:txBody>
          <a:bodyPr/>
          <a:lstStyle/>
          <a:p>
            <a:fld id="{DF06D2A1-F454-44E9-B76D-503742F7A40B}" type="slidenum">
              <a:rPr lang="en-US"/>
              <a:pPr/>
              <a:t>126</a:t>
            </a:fld>
            <a:endParaRPr lang="en-US"/>
          </a:p>
        </p:txBody>
      </p:sp>
      <p:pic>
        <p:nvPicPr>
          <p:cNvPr id="32771" name="Picture 2"/>
          <p:cNvPicPr>
            <a:picLocks noChangeAspect="1" noChangeArrowheads="1"/>
          </p:cNvPicPr>
          <p:nvPr/>
        </p:nvPicPr>
        <p:blipFill>
          <a:blip r:embed="rId3"/>
          <a:srcRect l="3125" t="12500" r="6250" b="7292"/>
          <a:stretch>
            <a:fillRect/>
          </a:stretch>
        </p:blipFill>
        <p:spPr bwMode="auto">
          <a:xfrm>
            <a:off x="0" y="0"/>
            <a:ext cx="9144000" cy="6069013"/>
          </a:xfrm>
          <a:prstGeom prst="rect">
            <a:avLst/>
          </a:prstGeom>
          <a:noFill/>
          <a:ln w="12700">
            <a:noFill/>
            <a:miter lim="800000"/>
            <a:headEnd/>
            <a:tailEnd/>
          </a:ln>
        </p:spPr>
      </p:pic>
      <p:sp>
        <p:nvSpPr>
          <p:cNvPr id="4" name="Rectangle 3"/>
          <p:cNvSpPr/>
          <p:nvPr/>
        </p:nvSpPr>
        <p:spPr>
          <a:xfrm>
            <a:off x="6553200" y="2514600"/>
            <a:ext cx="2438400" cy="1754326"/>
          </a:xfrm>
          <a:prstGeom prst="rect">
            <a:avLst/>
          </a:prstGeom>
        </p:spPr>
        <p:txBody>
          <a:bodyPr wrap="square">
            <a:spAutoFit/>
          </a:bodyPr>
          <a:lstStyle/>
          <a:p>
            <a:r>
              <a:rPr lang="en-US" b="1" dirty="0">
                <a:solidFill>
                  <a:schemeClr val="accent2"/>
                </a:solidFill>
              </a:rPr>
              <a:t>Expanding  C, gives stack:</a:t>
            </a:r>
          </a:p>
          <a:p>
            <a:r>
              <a:rPr lang="en-US" b="1" dirty="0">
                <a:solidFill>
                  <a:schemeClr val="accent2"/>
                </a:solidFill>
              </a:rPr>
              <a:t>   F</a:t>
            </a:r>
          </a:p>
          <a:p>
            <a:r>
              <a:rPr lang="en-US" b="1" dirty="0">
                <a:solidFill>
                  <a:schemeClr val="accent2"/>
                </a:solidFill>
              </a:rPr>
              <a:t>   G</a:t>
            </a:r>
          </a:p>
          <a:p>
            <a:endParaRPr lang="en-US" b="1" dirty="0">
              <a:solidFill>
                <a:schemeClr val="accent2"/>
              </a:solidFill>
            </a:endParaRPr>
          </a:p>
          <a:p>
            <a:r>
              <a:rPr lang="en-US" b="1" dirty="0">
                <a:solidFill>
                  <a:schemeClr val="tx2"/>
                </a:solidFill>
              </a:rPr>
              <a:t>So, F next.</a:t>
            </a: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20" name="Picture 5" descr="dfs-progress10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371600"/>
            <a:ext cx="5715000" cy="4724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Rectangle 2"/>
          <p:cNvSpPr/>
          <p:nvPr/>
        </p:nvSpPr>
        <p:spPr>
          <a:xfrm>
            <a:off x="6629400" y="2133600"/>
            <a:ext cx="2133600" cy="2031325"/>
          </a:xfrm>
          <a:prstGeom prst="rect">
            <a:avLst/>
          </a:prstGeom>
        </p:spPr>
        <p:txBody>
          <a:bodyPr wrap="square">
            <a:spAutoFit/>
          </a:bodyPr>
          <a:lstStyle/>
          <a:p>
            <a:r>
              <a:rPr lang="en-US" b="1" dirty="0">
                <a:solidFill>
                  <a:schemeClr val="accent2"/>
                </a:solidFill>
              </a:rPr>
              <a:t>Expanding  F, gives stack:</a:t>
            </a:r>
          </a:p>
          <a:p>
            <a:r>
              <a:rPr lang="en-US" b="1" dirty="0">
                <a:solidFill>
                  <a:schemeClr val="accent2"/>
                </a:solidFill>
              </a:rPr>
              <a:t>L</a:t>
            </a:r>
          </a:p>
          <a:p>
            <a:r>
              <a:rPr lang="en-US" b="1" dirty="0">
                <a:solidFill>
                  <a:schemeClr val="accent2"/>
                </a:solidFill>
              </a:rPr>
              <a:t>M</a:t>
            </a:r>
          </a:p>
          <a:p>
            <a:r>
              <a:rPr lang="en-US" b="1" dirty="0">
                <a:solidFill>
                  <a:schemeClr val="accent2"/>
                </a:solidFill>
              </a:rPr>
              <a:t>G</a:t>
            </a:r>
          </a:p>
          <a:p>
            <a:endParaRPr lang="en-US" b="1" dirty="0">
              <a:solidFill>
                <a:schemeClr val="accent2"/>
              </a:solidFill>
            </a:endParaRPr>
          </a:p>
          <a:p>
            <a:r>
              <a:rPr lang="en-US" b="1" dirty="0">
                <a:solidFill>
                  <a:schemeClr val="tx2"/>
                </a:solidFill>
              </a:rPr>
              <a:t>So, L next.</a:t>
            </a:r>
          </a:p>
        </p:txBody>
      </p:sp>
      <p:sp>
        <p:nvSpPr>
          <p:cNvPr id="5" name="Title 1"/>
          <p:cNvSpPr>
            <a:spLocks noGrp="1"/>
          </p:cNvSpPr>
          <p:nvPr>
            <p:ph type="title"/>
          </p:nvPr>
        </p:nvSpPr>
        <p:spPr>
          <a:xfrm>
            <a:off x="301752" y="228600"/>
            <a:ext cx="8534400" cy="758952"/>
          </a:xfrm>
        </p:spPr>
        <p:txBody>
          <a:bodyPr/>
          <a:lstStyle/>
          <a:p>
            <a:r>
              <a:rPr lang="en-US" dirty="0"/>
              <a:t>Depth First Search</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4" name="Picture 5" descr="dfs-progress11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286000"/>
            <a:ext cx="5181600" cy="3009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Rectangle 2"/>
          <p:cNvSpPr/>
          <p:nvPr/>
        </p:nvSpPr>
        <p:spPr>
          <a:xfrm>
            <a:off x="6629400" y="2133600"/>
            <a:ext cx="2133600" cy="1754326"/>
          </a:xfrm>
          <a:prstGeom prst="rect">
            <a:avLst/>
          </a:prstGeom>
        </p:spPr>
        <p:txBody>
          <a:bodyPr wrap="square">
            <a:spAutoFit/>
          </a:bodyPr>
          <a:lstStyle/>
          <a:p>
            <a:r>
              <a:rPr lang="en-US" b="1" dirty="0">
                <a:solidFill>
                  <a:schemeClr val="accent2"/>
                </a:solidFill>
              </a:rPr>
              <a:t>Expanding  L, gives stack:</a:t>
            </a:r>
          </a:p>
          <a:p>
            <a:r>
              <a:rPr lang="en-US" b="1" dirty="0">
                <a:solidFill>
                  <a:schemeClr val="accent2"/>
                </a:solidFill>
              </a:rPr>
              <a:t>M</a:t>
            </a:r>
          </a:p>
          <a:p>
            <a:r>
              <a:rPr lang="en-US" b="1" dirty="0">
                <a:solidFill>
                  <a:schemeClr val="accent2"/>
                </a:solidFill>
              </a:rPr>
              <a:t>G</a:t>
            </a:r>
          </a:p>
          <a:p>
            <a:endParaRPr lang="en-US" b="1" dirty="0">
              <a:solidFill>
                <a:schemeClr val="accent2"/>
              </a:solidFill>
            </a:endParaRPr>
          </a:p>
          <a:p>
            <a:r>
              <a:rPr lang="en-US" b="1" dirty="0">
                <a:solidFill>
                  <a:schemeClr val="tx2"/>
                </a:solidFill>
              </a:rPr>
              <a:t>So, M next.</a:t>
            </a:r>
          </a:p>
        </p:txBody>
      </p:sp>
      <p:sp>
        <p:nvSpPr>
          <p:cNvPr id="4" name="Title 1"/>
          <p:cNvSpPr>
            <a:spLocks noGrp="1"/>
          </p:cNvSpPr>
          <p:nvPr>
            <p:ph type="title"/>
          </p:nvPr>
        </p:nvSpPr>
        <p:spPr>
          <a:xfrm>
            <a:off x="301752" y="228600"/>
            <a:ext cx="8534400" cy="758952"/>
          </a:xfrm>
        </p:spPr>
        <p:txBody>
          <a:bodyPr/>
          <a:lstStyle/>
          <a:p>
            <a:r>
              <a:rPr lang="en-US" dirty="0"/>
              <a:t>Depth First Search</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8" name="Picture 5" descr="dfs-progress12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905000"/>
            <a:ext cx="5181600" cy="3505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3"/>
          <p:cNvSpPr/>
          <p:nvPr/>
        </p:nvSpPr>
        <p:spPr>
          <a:xfrm>
            <a:off x="6629400" y="2133600"/>
            <a:ext cx="2133600" cy="1754326"/>
          </a:xfrm>
          <a:prstGeom prst="rect">
            <a:avLst/>
          </a:prstGeom>
        </p:spPr>
        <p:txBody>
          <a:bodyPr wrap="square">
            <a:spAutoFit/>
          </a:bodyPr>
          <a:lstStyle/>
          <a:p>
            <a:r>
              <a:rPr lang="en-US" b="1" dirty="0">
                <a:solidFill>
                  <a:schemeClr val="accent2"/>
                </a:solidFill>
              </a:rPr>
              <a:t>Expanding  m, gives stack:</a:t>
            </a:r>
          </a:p>
          <a:p>
            <a:endParaRPr lang="en-US" b="1" dirty="0">
              <a:solidFill>
                <a:schemeClr val="accent2"/>
              </a:solidFill>
            </a:endParaRPr>
          </a:p>
          <a:p>
            <a:r>
              <a:rPr lang="en-US" b="1" dirty="0">
                <a:solidFill>
                  <a:schemeClr val="accent2"/>
                </a:solidFill>
              </a:rPr>
              <a:t>G</a:t>
            </a:r>
          </a:p>
          <a:p>
            <a:endParaRPr lang="en-US" b="1" dirty="0">
              <a:solidFill>
                <a:schemeClr val="accent2"/>
              </a:solidFill>
            </a:endParaRPr>
          </a:p>
          <a:p>
            <a:r>
              <a:rPr lang="en-US" b="1" dirty="0">
                <a:solidFill>
                  <a:schemeClr val="tx2"/>
                </a:solidFill>
              </a:rPr>
              <a:t>So, G next.</a:t>
            </a:r>
          </a:p>
        </p:txBody>
      </p:sp>
      <p:sp>
        <p:nvSpPr>
          <p:cNvPr id="6" name="Title 1"/>
          <p:cNvSpPr>
            <a:spLocks noGrp="1"/>
          </p:cNvSpPr>
          <p:nvPr>
            <p:ph type="title"/>
          </p:nvPr>
        </p:nvSpPr>
        <p:spPr>
          <a:xfrm>
            <a:off x="301752" y="228600"/>
            <a:ext cx="8534400" cy="758952"/>
          </a:xfrm>
        </p:spPr>
        <p:txBody>
          <a:bodyPr/>
          <a:lstStyle/>
          <a:p>
            <a:r>
              <a:rPr lang="en-US" dirty="0"/>
              <a:t>Depth First Search</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34" name="Rectangle 10"/>
          <p:cNvSpPr>
            <a:spLocks noGrp="1" noChangeArrowheads="1"/>
          </p:cNvSpPr>
          <p:nvPr>
            <p:ph type="title"/>
          </p:nvPr>
        </p:nvSpPr>
        <p:spPr/>
        <p:txBody>
          <a:bodyPr/>
          <a:lstStyle/>
          <a:p>
            <a:r>
              <a:rPr lang="en-US" dirty="0"/>
              <a:t>Depth-First Search </a:t>
            </a:r>
          </a:p>
        </p:txBody>
      </p:sp>
      <p:sp>
        <p:nvSpPr>
          <p:cNvPr id="77835" name="Rectangle 11"/>
          <p:cNvSpPr>
            <a:spLocks noGrp="1" noChangeArrowheads="1"/>
          </p:cNvSpPr>
          <p:nvPr>
            <p:ph sz="quarter" idx="1"/>
          </p:nvPr>
        </p:nvSpPr>
        <p:spPr/>
        <p:txBody>
          <a:bodyPr/>
          <a:lstStyle/>
          <a:p>
            <a:r>
              <a:rPr lang="en-US" dirty="0"/>
              <a:t>Continues exploring newly generated nodes</a:t>
            </a:r>
          </a:p>
          <a:p>
            <a:pPr lvl="1"/>
            <a:r>
              <a:rPr lang="en-US" dirty="0"/>
              <a:t>achieved by the GENERAL-SEARCH method by appending newly generated nodes at the beginning of the search queue</a:t>
            </a:r>
          </a:p>
        </p:txBody>
      </p:sp>
      <p:sp>
        <p:nvSpPr>
          <p:cNvPr id="77829" name="Rectangle 5"/>
          <p:cNvSpPr>
            <a:spLocks noChangeArrowheads="1"/>
          </p:cNvSpPr>
          <p:nvPr/>
        </p:nvSpPr>
        <p:spPr bwMode="auto">
          <a:xfrm>
            <a:off x="533400" y="3733800"/>
            <a:ext cx="7391400" cy="947738"/>
          </a:xfrm>
          <a:prstGeom prst="rect">
            <a:avLst/>
          </a:prstGeom>
          <a:solidFill>
            <a:srgbClr val="0099FF"/>
          </a:solidFill>
          <a:ln w="12700">
            <a:solidFill>
              <a:schemeClr val="bg2"/>
            </a:solidFill>
            <a:miter lim="800000"/>
            <a:headEnd/>
            <a:tailEnd/>
          </a:ln>
          <a:effectLst/>
        </p:spPr>
        <p:txBody>
          <a:bodyPr wrap="square">
            <a:spAutoFit/>
          </a:bodyPr>
          <a:lstStyle/>
          <a:p>
            <a:r>
              <a:rPr lang="en-US" sz="1800" b="1" dirty="0">
                <a:solidFill>
                  <a:schemeClr val="bg2"/>
                </a:solidFill>
                <a:latin typeface="Avant Garde" charset="0"/>
              </a:rPr>
              <a:t>function</a:t>
            </a:r>
            <a:r>
              <a:rPr lang="en-US" sz="1800" dirty="0">
                <a:solidFill>
                  <a:schemeClr val="bg2"/>
                </a:solidFill>
                <a:latin typeface="Avant Garde" charset="0"/>
              </a:rPr>
              <a:t> DEPTH-FIRST-SEARCH(</a:t>
            </a:r>
            <a:r>
              <a:rPr lang="en-US" sz="1800" i="1" dirty="0">
                <a:solidFill>
                  <a:schemeClr val="bg2"/>
                </a:solidFill>
                <a:latin typeface="Avant Garde" charset="0"/>
              </a:rPr>
              <a:t>problem</a:t>
            </a:r>
            <a:r>
              <a:rPr lang="en-US" sz="1800" dirty="0">
                <a:solidFill>
                  <a:schemeClr val="bg2"/>
                </a:solidFill>
                <a:latin typeface="Avant Garde" charset="0"/>
              </a:rPr>
              <a:t>) </a:t>
            </a:r>
            <a:r>
              <a:rPr lang="en-US" sz="1800" b="1" dirty="0">
                <a:solidFill>
                  <a:schemeClr val="bg2"/>
                </a:solidFill>
                <a:latin typeface="Avant Garde" charset="0"/>
              </a:rPr>
              <a:t>returns</a:t>
            </a:r>
            <a:r>
              <a:rPr lang="en-US" sz="1800" dirty="0">
                <a:solidFill>
                  <a:schemeClr val="bg2"/>
                </a:solidFill>
                <a:latin typeface="Avant Garde" charset="0"/>
              </a:rPr>
              <a:t> </a:t>
            </a:r>
            <a:r>
              <a:rPr lang="en-US" sz="1800" i="1" dirty="0">
                <a:solidFill>
                  <a:schemeClr val="bg2"/>
                </a:solidFill>
                <a:latin typeface="Avant Garde" charset="0"/>
              </a:rPr>
              <a:t>solution</a:t>
            </a:r>
            <a:endParaRPr lang="en-US" sz="1800" dirty="0">
              <a:solidFill>
                <a:schemeClr val="bg2"/>
              </a:solidFill>
              <a:latin typeface="Avant Garde" charset="0"/>
            </a:endParaRPr>
          </a:p>
          <a:p>
            <a:r>
              <a:rPr lang="en-US" sz="1800" dirty="0">
                <a:solidFill>
                  <a:schemeClr val="bg2"/>
                </a:solidFill>
                <a:latin typeface="Avant Garde" charset="0"/>
              </a:rPr>
              <a:t>	</a:t>
            </a:r>
            <a:endParaRPr lang="en-US" sz="1800" i="1" dirty="0">
              <a:solidFill>
                <a:schemeClr val="bg2"/>
              </a:solidFill>
              <a:latin typeface="Avant Garde" charset="0"/>
            </a:endParaRPr>
          </a:p>
          <a:p>
            <a:r>
              <a:rPr lang="en-US" sz="1800" i="1" dirty="0">
                <a:solidFill>
                  <a:schemeClr val="bg2"/>
                </a:solidFill>
                <a:latin typeface="Avant Garde" charset="0"/>
              </a:rPr>
              <a:t>	</a:t>
            </a:r>
            <a:r>
              <a:rPr lang="en-US" sz="1800" b="1" dirty="0">
                <a:solidFill>
                  <a:schemeClr val="bg2"/>
                </a:solidFill>
                <a:latin typeface="Avant Garde" charset="0"/>
              </a:rPr>
              <a:t>return </a:t>
            </a:r>
            <a:r>
              <a:rPr lang="en-US" sz="1800" dirty="0">
                <a:solidFill>
                  <a:schemeClr val="bg2"/>
                </a:solidFill>
                <a:latin typeface="Avant Garde" charset="0"/>
              </a:rPr>
              <a:t>GENERAL-SEARCH(</a:t>
            </a:r>
            <a:r>
              <a:rPr lang="en-US" sz="1800" i="1" dirty="0">
                <a:solidFill>
                  <a:schemeClr val="bg2"/>
                </a:solidFill>
                <a:latin typeface="Avant Garde" charset="0"/>
              </a:rPr>
              <a:t>problem, </a:t>
            </a:r>
            <a:r>
              <a:rPr lang="en-US" sz="1800" dirty="0">
                <a:solidFill>
                  <a:schemeClr val="bg2"/>
                </a:solidFill>
                <a:latin typeface="Avant Garde" charset="0"/>
              </a:rPr>
              <a:t>ENQUEUE-AT-FRONT)</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Search </a:t>
            </a:r>
          </a:p>
        </p:txBody>
      </p:sp>
      <p:pic>
        <p:nvPicPr>
          <p:cNvPr id="171010" name="Picture 2"/>
          <p:cNvPicPr>
            <a:picLocks noGrp="1" noChangeAspect="1" noChangeArrowheads="1"/>
          </p:cNvPicPr>
          <p:nvPr>
            <p:ph sz="quarter" idx="1"/>
          </p:nvPr>
        </p:nvPicPr>
        <p:blipFill>
          <a:blip r:embed="rId2"/>
          <a:stretch>
            <a:fillRect/>
          </a:stretch>
        </p:blipFill>
        <p:spPr bwMode="auto">
          <a:xfrm>
            <a:off x="1425325" y="1527175"/>
            <a:ext cx="6256837" cy="4572000"/>
          </a:xfrm>
          <a:prstGeom prst="rect">
            <a:avLst/>
          </a:prstGeom>
          <a:noFill/>
          <a:ln w="9525">
            <a:noFill/>
            <a:miter lim="800000"/>
            <a:headEnd/>
            <a:tailEnd/>
          </a:ln>
          <a:effectLst/>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Backtracking Search</a:t>
            </a:r>
          </a:p>
        </p:txBody>
      </p:sp>
      <p:sp>
        <p:nvSpPr>
          <p:cNvPr id="3" name="Content Placeholder 2"/>
          <p:cNvSpPr>
            <a:spLocks noGrp="1"/>
          </p:cNvSpPr>
          <p:nvPr>
            <p:ph sz="quarter" idx="1"/>
          </p:nvPr>
        </p:nvSpPr>
        <p:spPr>
          <a:xfrm>
            <a:off x="301752" y="1527048"/>
            <a:ext cx="8503920" cy="4645152"/>
          </a:xfrm>
        </p:spPr>
        <p:txBody>
          <a:bodyPr>
            <a:normAutofit lnSpcReduction="10000"/>
          </a:bodyPr>
          <a:lstStyle/>
          <a:p>
            <a:r>
              <a:rPr lang="en-US" dirty="0"/>
              <a:t>In backtracking, </a:t>
            </a:r>
            <a:r>
              <a:rPr lang="en-US" b="1" dirty="0"/>
              <a:t>only one successor is generated at a time rather than all successors</a:t>
            </a:r>
            <a:r>
              <a:rPr lang="en-US" dirty="0"/>
              <a:t>, each partially expanded node remembers which successor to generate next.</a:t>
            </a:r>
          </a:p>
          <a:p>
            <a:endParaRPr lang="en-US" dirty="0"/>
          </a:p>
          <a:p>
            <a:r>
              <a:rPr lang="en-US" dirty="0"/>
              <a:t>Only O(m) memory is needed rather than O(</a:t>
            </a:r>
            <a:r>
              <a:rPr lang="en-US" dirty="0" err="1"/>
              <a:t>bm</a:t>
            </a:r>
            <a:r>
              <a:rPr lang="en-US" dirty="0"/>
              <a:t>).</a:t>
            </a:r>
          </a:p>
          <a:p>
            <a:endParaRPr lang="en-US" dirty="0"/>
          </a:p>
          <a:p>
            <a:r>
              <a:rPr lang="en-US" b="1" dirty="0"/>
              <a:t>Drawback: </a:t>
            </a:r>
            <a:r>
              <a:rPr lang="en-US" dirty="0"/>
              <a:t>It can make a wrong choice and get stuck going down a very long (or even infinite) path when a different choice would lead to a solution near the root of the search tree.</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2"/>
          </p:nvPr>
        </p:nvSpPr>
        <p:spPr>
          <a:noFill/>
        </p:spPr>
        <p:txBody>
          <a:bodyPr/>
          <a:lstStyle/>
          <a:p>
            <a:fld id="{7FE39440-E3D1-4098-AE2B-A87C806A05A6}" type="slidenum">
              <a:rPr lang="en-US"/>
              <a:pPr/>
              <a:t>133</a:t>
            </a:fld>
            <a:endParaRPr lang="en-US"/>
          </a:p>
        </p:txBody>
      </p:sp>
      <p:sp>
        <p:nvSpPr>
          <p:cNvPr id="35843" name="Rectangle 2"/>
          <p:cNvSpPr>
            <a:spLocks noGrp="1" noChangeArrowheads="1"/>
          </p:cNvSpPr>
          <p:nvPr>
            <p:ph type="title"/>
          </p:nvPr>
        </p:nvSpPr>
        <p:spPr>
          <a:xfrm>
            <a:off x="301752" y="228600"/>
            <a:ext cx="8534400" cy="1524000"/>
          </a:xfrm>
        </p:spPr>
        <p:txBody>
          <a:bodyPr>
            <a:normAutofit/>
          </a:bodyPr>
          <a:lstStyle/>
          <a:p>
            <a:r>
              <a:rPr lang="en-US" dirty="0"/>
              <a:t>Depth limited Search</a:t>
            </a:r>
            <a:br>
              <a:rPr lang="en-US" sz="4900" dirty="0"/>
            </a:br>
            <a:endParaRPr lang="en-US" sz="4900" dirty="0"/>
          </a:p>
        </p:txBody>
      </p:sp>
      <p:sp>
        <p:nvSpPr>
          <p:cNvPr id="35844" name="Rectangle 3"/>
          <p:cNvSpPr>
            <a:spLocks noGrp="1" noChangeArrowheads="1"/>
          </p:cNvSpPr>
          <p:nvPr>
            <p:ph type="body" idx="1"/>
          </p:nvPr>
        </p:nvSpPr>
        <p:spPr>
          <a:xfrm>
            <a:off x="-228600" y="1524000"/>
            <a:ext cx="9067800" cy="4419600"/>
          </a:xfrm>
        </p:spPr>
        <p:txBody>
          <a:bodyPr/>
          <a:lstStyle/>
          <a:p>
            <a:pPr lvl="2" eaLnBrk="1" hangingPunct="1"/>
            <a:r>
              <a:rPr lang="en-US" sz="2400" dirty="0"/>
              <a:t>Select some limit in depth to explore the problem using DFS.</a:t>
            </a:r>
          </a:p>
          <a:p>
            <a:pPr lvl="2" eaLnBrk="1" hangingPunct="1"/>
            <a:endParaRPr lang="en-US" sz="2400" dirty="0"/>
          </a:p>
          <a:p>
            <a:pPr lvl="2" eaLnBrk="1" hangingPunct="1"/>
            <a:r>
              <a:rPr lang="en-US" sz="2400" dirty="0"/>
              <a:t>How do we select the limit?</a:t>
            </a:r>
          </a:p>
          <a:p>
            <a:pPr lvl="2" eaLnBrk="1" hangingPunct="1"/>
            <a:endParaRPr lang="en-US" sz="2400" dirty="0"/>
          </a:p>
          <a:p>
            <a:pPr lvl="2" eaLnBrk="1" hangingPunct="1"/>
            <a:r>
              <a:rPr lang="en-US" sz="2400" dirty="0"/>
              <a:t>This depth limit solves infinite path problems.</a:t>
            </a:r>
          </a:p>
          <a:p>
            <a:pPr lvl="2" eaLnBrk="1" hangingPunct="1"/>
            <a:endParaRPr lang="en-US" sz="2400" dirty="0"/>
          </a:p>
          <a:p>
            <a:pPr lvl="2" eaLnBrk="1" hangingPunct="1"/>
            <a:r>
              <a:rPr lang="en-US" sz="2400" dirty="0"/>
              <a:t>DFS  can be viewed as a special case of depth-limited search with l=infinity.</a:t>
            </a:r>
            <a:br>
              <a:rPr lang="en-US" dirty="0"/>
            </a:br>
            <a:endParaRPr lang="en-US" dirty="0"/>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990600"/>
          </a:xfrm>
        </p:spPr>
        <p:txBody>
          <a:bodyPr>
            <a:normAutofit fontScale="90000"/>
          </a:bodyPr>
          <a:lstStyle/>
          <a:p>
            <a:br>
              <a:rPr lang="en-US" dirty="0"/>
            </a:br>
            <a:endParaRPr lang="en-US" dirty="0"/>
          </a:p>
        </p:txBody>
      </p:sp>
      <p:sp>
        <p:nvSpPr>
          <p:cNvPr id="3" name="Content Placeholder 2"/>
          <p:cNvSpPr>
            <a:spLocks noGrp="1"/>
          </p:cNvSpPr>
          <p:nvPr>
            <p:ph sz="quarter" idx="1"/>
          </p:nvPr>
        </p:nvSpPr>
        <p:spPr/>
        <p:txBody>
          <a:bodyPr/>
          <a:lstStyle/>
          <a:p>
            <a:pPr lvl="2"/>
            <a:endParaRPr lang="en-US" dirty="0"/>
          </a:p>
          <a:p>
            <a:pPr lvl="2"/>
            <a:r>
              <a:rPr lang="en-US" dirty="0"/>
              <a:t>Sometimes, Depth limits can be based on knowledge of the problem.</a:t>
            </a:r>
          </a:p>
          <a:p>
            <a:pPr lvl="2"/>
            <a:endParaRPr lang="en-US" dirty="0"/>
          </a:p>
          <a:p>
            <a:pPr lvl="2"/>
            <a:r>
              <a:rPr lang="en-US" dirty="0"/>
              <a:t>Example : Holiday in Romania</a:t>
            </a:r>
          </a:p>
          <a:p>
            <a:pPr lvl="2">
              <a:buNone/>
            </a:pPr>
            <a:r>
              <a:rPr lang="en-US" dirty="0"/>
              <a:t>             20 cities present in map, if there is solution, it must be length of 19 at the longest, so l=19 is a possible choice.</a:t>
            </a:r>
          </a:p>
          <a:p>
            <a:pPr lvl="2">
              <a:buNone/>
            </a:pPr>
            <a:r>
              <a:rPr lang="en-US" dirty="0"/>
              <a:t>              But any city can be reached from any other city in at most 9 steps(Diameter of state space), which gives us better depth limit.</a:t>
            </a:r>
          </a:p>
          <a:p>
            <a:pPr lvl="2">
              <a:buNone/>
            </a:pPr>
            <a:endParaRPr lang="en-US" dirty="0"/>
          </a:p>
          <a:p>
            <a:pPr lvl="2">
              <a:buNone/>
            </a:pPr>
            <a:r>
              <a:rPr lang="en-US" dirty="0"/>
              <a:t>    For most problems, we will not know a good depth limit until we have solved the problem.</a:t>
            </a:r>
          </a:p>
          <a:p>
            <a:pPr lvl="2">
              <a:buNone/>
            </a:pPr>
            <a:endParaRPr lang="en-US" dirty="0"/>
          </a:p>
          <a:p>
            <a:pPr lvl="2">
              <a:buNone/>
            </a:pPr>
            <a:endParaRPr lang="en-US" dirty="0"/>
          </a:p>
        </p:txBody>
      </p:sp>
      <p:sp>
        <p:nvSpPr>
          <p:cNvPr id="5" name="Rectangle 2"/>
          <p:cNvSpPr txBox="1">
            <a:spLocks noChangeArrowheads="1"/>
          </p:cNvSpPr>
          <p:nvPr/>
        </p:nvSpPr>
        <p:spPr>
          <a:xfrm>
            <a:off x="301752" y="228600"/>
            <a:ext cx="8534400" cy="1524000"/>
          </a:xfrm>
          <a:prstGeom prst="rect">
            <a:avLst/>
          </a:prstGeom>
        </p:spPr>
        <p:txBody>
          <a:bodyPr vert="horz"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300" b="0" i="0" u="none" strike="noStrike" kern="1200" cap="none" spc="0" normalizeH="0" baseline="0" noProof="0">
                <a:ln>
                  <a:noFill/>
                </a:ln>
                <a:solidFill>
                  <a:schemeClr val="accent3">
                    <a:shade val="75000"/>
                  </a:schemeClr>
                </a:solidFill>
                <a:effectLst/>
                <a:uLnTx/>
                <a:uFillTx/>
                <a:latin typeface="+mj-lt"/>
                <a:ea typeface="+mj-ea"/>
                <a:cs typeface="+mj-cs"/>
              </a:rPr>
              <a:t>Depth limited Search</a:t>
            </a:r>
            <a:br>
              <a:rPr kumimoji="0" lang="en-US" sz="4900" b="0" i="0" u="none" strike="noStrike" kern="1200" cap="none" spc="0" normalizeH="0" baseline="0" noProof="0">
                <a:ln>
                  <a:noFill/>
                </a:ln>
                <a:solidFill>
                  <a:schemeClr val="accent3">
                    <a:shade val="75000"/>
                  </a:schemeClr>
                </a:solidFill>
                <a:effectLst/>
                <a:uLnTx/>
                <a:uFillTx/>
                <a:latin typeface="+mj-lt"/>
                <a:ea typeface="+mj-ea"/>
                <a:cs typeface="+mj-cs"/>
              </a:rPr>
            </a:br>
            <a:endParaRPr kumimoji="0" lang="en-US" sz="4900" b="0" i="0" u="none" strike="noStrike" kern="1200" cap="none" spc="0" normalizeH="0" baseline="0" noProof="0" dirty="0">
              <a:ln>
                <a:noFill/>
              </a:ln>
              <a:solidFill>
                <a:schemeClr val="accent3">
                  <a:shade val="75000"/>
                </a:schemeClr>
              </a:solidFill>
              <a:effectLst/>
              <a:uLnTx/>
              <a:uFillTx/>
              <a:latin typeface="+mj-lt"/>
              <a:ea typeface="+mj-ea"/>
              <a:cs typeface="+mj-cs"/>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1371600"/>
          </a:xfrm>
        </p:spPr>
        <p:txBody>
          <a:bodyPr>
            <a:normAutofit/>
          </a:bodyPr>
          <a:lstStyle/>
          <a:p>
            <a:r>
              <a:rPr lang="en-US" dirty="0"/>
              <a:t>Iterative deepening</a:t>
            </a:r>
            <a:br>
              <a:rPr lang="en-US" dirty="0"/>
            </a:br>
            <a:endParaRPr lang="en-US" dirty="0"/>
          </a:p>
        </p:txBody>
      </p:sp>
      <p:sp>
        <p:nvSpPr>
          <p:cNvPr id="3" name="Content Placeholder 2"/>
          <p:cNvSpPr>
            <a:spLocks noGrp="1"/>
          </p:cNvSpPr>
          <p:nvPr>
            <p:ph sz="quarter" idx="1"/>
          </p:nvPr>
        </p:nvSpPr>
        <p:spPr/>
        <p:txBody>
          <a:bodyPr>
            <a:noAutofit/>
          </a:bodyPr>
          <a:lstStyle/>
          <a:p>
            <a:pPr lvl="2"/>
            <a:r>
              <a:rPr lang="en-US" sz="2800" dirty="0"/>
              <a:t>Iterative deepening depth first search</a:t>
            </a:r>
          </a:p>
          <a:p>
            <a:pPr lvl="2"/>
            <a:r>
              <a:rPr lang="en-US" sz="2800" dirty="0"/>
              <a:t>General strategy used in combination with depth first search, that’s finds the best depth limit.</a:t>
            </a:r>
          </a:p>
          <a:p>
            <a:pPr lvl="2"/>
            <a:r>
              <a:rPr lang="en-US" sz="2800" dirty="0"/>
              <a:t>It does this gradually increasing the limit- first 0, then 1, then 2 and so on- until a goal is found. </a:t>
            </a:r>
          </a:p>
          <a:p>
            <a:pPr lvl="2"/>
            <a:endParaRPr lang="en-US" sz="2800" dirty="0"/>
          </a:p>
          <a:p>
            <a:pPr lvl="2"/>
            <a:r>
              <a:rPr lang="en-US" sz="2800" dirty="0"/>
              <a:t>DFS with depth 1</a:t>
            </a:r>
          </a:p>
          <a:p>
            <a:pPr lvl="2"/>
            <a:r>
              <a:rPr lang="en-US" sz="2800" dirty="0"/>
              <a:t>DFS with depth 2 up to depth d</a:t>
            </a:r>
          </a:p>
          <a:p>
            <a:endParaRPr lang="en-US" sz="28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l="14844" t="18750" r="3125" b="51042"/>
          <a:stretch>
            <a:fillRect/>
          </a:stretch>
        </p:blipFill>
        <p:spPr bwMode="auto">
          <a:xfrm>
            <a:off x="553756" y="1981200"/>
            <a:ext cx="7999976" cy="29367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5" name="Title 1"/>
          <p:cNvSpPr>
            <a:spLocks noGrp="1"/>
          </p:cNvSpPr>
          <p:nvPr>
            <p:ph type="title"/>
          </p:nvPr>
        </p:nvSpPr>
        <p:spPr>
          <a:xfrm>
            <a:off x="301752" y="228600"/>
            <a:ext cx="8534400" cy="1143000"/>
          </a:xfrm>
        </p:spPr>
        <p:txBody>
          <a:bodyPr>
            <a:normAutofit/>
          </a:bodyPr>
          <a:lstStyle/>
          <a:p>
            <a:r>
              <a:rPr lang="en-US" dirty="0"/>
              <a:t>Iterative deepening</a:t>
            </a:r>
            <a:br>
              <a:rPr lang="en-US" dirty="0"/>
            </a:br>
            <a:endParaRPr lang="en-US" dirty="0"/>
          </a:p>
        </p:txBody>
      </p:sp>
      <p:sp>
        <p:nvSpPr>
          <p:cNvPr id="6" name="TextBox 5"/>
          <p:cNvSpPr txBox="1"/>
          <p:nvPr/>
        </p:nvSpPr>
        <p:spPr>
          <a:xfrm>
            <a:off x="1371600" y="5257800"/>
            <a:ext cx="5486400" cy="646331"/>
          </a:xfrm>
          <a:prstGeom prst="rect">
            <a:avLst/>
          </a:prstGeom>
          <a:noFill/>
        </p:spPr>
        <p:txBody>
          <a:bodyPr wrap="square" rtlCol="0">
            <a:spAutoFit/>
          </a:bodyPr>
          <a:lstStyle/>
          <a:p>
            <a:r>
              <a:rPr lang="en-US" b="1" dirty="0"/>
              <a:t>Failure</a:t>
            </a:r>
            <a:r>
              <a:rPr lang="en-US" dirty="0"/>
              <a:t> :  indicate no solution</a:t>
            </a:r>
          </a:p>
          <a:p>
            <a:r>
              <a:rPr lang="en-US" b="1" dirty="0"/>
              <a:t>Cutoff </a:t>
            </a:r>
            <a:r>
              <a:rPr lang="en-US" dirty="0"/>
              <a:t>  : No solution within the depth limit</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p:txBody>
          <a:bodyPr/>
          <a:lstStyle/>
          <a:p>
            <a:pPr eaLnBrk="1" hangingPunct="1">
              <a:defRPr/>
            </a:pPr>
            <a:r>
              <a:rPr lang="en-US" sz="2800">
                <a:cs typeface="+mj-cs"/>
              </a:rPr>
              <a:t>Iterative deepening search </a:t>
            </a:r>
            <a:r>
              <a:rPr lang="en-US" sz="2800" i="1">
                <a:cs typeface="+mj-cs"/>
              </a:rPr>
              <a:t>l </a:t>
            </a:r>
            <a:r>
              <a:rPr lang="en-US" sz="2800">
                <a:cs typeface="+mj-cs"/>
              </a:rPr>
              <a:t>=0</a:t>
            </a:r>
          </a:p>
        </p:txBody>
      </p:sp>
      <p:pic>
        <p:nvPicPr>
          <p:cNvPr id="235522" name="Picture 2"/>
          <p:cNvPicPr>
            <a:picLocks noChangeAspect="1" noChangeArrowheads="1"/>
          </p:cNvPicPr>
          <p:nvPr/>
        </p:nvPicPr>
        <p:blipFill>
          <a:blip r:embed="rId2"/>
          <a:srcRect/>
          <a:stretch>
            <a:fillRect/>
          </a:stretch>
        </p:blipFill>
        <p:spPr bwMode="auto">
          <a:xfrm>
            <a:off x="1600200" y="2438400"/>
            <a:ext cx="4410075" cy="1366838"/>
          </a:xfrm>
          <a:prstGeom prst="rect">
            <a:avLst/>
          </a:prstGeom>
          <a:noFill/>
          <a:ln w="9525">
            <a:noFill/>
            <a:miter lim="800000"/>
            <a:headEnd/>
            <a:tailEnd/>
          </a:ln>
          <a:effectLst/>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82" name="Rectangle 2"/>
          <p:cNvSpPr>
            <a:spLocks noGrp="1" noChangeArrowheads="1"/>
          </p:cNvSpPr>
          <p:nvPr>
            <p:ph type="title"/>
          </p:nvPr>
        </p:nvSpPr>
        <p:spPr/>
        <p:txBody>
          <a:bodyPr/>
          <a:lstStyle/>
          <a:p>
            <a:pPr eaLnBrk="1" hangingPunct="1">
              <a:defRPr/>
            </a:pPr>
            <a:r>
              <a:rPr lang="en-US" sz="2800">
                <a:cs typeface="+mj-cs"/>
              </a:rPr>
              <a:t>Iterative deepening search </a:t>
            </a:r>
            <a:r>
              <a:rPr lang="en-US" sz="2800" i="1">
                <a:cs typeface="+mj-cs"/>
              </a:rPr>
              <a:t>l </a:t>
            </a:r>
            <a:r>
              <a:rPr lang="en-US" sz="2800">
                <a:cs typeface="+mj-cs"/>
              </a:rPr>
              <a:t>=1</a:t>
            </a:r>
          </a:p>
        </p:txBody>
      </p:sp>
      <p:pic>
        <p:nvPicPr>
          <p:cNvPr id="236546" name="Picture 2"/>
          <p:cNvPicPr>
            <a:picLocks noChangeAspect="1" noChangeArrowheads="1"/>
          </p:cNvPicPr>
          <p:nvPr/>
        </p:nvPicPr>
        <p:blipFill>
          <a:blip r:embed="rId2"/>
          <a:srcRect/>
          <a:stretch>
            <a:fillRect/>
          </a:stretch>
        </p:blipFill>
        <p:spPr bwMode="auto">
          <a:xfrm>
            <a:off x="776288" y="2209800"/>
            <a:ext cx="7591425" cy="1905000"/>
          </a:xfrm>
          <a:prstGeom prst="rect">
            <a:avLst/>
          </a:prstGeom>
          <a:noFill/>
          <a:ln w="9525">
            <a:noFill/>
            <a:miter lim="800000"/>
            <a:headEnd/>
            <a:tailEnd/>
          </a:ln>
          <a:effectLst/>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1506" name="Rectangle 2"/>
          <p:cNvSpPr>
            <a:spLocks noGrp="1" noChangeArrowheads="1"/>
          </p:cNvSpPr>
          <p:nvPr>
            <p:ph type="title"/>
          </p:nvPr>
        </p:nvSpPr>
        <p:spPr/>
        <p:txBody>
          <a:bodyPr/>
          <a:lstStyle/>
          <a:p>
            <a:pPr eaLnBrk="1" hangingPunct="1">
              <a:defRPr/>
            </a:pPr>
            <a:r>
              <a:rPr lang="en-US" sz="2800">
                <a:cs typeface="+mj-cs"/>
              </a:rPr>
              <a:t>Iterative deepening search </a:t>
            </a:r>
            <a:r>
              <a:rPr lang="en-US" sz="2800" i="1">
                <a:cs typeface="+mj-cs"/>
              </a:rPr>
              <a:t>l </a:t>
            </a:r>
            <a:r>
              <a:rPr lang="en-US" sz="2800">
                <a:cs typeface="+mj-cs"/>
              </a:rPr>
              <a:t>=2</a:t>
            </a:r>
          </a:p>
        </p:txBody>
      </p:sp>
      <p:pic>
        <p:nvPicPr>
          <p:cNvPr id="237570" name="Picture 2"/>
          <p:cNvPicPr>
            <a:picLocks noChangeAspect="1" noChangeArrowheads="1"/>
          </p:cNvPicPr>
          <p:nvPr/>
        </p:nvPicPr>
        <p:blipFill>
          <a:blip r:embed="rId2"/>
          <a:srcRect/>
          <a:stretch>
            <a:fillRect/>
          </a:stretch>
        </p:blipFill>
        <p:spPr bwMode="auto">
          <a:xfrm>
            <a:off x="714375" y="2057400"/>
            <a:ext cx="7715250" cy="3124200"/>
          </a:xfrm>
          <a:prstGeom prst="rect">
            <a:avLst/>
          </a:prstGeom>
          <a:noFill/>
          <a:ln w="9525">
            <a:noFill/>
            <a:miter lim="800000"/>
            <a:headEnd/>
            <a:tailEnd/>
          </a:ln>
          <a:effectLst/>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2530" name="Rectangle 2"/>
          <p:cNvSpPr>
            <a:spLocks noGrp="1" noChangeArrowheads="1"/>
          </p:cNvSpPr>
          <p:nvPr>
            <p:ph type="title"/>
          </p:nvPr>
        </p:nvSpPr>
        <p:spPr/>
        <p:txBody>
          <a:bodyPr/>
          <a:lstStyle/>
          <a:p>
            <a:pPr eaLnBrk="1" hangingPunct="1">
              <a:defRPr/>
            </a:pPr>
            <a:r>
              <a:rPr lang="en-US" sz="2800">
                <a:cs typeface="+mj-cs"/>
              </a:rPr>
              <a:t>Iterative deepening search </a:t>
            </a:r>
            <a:r>
              <a:rPr lang="en-US" sz="2800" i="1">
                <a:cs typeface="+mj-cs"/>
              </a:rPr>
              <a:t>l </a:t>
            </a:r>
            <a:r>
              <a:rPr lang="en-US" sz="2800">
                <a:cs typeface="+mj-cs"/>
              </a:rPr>
              <a:t>=3</a:t>
            </a:r>
          </a:p>
        </p:txBody>
      </p:sp>
      <p:pic>
        <p:nvPicPr>
          <p:cNvPr id="68610" name="Picture 3" descr="ids-progress4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752600"/>
            <a:ext cx="7620000" cy="4419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sz="quarter" idx="1"/>
          </p:nvPr>
        </p:nvSpPr>
        <p:spPr>
          <a:xfrm>
            <a:off x="301752" y="1527048"/>
            <a:ext cx="8503920" cy="4035552"/>
          </a:xfrm>
        </p:spPr>
        <p:txBody>
          <a:bodyPr>
            <a:normAutofit fontScale="85000" lnSpcReduction="20000"/>
          </a:bodyPr>
          <a:lstStyle/>
          <a:p>
            <a:pPr eaLnBrk="1" hangingPunct="1">
              <a:lnSpc>
                <a:spcPct val="80000"/>
              </a:lnSpc>
              <a:defRPr/>
            </a:pPr>
            <a:endParaRPr lang="en-US" sz="1600" dirty="0">
              <a:cs typeface="+mn-cs"/>
            </a:endParaRPr>
          </a:p>
          <a:p>
            <a:pPr eaLnBrk="1" hangingPunct="1">
              <a:lnSpc>
                <a:spcPct val="80000"/>
              </a:lnSpc>
              <a:defRPr/>
            </a:pPr>
            <a:r>
              <a:rPr lang="en-US" b="1" dirty="0">
                <a:cs typeface="+mn-cs"/>
              </a:rPr>
              <a:t>Number of nodes generated in an </a:t>
            </a:r>
            <a:r>
              <a:rPr lang="en-US" b="1" dirty="0">
                <a:solidFill>
                  <a:schemeClr val="accent2"/>
                </a:solidFill>
                <a:cs typeface="+mn-cs"/>
              </a:rPr>
              <a:t>iterative deepening </a:t>
            </a:r>
          </a:p>
          <a:p>
            <a:pPr eaLnBrk="1" hangingPunct="1">
              <a:lnSpc>
                <a:spcPct val="80000"/>
              </a:lnSpc>
              <a:buNone/>
              <a:defRPr/>
            </a:pPr>
            <a:r>
              <a:rPr lang="en-US" b="1" dirty="0">
                <a:solidFill>
                  <a:schemeClr val="accent2"/>
                </a:solidFill>
              </a:rPr>
              <a:t>    </a:t>
            </a:r>
            <a:r>
              <a:rPr lang="en-US" b="1" dirty="0">
                <a:solidFill>
                  <a:schemeClr val="accent2"/>
                </a:solidFill>
                <a:cs typeface="+mn-cs"/>
              </a:rPr>
              <a:t>search</a:t>
            </a:r>
            <a:r>
              <a:rPr lang="en-US" b="1" dirty="0">
                <a:cs typeface="+mn-cs"/>
              </a:rPr>
              <a:t> to depth </a:t>
            </a:r>
            <a:r>
              <a:rPr lang="en-US" b="1" i="1" dirty="0">
                <a:cs typeface="+mn-cs"/>
              </a:rPr>
              <a:t>d</a:t>
            </a:r>
            <a:r>
              <a:rPr lang="en-US" b="1" dirty="0">
                <a:cs typeface="+mn-cs"/>
              </a:rPr>
              <a:t> with branching factor </a:t>
            </a:r>
            <a:r>
              <a:rPr lang="en-US" b="1" i="1" dirty="0">
                <a:cs typeface="+mn-cs"/>
              </a:rPr>
              <a:t>b</a:t>
            </a:r>
            <a:r>
              <a:rPr lang="en-US" b="1" dirty="0">
                <a:cs typeface="+mn-cs"/>
              </a:rPr>
              <a:t>: </a:t>
            </a:r>
          </a:p>
          <a:p>
            <a:pPr eaLnBrk="1" hangingPunct="1">
              <a:lnSpc>
                <a:spcPct val="80000"/>
              </a:lnSpc>
              <a:buNone/>
              <a:defRPr/>
            </a:pPr>
            <a:endParaRPr lang="en-US" sz="1800" dirty="0">
              <a:cs typeface="+mn-cs"/>
            </a:endParaRPr>
          </a:p>
          <a:p>
            <a:pPr algn="ctr" eaLnBrk="1" hangingPunct="1">
              <a:lnSpc>
                <a:spcPct val="80000"/>
              </a:lnSpc>
              <a:buNone/>
              <a:defRPr/>
            </a:pPr>
            <a:r>
              <a:rPr lang="en-US" b="1" dirty="0">
                <a:cs typeface="+mn-cs"/>
              </a:rPr>
              <a:t>     N</a:t>
            </a:r>
            <a:r>
              <a:rPr lang="en-US" b="1" baseline="-25000" dirty="0">
                <a:cs typeface="+mn-cs"/>
              </a:rPr>
              <a:t>IDS</a:t>
            </a:r>
            <a:r>
              <a:rPr lang="en-US" b="1" dirty="0">
                <a:cs typeface="+mn-cs"/>
              </a:rPr>
              <a:t> = d b</a:t>
            </a:r>
            <a:r>
              <a:rPr lang="en-US" b="1" baseline="30000" dirty="0">
                <a:cs typeface="+mn-cs"/>
              </a:rPr>
              <a:t>1</a:t>
            </a:r>
            <a:r>
              <a:rPr lang="en-US" b="1" dirty="0">
                <a:cs typeface="+mn-cs"/>
              </a:rPr>
              <a:t> + (d-1)b</a:t>
            </a:r>
            <a:r>
              <a:rPr lang="en-US" b="1" baseline="30000" dirty="0">
                <a:cs typeface="+mn-cs"/>
              </a:rPr>
              <a:t>2</a:t>
            </a:r>
            <a:r>
              <a:rPr lang="en-US" b="1" dirty="0">
                <a:cs typeface="+mn-cs"/>
              </a:rPr>
              <a:t> + … + 3b</a:t>
            </a:r>
            <a:r>
              <a:rPr lang="en-US" b="1" baseline="30000" dirty="0">
                <a:cs typeface="+mn-cs"/>
              </a:rPr>
              <a:t>d-2</a:t>
            </a:r>
            <a:r>
              <a:rPr lang="en-US" b="1" dirty="0">
                <a:cs typeface="+mn-cs"/>
              </a:rPr>
              <a:t> +2b</a:t>
            </a:r>
            <a:r>
              <a:rPr lang="en-US" b="1" baseline="30000" dirty="0">
                <a:cs typeface="+mn-cs"/>
              </a:rPr>
              <a:t>d-1</a:t>
            </a:r>
            <a:r>
              <a:rPr lang="en-US" b="1" dirty="0">
                <a:cs typeface="+mn-cs"/>
              </a:rPr>
              <a:t> + 1b</a:t>
            </a:r>
            <a:r>
              <a:rPr lang="en-US" b="1" baseline="30000" dirty="0">
                <a:cs typeface="+mn-cs"/>
              </a:rPr>
              <a:t>d</a:t>
            </a:r>
            <a:r>
              <a:rPr lang="en-US" b="1" dirty="0">
                <a:cs typeface="+mn-cs"/>
              </a:rPr>
              <a:t> </a:t>
            </a:r>
          </a:p>
          <a:p>
            <a:pPr algn="ctr" eaLnBrk="1" hangingPunct="1">
              <a:lnSpc>
                <a:spcPct val="80000"/>
              </a:lnSpc>
              <a:defRPr/>
            </a:pPr>
            <a:endParaRPr lang="en-US" sz="1800" b="1" dirty="0">
              <a:cs typeface="+mn-cs"/>
            </a:endParaRPr>
          </a:p>
          <a:p>
            <a:pPr eaLnBrk="1" hangingPunct="1">
              <a:lnSpc>
                <a:spcPct val="80000"/>
              </a:lnSpc>
              <a:defRPr/>
            </a:pPr>
            <a:r>
              <a:rPr lang="en-US" b="1" dirty="0">
                <a:cs typeface="+mn-cs"/>
              </a:rPr>
              <a:t>Nodes generated in a </a:t>
            </a:r>
            <a:r>
              <a:rPr lang="en-US" b="1" dirty="0">
                <a:solidFill>
                  <a:schemeClr val="accent2"/>
                </a:solidFill>
                <a:cs typeface="+mn-cs"/>
              </a:rPr>
              <a:t>breadth-first search</a:t>
            </a:r>
            <a:r>
              <a:rPr lang="en-US" b="1" dirty="0">
                <a:cs typeface="+mn-cs"/>
              </a:rPr>
              <a:t> with </a:t>
            </a:r>
          </a:p>
          <a:p>
            <a:pPr eaLnBrk="1" hangingPunct="1">
              <a:lnSpc>
                <a:spcPct val="80000"/>
              </a:lnSpc>
              <a:buNone/>
              <a:defRPr/>
            </a:pPr>
            <a:r>
              <a:rPr lang="en-US" b="1" dirty="0"/>
              <a:t>    </a:t>
            </a:r>
            <a:r>
              <a:rPr lang="en-US" b="1" dirty="0">
                <a:cs typeface="+mn-cs"/>
              </a:rPr>
              <a:t>branching factor </a:t>
            </a:r>
            <a:r>
              <a:rPr lang="en-US" b="1" i="1" dirty="0">
                <a:cs typeface="+mn-cs"/>
              </a:rPr>
              <a:t>b</a:t>
            </a:r>
            <a:r>
              <a:rPr lang="en-US" b="1" dirty="0">
                <a:cs typeface="+mn-cs"/>
              </a:rPr>
              <a:t>: </a:t>
            </a:r>
          </a:p>
          <a:p>
            <a:pPr eaLnBrk="1" hangingPunct="1">
              <a:lnSpc>
                <a:spcPct val="80000"/>
              </a:lnSpc>
              <a:buNone/>
              <a:defRPr/>
            </a:pPr>
            <a:r>
              <a:rPr lang="en-US" sz="2400" b="1" dirty="0"/>
              <a:t> </a:t>
            </a:r>
          </a:p>
          <a:p>
            <a:pPr eaLnBrk="1" hangingPunct="1">
              <a:lnSpc>
                <a:spcPct val="80000"/>
              </a:lnSpc>
              <a:buNone/>
              <a:defRPr/>
            </a:pPr>
            <a:r>
              <a:rPr lang="en-US" sz="2400" b="1" dirty="0">
                <a:cs typeface="+mn-cs"/>
              </a:rPr>
              <a:t>                        N</a:t>
            </a:r>
            <a:r>
              <a:rPr lang="en-US" sz="2400" b="1" baseline="-25000" dirty="0">
                <a:cs typeface="+mn-cs"/>
              </a:rPr>
              <a:t>BFS</a:t>
            </a:r>
            <a:r>
              <a:rPr lang="en-US" sz="2400" b="1" i="1" dirty="0">
                <a:cs typeface="+mn-cs"/>
              </a:rPr>
              <a:t> = b</a:t>
            </a:r>
            <a:r>
              <a:rPr lang="en-US" sz="2400" b="1" i="1" baseline="30000" dirty="0">
                <a:latin typeface="r" charset="0"/>
                <a:cs typeface="+mn-cs"/>
              </a:rPr>
              <a:t>1</a:t>
            </a:r>
            <a:r>
              <a:rPr lang="en-US" sz="2400" b="1" i="1" dirty="0">
                <a:cs typeface="+mn-cs"/>
              </a:rPr>
              <a:t> + b</a:t>
            </a:r>
            <a:r>
              <a:rPr lang="en-US" sz="2400" b="1" i="1" baseline="30000" dirty="0">
                <a:latin typeface="r" charset="0"/>
                <a:cs typeface="+mn-cs"/>
              </a:rPr>
              <a:t>2</a:t>
            </a:r>
            <a:r>
              <a:rPr lang="en-US" sz="2400" b="1" i="1" dirty="0">
                <a:cs typeface="+mn-cs"/>
              </a:rPr>
              <a:t> + … + b</a:t>
            </a:r>
            <a:r>
              <a:rPr lang="en-US" sz="2400" b="1" i="1" baseline="30000" dirty="0">
                <a:latin typeface="r" charset="0"/>
                <a:cs typeface="+mn-cs"/>
              </a:rPr>
              <a:t>d-2</a:t>
            </a:r>
            <a:r>
              <a:rPr lang="en-US" sz="2400" b="1" i="1" dirty="0">
                <a:cs typeface="+mn-cs"/>
              </a:rPr>
              <a:t> + b</a:t>
            </a:r>
            <a:r>
              <a:rPr lang="en-US" sz="2400" b="1" i="1" baseline="30000" dirty="0">
                <a:latin typeface="r" charset="0"/>
                <a:cs typeface="+mn-cs"/>
              </a:rPr>
              <a:t>d-1</a:t>
            </a:r>
            <a:r>
              <a:rPr lang="en-US" sz="2400" b="1" i="1" dirty="0">
                <a:cs typeface="+mn-cs"/>
              </a:rPr>
              <a:t> + </a:t>
            </a:r>
            <a:r>
              <a:rPr lang="en-US" sz="2400" b="1" i="1" dirty="0" err="1">
                <a:cs typeface="+mn-cs"/>
              </a:rPr>
              <a:t>b</a:t>
            </a:r>
            <a:r>
              <a:rPr lang="en-US" sz="2400" b="1" i="1" baseline="30000" dirty="0" err="1">
                <a:latin typeface="r" charset="0"/>
                <a:cs typeface="+mn-cs"/>
              </a:rPr>
              <a:t>d</a:t>
            </a:r>
            <a:endParaRPr lang="en-US" sz="2400" b="1" dirty="0">
              <a:cs typeface="+mn-cs"/>
            </a:endParaRPr>
          </a:p>
          <a:p>
            <a:pPr eaLnBrk="1" hangingPunct="1">
              <a:lnSpc>
                <a:spcPct val="80000"/>
              </a:lnSpc>
              <a:defRPr/>
            </a:pPr>
            <a:endParaRPr lang="en-US" sz="1800" b="1" dirty="0">
              <a:cs typeface="+mn-cs"/>
            </a:endParaRPr>
          </a:p>
          <a:p>
            <a:pPr eaLnBrk="1" hangingPunct="1">
              <a:lnSpc>
                <a:spcPct val="80000"/>
              </a:lnSpc>
              <a:defRPr/>
            </a:pPr>
            <a:r>
              <a:rPr lang="en-US" b="1" dirty="0">
                <a:cs typeface="+mn-cs"/>
              </a:rPr>
              <a:t>For </a:t>
            </a:r>
            <a:r>
              <a:rPr lang="en-US" b="1" i="1" dirty="0">
                <a:cs typeface="+mn-cs"/>
              </a:rPr>
              <a:t>b = 10</a:t>
            </a:r>
            <a:r>
              <a:rPr lang="en-US" b="1" dirty="0">
                <a:cs typeface="+mn-cs"/>
              </a:rPr>
              <a:t>, </a:t>
            </a:r>
            <a:r>
              <a:rPr lang="en-US" b="1" i="1" dirty="0">
                <a:cs typeface="+mn-cs"/>
              </a:rPr>
              <a:t>d = 5</a:t>
            </a:r>
            <a:r>
              <a:rPr lang="en-US" b="1" dirty="0">
                <a:cs typeface="+mn-cs"/>
              </a:rPr>
              <a:t>,</a:t>
            </a:r>
          </a:p>
          <a:p>
            <a:pPr eaLnBrk="1" hangingPunct="1">
              <a:lnSpc>
                <a:spcPct val="80000"/>
              </a:lnSpc>
              <a:buNone/>
              <a:defRPr/>
            </a:pPr>
            <a:endParaRPr lang="en-US" b="1" dirty="0">
              <a:cs typeface="+mn-cs"/>
            </a:endParaRPr>
          </a:p>
          <a:p>
            <a:pPr lvl="1" eaLnBrk="1" hangingPunct="1">
              <a:lnSpc>
                <a:spcPct val="80000"/>
              </a:lnSpc>
              <a:defRPr/>
            </a:pPr>
            <a:r>
              <a:rPr lang="en-US" b="1" dirty="0"/>
              <a:t>N</a:t>
            </a:r>
            <a:r>
              <a:rPr lang="en-US" b="1" baseline="-25000" dirty="0"/>
              <a:t>BFS</a:t>
            </a:r>
            <a:r>
              <a:rPr lang="en-US" b="1" dirty="0"/>
              <a:t>= 10 + 100 + 1,000 + 10,000 + 100,000 = 111,110</a:t>
            </a:r>
            <a:r>
              <a:rPr lang="en-US" sz="1800" dirty="0"/>
              <a:t>
</a:t>
            </a:r>
            <a:r>
              <a:rPr lang="en-US" b="1" dirty="0"/>
              <a:t>N</a:t>
            </a:r>
            <a:r>
              <a:rPr lang="en-US" b="1" baseline="-25000" dirty="0"/>
              <a:t>IDS</a:t>
            </a:r>
            <a:r>
              <a:rPr lang="en-US" b="1" dirty="0"/>
              <a:t> = 50 + 400 + 3,000 + 20,000 + 100,000 = 123,456</a:t>
            </a:r>
            <a:endParaRPr lang="en-US" sz="1800" dirty="0"/>
          </a:p>
          <a:p>
            <a:pPr eaLnBrk="1" hangingPunct="1">
              <a:lnSpc>
                <a:spcPct val="80000"/>
              </a:lnSpc>
              <a:defRPr/>
            </a:pPr>
            <a:endParaRPr lang="en-US" sz="1800" dirty="0">
              <a:cs typeface="+mn-cs"/>
            </a:endParaRPr>
          </a:p>
        </p:txBody>
      </p:sp>
      <p:sp>
        <p:nvSpPr>
          <p:cNvPr id="5" name="Text Box 6"/>
          <p:cNvSpPr txBox="1">
            <a:spLocks noChangeArrowheads="1"/>
          </p:cNvSpPr>
          <p:nvPr/>
        </p:nvSpPr>
        <p:spPr bwMode="auto">
          <a:xfrm>
            <a:off x="533400" y="5410200"/>
            <a:ext cx="8305799" cy="1015663"/>
          </a:xfrm>
          <a:prstGeom prst="rect">
            <a:avLst/>
          </a:prstGeom>
          <a:noFill/>
          <a:ln w="9525">
            <a:solidFill>
              <a:srgbClr val="FF0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defRPr/>
            </a:pPr>
            <a:r>
              <a:rPr lang="en-US" sz="2000" b="1" i="1" dirty="0">
                <a:solidFill>
                  <a:srgbClr val="FF0000"/>
                </a:solidFill>
                <a:cs typeface="+mn-cs"/>
              </a:rPr>
              <a:t>Iterative deepening is the preferred uninformed search method when there is a large search space and the depth of the solution is not known.</a:t>
            </a:r>
          </a:p>
        </p:txBody>
      </p:sp>
      <p:sp>
        <p:nvSpPr>
          <p:cNvPr id="6" name="Title 1"/>
          <p:cNvSpPr>
            <a:spLocks noGrp="1"/>
          </p:cNvSpPr>
          <p:nvPr>
            <p:ph type="title"/>
          </p:nvPr>
        </p:nvSpPr>
        <p:spPr>
          <a:xfrm>
            <a:off x="301752" y="228600"/>
            <a:ext cx="8534400" cy="1066800"/>
          </a:xfrm>
        </p:spPr>
        <p:txBody>
          <a:bodyPr>
            <a:normAutofit fontScale="90000"/>
          </a:bodyPr>
          <a:lstStyle/>
          <a:p>
            <a:r>
              <a:rPr lang="en-US" dirty="0"/>
              <a:t>Iterative deepening</a:t>
            </a:r>
            <a:br>
              <a:rPr lang="en-US" dirty="0"/>
            </a:br>
            <a:endParaRPr 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a:defRPr/>
            </a:pPr>
            <a:r>
              <a:rPr lang="en-US" b="1" u="sng" dirty="0">
                <a:solidFill>
                  <a:srgbClr val="CC0099"/>
                </a:solidFill>
              </a:rPr>
              <a:t>Complete?</a:t>
            </a:r>
            <a:r>
              <a:rPr lang="en-US" b="1" dirty="0"/>
              <a:t> Yes</a:t>
            </a:r>
          </a:p>
          <a:p>
            <a:pPr>
              <a:defRPr/>
            </a:pPr>
            <a:endParaRPr lang="en-US" b="1" u="sng" dirty="0">
              <a:solidFill>
                <a:srgbClr val="CC0099"/>
              </a:solidFill>
            </a:endParaRPr>
          </a:p>
          <a:p>
            <a:pPr>
              <a:defRPr/>
            </a:pPr>
            <a:r>
              <a:rPr lang="en-US" b="1" u="sng" dirty="0">
                <a:solidFill>
                  <a:srgbClr val="CC0099"/>
                </a:solidFill>
              </a:rPr>
              <a:t>Time?</a:t>
            </a:r>
            <a:r>
              <a:rPr lang="en-US" b="1" dirty="0">
                <a:solidFill>
                  <a:srgbClr val="CC0099"/>
                </a:solidFill>
              </a:rPr>
              <a:t>  </a:t>
            </a:r>
            <a:r>
              <a:rPr lang="en-US" b="1" i="1" dirty="0"/>
              <a:t>d b</a:t>
            </a:r>
            <a:r>
              <a:rPr lang="en-US" b="1" i="1" baseline="30000" dirty="0"/>
              <a:t>1</a:t>
            </a:r>
            <a:r>
              <a:rPr lang="en-US" b="1" i="1" dirty="0"/>
              <a:t> + (d-1)b</a:t>
            </a:r>
            <a:r>
              <a:rPr lang="en-US" b="1" i="1" baseline="30000" dirty="0"/>
              <a:t>2</a:t>
            </a:r>
            <a:r>
              <a:rPr lang="en-US" b="1" i="1" dirty="0"/>
              <a:t> + … + </a:t>
            </a:r>
            <a:r>
              <a:rPr lang="en-US" b="1" i="1" dirty="0" err="1"/>
              <a:t>b</a:t>
            </a:r>
            <a:r>
              <a:rPr lang="en-US" b="1" i="1" baseline="30000" dirty="0" err="1"/>
              <a:t>d</a:t>
            </a:r>
            <a:r>
              <a:rPr lang="en-US" b="1" i="1" dirty="0"/>
              <a:t> = O(</a:t>
            </a:r>
            <a:r>
              <a:rPr lang="en-US" b="1" i="1" dirty="0" err="1"/>
              <a:t>b</a:t>
            </a:r>
            <a:r>
              <a:rPr lang="en-US" b="1" i="1" baseline="30000" dirty="0" err="1"/>
              <a:t>d</a:t>
            </a:r>
            <a:r>
              <a:rPr lang="en-US" b="1" i="1" dirty="0"/>
              <a:t>)</a:t>
            </a:r>
          </a:p>
          <a:p>
            <a:pPr>
              <a:defRPr/>
            </a:pPr>
            <a:endParaRPr lang="en-US" b="1" dirty="0"/>
          </a:p>
          <a:p>
            <a:pPr>
              <a:defRPr/>
            </a:pPr>
            <a:r>
              <a:rPr lang="en-US" b="1" u="sng" dirty="0">
                <a:solidFill>
                  <a:srgbClr val="CC0099"/>
                </a:solidFill>
              </a:rPr>
              <a:t>Space?</a:t>
            </a:r>
            <a:r>
              <a:rPr lang="en-US" b="1" dirty="0"/>
              <a:t>  </a:t>
            </a:r>
            <a:r>
              <a:rPr lang="en-US" b="1" i="1" dirty="0"/>
              <a:t>O(</a:t>
            </a:r>
            <a:r>
              <a:rPr lang="en-US" b="1" i="1" dirty="0" err="1"/>
              <a:t>bd</a:t>
            </a:r>
            <a:r>
              <a:rPr lang="en-US" b="1" i="1" dirty="0"/>
              <a:t>)</a:t>
            </a:r>
          </a:p>
          <a:p>
            <a:pPr>
              <a:defRPr/>
            </a:pPr>
            <a:endParaRPr lang="en-US" b="1" dirty="0"/>
          </a:p>
          <a:p>
            <a:pPr>
              <a:defRPr/>
            </a:pPr>
            <a:r>
              <a:rPr lang="en-US" b="1" u="sng" dirty="0">
                <a:solidFill>
                  <a:srgbClr val="CC0099"/>
                </a:solidFill>
              </a:rPr>
              <a:t>Optimal?</a:t>
            </a:r>
            <a:r>
              <a:rPr lang="en-US" b="1" dirty="0"/>
              <a:t> Yes, if step costs identical</a:t>
            </a:r>
          </a:p>
          <a:p>
            <a:endParaRPr lang="en-US" dirty="0"/>
          </a:p>
        </p:txBody>
      </p:sp>
      <p:sp>
        <p:nvSpPr>
          <p:cNvPr id="4" name="Title 1"/>
          <p:cNvSpPr>
            <a:spLocks noGrp="1"/>
          </p:cNvSpPr>
          <p:nvPr>
            <p:ph type="title"/>
          </p:nvPr>
        </p:nvSpPr>
        <p:spPr>
          <a:xfrm>
            <a:off x="301752" y="228600"/>
            <a:ext cx="8534400" cy="1066800"/>
          </a:xfrm>
        </p:spPr>
        <p:txBody>
          <a:bodyPr>
            <a:normAutofit fontScale="90000"/>
          </a:bodyPr>
          <a:lstStyle/>
          <a:p>
            <a:r>
              <a:rPr lang="en-US" dirty="0"/>
              <a:t>Iterative deepening</a:t>
            </a:r>
            <a:br>
              <a:rPr lang="en-US" dirty="0"/>
            </a:br>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Bidirectional Search</a:t>
            </a:r>
          </a:p>
        </p:txBody>
      </p:sp>
      <p:sp>
        <p:nvSpPr>
          <p:cNvPr id="3" name="Content Placeholder 2"/>
          <p:cNvSpPr>
            <a:spLocks noGrp="1"/>
          </p:cNvSpPr>
          <p:nvPr>
            <p:ph sz="quarter" idx="1"/>
          </p:nvPr>
        </p:nvSpPr>
        <p:spPr/>
        <p:txBody>
          <a:bodyPr/>
          <a:lstStyle/>
          <a:p>
            <a:pPr>
              <a:lnSpc>
                <a:spcPct val="90000"/>
              </a:lnSpc>
              <a:buFontTx/>
              <a:buChar char="•"/>
              <a:defRPr/>
            </a:pPr>
            <a:r>
              <a:rPr lang="en-US" sz="1800" b="1" dirty="0"/>
              <a:t>Simultaneously:</a:t>
            </a:r>
          </a:p>
          <a:p>
            <a:pPr lvl="1">
              <a:lnSpc>
                <a:spcPct val="90000"/>
              </a:lnSpc>
              <a:defRPr/>
            </a:pPr>
            <a:r>
              <a:rPr lang="en-US" sz="1800" b="1" dirty="0">
                <a:solidFill>
                  <a:schemeClr val="tx1"/>
                </a:solidFill>
              </a:rPr>
              <a:t>Search forward from start</a:t>
            </a:r>
          </a:p>
          <a:p>
            <a:pPr lvl="1">
              <a:lnSpc>
                <a:spcPct val="90000"/>
              </a:lnSpc>
              <a:defRPr/>
            </a:pPr>
            <a:r>
              <a:rPr lang="en-US" sz="1800" b="1" dirty="0">
                <a:solidFill>
                  <a:schemeClr val="tx1"/>
                </a:solidFill>
              </a:rPr>
              <a:t>Search backward from the goal</a:t>
            </a:r>
          </a:p>
          <a:p>
            <a:pPr>
              <a:lnSpc>
                <a:spcPct val="90000"/>
              </a:lnSpc>
              <a:defRPr/>
            </a:pPr>
            <a:r>
              <a:rPr lang="en-US" sz="1800" b="1" dirty="0"/>
              <a:t>Stop when the two searches meet.</a:t>
            </a:r>
          </a:p>
          <a:p>
            <a:pPr>
              <a:lnSpc>
                <a:spcPct val="90000"/>
              </a:lnSpc>
              <a:defRPr/>
            </a:pPr>
            <a:endParaRPr lang="en-US" sz="1800" b="1" dirty="0"/>
          </a:p>
          <a:p>
            <a:pPr>
              <a:lnSpc>
                <a:spcPct val="90000"/>
              </a:lnSpc>
              <a:buFontTx/>
              <a:buChar char="•"/>
              <a:defRPr/>
            </a:pPr>
            <a:r>
              <a:rPr lang="en-US" sz="1800" b="1" dirty="0"/>
              <a:t>If branching factor = b in each </a:t>
            </a:r>
          </a:p>
          <a:p>
            <a:pPr>
              <a:lnSpc>
                <a:spcPct val="90000"/>
              </a:lnSpc>
              <a:buNone/>
              <a:defRPr/>
            </a:pPr>
            <a:r>
              <a:rPr lang="en-US" sz="1800" b="1" dirty="0"/>
              <a:t>     direction, with solution at depth d </a:t>
            </a:r>
          </a:p>
          <a:p>
            <a:pPr>
              <a:lnSpc>
                <a:spcPct val="90000"/>
              </a:lnSpc>
              <a:buNone/>
              <a:defRPr/>
            </a:pPr>
            <a:r>
              <a:rPr lang="en-US" sz="1800" dirty="0"/>
              <a:t>	</a:t>
            </a:r>
            <a:r>
              <a:rPr lang="en-US" sz="1800" dirty="0">
                <a:sym typeface="Wingdings" charset="0"/>
              </a:rPr>
              <a:t>  </a:t>
            </a:r>
            <a:r>
              <a:rPr lang="en-US" sz="1800" b="1" dirty="0">
                <a:sym typeface="Wingdings" charset="0"/>
              </a:rPr>
              <a:t>only O(2 </a:t>
            </a:r>
            <a:r>
              <a:rPr lang="en-US" sz="1800" b="1" dirty="0" err="1">
                <a:sym typeface="Wingdings" charset="0"/>
              </a:rPr>
              <a:t>b</a:t>
            </a:r>
            <a:r>
              <a:rPr lang="en-US" sz="1800" b="1" baseline="30000" dirty="0" err="1">
                <a:sym typeface="Wingdings" charset="0"/>
              </a:rPr>
              <a:t>d</a:t>
            </a:r>
            <a:r>
              <a:rPr lang="en-US" sz="1800" b="1" baseline="30000" dirty="0">
                <a:sym typeface="Wingdings" charset="0"/>
              </a:rPr>
              <a:t>/2</a:t>
            </a:r>
            <a:r>
              <a:rPr lang="en-US" sz="1800" b="1" dirty="0">
                <a:sym typeface="Wingdings" charset="0"/>
              </a:rPr>
              <a:t>)= O(2 </a:t>
            </a:r>
            <a:r>
              <a:rPr lang="en-US" sz="1800" b="1" dirty="0" err="1">
                <a:sym typeface="Wingdings" charset="0"/>
              </a:rPr>
              <a:t>b</a:t>
            </a:r>
            <a:r>
              <a:rPr lang="en-US" sz="1800" b="1" baseline="30000" dirty="0" err="1">
                <a:sym typeface="Wingdings" charset="0"/>
              </a:rPr>
              <a:t>d</a:t>
            </a:r>
            <a:r>
              <a:rPr lang="en-US" sz="1800" b="1" baseline="30000" dirty="0">
                <a:sym typeface="Wingdings" charset="0"/>
              </a:rPr>
              <a:t>/2</a:t>
            </a:r>
            <a:r>
              <a:rPr lang="en-US" sz="1800" b="1" dirty="0">
                <a:sym typeface="Wingdings" charset="0"/>
              </a:rPr>
              <a:t>)</a:t>
            </a:r>
          </a:p>
          <a:p>
            <a:pPr>
              <a:lnSpc>
                <a:spcPct val="90000"/>
              </a:lnSpc>
              <a:defRPr/>
            </a:pPr>
            <a:r>
              <a:rPr lang="en-US" sz="1800" b="1" dirty="0">
                <a:sym typeface="Wingdings" charset="0"/>
              </a:rPr>
              <a:t>Space O(</a:t>
            </a:r>
            <a:r>
              <a:rPr lang="en-US" sz="1800" b="1" dirty="0" err="1">
                <a:sym typeface="Wingdings" charset="0"/>
              </a:rPr>
              <a:t>b</a:t>
            </a:r>
            <a:r>
              <a:rPr lang="en-US" sz="1800" b="1" baseline="30000" dirty="0" err="1">
                <a:sym typeface="Wingdings" charset="0"/>
              </a:rPr>
              <a:t>d</a:t>
            </a:r>
            <a:r>
              <a:rPr lang="en-US" sz="1800" b="1" baseline="30000" dirty="0">
                <a:sym typeface="Wingdings" charset="0"/>
              </a:rPr>
              <a:t>/2</a:t>
            </a:r>
            <a:r>
              <a:rPr lang="en-US" sz="1800" b="1" dirty="0">
                <a:sym typeface="Wingdings" charset="0"/>
              </a:rPr>
              <a:t>)</a:t>
            </a:r>
          </a:p>
          <a:p>
            <a:pPr>
              <a:lnSpc>
                <a:spcPct val="90000"/>
              </a:lnSpc>
              <a:defRPr/>
            </a:pPr>
            <a:endParaRPr lang="en-US" sz="1800" b="1" dirty="0"/>
          </a:p>
          <a:p>
            <a:endParaRPr 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600200"/>
            <a:ext cx="4114800" cy="44846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p:cNvSpPr>
            <a:spLocks noGrp="1" noChangeArrowheads="1"/>
          </p:cNvSpPr>
          <p:nvPr>
            <p:ph type="title"/>
          </p:nvPr>
        </p:nvSpPr>
        <p:spPr/>
        <p:txBody>
          <a:bodyPr rIns="130174"/>
          <a:lstStyle/>
          <a:p>
            <a:pPr indent="0" eaLnBrk="1" hangingPunct="1">
              <a:defRPr/>
            </a:pPr>
            <a:r>
              <a:rPr lang="en-US"/>
              <a:t>Improving Search Methods</a:t>
            </a:r>
          </a:p>
        </p:txBody>
      </p:sp>
      <p:sp>
        <p:nvSpPr>
          <p:cNvPr id="105477" name="Rectangle 4"/>
          <p:cNvSpPr>
            <a:spLocks noGrp="1" noChangeArrowheads="1"/>
          </p:cNvSpPr>
          <p:nvPr>
            <p:ph type="body" idx="1"/>
          </p:nvPr>
        </p:nvSpPr>
        <p:spPr>
          <a:xfrm>
            <a:off x="301752" y="1676400"/>
            <a:ext cx="8503920" cy="4422648"/>
          </a:xfrm>
        </p:spPr>
        <p:txBody>
          <a:bodyPr rIns="130174"/>
          <a:lstStyle/>
          <a:p>
            <a:pPr eaLnBrk="1" hangingPunct="1"/>
            <a:r>
              <a:rPr lang="en-US" dirty="0"/>
              <a:t>Make algorithms more efficient</a:t>
            </a:r>
          </a:p>
          <a:p>
            <a:pPr marL="723900" lvl="1" eaLnBrk="1" hangingPunct="1"/>
            <a:r>
              <a:rPr lang="en-US" dirty="0"/>
              <a:t>Avoiding repeated states</a:t>
            </a:r>
          </a:p>
          <a:p>
            <a:pPr marL="723900" lvl="1" eaLnBrk="1" hangingPunct="1"/>
            <a:r>
              <a:rPr lang="en-US" dirty="0"/>
              <a:t>Utilizing memory efficiently</a:t>
            </a:r>
          </a:p>
          <a:p>
            <a:pPr marL="723900" lvl="1" eaLnBrk="1" hangingPunct="1"/>
            <a:endParaRPr lang="en-US" dirty="0"/>
          </a:p>
          <a:p>
            <a:pPr eaLnBrk="1" hangingPunct="1"/>
            <a:r>
              <a:rPr lang="en-US" dirty="0"/>
              <a:t>Use additional knowledge about the problem</a:t>
            </a:r>
          </a:p>
          <a:p>
            <a:pPr marL="723900" lvl="1" eaLnBrk="1" hangingPunct="1"/>
            <a:r>
              <a:rPr lang="en-US" dirty="0"/>
              <a:t>properties (“shape”) of the search space</a:t>
            </a:r>
          </a:p>
          <a:p>
            <a:pPr marL="1066800" lvl="2" eaLnBrk="1" hangingPunct="1"/>
            <a:r>
              <a:rPr lang="en-US" dirty="0"/>
              <a:t>more interesting areas are investigated first</a:t>
            </a:r>
          </a:p>
          <a:p>
            <a:pPr marL="723900" lvl="1" eaLnBrk="1" hangingPunct="1"/>
            <a:r>
              <a:rPr lang="en-US" dirty="0"/>
              <a:t>pruning of irrelevant areas</a:t>
            </a:r>
          </a:p>
          <a:p>
            <a:pPr marL="1066800" lvl="2" eaLnBrk="1" hangingPunct="1"/>
            <a:r>
              <a:rPr lang="en-US" dirty="0"/>
              <a:t>areas that are guaranteed not to contain a solution can be discarded</a:t>
            </a:r>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Grp="1" noChangeArrowheads="1"/>
          </p:cNvSpPr>
          <p:nvPr>
            <p:ph type="title"/>
          </p:nvPr>
        </p:nvSpPr>
        <p:spPr/>
        <p:txBody>
          <a:bodyPr rIns="130174"/>
          <a:lstStyle/>
          <a:p>
            <a:pPr indent="0" eaLnBrk="1" hangingPunct="1">
              <a:defRPr/>
            </a:pPr>
            <a:r>
              <a:rPr lang="en-US"/>
              <a:t>Avoiding Repeated States</a:t>
            </a:r>
          </a:p>
        </p:txBody>
      </p:sp>
      <p:sp>
        <p:nvSpPr>
          <p:cNvPr id="106501" name="Rectangle 4"/>
          <p:cNvSpPr>
            <a:spLocks noGrp="1" noChangeArrowheads="1"/>
          </p:cNvSpPr>
          <p:nvPr>
            <p:ph type="body" idx="1"/>
          </p:nvPr>
        </p:nvSpPr>
        <p:spPr/>
        <p:txBody>
          <a:bodyPr rIns="130174"/>
          <a:lstStyle/>
          <a:p>
            <a:pPr eaLnBrk="1" hangingPunct="1"/>
            <a:r>
              <a:rPr lang="en-US" dirty="0"/>
              <a:t>In many approaches, states may be expanded multiple times</a:t>
            </a:r>
          </a:p>
          <a:p>
            <a:pPr marL="723900" lvl="1" eaLnBrk="1" hangingPunct="1"/>
            <a:r>
              <a:rPr lang="en-US" dirty="0"/>
              <a:t>e.g. iterative deepening</a:t>
            </a:r>
          </a:p>
          <a:p>
            <a:pPr marL="723900" lvl="1" eaLnBrk="1" hangingPunct="1"/>
            <a:r>
              <a:rPr lang="en-US" dirty="0"/>
              <a:t>problems with reversible actions</a:t>
            </a:r>
          </a:p>
          <a:p>
            <a:pPr eaLnBrk="1" hangingPunct="1"/>
            <a:r>
              <a:rPr lang="en-US" dirty="0"/>
              <a:t>Eliminating repeated states may yield an exponential reduction in search cost</a:t>
            </a:r>
          </a:p>
          <a:p>
            <a:pPr marL="723900" lvl="1" eaLnBrk="1" hangingPunct="1"/>
            <a:r>
              <a:rPr lang="en-US" dirty="0"/>
              <a:t>e.g. some n-queens strategies</a:t>
            </a:r>
          </a:p>
          <a:p>
            <a:pPr marL="1066800" lvl="2" eaLnBrk="1" hangingPunct="1"/>
            <a:r>
              <a:rPr lang="en-US" dirty="0"/>
              <a:t> place queen in the left-most non-threatening column</a:t>
            </a:r>
          </a:p>
          <a:p>
            <a:pPr marL="723900" lvl="1" eaLnBrk="1" hangingPunct="1"/>
            <a:r>
              <a:rPr lang="en-US" dirty="0"/>
              <a:t>rectangular grid</a:t>
            </a:r>
          </a:p>
          <a:p>
            <a:pPr marL="1066800" lvl="2" eaLnBrk="1" hangingPunct="1"/>
            <a:r>
              <a:rPr lang="en-US" dirty="0"/>
              <a:t> 4</a:t>
            </a:r>
            <a:r>
              <a:rPr lang="en-US" baseline="30000" dirty="0"/>
              <a:t>d</a:t>
            </a:r>
            <a:r>
              <a:rPr lang="en-US" dirty="0"/>
              <a:t> leaves, but only 2d</a:t>
            </a:r>
            <a:r>
              <a:rPr lang="en-US" baseline="30000" dirty="0"/>
              <a:t>2</a:t>
            </a:r>
            <a:r>
              <a:rPr lang="en-US" dirty="0"/>
              <a:t> distinct states</a:t>
            </a: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3"/>
          <p:cNvSpPr>
            <a:spLocks noGrp="1" noChangeArrowheads="1"/>
          </p:cNvSpPr>
          <p:nvPr>
            <p:ph type="title"/>
          </p:nvPr>
        </p:nvSpPr>
        <p:spPr/>
        <p:txBody>
          <a:bodyPr rIns="130174"/>
          <a:lstStyle/>
          <a:p>
            <a:pPr indent="0" eaLnBrk="1" hangingPunct="1">
              <a:defRPr/>
            </a:pPr>
            <a:r>
              <a:rPr lang="en-US" dirty="0"/>
              <a:t>Informed Search</a:t>
            </a:r>
          </a:p>
        </p:txBody>
      </p:sp>
      <p:sp>
        <p:nvSpPr>
          <p:cNvPr id="107525" name="Rectangle 4"/>
          <p:cNvSpPr>
            <a:spLocks noGrp="1" noChangeArrowheads="1"/>
          </p:cNvSpPr>
          <p:nvPr>
            <p:ph type="body" idx="1"/>
          </p:nvPr>
        </p:nvSpPr>
        <p:spPr>
          <a:xfrm>
            <a:off x="301752" y="1600200"/>
            <a:ext cx="8503920" cy="4648200"/>
          </a:xfrm>
        </p:spPr>
        <p:txBody>
          <a:bodyPr rIns="130174"/>
          <a:lstStyle/>
          <a:p>
            <a:pPr eaLnBrk="1" hangingPunct="1"/>
            <a:r>
              <a:rPr lang="en-US" dirty="0"/>
              <a:t>Relies on additional knowledge about the problem or domain</a:t>
            </a:r>
          </a:p>
          <a:p>
            <a:pPr marL="723900" lvl="1" eaLnBrk="1" hangingPunct="1"/>
            <a:r>
              <a:rPr lang="en-US" dirty="0"/>
              <a:t>frequently expressed through heuristics (“rules of thumb”)</a:t>
            </a:r>
          </a:p>
          <a:p>
            <a:pPr eaLnBrk="1" hangingPunct="1"/>
            <a:r>
              <a:rPr lang="en-US" dirty="0"/>
              <a:t>It is used to distinguish more promising paths towards a goal</a:t>
            </a:r>
          </a:p>
          <a:p>
            <a:pPr marL="723900" lvl="1" eaLnBrk="1" hangingPunct="1"/>
            <a:r>
              <a:rPr lang="en-US" dirty="0"/>
              <a:t>may be mislead, depending on the quality of the heuristic</a:t>
            </a:r>
          </a:p>
          <a:p>
            <a:pPr eaLnBrk="1" hangingPunct="1"/>
            <a:r>
              <a:rPr lang="en-US" dirty="0"/>
              <a:t>In general, performs much better than uninformed search</a:t>
            </a:r>
          </a:p>
          <a:p>
            <a:pPr marL="723900" lvl="1" eaLnBrk="1" hangingPunct="1"/>
            <a:r>
              <a:rPr lang="en-US" dirty="0"/>
              <a:t>but frequently still exponential in time and space for realistic problems</a:t>
            </a:r>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a:t>Best First Search</a:t>
            </a:r>
          </a:p>
          <a:p>
            <a:r>
              <a:rPr lang="en-US" dirty="0"/>
              <a:t>Greedy Best First Search</a:t>
            </a:r>
          </a:p>
          <a:p>
            <a:r>
              <a:rPr lang="en-US" dirty="0"/>
              <a:t>A* Search</a:t>
            </a:r>
          </a:p>
          <a:p>
            <a:r>
              <a:rPr lang="en-US" dirty="0"/>
              <a:t>Memory-Bounded Search</a:t>
            </a:r>
          </a:p>
          <a:p>
            <a:r>
              <a:rPr lang="en-US" dirty="0"/>
              <a:t>AO* Search</a:t>
            </a:r>
          </a:p>
        </p:txBody>
      </p:sp>
      <p:sp>
        <p:nvSpPr>
          <p:cNvPr id="4" name="Rectangle 3"/>
          <p:cNvSpPr>
            <a:spLocks noGrp="1" noChangeArrowheads="1"/>
          </p:cNvSpPr>
          <p:nvPr>
            <p:ph type="title"/>
          </p:nvPr>
        </p:nvSpPr>
        <p:spPr/>
        <p:txBody>
          <a:bodyPr rIns="130174"/>
          <a:lstStyle/>
          <a:p>
            <a:pPr indent="0" eaLnBrk="1" hangingPunct="1">
              <a:defRPr/>
            </a:pPr>
            <a:r>
              <a:rPr lang="en-US" dirty="0"/>
              <a:t>Informed Search</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Best-First Search</a:t>
            </a:r>
          </a:p>
        </p:txBody>
      </p:sp>
      <p:sp>
        <p:nvSpPr>
          <p:cNvPr id="3" name="Content Placeholder 2"/>
          <p:cNvSpPr>
            <a:spLocks noGrp="1"/>
          </p:cNvSpPr>
          <p:nvPr>
            <p:ph sz="quarter" idx="1"/>
          </p:nvPr>
        </p:nvSpPr>
        <p:spPr/>
        <p:txBody>
          <a:bodyPr/>
          <a:lstStyle/>
          <a:p>
            <a:r>
              <a:rPr lang="en-US" dirty="0"/>
              <a:t>A node is selected for expansion based on an evaluation function f(n).</a:t>
            </a:r>
          </a:p>
          <a:p>
            <a:r>
              <a:rPr lang="en-US" dirty="0"/>
              <a:t>Implementation : General search framework with priority queue, which will maintain the fringe in ascending order of  f-value.</a:t>
            </a:r>
          </a:p>
          <a:p>
            <a:r>
              <a:rPr lang="en-US" dirty="0"/>
              <a:t>Choose the node that appears to be best according to the evaluation function.</a:t>
            </a:r>
          </a:p>
          <a:p>
            <a:endParaRPr lang="en-US" dirty="0"/>
          </a:p>
          <a:p>
            <a:r>
              <a:rPr lang="en-US" b="1" dirty="0"/>
              <a:t>Key component : Heuristic function</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Heuristic function</a:t>
            </a:r>
            <a:endParaRPr lang="en-US" dirty="0"/>
          </a:p>
        </p:txBody>
      </p:sp>
      <p:sp>
        <p:nvSpPr>
          <p:cNvPr id="3" name="Content Placeholder 2"/>
          <p:cNvSpPr>
            <a:spLocks noGrp="1"/>
          </p:cNvSpPr>
          <p:nvPr>
            <p:ph sz="quarter" idx="1"/>
          </p:nvPr>
        </p:nvSpPr>
        <p:spPr/>
        <p:txBody>
          <a:bodyPr/>
          <a:lstStyle/>
          <a:p>
            <a:r>
              <a:rPr lang="en-US" dirty="0"/>
              <a:t>Denoted by h(n).  </a:t>
            </a:r>
          </a:p>
          <a:p>
            <a:r>
              <a:rPr lang="en-US" dirty="0"/>
              <a:t>h(n)=&gt; Estimated cost of the cheapest path from node n to a goal node </a:t>
            </a:r>
          </a:p>
          <a:p>
            <a:endParaRPr lang="en-US" dirty="0"/>
          </a:p>
          <a:p>
            <a:r>
              <a:rPr lang="en-US" b="1" dirty="0"/>
              <a:t>Example</a:t>
            </a:r>
            <a:r>
              <a:rPr lang="en-US" dirty="0"/>
              <a:t>, In Romania, One might estimate the cost of cheapest path from Arad  to Bucharest through straight line distance from Arad  to Bucharest  </a:t>
            </a:r>
          </a:p>
          <a:p>
            <a:endParaRPr lang="en-US" dirty="0"/>
          </a:p>
          <a:p>
            <a:r>
              <a:rPr lang="en-US" dirty="0"/>
              <a:t>If n is a goal node, then h(n)=0.</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p:cNvSpPr>
            <a:spLocks noGrp="1" noChangeArrowheads="1"/>
          </p:cNvSpPr>
          <p:nvPr>
            <p:ph type="title"/>
          </p:nvPr>
        </p:nvSpPr>
        <p:spPr>
          <a:xfrm>
            <a:off x="228600" y="338138"/>
            <a:ext cx="8610600" cy="804862"/>
          </a:xfrm>
        </p:spPr>
        <p:txBody>
          <a:bodyPr rIns="130174"/>
          <a:lstStyle/>
          <a:p>
            <a:pPr indent="0" eaLnBrk="1" hangingPunct="1">
              <a:defRPr/>
            </a:pPr>
            <a:r>
              <a:rPr lang="en-US" dirty="0"/>
              <a:t>Best-First Search</a:t>
            </a:r>
          </a:p>
        </p:txBody>
      </p:sp>
      <p:sp>
        <p:nvSpPr>
          <p:cNvPr id="108549" name="Rectangle 4"/>
          <p:cNvSpPr>
            <a:spLocks noGrp="1" noChangeArrowheads="1"/>
          </p:cNvSpPr>
          <p:nvPr>
            <p:ph type="body" idx="1"/>
          </p:nvPr>
        </p:nvSpPr>
        <p:spPr>
          <a:xfrm>
            <a:off x="304800" y="1524000"/>
            <a:ext cx="8839200" cy="3810000"/>
          </a:xfrm>
        </p:spPr>
        <p:txBody>
          <a:bodyPr rIns="130174">
            <a:normAutofit/>
          </a:bodyPr>
          <a:lstStyle/>
          <a:p>
            <a:pPr eaLnBrk="1" hangingPunct="1"/>
            <a:r>
              <a:rPr lang="en-US" sz="2400" dirty="0"/>
              <a:t>The node with the lowest value is expanded first</a:t>
            </a:r>
          </a:p>
          <a:p>
            <a:pPr marL="723900" lvl="1" eaLnBrk="1" hangingPunct="1">
              <a:buNone/>
            </a:pPr>
            <a:r>
              <a:rPr lang="en-US" sz="2400" dirty="0"/>
              <a:t>   The node with the lowest value for the evaluation function is not necessarily one that is on an optimal path to a goal.</a:t>
            </a:r>
          </a:p>
          <a:p>
            <a:pPr marL="723900" lvl="1" eaLnBrk="1" hangingPunct="1"/>
            <a:r>
              <a:rPr lang="en-US" sz="2400" dirty="0"/>
              <a:t>If we really know which one is the best, there’s no need to do a search.</a:t>
            </a:r>
          </a:p>
        </p:txBody>
      </p:sp>
      <p:sp>
        <p:nvSpPr>
          <p:cNvPr id="108550" name="Rectangle 5"/>
          <p:cNvSpPr>
            <a:spLocks/>
          </p:cNvSpPr>
          <p:nvPr/>
        </p:nvSpPr>
        <p:spPr bwMode="auto">
          <a:xfrm>
            <a:off x="381000" y="4038600"/>
            <a:ext cx="8458200" cy="1447800"/>
          </a:xfrm>
          <a:prstGeom prst="rect">
            <a:avLst/>
          </a:prstGeom>
          <a:solidFill>
            <a:srgbClr val="0099FF"/>
          </a:solidFill>
          <a:ln w="12700">
            <a:solidFill>
              <a:srgbClr val="000020"/>
            </a:solidFill>
            <a:miter lim="800000"/>
            <a:headEnd/>
            <a:tailEnd/>
          </a:ln>
        </p:spPr>
        <p:txBody>
          <a:bodyPr lIns="0" tIns="0" rIns="40639" bIns="0"/>
          <a:lstStyle/>
          <a:p>
            <a:pPr marL="39688"/>
            <a:r>
              <a:rPr lang="en-US" sz="1800" b="1" dirty="0">
                <a:solidFill>
                  <a:srgbClr val="000020"/>
                </a:solidFill>
                <a:latin typeface="Courier" charset="0"/>
                <a:ea typeface="Courier" charset="0"/>
                <a:cs typeface="Courier" charset="0"/>
                <a:sym typeface="Courier" charset="0"/>
              </a:rPr>
              <a:t>function</a:t>
            </a:r>
            <a:r>
              <a:rPr lang="en-US" sz="1800" dirty="0">
                <a:solidFill>
                  <a:srgbClr val="000020"/>
                </a:solidFill>
                <a:latin typeface="Courier" charset="0"/>
                <a:ea typeface="Courier" charset="0"/>
                <a:cs typeface="Courier" charset="0"/>
                <a:sym typeface="Courier" charset="0"/>
              </a:rPr>
              <a:t> BEST-FIRST-SEARCH(</a:t>
            </a:r>
            <a:r>
              <a:rPr lang="en-US" sz="1800" i="1" dirty="0">
                <a:solidFill>
                  <a:srgbClr val="000020"/>
                </a:solidFill>
                <a:latin typeface="Courier" charset="0"/>
                <a:ea typeface="Courier" charset="0"/>
                <a:cs typeface="Courier" charset="0"/>
                <a:sym typeface="Courier" charset="0"/>
              </a:rPr>
              <a:t>problem, </a:t>
            </a:r>
            <a:r>
              <a:rPr lang="en-US" sz="1800" dirty="0">
                <a:solidFill>
                  <a:srgbClr val="000020"/>
                </a:solidFill>
                <a:latin typeface="Courier" charset="0"/>
                <a:ea typeface="Courier" charset="0"/>
                <a:cs typeface="Courier" charset="0"/>
                <a:sym typeface="Courier" charset="0"/>
              </a:rPr>
              <a:t>EVAL-FN) </a:t>
            </a:r>
            <a:r>
              <a:rPr lang="en-US" sz="1800" b="1" dirty="0">
                <a:solidFill>
                  <a:srgbClr val="000020"/>
                </a:solidFill>
                <a:latin typeface="Courier" charset="0"/>
                <a:ea typeface="Courier" charset="0"/>
                <a:cs typeface="Courier" charset="0"/>
                <a:sym typeface="Courier" charset="0"/>
              </a:rPr>
              <a:t>returns</a:t>
            </a:r>
            <a:r>
              <a:rPr lang="en-US" sz="1800" dirty="0">
                <a:solidFill>
                  <a:srgbClr val="000020"/>
                </a:solidFill>
                <a:latin typeface="Courier" charset="0"/>
                <a:ea typeface="Courier" charset="0"/>
                <a:cs typeface="Courier" charset="0"/>
                <a:sym typeface="Courier" charset="0"/>
              </a:rPr>
              <a:t> </a:t>
            </a:r>
            <a:r>
              <a:rPr lang="en-US" sz="1800" i="1" dirty="0">
                <a:solidFill>
                  <a:srgbClr val="000020"/>
                </a:solidFill>
                <a:latin typeface="Courier" charset="0"/>
                <a:ea typeface="Courier" charset="0"/>
                <a:cs typeface="Courier" charset="0"/>
                <a:sym typeface="Courier" charset="0"/>
              </a:rPr>
              <a:t>solution</a:t>
            </a:r>
          </a:p>
          <a:p>
            <a:pPr marL="39688"/>
            <a:r>
              <a:rPr lang="en-US" sz="1800" i="1" dirty="0">
                <a:solidFill>
                  <a:srgbClr val="000020"/>
                </a:solidFill>
                <a:latin typeface="Courier" charset="0"/>
                <a:ea typeface="Courier" charset="0"/>
                <a:cs typeface="Courier" charset="0"/>
                <a:sym typeface="Courier" charset="0"/>
              </a:rPr>
              <a:t>    fringe := </a:t>
            </a:r>
            <a:r>
              <a:rPr lang="en-US" sz="1800" dirty="0">
                <a:solidFill>
                  <a:srgbClr val="000020"/>
                </a:solidFill>
                <a:latin typeface="Courier" charset="0"/>
                <a:ea typeface="Courier" charset="0"/>
                <a:cs typeface="Courier" charset="0"/>
                <a:sym typeface="Courier" charset="0"/>
              </a:rPr>
              <a:t>queue with nodes ordered by EVAL-FN</a:t>
            </a:r>
          </a:p>
          <a:p>
            <a:pPr marL="39688"/>
            <a:endParaRPr lang="en-US" sz="1800" b="1" dirty="0">
              <a:solidFill>
                <a:srgbClr val="000020"/>
              </a:solidFill>
              <a:latin typeface="Courier" charset="0"/>
              <a:ea typeface="Courier" charset="0"/>
              <a:cs typeface="Courier" charset="0"/>
              <a:sym typeface="Courier" charset="0"/>
            </a:endParaRPr>
          </a:p>
          <a:p>
            <a:pPr marL="39688"/>
            <a:r>
              <a:rPr lang="en-US" sz="1800" dirty="0">
                <a:solidFill>
                  <a:srgbClr val="000020"/>
                </a:solidFill>
                <a:latin typeface="Courier" charset="0"/>
                <a:ea typeface="Courier" charset="0"/>
                <a:cs typeface="Courier" charset="0"/>
                <a:sym typeface="Courier" charset="0"/>
              </a:rPr>
              <a:t>    </a:t>
            </a:r>
            <a:r>
              <a:rPr lang="en-US" sz="1800" b="1" dirty="0">
                <a:solidFill>
                  <a:srgbClr val="000020"/>
                </a:solidFill>
                <a:latin typeface="Courier" charset="0"/>
                <a:ea typeface="Courier" charset="0"/>
                <a:cs typeface="Courier" charset="0"/>
                <a:sym typeface="Courier" charset="0"/>
              </a:rPr>
              <a:t>return </a:t>
            </a:r>
            <a:r>
              <a:rPr lang="en-US" sz="1800" dirty="0">
                <a:solidFill>
                  <a:srgbClr val="000020"/>
                </a:solidFill>
                <a:latin typeface="Courier" charset="0"/>
                <a:ea typeface="Courier" charset="0"/>
                <a:cs typeface="Courier" charset="0"/>
                <a:sym typeface="Courier" charset="0"/>
              </a:rPr>
              <a:t>TREE-SEARCH(</a:t>
            </a:r>
            <a:r>
              <a:rPr lang="en-US" sz="1800" i="1" dirty="0">
                <a:solidFill>
                  <a:srgbClr val="000020"/>
                </a:solidFill>
                <a:latin typeface="Courier" charset="0"/>
                <a:ea typeface="Courier" charset="0"/>
                <a:cs typeface="Courier" charset="0"/>
                <a:sym typeface="Courier" charset="0"/>
              </a:rPr>
              <a:t>problem, fringe</a:t>
            </a:r>
            <a:r>
              <a:rPr lang="en-US" sz="1800" dirty="0">
                <a:solidFill>
                  <a:srgbClr val="000020"/>
                </a:solidFill>
                <a:latin typeface="Courier" charset="0"/>
                <a:ea typeface="Courier" charset="0"/>
                <a:cs typeface="Courier" charset="0"/>
                <a:sym typeface="Courier" charset="0"/>
              </a:rPr>
              <a:t>)</a:t>
            </a:r>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a:noFill/>
          <a:ln>
            <a:miter lim="800000"/>
            <a:headEnd/>
            <a:tailEnd/>
          </a:ln>
        </p:spPr>
        <p:txBody>
          <a:bodyPr/>
          <a:lstStyle/>
          <a:p>
            <a:fld id="{BB7286A3-D8EC-4B82-BD2D-4B523D230E8B}" type="slidenum">
              <a:rPr lang="en-GB" smtClean="0"/>
              <a:pPr/>
              <a:t>151</a:t>
            </a:fld>
            <a:endParaRPr lang="en-GB"/>
          </a:p>
        </p:txBody>
      </p:sp>
      <p:sp>
        <p:nvSpPr>
          <p:cNvPr id="32771" name="Rectangle 2"/>
          <p:cNvSpPr>
            <a:spLocks noGrp="1" noChangeArrowheads="1"/>
          </p:cNvSpPr>
          <p:nvPr>
            <p:ph type="title"/>
          </p:nvPr>
        </p:nvSpPr>
        <p:spPr/>
        <p:txBody>
          <a:bodyPr/>
          <a:lstStyle/>
          <a:p>
            <a:pPr eaLnBrk="1" hangingPunct="1"/>
            <a:r>
              <a:rPr lang="en-GB"/>
              <a:t>Best-First Search</a:t>
            </a:r>
          </a:p>
        </p:txBody>
      </p:sp>
      <p:sp>
        <p:nvSpPr>
          <p:cNvPr id="32772" name="Rectangle 39"/>
          <p:cNvSpPr>
            <a:spLocks noChangeArrowheads="1"/>
          </p:cNvSpPr>
          <p:nvPr/>
        </p:nvSpPr>
        <p:spPr bwMode="auto">
          <a:xfrm>
            <a:off x="6553200" y="38862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A</a:t>
            </a:r>
          </a:p>
        </p:txBody>
      </p:sp>
      <p:sp>
        <p:nvSpPr>
          <p:cNvPr id="32773" name="Rectangle 40"/>
          <p:cNvSpPr>
            <a:spLocks noChangeArrowheads="1"/>
          </p:cNvSpPr>
          <p:nvPr/>
        </p:nvSpPr>
        <p:spPr bwMode="auto">
          <a:xfrm>
            <a:off x="7391400" y="44958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D</a:t>
            </a:r>
          </a:p>
        </p:txBody>
      </p:sp>
      <p:sp>
        <p:nvSpPr>
          <p:cNvPr id="32774" name="Rectangle 41"/>
          <p:cNvSpPr>
            <a:spLocks noChangeArrowheads="1"/>
          </p:cNvSpPr>
          <p:nvPr/>
        </p:nvSpPr>
        <p:spPr bwMode="auto">
          <a:xfrm>
            <a:off x="6553200" y="44958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C</a:t>
            </a:r>
          </a:p>
        </p:txBody>
      </p:sp>
      <p:sp>
        <p:nvSpPr>
          <p:cNvPr id="32775" name="Rectangle 42"/>
          <p:cNvSpPr>
            <a:spLocks noChangeArrowheads="1"/>
          </p:cNvSpPr>
          <p:nvPr/>
        </p:nvSpPr>
        <p:spPr bwMode="auto">
          <a:xfrm>
            <a:off x="5715000" y="44958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B</a:t>
            </a:r>
          </a:p>
        </p:txBody>
      </p:sp>
      <p:cxnSp>
        <p:nvCxnSpPr>
          <p:cNvPr id="32776" name="AutoShape 43"/>
          <p:cNvCxnSpPr>
            <a:cxnSpLocks noChangeShapeType="1"/>
            <a:stCxn id="32775" idx="0"/>
            <a:endCxn id="32772" idx="2"/>
          </p:cNvCxnSpPr>
          <p:nvPr/>
        </p:nvCxnSpPr>
        <p:spPr bwMode="auto">
          <a:xfrm flipV="1">
            <a:off x="5867400" y="4191000"/>
            <a:ext cx="838200" cy="304800"/>
          </a:xfrm>
          <a:prstGeom prst="straightConnector1">
            <a:avLst/>
          </a:prstGeom>
          <a:noFill/>
          <a:ln w="12700">
            <a:solidFill>
              <a:schemeClr val="tx1"/>
            </a:solidFill>
            <a:round/>
            <a:headEnd/>
            <a:tailEnd/>
          </a:ln>
        </p:spPr>
      </p:cxnSp>
      <p:cxnSp>
        <p:nvCxnSpPr>
          <p:cNvPr id="32777" name="AutoShape 44"/>
          <p:cNvCxnSpPr>
            <a:cxnSpLocks noChangeShapeType="1"/>
            <a:stCxn id="32772" idx="2"/>
            <a:endCxn id="32774" idx="0"/>
          </p:cNvCxnSpPr>
          <p:nvPr/>
        </p:nvCxnSpPr>
        <p:spPr bwMode="auto">
          <a:xfrm>
            <a:off x="6705600" y="4191000"/>
            <a:ext cx="0" cy="304800"/>
          </a:xfrm>
          <a:prstGeom prst="straightConnector1">
            <a:avLst/>
          </a:prstGeom>
          <a:noFill/>
          <a:ln w="12700">
            <a:solidFill>
              <a:schemeClr val="tx1"/>
            </a:solidFill>
            <a:round/>
            <a:headEnd/>
            <a:tailEnd/>
          </a:ln>
        </p:spPr>
      </p:cxnSp>
      <p:cxnSp>
        <p:nvCxnSpPr>
          <p:cNvPr id="32778" name="AutoShape 45"/>
          <p:cNvCxnSpPr>
            <a:cxnSpLocks noChangeShapeType="1"/>
            <a:stCxn id="32772" idx="2"/>
            <a:endCxn id="32773" idx="0"/>
          </p:cNvCxnSpPr>
          <p:nvPr/>
        </p:nvCxnSpPr>
        <p:spPr bwMode="auto">
          <a:xfrm>
            <a:off x="6705600" y="4191000"/>
            <a:ext cx="838200" cy="304800"/>
          </a:xfrm>
          <a:prstGeom prst="straightConnector1">
            <a:avLst/>
          </a:prstGeom>
          <a:noFill/>
          <a:ln w="12700">
            <a:solidFill>
              <a:schemeClr val="tx1"/>
            </a:solidFill>
            <a:round/>
            <a:headEnd/>
            <a:tailEnd/>
          </a:ln>
        </p:spPr>
      </p:cxnSp>
      <p:sp>
        <p:nvSpPr>
          <p:cNvPr id="32779" name="Rectangle 46"/>
          <p:cNvSpPr>
            <a:spLocks noChangeArrowheads="1"/>
          </p:cNvSpPr>
          <p:nvPr/>
        </p:nvSpPr>
        <p:spPr bwMode="auto">
          <a:xfrm>
            <a:off x="7924800" y="50292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F</a:t>
            </a:r>
          </a:p>
        </p:txBody>
      </p:sp>
      <p:sp>
        <p:nvSpPr>
          <p:cNvPr id="32780" name="Rectangle 47"/>
          <p:cNvSpPr>
            <a:spLocks noChangeArrowheads="1"/>
          </p:cNvSpPr>
          <p:nvPr/>
        </p:nvSpPr>
        <p:spPr bwMode="auto">
          <a:xfrm>
            <a:off x="6934200" y="50292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E</a:t>
            </a:r>
          </a:p>
        </p:txBody>
      </p:sp>
      <p:cxnSp>
        <p:nvCxnSpPr>
          <p:cNvPr id="32781" name="AutoShape 48"/>
          <p:cNvCxnSpPr>
            <a:cxnSpLocks noChangeShapeType="1"/>
            <a:stCxn id="32773" idx="2"/>
            <a:endCxn id="32780" idx="0"/>
          </p:cNvCxnSpPr>
          <p:nvPr/>
        </p:nvCxnSpPr>
        <p:spPr bwMode="auto">
          <a:xfrm flipH="1">
            <a:off x="7086600" y="4800600"/>
            <a:ext cx="457200" cy="228600"/>
          </a:xfrm>
          <a:prstGeom prst="straightConnector1">
            <a:avLst/>
          </a:prstGeom>
          <a:noFill/>
          <a:ln w="12700">
            <a:solidFill>
              <a:schemeClr val="tx1"/>
            </a:solidFill>
            <a:round/>
            <a:headEnd/>
            <a:tailEnd/>
          </a:ln>
        </p:spPr>
      </p:cxnSp>
      <p:cxnSp>
        <p:nvCxnSpPr>
          <p:cNvPr id="32782" name="AutoShape 49"/>
          <p:cNvCxnSpPr>
            <a:cxnSpLocks noChangeShapeType="1"/>
            <a:stCxn id="32773" idx="2"/>
            <a:endCxn id="32779" idx="0"/>
          </p:cNvCxnSpPr>
          <p:nvPr/>
        </p:nvCxnSpPr>
        <p:spPr bwMode="auto">
          <a:xfrm>
            <a:off x="7543800" y="4800600"/>
            <a:ext cx="533400" cy="228600"/>
          </a:xfrm>
          <a:prstGeom prst="straightConnector1">
            <a:avLst/>
          </a:prstGeom>
          <a:noFill/>
          <a:ln w="12700">
            <a:solidFill>
              <a:schemeClr val="tx1"/>
            </a:solidFill>
            <a:round/>
            <a:headEnd/>
            <a:tailEnd/>
          </a:ln>
        </p:spPr>
      </p:cxnSp>
      <p:sp>
        <p:nvSpPr>
          <p:cNvPr id="32783" name="Rectangle 50"/>
          <p:cNvSpPr>
            <a:spLocks noChangeArrowheads="1"/>
          </p:cNvSpPr>
          <p:nvPr/>
        </p:nvSpPr>
        <p:spPr bwMode="auto">
          <a:xfrm>
            <a:off x="6248400" y="50292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H</a:t>
            </a:r>
          </a:p>
        </p:txBody>
      </p:sp>
      <p:sp>
        <p:nvSpPr>
          <p:cNvPr id="32784" name="Rectangle 51"/>
          <p:cNvSpPr>
            <a:spLocks noChangeArrowheads="1"/>
          </p:cNvSpPr>
          <p:nvPr/>
        </p:nvSpPr>
        <p:spPr bwMode="auto">
          <a:xfrm>
            <a:off x="5257800" y="50292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G</a:t>
            </a:r>
          </a:p>
        </p:txBody>
      </p:sp>
      <p:cxnSp>
        <p:nvCxnSpPr>
          <p:cNvPr id="32785" name="AutoShape 52"/>
          <p:cNvCxnSpPr>
            <a:cxnSpLocks noChangeShapeType="1"/>
            <a:endCxn id="32784" idx="0"/>
          </p:cNvCxnSpPr>
          <p:nvPr/>
        </p:nvCxnSpPr>
        <p:spPr bwMode="auto">
          <a:xfrm flipH="1">
            <a:off x="5410200" y="4800600"/>
            <a:ext cx="457200" cy="228600"/>
          </a:xfrm>
          <a:prstGeom prst="straightConnector1">
            <a:avLst/>
          </a:prstGeom>
          <a:noFill/>
          <a:ln w="12700">
            <a:solidFill>
              <a:schemeClr val="tx1"/>
            </a:solidFill>
            <a:round/>
            <a:headEnd/>
            <a:tailEnd/>
          </a:ln>
        </p:spPr>
      </p:cxnSp>
      <p:cxnSp>
        <p:nvCxnSpPr>
          <p:cNvPr id="32786" name="AutoShape 53"/>
          <p:cNvCxnSpPr>
            <a:cxnSpLocks noChangeShapeType="1"/>
            <a:stCxn id="32775" idx="2"/>
            <a:endCxn id="32783" idx="0"/>
          </p:cNvCxnSpPr>
          <p:nvPr/>
        </p:nvCxnSpPr>
        <p:spPr bwMode="auto">
          <a:xfrm>
            <a:off x="5867400" y="4800600"/>
            <a:ext cx="533400" cy="228600"/>
          </a:xfrm>
          <a:prstGeom prst="straightConnector1">
            <a:avLst/>
          </a:prstGeom>
          <a:noFill/>
          <a:ln w="12700">
            <a:solidFill>
              <a:schemeClr val="tx1"/>
            </a:solidFill>
            <a:round/>
            <a:headEnd/>
            <a:tailEnd/>
          </a:ln>
        </p:spPr>
      </p:cxnSp>
      <p:sp>
        <p:nvSpPr>
          <p:cNvPr id="32787" name="Rectangle 54"/>
          <p:cNvSpPr>
            <a:spLocks noChangeArrowheads="1"/>
          </p:cNvSpPr>
          <p:nvPr/>
        </p:nvSpPr>
        <p:spPr bwMode="auto">
          <a:xfrm>
            <a:off x="7467600" y="5562600"/>
            <a:ext cx="304800" cy="304800"/>
          </a:xfrm>
          <a:prstGeom prst="rect">
            <a:avLst/>
          </a:prstGeom>
          <a:solidFill>
            <a:srgbClr val="B2B2B2"/>
          </a:solidFill>
          <a:ln w="12700">
            <a:solidFill>
              <a:schemeClr val="tx1"/>
            </a:solidFill>
            <a:miter lim="800000"/>
            <a:headEnd/>
            <a:tailEnd/>
          </a:ln>
        </p:spPr>
        <p:txBody>
          <a:bodyPr wrap="none" anchor="ctr"/>
          <a:lstStyle/>
          <a:p>
            <a:pPr algn="ctr"/>
            <a:r>
              <a:rPr lang="en-GB" sz="2000">
                <a:latin typeface="Arial Unicode MS" pitchFamily="34" charset="-128"/>
              </a:rPr>
              <a:t>J</a:t>
            </a:r>
          </a:p>
        </p:txBody>
      </p:sp>
      <p:sp>
        <p:nvSpPr>
          <p:cNvPr id="32788" name="Rectangle 55"/>
          <p:cNvSpPr>
            <a:spLocks noChangeArrowheads="1"/>
          </p:cNvSpPr>
          <p:nvPr/>
        </p:nvSpPr>
        <p:spPr bwMode="auto">
          <a:xfrm>
            <a:off x="6477000" y="55626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I</a:t>
            </a:r>
          </a:p>
        </p:txBody>
      </p:sp>
      <p:cxnSp>
        <p:nvCxnSpPr>
          <p:cNvPr id="32789" name="AutoShape 56"/>
          <p:cNvCxnSpPr>
            <a:cxnSpLocks noChangeShapeType="1"/>
            <a:stCxn id="32780" idx="2"/>
            <a:endCxn id="32788" idx="0"/>
          </p:cNvCxnSpPr>
          <p:nvPr/>
        </p:nvCxnSpPr>
        <p:spPr bwMode="auto">
          <a:xfrm flipH="1">
            <a:off x="6629400" y="5334000"/>
            <a:ext cx="457200" cy="228600"/>
          </a:xfrm>
          <a:prstGeom prst="straightConnector1">
            <a:avLst/>
          </a:prstGeom>
          <a:noFill/>
          <a:ln w="12700">
            <a:solidFill>
              <a:schemeClr val="tx1"/>
            </a:solidFill>
            <a:round/>
            <a:headEnd/>
            <a:tailEnd/>
          </a:ln>
        </p:spPr>
      </p:cxnSp>
      <p:cxnSp>
        <p:nvCxnSpPr>
          <p:cNvPr id="32790" name="AutoShape 57"/>
          <p:cNvCxnSpPr>
            <a:cxnSpLocks noChangeShapeType="1"/>
            <a:stCxn id="32780" idx="2"/>
            <a:endCxn id="32787" idx="0"/>
          </p:cNvCxnSpPr>
          <p:nvPr/>
        </p:nvCxnSpPr>
        <p:spPr bwMode="auto">
          <a:xfrm>
            <a:off x="7086600" y="5334000"/>
            <a:ext cx="533400" cy="228600"/>
          </a:xfrm>
          <a:prstGeom prst="straightConnector1">
            <a:avLst/>
          </a:prstGeom>
          <a:noFill/>
          <a:ln w="12700">
            <a:solidFill>
              <a:schemeClr val="tx1"/>
            </a:solidFill>
            <a:round/>
            <a:headEnd/>
            <a:tailEnd/>
          </a:ln>
        </p:spPr>
      </p:cxnSp>
      <p:sp>
        <p:nvSpPr>
          <p:cNvPr id="32791" name="Text Box 70"/>
          <p:cNvSpPr txBox="1">
            <a:spLocks noChangeArrowheads="1"/>
          </p:cNvSpPr>
          <p:nvPr/>
        </p:nvSpPr>
        <p:spPr bwMode="auto">
          <a:xfrm>
            <a:off x="6553200" y="48006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5</a:t>
            </a:r>
          </a:p>
        </p:txBody>
      </p:sp>
      <p:sp>
        <p:nvSpPr>
          <p:cNvPr id="32792" name="Text Box 71"/>
          <p:cNvSpPr txBox="1">
            <a:spLocks noChangeArrowheads="1"/>
          </p:cNvSpPr>
          <p:nvPr/>
        </p:nvSpPr>
        <p:spPr bwMode="auto">
          <a:xfrm>
            <a:off x="7924800" y="53340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6</a:t>
            </a:r>
          </a:p>
        </p:txBody>
      </p:sp>
      <p:sp>
        <p:nvSpPr>
          <p:cNvPr id="32793" name="Text Box 72"/>
          <p:cNvSpPr txBox="1">
            <a:spLocks noChangeArrowheads="1"/>
          </p:cNvSpPr>
          <p:nvPr/>
        </p:nvSpPr>
        <p:spPr bwMode="auto">
          <a:xfrm>
            <a:off x="5257800" y="53340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6</a:t>
            </a:r>
          </a:p>
        </p:txBody>
      </p:sp>
      <p:sp>
        <p:nvSpPr>
          <p:cNvPr id="32794" name="Text Box 73"/>
          <p:cNvSpPr txBox="1">
            <a:spLocks noChangeArrowheads="1"/>
          </p:cNvSpPr>
          <p:nvPr/>
        </p:nvSpPr>
        <p:spPr bwMode="auto">
          <a:xfrm>
            <a:off x="6248400" y="53340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5</a:t>
            </a:r>
          </a:p>
        </p:txBody>
      </p:sp>
      <p:sp>
        <p:nvSpPr>
          <p:cNvPr id="32795" name="Text Box 74"/>
          <p:cNvSpPr txBox="1">
            <a:spLocks noChangeArrowheads="1"/>
          </p:cNvSpPr>
          <p:nvPr/>
        </p:nvSpPr>
        <p:spPr bwMode="auto">
          <a:xfrm>
            <a:off x="6477000" y="58674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2</a:t>
            </a:r>
          </a:p>
        </p:txBody>
      </p:sp>
      <p:sp>
        <p:nvSpPr>
          <p:cNvPr id="32796" name="Text Box 75"/>
          <p:cNvSpPr txBox="1">
            <a:spLocks noChangeArrowheads="1"/>
          </p:cNvSpPr>
          <p:nvPr/>
        </p:nvSpPr>
        <p:spPr bwMode="auto">
          <a:xfrm>
            <a:off x="7467600" y="58674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1</a:t>
            </a:r>
          </a:p>
        </p:txBody>
      </p:sp>
      <p:sp>
        <p:nvSpPr>
          <p:cNvPr id="32797" name="Rectangle 76"/>
          <p:cNvSpPr>
            <a:spLocks noChangeArrowheads="1"/>
          </p:cNvSpPr>
          <p:nvPr/>
        </p:nvSpPr>
        <p:spPr bwMode="auto">
          <a:xfrm>
            <a:off x="2362200" y="38100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A</a:t>
            </a:r>
          </a:p>
        </p:txBody>
      </p:sp>
      <p:sp>
        <p:nvSpPr>
          <p:cNvPr id="32798" name="Rectangle 77"/>
          <p:cNvSpPr>
            <a:spLocks noChangeArrowheads="1"/>
          </p:cNvSpPr>
          <p:nvPr/>
        </p:nvSpPr>
        <p:spPr bwMode="auto">
          <a:xfrm>
            <a:off x="3200400" y="44196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D</a:t>
            </a:r>
          </a:p>
        </p:txBody>
      </p:sp>
      <p:sp>
        <p:nvSpPr>
          <p:cNvPr id="32799" name="Rectangle 78"/>
          <p:cNvSpPr>
            <a:spLocks noChangeArrowheads="1"/>
          </p:cNvSpPr>
          <p:nvPr/>
        </p:nvSpPr>
        <p:spPr bwMode="auto">
          <a:xfrm>
            <a:off x="2362200" y="44196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C</a:t>
            </a:r>
          </a:p>
        </p:txBody>
      </p:sp>
      <p:sp>
        <p:nvSpPr>
          <p:cNvPr id="32800" name="Rectangle 79"/>
          <p:cNvSpPr>
            <a:spLocks noChangeArrowheads="1"/>
          </p:cNvSpPr>
          <p:nvPr/>
        </p:nvSpPr>
        <p:spPr bwMode="auto">
          <a:xfrm>
            <a:off x="1524000" y="44196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B</a:t>
            </a:r>
          </a:p>
        </p:txBody>
      </p:sp>
      <p:cxnSp>
        <p:nvCxnSpPr>
          <p:cNvPr id="32801" name="AutoShape 80"/>
          <p:cNvCxnSpPr>
            <a:cxnSpLocks noChangeShapeType="1"/>
            <a:stCxn id="32800" idx="0"/>
            <a:endCxn id="32797" idx="2"/>
          </p:cNvCxnSpPr>
          <p:nvPr/>
        </p:nvCxnSpPr>
        <p:spPr bwMode="auto">
          <a:xfrm flipV="1">
            <a:off x="1676400" y="4114800"/>
            <a:ext cx="838200" cy="304800"/>
          </a:xfrm>
          <a:prstGeom prst="straightConnector1">
            <a:avLst/>
          </a:prstGeom>
          <a:noFill/>
          <a:ln w="12700">
            <a:solidFill>
              <a:schemeClr val="tx1"/>
            </a:solidFill>
            <a:round/>
            <a:headEnd/>
            <a:tailEnd/>
          </a:ln>
        </p:spPr>
      </p:cxnSp>
      <p:cxnSp>
        <p:nvCxnSpPr>
          <p:cNvPr id="32802" name="AutoShape 81"/>
          <p:cNvCxnSpPr>
            <a:cxnSpLocks noChangeShapeType="1"/>
            <a:stCxn id="32797" idx="2"/>
            <a:endCxn id="32799" idx="0"/>
          </p:cNvCxnSpPr>
          <p:nvPr/>
        </p:nvCxnSpPr>
        <p:spPr bwMode="auto">
          <a:xfrm>
            <a:off x="2514600" y="4114800"/>
            <a:ext cx="0" cy="304800"/>
          </a:xfrm>
          <a:prstGeom prst="straightConnector1">
            <a:avLst/>
          </a:prstGeom>
          <a:noFill/>
          <a:ln w="12700">
            <a:solidFill>
              <a:schemeClr val="tx1"/>
            </a:solidFill>
            <a:round/>
            <a:headEnd/>
            <a:tailEnd/>
          </a:ln>
        </p:spPr>
      </p:cxnSp>
      <p:cxnSp>
        <p:nvCxnSpPr>
          <p:cNvPr id="32803" name="AutoShape 82"/>
          <p:cNvCxnSpPr>
            <a:cxnSpLocks noChangeShapeType="1"/>
            <a:stCxn id="32797" idx="2"/>
            <a:endCxn id="32798" idx="0"/>
          </p:cNvCxnSpPr>
          <p:nvPr/>
        </p:nvCxnSpPr>
        <p:spPr bwMode="auto">
          <a:xfrm>
            <a:off x="2514600" y="4114800"/>
            <a:ext cx="838200" cy="304800"/>
          </a:xfrm>
          <a:prstGeom prst="straightConnector1">
            <a:avLst/>
          </a:prstGeom>
          <a:noFill/>
          <a:ln w="12700">
            <a:solidFill>
              <a:schemeClr val="tx1"/>
            </a:solidFill>
            <a:round/>
            <a:headEnd/>
            <a:tailEnd/>
          </a:ln>
        </p:spPr>
      </p:cxnSp>
      <p:sp>
        <p:nvSpPr>
          <p:cNvPr id="32804" name="Rectangle 83"/>
          <p:cNvSpPr>
            <a:spLocks noChangeArrowheads="1"/>
          </p:cNvSpPr>
          <p:nvPr/>
        </p:nvSpPr>
        <p:spPr bwMode="auto">
          <a:xfrm>
            <a:off x="3733800" y="49530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F</a:t>
            </a:r>
          </a:p>
        </p:txBody>
      </p:sp>
      <p:sp>
        <p:nvSpPr>
          <p:cNvPr id="32805" name="Rectangle 84"/>
          <p:cNvSpPr>
            <a:spLocks noChangeArrowheads="1"/>
          </p:cNvSpPr>
          <p:nvPr/>
        </p:nvSpPr>
        <p:spPr bwMode="auto">
          <a:xfrm>
            <a:off x="2743200" y="4953000"/>
            <a:ext cx="304800" cy="304800"/>
          </a:xfrm>
          <a:prstGeom prst="rect">
            <a:avLst/>
          </a:prstGeom>
          <a:solidFill>
            <a:srgbClr val="B2B2B2"/>
          </a:solidFill>
          <a:ln w="12700">
            <a:solidFill>
              <a:schemeClr val="tx1"/>
            </a:solidFill>
            <a:miter lim="800000"/>
            <a:headEnd/>
            <a:tailEnd/>
          </a:ln>
        </p:spPr>
        <p:txBody>
          <a:bodyPr wrap="none" anchor="ctr"/>
          <a:lstStyle/>
          <a:p>
            <a:pPr algn="ctr"/>
            <a:r>
              <a:rPr lang="en-GB" sz="2000">
                <a:latin typeface="Arial Unicode MS" pitchFamily="34" charset="-128"/>
              </a:rPr>
              <a:t>E</a:t>
            </a:r>
          </a:p>
        </p:txBody>
      </p:sp>
      <p:cxnSp>
        <p:nvCxnSpPr>
          <p:cNvPr id="32806" name="AutoShape 85"/>
          <p:cNvCxnSpPr>
            <a:cxnSpLocks noChangeShapeType="1"/>
            <a:stCxn id="32798" idx="2"/>
            <a:endCxn id="32805" idx="0"/>
          </p:cNvCxnSpPr>
          <p:nvPr/>
        </p:nvCxnSpPr>
        <p:spPr bwMode="auto">
          <a:xfrm flipH="1">
            <a:off x="2895600" y="4724400"/>
            <a:ext cx="457200" cy="228600"/>
          </a:xfrm>
          <a:prstGeom prst="straightConnector1">
            <a:avLst/>
          </a:prstGeom>
          <a:noFill/>
          <a:ln w="12700">
            <a:solidFill>
              <a:schemeClr val="tx1"/>
            </a:solidFill>
            <a:round/>
            <a:headEnd/>
            <a:tailEnd/>
          </a:ln>
        </p:spPr>
      </p:cxnSp>
      <p:cxnSp>
        <p:nvCxnSpPr>
          <p:cNvPr id="32807" name="AutoShape 86"/>
          <p:cNvCxnSpPr>
            <a:cxnSpLocks noChangeShapeType="1"/>
            <a:stCxn id="32798" idx="2"/>
            <a:endCxn id="32804" idx="0"/>
          </p:cNvCxnSpPr>
          <p:nvPr/>
        </p:nvCxnSpPr>
        <p:spPr bwMode="auto">
          <a:xfrm>
            <a:off x="3352800" y="4724400"/>
            <a:ext cx="533400" cy="228600"/>
          </a:xfrm>
          <a:prstGeom prst="straightConnector1">
            <a:avLst/>
          </a:prstGeom>
          <a:noFill/>
          <a:ln w="12700">
            <a:solidFill>
              <a:schemeClr val="tx1"/>
            </a:solidFill>
            <a:round/>
            <a:headEnd/>
            <a:tailEnd/>
          </a:ln>
        </p:spPr>
      </p:cxnSp>
      <p:sp>
        <p:nvSpPr>
          <p:cNvPr id="32808" name="Rectangle 87"/>
          <p:cNvSpPr>
            <a:spLocks noChangeArrowheads="1"/>
          </p:cNvSpPr>
          <p:nvPr/>
        </p:nvSpPr>
        <p:spPr bwMode="auto">
          <a:xfrm>
            <a:off x="2057400" y="49530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H</a:t>
            </a:r>
          </a:p>
        </p:txBody>
      </p:sp>
      <p:sp>
        <p:nvSpPr>
          <p:cNvPr id="32809" name="Rectangle 88"/>
          <p:cNvSpPr>
            <a:spLocks noChangeArrowheads="1"/>
          </p:cNvSpPr>
          <p:nvPr/>
        </p:nvSpPr>
        <p:spPr bwMode="auto">
          <a:xfrm>
            <a:off x="1066800" y="49530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G</a:t>
            </a:r>
          </a:p>
        </p:txBody>
      </p:sp>
      <p:cxnSp>
        <p:nvCxnSpPr>
          <p:cNvPr id="32810" name="AutoShape 89"/>
          <p:cNvCxnSpPr>
            <a:cxnSpLocks noChangeShapeType="1"/>
            <a:endCxn id="32809" idx="0"/>
          </p:cNvCxnSpPr>
          <p:nvPr/>
        </p:nvCxnSpPr>
        <p:spPr bwMode="auto">
          <a:xfrm flipH="1">
            <a:off x="1219200" y="4724400"/>
            <a:ext cx="457200" cy="228600"/>
          </a:xfrm>
          <a:prstGeom prst="straightConnector1">
            <a:avLst/>
          </a:prstGeom>
          <a:noFill/>
          <a:ln w="12700">
            <a:solidFill>
              <a:schemeClr val="tx1"/>
            </a:solidFill>
            <a:round/>
            <a:headEnd/>
            <a:tailEnd/>
          </a:ln>
        </p:spPr>
      </p:cxnSp>
      <p:cxnSp>
        <p:nvCxnSpPr>
          <p:cNvPr id="32811" name="AutoShape 90"/>
          <p:cNvCxnSpPr>
            <a:cxnSpLocks noChangeShapeType="1"/>
            <a:stCxn id="32800" idx="2"/>
            <a:endCxn id="32808" idx="0"/>
          </p:cNvCxnSpPr>
          <p:nvPr/>
        </p:nvCxnSpPr>
        <p:spPr bwMode="auto">
          <a:xfrm>
            <a:off x="1676400" y="4724400"/>
            <a:ext cx="533400" cy="228600"/>
          </a:xfrm>
          <a:prstGeom prst="straightConnector1">
            <a:avLst/>
          </a:prstGeom>
          <a:noFill/>
          <a:ln w="12700">
            <a:solidFill>
              <a:schemeClr val="tx1"/>
            </a:solidFill>
            <a:round/>
            <a:headEnd/>
            <a:tailEnd/>
          </a:ln>
        </p:spPr>
      </p:cxnSp>
      <p:sp>
        <p:nvSpPr>
          <p:cNvPr id="32812" name="Text Box 95"/>
          <p:cNvSpPr txBox="1">
            <a:spLocks noChangeArrowheads="1"/>
          </p:cNvSpPr>
          <p:nvPr/>
        </p:nvSpPr>
        <p:spPr bwMode="auto">
          <a:xfrm>
            <a:off x="2362200" y="47244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5</a:t>
            </a:r>
          </a:p>
        </p:txBody>
      </p:sp>
      <p:sp>
        <p:nvSpPr>
          <p:cNvPr id="32813" name="Text Box 96"/>
          <p:cNvSpPr txBox="1">
            <a:spLocks noChangeArrowheads="1"/>
          </p:cNvSpPr>
          <p:nvPr/>
        </p:nvSpPr>
        <p:spPr bwMode="auto">
          <a:xfrm>
            <a:off x="3733800" y="52578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6</a:t>
            </a:r>
          </a:p>
        </p:txBody>
      </p:sp>
      <p:sp>
        <p:nvSpPr>
          <p:cNvPr id="32814" name="Text Box 97"/>
          <p:cNvSpPr txBox="1">
            <a:spLocks noChangeArrowheads="1"/>
          </p:cNvSpPr>
          <p:nvPr/>
        </p:nvSpPr>
        <p:spPr bwMode="auto">
          <a:xfrm>
            <a:off x="1066800" y="52578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6</a:t>
            </a:r>
          </a:p>
        </p:txBody>
      </p:sp>
      <p:sp>
        <p:nvSpPr>
          <p:cNvPr id="32815" name="Text Box 98"/>
          <p:cNvSpPr txBox="1">
            <a:spLocks noChangeArrowheads="1"/>
          </p:cNvSpPr>
          <p:nvPr/>
        </p:nvSpPr>
        <p:spPr bwMode="auto">
          <a:xfrm>
            <a:off x="2057400" y="52578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5</a:t>
            </a:r>
          </a:p>
        </p:txBody>
      </p:sp>
      <p:sp>
        <p:nvSpPr>
          <p:cNvPr id="32816" name="Text Box 99"/>
          <p:cNvSpPr txBox="1">
            <a:spLocks noChangeArrowheads="1"/>
          </p:cNvSpPr>
          <p:nvPr/>
        </p:nvSpPr>
        <p:spPr bwMode="auto">
          <a:xfrm>
            <a:off x="2743200" y="52578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4</a:t>
            </a:r>
          </a:p>
        </p:txBody>
      </p:sp>
      <p:sp>
        <p:nvSpPr>
          <p:cNvPr id="32817" name="Rectangle 101"/>
          <p:cNvSpPr>
            <a:spLocks noChangeArrowheads="1"/>
          </p:cNvSpPr>
          <p:nvPr/>
        </p:nvSpPr>
        <p:spPr bwMode="auto">
          <a:xfrm>
            <a:off x="6477000" y="18288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A</a:t>
            </a:r>
          </a:p>
        </p:txBody>
      </p:sp>
      <p:sp>
        <p:nvSpPr>
          <p:cNvPr id="32818" name="Rectangle 102"/>
          <p:cNvSpPr>
            <a:spLocks noChangeArrowheads="1"/>
          </p:cNvSpPr>
          <p:nvPr/>
        </p:nvSpPr>
        <p:spPr bwMode="auto">
          <a:xfrm>
            <a:off x="7315200" y="24384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D</a:t>
            </a:r>
          </a:p>
        </p:txBody>
      </p:sp>
      <p:sp>
        <p:nvSpPr>
          <p:cNvPr id="32819" name="Rectangle 103"/>
          <p:cNvSpPr>
            <a:spLocks noChangeArrowheads="1"/>
          </p:cNvSpPr>
          <p:nvPr/>
        </p:nvSpPr>
        <p:spPr bwMode="auto">
          <a:xfrm>
            <a:off x="6477000" y="24384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C</a:t>
            </a:r>
          </a:p>
        </p:txBody>
      </p:sp>
      <p:sp>
        <p:nvSpPr>
          <p:cNvPr id="32820" name="Rectangle 104"/>
          <p:cNvSpPr>
            <a:spLocks noChangeArrowheads="1"/>
          </p:cNvSpPr>
          <p:nvPr/>
        </p:nvSpPr>
        <p:spPr bwMode="auto">
          <a:xfrm>
            <a:off x="5638800" y="2438400"/>
            <a:ext cx="304800" cy="304800"/>
          </a:xfrm>
          <a:prstGeom prst="rect">
            <a:avLst/>
          </a:prstGeom>
          <a:solidFill>
            <a:srgbClr val="B2B2B2"/>
          </a:solidFill>
          <a:ln w="12700">
            <a:solidFill>
              <a:schemeClr val="tx1"/>
            </a:solidFill>
            <a:miter lim="800000"/>
            <a:headEnd/>
            <a:tailEnd/>
          </a:ln>
        </p:spPr>
        <p:txBody>
          <a:bodyPr wrap="none" anchor="ctr"/>
          <a:lstStyle/>
          <a:p>
            <a:pPr algn="ctr"/>
            <a:r>
              <a:rPr lang="en-GB" sz="2000">
                <a:latin typeface="Arial Unicode MS" pitchFamily="34" charset="-128"/>
              </a:rPr>
              <a:t>B</a:t>
            </a:r>
          </a:p>
        </p:txBody>
      </p:sp>
      <p:cxnSp>
        <p:nvCxnSpPr>
          <p:cNvPr id="32821" name="AutoShape 105"/>
          <p:cNvCxnSpPr>
            <a:cxnSpLocks noChangeShapeType="1"/>
            <a:stCxn id="32820" idx="0"/>
            <a:endCxn id="32817" idx="2"/>
          </p:cNvCxnSpPr>
          <p:nvPr/>
        </p:nvCxnSpPr>
        <p:spPr bwMode="auto">
          <a:xfrm flipV="1">
            <a:off x="5791200" y="2133600"/>
            <a:ext cx="838200" cy="304800"/>
          </a:xfrm>
          <a:prstGeom prst="straightConnector1">
            <a:avLst/>
          </a:prstGeom>
          <a:noFill/>
          <a:ln w="12700">
            <a:solidFill>
              <a:schemeClr val="tx1"/>
            </a:solidFill>
            <a:round/>
            <a:headEnd/>
            <a:tailEnd/>
          </a:ln>
        </p:spPr>
      </p:cxnSp>
      <p:cxnSp>
        <p:nvCxnSpPr>
          <p:cNvPr id="32822" name="AutoShape 106"/>
          <p:cNvCxnSpPr>
            <a:cxnSpLocks noChangeShapeType="1"/>
            <a:stCxn id="32817" idx="2"/>
            <a:endCxn id="32819" idx="0"/>
          </p:cNvCxnSpPr>
          <p:nvPr/>
        </p:nvCxnSpPr>
        <p:spPr bwMode="auto">
          <a:xfrm>
            <a:off x="6629400" y="2133600"/>
            <a:ext cx="0" cy="304800"/>
          </a:xfrm>
          <a:prstGeom prst="straightConnector1">
            <a:avLst/>
          </a:prstGeom>
          <a:noFill/>
          <a:ln w="12700">
            <a:solidFill>
              <a:schemeClr val="tx1"/>
            </a:solidFill>
            <a:round/>
            <a:headEnd/>
            <a:tailEnd/>
          </a:ln>
        </p:spPr>
      </p:cxnSp>
      <p:cxnSp>
        <p:nvCxnSpPr>
          <p:cNvPr id="32823" name="AutoShape 107"/>
          <p:cNvCxnSpPr>
            <a:cxnSpLocks noChangeShapeType="1"/>
            <a:stCxn id="32817" idx="2"/>
            <a:endCxn id="32818" idx="0"/>
          </p:cNvCxnSpPr>
          <p:nvPr/>
        </p:nvCxnSpPr>
        <p:spPr bwMode="auto">
          <a:xfrm>
            <a:off x="6629400" y="2133600"/>
            <a:ext cx="838200" cy="304800"/>
          </a:xfrm>
          <a:prstGeom prst="straightConnector1">
            <a:avLst/>
          </a:prstGeom>
          <a:noFill/>
          <a:ln w="12700">
            <a:solidFill>
              <a:schemeClr val="tx1"/>
            </a:solidFill>
            <a:round/>
            <a:headEnd/>
            <a:tailEnd/>
          </a:ln>
        </p:spPr>
      </p:cxnSp>
      <p:sp>
        <p:nvSpPr>
          <p:cNvPr id="32824" name="Rectangle 108"/>
          <p:cNvSpPr>
            <a:spLocks noChangeArrowheads="1"/>
          </p:cNvSpPr>
          <p:nvPr/>
        </p:nvSpPr>
        <p:spPr bwMode="auto">
          <a:xfrm>
            <a:off x="7848600" y="29718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F</a:t>
            </a:r>
          </a:p>
        </p:txBody>
      </p:sp>
      <p:sp>
        <p:nvSpPr>
          <p:cNvPr id="32825" name="Rectangle 109"/>
          <p:cNvSpPr>
            <a:spLocks noChangeArrowheads="1"/>
          </p:cNvSpPr>
          <p:nvPr/>
        </p:nvSpPr>
        <p:spPr bwMode="auto">
          <a:xfrm>
            <a:off x="6858000" y="29718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E</a:t>
            </a:r>
          </a:p>
        </p:txBody>
      </p:sp>
      <p:cxnSp>
        <p:nvCxnSpPr>
          <p:cNvPr id="32826" name="AutoShape 110"/>
          <p:cNvCxnSpPr>
            <a:cxnSpLocks noChangeShapeType="1"/>
            <a:stCxn id="32818" idx="2"/>
            <a:endCxn id="32825" idx="0"/>
          </p:cNvCxnSpPr>
          <p:nvPr/>
        </p:nvCxnSpPr>
        <p:spPr bwMode="auto">
          <a:xfrm flipH="1">
            <a:off x="7010400" y="2743200"/>
            <a:ext cx="457200" cy="228600"/>
          </a:xfrm>
          <a:prstGeom prst="straightConnector1">
            <a:avLst/>
          </a:prstGeom>
          <a:noFill/>
          <a:ln w="12700">
            <a:solidFill>
              <a:schemeClr val="tx1"/>
            </a:solidFill>
            <a:round/>
            <a:headEnd/>
            <a:tailEnd/>
          </a:ln>
        </p:spPr>
      </p:cxnSp>
      <p:cxnSp>
        <p:nvCxnSpPr>
          <p:cNvPr id="32827" name="AutoShape 111"/>
          <p:cNvCxnSpPr>
            <a:cxnSpLocks noChangeShapeType="1"/>
            <a:stCxn id="32818" idx="2"/>
            <a:endCxn id="32824" idx="0"/>
          </p:cNvCxnSpPr>
          <p:nvPr/>
        </p:nvCxnSpPr>
        <p:spPr bwMode="auto">
          <a:xfrm>
            <a:off x="7467600" y="2743200"/>
            <a:ext cx="533400" cy="228600"/>
          </a:xfrm>
          <a:prstGeom prst="straightConnector1">
            <a:avLst/>
          </a:prstGeom>
          <a:noFill/>
          <a:ln w="12700">
            <a:solidFill>
              <a:schemeClr val="tx1"/>
            </a:solidFill>
            <a:round/>
            <a:headEnd/>
            <a:tailEnd/>
          </a:ln>
        </p:spPr>
      </p:cxnSp>
      <p:sp>
        <p:nvSpPr>
          <p:cNvPr id="32828" name="Text Box 116"/>
          <p:cNvSpPr txBox="1">
            <a:spLocks noChangeArrowheads="1"/>
          </p:cNvSpPr>
          <p:nvPr/>
        </p:nvSpPr>
        <p:spPr bwMode="auto">
          <a:xfrm>
            <a:off x="6477000" y="27432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5</a:t>
            </a:r>
          </a:p>
        </p:txBody>
      </p:sp>
      <p:sp>
        <p:nvSpPr>
          <p:cNvPr id="32829" name="Text Box 117"/>
          <p:cNvSpPr txBox="1">
            <a:spLocks noChangeArrowheads="1"/>
          </p:cNvSpPr>
          <p:nvPr/>
        </p:nvSpPr>
        <p:spPr bwMode="auto">
          <a:xfrm>
            <a:off x="7848600" y="32766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6</a:t>
            </a:r>
          </a:p>
        </p:txBody>
      </p:sp>
      <p:sp>
        <p:nvSpPr>
          <p:cNvPr id="32830" name="Text Box 119"/>
          <p:cNvSpPr txBox="1">
            <a:spLocks noChangeArrowheads="1"/>
          </p:cNvSpPr>
          <p:nvPr/>
        </p:nvSpPr>
        <p:spPr bwMode="auto">
          <a:xfrm>
            <a:off x="5638800" y="27432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3</a:t>
            </a:r>
          </a:p>
        </p:txBody>
      </p:sp>
      <p:sp>
        <p:nvSpPr>
          <p:cNvPr id="32831" name="Text Box 120"/>
          <p:cNvSpPr txBox="1">
            <a:spLocks noChangeArrowheads="1"/>
          </p:cNvSpPr>
          <p:nvPr/>
        </p:nvSpPr>
        <p:spPr bwMode="auto">
          <a:xfrm>
            <a:off x="6858000" y="32766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4</a:t>
            </a:r>
          </a:p>
        </p:txBody>
      </p:sp>
      <p:sp>
        <p:nvSpPr>
          <p:cNvPr id="32832" name="Rectangle 121"/>
          <p:cNvSpPr>
            <a:spLocks noChangeArrowheads="1"/>
          </p:cNvSpPr>
          <p:nvPr/>
        </p:nvSpPr>
        <p:spPr bwMode="auto">
          <a:xfrm>
            <a:off x="3352800" y="18288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A</a:t>
            </a:r>
          </a:p>
        </p:txBody>
      </p:sp>
      <p:sp>
        <p:nvSpPr>
          <p:cNvPr id="32833" name="Rectangle 122"/>
          <p:cNvSpPr>
            <a:spLocks noChangeArrowheads="1"/>
          </p:cNvSpPr>
          <p:nvPr/>
        </p:nvSpPr>
        <p:spPr bwMode="auto">
          <a:xfrm>
            <a:off x="4191000" y="2438400"/>
            <a:ext cx="304800" cy="304800"/>
          </a:xfrm>
          <a:prstGeom prst="rect">
            <a:avLst/>
          </a:prstGeom>
          <a:solidFill>
            <a:srgbClr val="B2B2B2"/>
          </a:solidFill>
          <a:ln w="12700">
            <a:solidFill>
              <a:schemeClr val="tx1"/>
            </a:solidFill>
            <a:miter lim="800000"/>
            <a:headEnd/>
            <a:tailEnd/>
          </a:ln>
        </p:spPr>
        <p:txBody>
          <a:bodyPr wrap="none" anchor="ctr"/>
          <a:lstStyle/>
          <a:p>
            <a:pPr algn="ctr"/>
            <a:r>
              <a:rPr lang="en-GB" sz="2000">
                <a:latin typeface="Arial Unicode MS" pitchFamily="34" charset="-128"/>
              </a:rPr>
              <a:t>D</a:t>
            </a:r>
          </a:p>
        </p:txBody>
      </p:sp>
      <p:sp>
        <p:nvSpPr>
          <p:cNvPr id="32834" name="Rectangle 123"/>
          <p:cNvSpPr>
            <a:spLocks noChangeArrowheads="1"/>
          </p:cNvSpPr>
          <p:nvPr/>
        </p:nvSpPr>
        <p:spPr bwMode="auto">
          <a:xfrm>
            <a:off x="3352800" y="24384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C</a:t>
            </a:r>
          </a:p>
        </p:txBody>
      </p:sp>
      <p:sp>
        <p:nvSpPr>
          <p:cNvPr id="32835" name="Rectangle 124"/>
          <p:cNvSpPr>
            <a:spLocks noChangeArrowheads="1"/>
          </p:cNvSpPr>
          <p:nvPr/>
        </p:nvSpPr>
        <p:spPr bwMode="auto">
          <a:xfrm>
            <a:off x="2514600" y="24384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B</a:t>
            </a:r>
          </a:p>
        </p:txBody>
      </p:sp>
      <p:cxnSp>
        <p:nvCxnSpPr>
          <p:cNvPr id="32836" name="AutoShape 125"/>
          <p:cNvCxnSpPr>
            <a:cxnSpLocks noChangeShapeType="1"/>
            <a:stCxn id="32835" idx="0"/>
            <a:endCxn id="32832" idx="2"/>
          </p:cNvCxnSpPr>
          <p:nvPr/>
        </p:nvCxnSpPr>
        <p:spPr bwMode="auto">
          <a:xfrm flipV="1">
            <a:off x="2667000" y="2133600"/>
            <a:ext cx="838200" cy="304800"/>
          </a:xfrm>
          <a:prstGeom prst="straightConnector1">
            <a:avLst/>
          </a:prstGeom>
          <a:noFill/>
          <a:ln w="12700">
            <a:solidFill>
              <a:schemeClr val="tx1"/>
            </a:solidFill>
            <a:round/>
            <a:headEnd/>
            <a:tailEnd/>
          </a:ln>
        </p:spPr>
      </p:cxnSp>
      <p:cxnSp>
        <p:nvCxnSpPr>
          <p:cNvPr id="32837" name="AutoShape 126"/>
          <p:cNvCxnSpPr>
            <a:cxnSpLocks noChangeShapeType="1"/>
            <a:stCxn id="32832" idx="2"/>
            <a:endCxn id="32834" idx="0"/>
          </p:cNvCxnSpPr>
          <p:nvPr/>
        </p:nvCxnSpPr>
        <p:spPr bwMode="auto">
          <a:xfrm>
            <a:off x="3505200" y="2133600"/>
            <a:ext cx="0" cy="304800"/>
          </a:xfrm>
          <a:prstGeom prst="straightConnector1">
            <a:avLst/>
          </a:prstGeom>
          <a:noFill/>
          <a:ln w="12700">
            <a:solidFill>
              <a:schemeClr val="tx1"/>
            </a:solidFill>
            <a:round/>
            <a:headEnd/>
            <a:tailEnd/>
          </a:ln>
        </p:spPr>
      </p:cxnSp>
      <p:cxnSp>
        <p:nvCxnSpPr>
          <p:cNvPr id="32838" name="AutoShape 127"/>
          <p:cNvCxnSpPr>
            <a:cxnSpLocks noChangeShapeType="1"/>
            <a:stCxn id="32832" idx="2"/>
            <a:endCxn id="32833" idx="0"/>
          </p:cNvCxnSpPr>
          <p:nvPr/>
        </p:nvCxnSpPr>
        <p:spPr bwMode="auto">
          <a:xfrm>
            <a:off x="3505200" y="2133600"/>
            <a:ext cx="838200" cy="304800"/>
          </a:xfrm>
          <a:prstGeom prst="straightConnector1">
            <a:avLst/>
          </a:prstGeom>
          <a:noFill/>
          <a:ln w="12700">
            <a:solidFill>
              <a:schemeClr val="tx1"/>
            </a:solidFill>
            <a:round/>
            <a:headEnd/>
            <a:tailEnd/>
          </a:ln>
        </p:spPr>
      </p:cxnSp>
      <p:sp>
        <p:nvSpPr>
          <p:cNvPr id="32839" name="Text Box 132"/>
          <p:cNvSpPr txBox="1">
            <a:spLocks noChangeArrowheads="1"/>
          </p:cNvSpPr>
          <p:nvPr/>
        </p:nvSpPr>
        <p:spPr bwMode="auto">
          <a:xfrm>
            <a:off x="3352800" y="27432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5</a:t>
            </a:r>
          </a:p>
        </p:txBody>
      </p:sp>
      <p:sp>
        <p:nvSpPr>
          <p:cNvPr id="32840" name="Text Box 134"/>
          <p:cNvSpPr txBox="1">
            <a:spLocks noChangeArrowheads="1"/>
          </p:cNvSpPr>
          <p:nvPr/>
        </p:nvSpPr>
        <p:spPr bwMode="auto">
          <a:xfrm>
            <a:off x="2514600" y="27432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3</a:t>
            </a:r>
          </a:p>
        </p:txBody>
      </p:sp>
      <p:sp>
        <p:nvSpPr>
          <p:cNvPr id="32841" name="Text Box 135"/>
          <p:cNvSpPr txBox="1">
            <a:spLocks noChangeArrowheads="1"/>
          </p:cNvSpPr>
          <p:nvPr/>
        </p:nvSpPr>
        <p:spPr bwMode="auto">
          <a:xfrm>
            <a:off x="4191000" y="2743200"/>
            <a:ext cx="381000" cy="396875"/>
          </a:xfrm>
          <a:prstGeom prst="rect">
            <a:avLst/>
          </a:prstGeom>
          <a:noFill/>
          <a:ln w="9525">
            <a:noFill/>
            <a:miter lim="800000"/>
            <a:headEnd/>
            <a:tailEnd/>
          </a:ln>
        </p:spPr>
        <p:txBody>
          <a:bodyPr>
            <a:spAutoFit/>
          </a:bodyPr>
          <a:lstStyle/>
          <a:p>
            <a:pPr>
              <a:spcBef>
                <a:spcPct val="50000"/>
              </a:spcBef>
            </a:pPr>
            <a:r>
              <a:rPr lang="en-GB" sz="2000">
                <a:solidFill>
                  <a:srgbClr val="0000FF"/>
                </a:solidFill>
                <a:latin typeface="Arial Unicode MS" pitchFamily="34" charset="-128"/>
              </a:rPr>
              <a:t>1</a:t>
            </a:r>
          </a:p>
        </p:txBody>
      </p:sp>
      <p:sp>
        <p:nvSpPr>
          <p:cNvPr id="32842" name="Rectangle 136"/>
          <p:cNvSpPr>
            <a:spLocks noChangeArrowheads="1"/>
          </p:cNvSpPr>
          <p:nvPr/>
        </p:nvSpPr>
        <p:spPr bwMode="auto">
          <a:xfrm>
            <a:off x="1066800" y="1828800"/>
            <a:ext cx="304800" cy="304800"/>
          </a:xfrm>
          <a:prstGeom prst="rect">
            <a:avLst/>
          </a:prstGeom>
          <a:noFill/>
          <a:ln w="12700">
            <a:solidFill>
              <a:schemeClr val="tx1"/>
            </a:solidFill>
            <a:miter lim="800000"/>
            <a:headEnd/>
            <a:tailEnd/>
          </a:ln>
        </p:spPr>
        <p:txBody>
          <a:bodyPr wrap="none" anchor="ctr"/>
          <a:lstStyle/>
          <a:p>
            <a:pPr algn="ctr"/>
            <a:r>
              <a:rPr lang="en-GB" sz="2000">
                <a:latin typeface="Arial Unicode MS" pitchFamily="34" charset="-128"/>
              </a:rPr>
              <a:t>A</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2"/>
          </p:nvPr>
        </p:nvSpPr>
        <p:spPr>
          <a:noFill/>
          <a:ln>
            <a:miter lim="800000"/>
            <a:headEnd/>
            <a:tailEnd/>
          </a:ln>
        </p:spPr>
        <p:txBody>
          <a:bodyPr/>
          <a:lstStyle/>
          <a:p>
            <a:fld id="{6B353B22-CF6C-4A07-BB2D-570CDC4A40ED}" type="slidenum">
              <a:rPr lang="en-GB" smtClean="0"/>
              <a:pPr/>
              <a:t>152</a:t>
            </a:fld>
            <a:endParaRPr lang="en-GB"/>
          </a:p>
        </p:txBody>
      </p:sp>
      <p:sp>
        <p:nvSpPr>
          <p:cNvPr id="33795" name="Rectangle 2"/>
          <p:cNvSpPr>
            <a:spLocks noGrp="1" noChangeArrowheads="1"/>
          </p:cNvSpPr>
          <p:nvPr>
            <p:ph type="title"/>
          </p:nvPr>
        </p:nvSpPr>
        <p:spPr/>
        <p:txBody>
          <a:bodyPr/>
          <a:lstStyle/>
          <a:p>
            <a:pPr eaLnBrk="1" hangingPunct="1"/>
            <a:r>
              <a:rPr lang="en-GB"/>
              <a:t>Best-First Search</a:t>
            </a:r>
          </a:p>
        </p:txBody>
      </p:sp>
      <p:sp>
        <p:nvSpPr>
          <p:cNvPr id="33796" name="Rectangle 3"/>
          <p:cNvSpPr>
            <a:spLocks noGrp="1" noChangeArrowheads="1"/>
          </p:cNvSpPr>
          <p:nvPr>
            <p:ph type="body" idx="1"/>
          </p:nvPr>
        </p:nvSpPr>
        <p:spPr>
          <a:xfrm>
            <a:off x="301752" y="1752600"/>
            <a:ext cx="8503920" cy="4346448"/>
          </a:xfrm>
          <a:noFill/>
        </p:spPr>
        <p:txBody>
          <a:bodyPr/>
          <a:lstStyle/>
          <a:p>
            <a:pPr eaLnBrk="1" hangingPunct="1">
              <a:spcBef>
                <a:spcPct val="0"/>
              </a:spcBef>
              <a:spcAft>
                <a:spcPct val="50000"/>
              </a:spcAft>
              <a:buClr>
                <a:schemeClr val="tx1"/>
              </a:buClr>
              <a:buSzPct val="120000"/>
            </a:pPr>
            <a:r>
              <a:rPr lang="en-GB" dirty="0">
                <a:solidFill>
                  <a:srgbClr val="0000FF"/>
                </a:solidFill>
              </a:rPr>
              <a:t>OPEN</a:t>
            </a:r>
            <a:r>
              <a:rPr lang="en-GB" dirty="0"/>
              <a:t>: Nodes that have been generated, but have not examined.</a:t>
            </a:r>
          </a:p>
          <a:p>
            <a:pPr eaLnBrk="1" hangingPunct="1">
              <a:spcBef>
                <a:spcPct val="0"/>
              </a:spcBef>
              <a:buClr>
                <a:schemeClr val="tx1"/>
              </a:buClr>
              <a:buSzPct val="120000"/>
              <a:buFontTx/>
              <a:buNone/>
            </a:pPr>
            <a:r>
              <a:rPr lang="en-GB" dirty="0"/>
              <a:t>	This is organized as a </a:t>
            </a:r>
            <a:r>
              <a:rPr lang="en-GB" dirty="0">
                <a:solidFill>
                  <a:srgbClr val="0000FF"/>
                </a:solidFill>
              </a:rPr>
              <a:t>priority queue</a:t>
            </a:r>
            <a:r>
              <a:rPr lang="en-GB" dirty="0"/>
              <a:t>.</a:t>
            </a:r>
          </a:p>
          <a:p>
            <a:pPr eaLnBrk="1" hangingPunct="1">
              <a:spcBef>
                <a:spcPct val="0"/>
              </a:spcBef>
              <a:buClr>
                <a:schemeClr val="tx1"/>
              </a:buClr>
              <a:buSzPct val="120000"/>
              <a:buFontTx/>
              <a:buNone/>
            </a:pPr>
            <a:endParaRPr lang="en-GB" dirty="0"/>
          </a:p>
          <a:p>
            <a:pPr eaLnBrk="1" hangingPunct="1">
              <a:spcBef>
                <a:spcPct val="0"/>
              </a:spcBef>
              <a:spcAft>
                <a:spcPct val="50000"/>
              </a:spcAft>
              <a:buClr>
                <a:schemeClr val="tx1"/>
              </a:buClr>
              <a:buSzPct val="120000"/>
            </a:pPr>
            <a:r>
              <a:rPr lang="en-GB" dirty="0">
                <a:solidFill>
                  <a:srgbClr val="0000FF"/>
                </a:solidFill>
              </a:rPr>
              <a:t>CLOSED</a:t>
            </a:r>
            <a:r>
              <a:rPr lang="en-GB" dirty="0"/>
              <a:t>: Nodes that have already been examined.</a:t>
            </a:r>
          </a:p>
          <a:p>
            <a:pPr eaLnBrk="1" hangingPunct="1">
              <a:spcBef>
                <a:spcPct val="0"/>
              </a:spcBef>
              <a:spcAft>
                <a:spcPct val="50000"/>
              </a:spcAft>
              <a:buClr>
                <a:schemeClr val="tx1"/>
              </a:buClr>
              <a:buSzPct val="120000"/>
              <a:buFontTx/>
              <a:buNone/>
            </a:pPr>
            <a:r>
              <a:rPr lang="en-GB" dirty="0">
                <a:sym typeface="Symbol" pitchFamily="18" charset="2"/>
              </a:rPr>
              <a:t>	Whenever a new node is generated, </a:t>
            </a:r>
            <a:r>
              <a:rPr lang="en-GB" dirty="0">
                <a:solidFill>
                  <a:srgbClr val="0000FF"/>
                </a:solidFill>
                <a:sym typeface="Symbol" pitchFamily="18" charset="2"/>
              </a:rPr>
              <a:t>check</a:t>
            </a:r>
            <a:r>
              <a:rPr lang="en-GB" dirty="0">
                <a:sym typeface="Symbol" pitchFamily="18" charset="2"/>
              </a:rPr>
              <a:t> whether it has been </a:t>
            </a:r>
            <a:r>
              <a:rPr lang="en-GB" dirty="0">
                <a:solidFill>
                  <a:srgbClr val="0000FF"/>
                </a:solidFill>
                <a:sym typeface="Symbol" pitchFamily="18" charset="2"/>
              </a:rPr>
              <a:t>generated before</a:t>
            </a:r>
            <a:r>
              <a:rPr lang="en-GB" dirty="0"/>
              <a:t>.</a:t>
            </a:r>
          </a:p>
          <a:p>
            <a:pPr eaLnBrk="1" hangingPunct="1">
              <a:spcBef>
                <a:spcPct val="0"/>
              </a:spcBef>
              <a:buClr>
                <a:schemeClr val="tx1"/>
              </a:buClr>
              <a:buSzPct val="120000"/>
              <a:buFontTx/>
              <a:buNone/>
            </a:pPr>
            <a:endParaRPr lang="en-GB"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a:ln>
            <a:miter lim="800000"/>
            <a:headEnd/>
            <a:tailEnd/>
          </a:ln>
        </p:spPr>
        <p:txBody>
          <a:bodyPr/>
          <a:lstStyle/>
          <a:p>
            <a:fld id="{DFC2233B-5213-4786-88CE-5C692AFD955E}" type="slidenum">
              <a:rPr lang="en-GB" smtClean="0"/>
              <a:pPr/>
              <a:t>153</a:t>
            </a:fld>
            <a:endParaRPr lang="en-GB"/>
          </a:p>
        </p:txBody>
      </p:sp>
      <p:sp>
        <p:nvSpPr>
          <p:cNvPr id="34819" name="Rectangle 2"/>
          <p:cNvSpPr>
            <a:spLocks noGrp="1" noChangeArrowheads="1"/>
          </p:cNvSpPr>
          <p:nvPr>
            <p:ph type="title"/>
          </p:nvPr>
        </p:nvSpPr>
        <p:spPr/>
        <p:txBody>
          <a:bodyPr/>
          <a:lstStyle/>
          <a:p>
            <a:pPr eaLnBrk="1" hangingPunct="1"/>
            <a:r>
              <a:rPr lang="en-GB"/>
              <a:t>Best-First Search</a:t>
            </a:r>
          </a:p>
        </p:txBody>
      </p:sp>
      <p:sp>
        <p:nvSpPr>
          <p:cNvPr id="34820" name="Rectangle 3"/>
          <p:cNvSpPr>
            <a:spLocks noGrp="1" noChangeArrowheads="1"/>
          </p:cNvSpPr>
          <p:nvPr>
            <p:ph type="body" idx="1"/>
          </p:nvPr>
        </p:nvSpPr>
        <p:spPr>
          <a:xfrm>
            <a:off x="533400" y="1524000"/>
            <a:ext cx="8153400" cy="4572000"/>
          </a:xfrm>
        </p:spPr>
        <p:txBody>
          <a:bodyPr/>
          <a:lstStyle/>
          <a:p>
            <a:pPr marL="533400" indent="-533400" eaLnBrk="1" hangingPunct="1">
              <a:buFontTx/>
              <a:buNone/>
            </a:pPr>
            <a:r>
              <a:rPr lang="en-GB" dirty="0">
                <a:solidFill>
                  <a:srgbClr val="0000FF"/>
                </a:solidFill>
              </a:rPr>
              <a:t>Algorithm</a:t>
            </a:r>
          </a:p>
          <a:p>
            <a:pPr marL="533400" indent="-533400" eaLnBrk="1" hangingPunct="1">
              <a:spcBef>
                <a:spcPct val="0"/>
              </a:spcBef>
              <a:spcAft>
                <a:spcPct val="50000"/>
              </a:spcAft>
              <a:buFontTx/>
              <a:buAutoNum type="arabicPeriod"/>
            </a:pPr>
            <a:r>
              <a:rPr lang="en-GB" dirty="0"/>
              <a:t>OPEN = {initial state}.</a:t>
            </a:r>
          </a:p>
          <a:p>
            <a:pPr marL="533400" indent="-533400" eaLnBrk="1" hangingPunct="1">
              <a:spcBef>
                <a:spcPct val="0"/>
              </a:spcBef>
              <a:spcAft>
                <a:spcPct val="20000"/>
              </a:spcAft>
              <a:buFontTx/>
              <a:buAutoNum type="arabicPeriod"/>
            </a:pPr>
            <a:r>
              <a:rPr lang="en-GB" dirty="0"/>
              <a:t>Loop until a goal is found or there are no nodes left in OPEN:</a:t>
            </a:r>
          </a:p>
          <a:p>
            <a:pPr marL="533400" indent="-533400" eaLnBrk="1" hangingPunct="1">
              <a:spcBef>
                <a:spcPct val="0"/>
              </a:spcBef>
              <a:spcAft>
                <a:spcPct val="20000"/>
              </a:spcAft>
              <a:buClr>
                <a:schemeClr val="tx1"/>
              </a:buClr>
              <a:buSzPct val="120000"/>
              <a:buFontTx/>
              <a:buNone/>
            </a:pPr>
            <a:r>
              <a:rPr lang="en-GB" sz="2000" dirty="0"/>
              <a:t>		</a:t>
            </a:r>
            <a:r>
              <a:rPr lang="en-GB" sz="2000" dirty="0">
                <a:latin typeface="Symbol" pitchFamily="18" charset="2"/>
              </a:rPr>
              <a:t>-</a:t>
            </a:r>
            <a:r>
              <a:rPr lang="en-GB" sz="2000" dirty="0"/>
              <a:t> Pick the best node in OPEN</a:t>
            </a:r>
          </a:p>
          <a:p>
            <a:pPr marL="533400" indent="-533400" eaLnBrk="1" hangingPunct="1">
              <a:spcBef>
                <a:spcPct val="0"/>
              </a:spcBef>
              <a:spcAft>
                <a:spcPct val="20000"/>
              </a:spcAft>
              <a:buClr>
                <a:schemeClr val="tx1"/>
              </a:buClr>
              <a:buSzPct val="120000"/>
              <a:buFontTx/>
              <a:buNone/>
            </a:pPr>
            <a:r>
              <a:rPr lang="en-GB" sz="2000" dirty="0"/>
              <a:t>		</a:t>
            </a:r>
            <a:r>
              <a:rPr lang="en-GB" sz="2000" dirty="0">
                <a:latin typeface="Symbol" pitchFamily="18" charset="2"/>
              </a:rPr>
              <a:t>-</a:t>
            </a:r>
            <a:r>
              <a:rPr lang="en-GB" sz="2000" dirty="0"/>
              <a:t> Generate its successors</a:t>
            </a:r>
          </a:p>
          <a:p>
            <a:pPr marL="533400" indent="-533400" eaLnBrk="1" hangingPunct="1">
              <a:spcBef>
                <a:spcPct val="0"/>
              </a:spcBef>
              <a:spcAft>
                <a:spcPct val="20000"/>
              </a:spcAft>
              <a:buClr>
                <a:schemeClr val="tx1"/>
              </a:buClr>
              <a:buSzPct val="120000"/>
              <a:buFontTx/>
              <a:buNone/>
            </a:pPr>
            <a:r>
              <a:rPr lang="en-GB" sz="2000" dirty="0">
                <a:latin typeface="Symbol" pitchFamily="18" charset="2"/>
              </a:rPr>
              <a:t>		-</a:t>
            </a:r>
            <a:r>
              <a:rPr lang="en-GB" sz="2000" dirty="0"/>
              <a:t> For each successor:</a:t>
            </a:r>
          </a:p>
          <a:p>
            <a:pPr marL="533400" indent="-533400" eaLnBrk="1" hangingPunct="1">
              <a:spcBef>
                <a:spcPct val="0"/>
              </a:spcBef>
              <a:spcAft>
                <a:spcPct val="20000"/>
              </a:spcAft>
              <a:buClr>
                <a:schemeClr val="tx1"/>
              </a:buClr>
              <a:buSzPct val="120000"/>
              <a:buFontTx/>
              <a:buNone/>
            </a:pPr>
            <a:r>
              <a:rPr lang="en-GB" sz="2000" dirty="0"/>
              <a:t>			new </a:t>
            </a:r>
            <a:r>
              <a:rPr lang="en-GB" sz="2000" dirty="0">
                <a:sym typeface="Symbol" pitchFamily="18" charset="2"/>
              </a:rPr>
              <a:t> evaluate it, add it to OPEN, record its parent</a:t>
            </a:r>
          </a:p>
          <a:p>
            <a:pPr marL="533400" indent="-533400" eaLnBrk="1" hangingPunct="1">
              <a:spcBef>
                <a:spcPct val="0"/>
              </a:spcBef>
              <a:spcAft>
                <a:spcPct val="20000"/>
              </a:spcAft>
              <a:buClr>
                <a:schemeClr val="tx1"/>
              </a:buClr>
              <a:buSzPct val="120000"/>
              <a:buFontTx/>
              <a:buNone/>
            </a:pPr>
            <a:r>
              <a:rPr lang="en-GB" sz="2000" dirty="0">
                <a:sym typeface="Symbol" pitchFamily="18" charset="2"/>
              </a:rPr>
              <a:t>			generated before  change parent, update successor</a:t>
            </a:r>
            <a:r>
              <a:rPr lang="en-GB" sz="2000" dirty="0"/>
              <a:t>s</a:t>
            </a:r>
          </a:p>
          <a:p>
            <a:pPr marL="533400" indent="-533400" eaLnBrk="1" hangingPunct="1">
              <a:buFontTx/>
              <a:buAutoNum type="arabicPeriod"/>
            </a:pPr>
            <a:endParaRPr lang="en-GB"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Greedy Best-First Search</a:t>
            </a:r>
          </a:p>
        </p:txBody>
      </p:sp>
      <p:sp>
        <p:nvSpPr>
          <p:cNvPr id="3" name="Content Placeholder 2"/>
          <p:cNvSpPr>
            <a:spLocks noGrp="1"/>
          </p:cNvSpPr>
          <p:nvPr>
            <p:ph sz="quarter" idx="1"/>
          </p:nvPr>
        </p:nvSpPr>
        <p:spPr/>
        <p:txBody>
          <a:bodyPr/>
          <a:lstStyle/>
          <a:p>
            <a:r>
              <a:rPr lang="en-US" dirty="0"/>
              <a:t>Expand a node which is closed to a goal.</a:t>
            </a:r>
          </a:p>
          <a:p>
            <a:endParaRPr lang="en-US" dirty="0"/>
          </a:p>
          <a:p>
            <a:r>
              <a:rPr lang="en-US" dirty="0"/>
              <a:t>Evaluates nodes by using heuristics function.</a:t>
            </a:r>
          </a:p>
          <a:p>
            <a:endParaRPr lang="en-US" dirty="0"/>
          </a:p>
          <a:p>
            <a:r>
              <a:rPr lang="en-US" dirty="0"/>
              <a:t>f(n) = h(n)</a:t>
            </a:r>
          </a:p>
          <a:p>
            <a:endParaRPr lang="en-US" dirty="0"/>
          </a:p>
        </p:txBody>
      </p:sp>
      <p:sp>
        <p:nvSpPr>
          <p:cNvPr id="4" name="Rectangle 6"/>
          <p:cNvSpPr>
            <a:spLocks/>
          </p:cNvSpPr>
          <p:nvPr/>
        </p:nvSpPr>
        <p:spPr bwMode="auto">
          <a:xfrm>
            <a:off x="457200" y="4267199"/>
            <a:ext cx="7670800" cy="1219201"/>
          </a:xfrm>
          <a:prstGeom prst="rect">
            <a:avLst/>
          </a:prstGeom>
          <a:solidFill>
            <a:srgbClr val="0099FF"/>
          </a:solidFill>
          <a:ln w="12700">
            <a:solidFill>
              <a:srgbClr val="000020"/>
            </a:solidFill>
            <a:miter lim="800000"/>
            <a:headEnd/>
            <a:tailEnd/>
          </a:ln>
        </p:spPr>
        <p:txBody>
          <a:bodyPr lIns="0" tIns="0" rIns="40639" bIns="0"/>
          <a:lstStyle/>
          <a:p>
            <a:pPr marL="39688"/>
            <a:r>
              <a:rPr lang="en-US" sz="1800" b="1" dirty="0">
                <a:solidFill>
                  <a:srgbClr val="000020"/>
                </a:solidFill>
                <a:latin typeface="Courier" charset="0"/>
                <a:ea typeface="Courier" charset="0"/>
                <a:cs typeface="Courier" charset="0"/>
                <a:sym typeface="Courier" charset="0"/>
              </a:rPr>
              <a:t>function</a:t>
            </a:r>
            <a:r>
              <a:rPr lang="en-US" sz="1800" dirty="0">
                <a:solidFill>
                  <a:srgbClr val="000020"/>
                </a:solidFill>
                <a:latin typeface="Courier" charset="0"/>
                <a:ea typeface="Courier" charset="0"/>
                <a:cs typeface="Courier" charset="0"/>
                <a:sym typeface="Courier" charset="0"/>
              </a:rPr>
              <a:t> GREEDY-SEARCH(</a:t>
            </a:r>
            <a:r>
              <a:rPr lang="en-US" sz="1800" i="1" dirty="0">
                <a:solidFill>
                  <a:srgbClr val="000020"/>
                </a:solidFill>
                <a:latin typeface="Courier" charset="0"/>
                <a:ea typeface="Courier" charset="0"/>
                <a:cs typeface="Courier" charset="0"/>
                <a:sym typeface="Courier" charset="0"/>
              </a:rPr>
              <a:t>problem</a:t>
            </a:r>
            <a:r>
              <a:rPr lang="en-US" sz="1800" dirty="0">
                <a:solidFill>
                  <a:srgbClr val="000020"/>
                </a:solidFill>
                <a:latin typeface="Courier" charset="0"/>
                <a:ea typeface="Courier" charset="0"/>
                <a:cs typeface="Courier" charset="0"/>
                <a:sym typeface="Courier" charset="0"/>
              </a:rPr>
              <a:t>) </a:t>
            </a:r>
            <a:r>
              <a:rPr lang="en-US" sz="1800" b="1" dirty="0">
                <a:solidFill>
                  <a:srgbClr val="000020"/>
                </a:solidFill>
                <a:latin typeface="Courier" charset="0"/>
                <a:ea typeface="Courier" charset="0"/>
                <a:cs typeface="Courier" charset="0"/>
                <a:sym typeface="Courier" charset="0"/>
              </a:rPr>
              <a:t>returns</a:t>
            </a:r>
            <a:r>
              <a:rPr lang="en-US" sz="1800" dirty="0">
                <a:solidFill>
                  <a:srgbClr val="000020"/>
                </a:solidFill>
                <a:latin typeface="Courier" charset="0"/>
                <a:ea typeface="Courier" charset="0"/>
                <a:cs typeface="Courier" charset="0"/>
                <a:sym typeface="Courier" charset="0"/>
              </a:rPr>
              <a:t> </a:t>
            </a:r>
            <a:r>
              <a:rPr lang="en-US" sz="1800" i="1" dirty="0">
                <a:solidFill>
                  <a:srgbClr val="000020"/>
                </a:solidFill>
                <a:latin typeface="Courier" charset="0"/>
                <a:ea typeface="Courier" charset="0"/>
                <a:cs typeface="Courier" charset="0"/>
                <a:sym typeface="Courier" charset="0"/>
              </a:rPr>
              <a:t>solution</a:t>
            </a:r>
          </a:p>
          <a:p>
            <a:pPr marL="39688"/>
            <a:endParaRPr lang="en-US" dirty="0">
              <a:solidFill>
                <a:schemeClr val="tx1"/>
              </a:solidFill>
              <a:cs typeface="Times New Roman" pitchFamily="18" charset="0"/>
            </a:endParaRPr>
          </a:p>
          <a:p>
            <a:pPr marL="39688"/>
            <a:r>
              <a:rPr lang="en-US" sz="1800" b="1" dirty="0">
                <a:solidFill>
                  <a:srgbClr val="000020"/>
                </a:solidFill>
                <a:latin typeface="Courier" charset="0"/>
                <a:ea typeface="Courier" charset="0"/>
                <a:cs typeface="Courier" charset="0"/>
                <a:sym typeface="Courier" charset="0"/>
              </a:rPr>
              <a:t>return </a:t>
            </a:r>
            <a:r>
              <a:rPr lang="en-US" sz="1800" dirty="0">
                <a:solidFill>
                  <a:srgbClr val="000020"/>
                </a:solidFill>
                <a:latin typeface="Courier" charset="0"/>
                <a:ea typeface="Courier" charset="0"/>
                <a:cs typeface="Courier" charset="0"/>
                <a:sym typeface="Courier" charset="0"/>
              </a:rPr>
              <a:t>BEST-FIRST-SEARCH(</a:t>
            </a:r>
            <a:r>
              <a:rPr lang="en-US" sz="1800" i="1" dirty="0">
                <a:solidFill>
                  <a:srgbClr val="000020"/>
                </a:solidFill>
                <a:latin typeface="Courier" charset="0"/>
                <a:ea typeface="Courier" charset="0"/>
                <a:cs typeface="Courier" charset="0"/>
                <a:sym typeface="Courier" charset="0"/>
              </a:rPr>
              <a:t>problem, h</a:t>
            </a:r>
            <a:r>
              <a:rPr lang="en-US" sz="1800" dirty="0">
                <a:solidFill>
                  <a:srgbClr val="000020"/>
                </a:solidFill>
                <a:latin typeface="Courier" charset="0"/>
                <a:ea typeface="Courier" charset="0"/>
                <a:cs typeface="Courier" charset="0"/>
                <a:sym typeface="Courier" charset="0"/>
              </a:rPr>
              <a:t>)</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3"/>
          <p:cNvSpPr>
            <a:spLocks noGrp="1" noChangeArrowheads="1"/>
          </p:cNvSpPr>
          <p:nvPr>
            <p:ph type="title"/>
          </p:nvPr>
        </p:nvSpPr>
        <p:spPr/>
        <p:txBody>
          <a:bodyPr rIns="130174"/>
          <a:lstStyle/>
          <a:p>
            <a:pPr indent="0" eaLnBrk="1" hangingPunct="1">
              <a:defRPr/>
            </a:pPr>
            <a:r>
              <a:rPr lang="en-US" dirty="0"/>
              <a:t>Greedy Best-First Search</a:t>
            </a:r>
          </a:p>
        </p:txBody>
      </p:sp>
      <p:sp>
        <p:nvSpPr>
          <p:cNvPr id="109573" name="Rectangle 4"/>
          <p:cNvSpPr>
            <a:spLocks noGrp="1" noChangeArrowheads="1"/>
          </p:cNvSpPr>
          <p:nvPr>
            <p:ph type="body" idx="1"/>
          </p:nvPr>
        </p:nvSpPr>
        <p:spPr/>
        <p:txBody>
          <a:bodyPr rIns="130174"/>
          <a:lstStyle/>
          <a:p>
            <a:pPr eaLnBrk="1" hangingPunct="1"/>
            <a:r>
              <a:rPr lang="en-US" dirty="0"/>
              <a:t>Minimizes the estimated cost to a goal</a:t>
            </a:r>
          </a:p>
          <a:p>
            <a:pPr marL="723900" lvl="1" eaLnBrk="1" hangingPunct="1"/>
            <a:r>
              <a:rPr lang="en-US" dirty="0"/>
              <a:t>Expand the node that seems to be closest to a goal</a:t>
            </a:r>
          </a:p>
          <a:p>
            <a:pPr marL="723900" lvl="1" eaLnBrk="1" hangingPunct="1"/>
            <a:r>
              <a:rPr lang="en-US" dirty="0"/>
              <a:t>Utilizes a heuristic function as evaluation function</a:t>
            </a:r>
          </a:p>
          <a:p>
            <a:pPr marL="1066800" lvl="2" eaLnBrk="1" hangingPunct="1"/>
            <a:r>
              <a:rPr lang="en-US" dirty="0">
                <a:latin typeface="Arial Italic" charset="0"/>
                <a:cs typeface="Arial Italic" charset="0"/>
                <a:sym typeface="Arial Italic" charset="0"/>
              </a:rPr>
              <a:t>f(n) = h(n) </a:t>
            </a:r>
            <a:r>
              <a:rPr lang="en-US" dirty="0"/>
              <a:t>= estimated cost from the current node to a goal</a:t>
            </a:r>
          </a:p>
          <a:p>
            <a:pPr marL="1066800" lvl="2" eaLnBrk="1" hangingPunct="1"/>
            <a:r>
              <a:rPr lang="en-US" dirty="0"/>
              <a:t>heuristic functions are problem-specific</a:t>
            </a:r>
          </a:p>
          <a:p>
            <a:pPr marL="1066800" lvl="2" eaLnBrk="1" hangingPunct="1"/>
            <a:r>
              <a:rPr lang="en-US" dirty="0"/>
              <a:t>often straight-line distance for route-finding and similar problems</a:t>
            </a:r>
          </a:p>
          <a:p>
            <a:pPr marL="723900" lvl="1" eaLnBrk="1" hangingPunct="1"/>
            <a:r>
              <a:rPr lang="en-US" dirty="0"/>
              <a:t>Often better than depth-first.</a:t>
            </a:r>
          </a:p>
        </p:txBody>
      </p:sp>
      <p:pic>
        <p:nvPicPr>
          <p:cNvPr id="109574" name="Picture 5"/>
          <p:cNvPicPr>
            <a:picLocks noChangeArrowheads="1"/>
          </p:cNvPicPr>
          <p:nvPr/>
        </p:nvPicPr>
        <p:blipFill>
          <a:blip r:embed="rId2"/>
          <a:srcRect/>
          <a:stretch>
            <a:fillRect/>
          </a:stretch>
        </p:blipFill>
        <p:spPr bwMode="auto">
          <a:xfrm>
            <a:off x="1066800" y="4876800"/>
            <a:ext cx="6858000" cy="1084263"/>
          </a:xfrm>
          <a:prstGeom prst="rect">
            <a:avLst/>
          </a:prstGeom>
          <a:noFill/>
          <a:ln w="9525">
            <a:noFill/>
            <a:miter lim="800000"/>
            <a:headEnd/>
            <a:tailEnd/>
          </a:ln>
        </p:spPr>
      </p:pic>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Greedy Best First Search</a:t>
            </a:r>
          </a:p>
        </p:txBody>
      </p:sp>
      <p:sp>
        <p:nvSpPr>
          <p:cNvPr id="5" name="TextBox 4"/>
          <p:cNvSpPr txBox="1"/>
          <p:nvPr/>
        </p:nvSpPr>
        <p:spPr>
          <a:xfrm>
            <a:off x="609600" y="762000"/>
            <a:ext cx="7924800" cy="1569660"/>
          </a:xfrm>
          <a:prstGeom prst="rect">
            <a:avLst/>
          </a:prstGeom>
          <a:noFill/>
        </p:spPr>
        <p:txBody>
          <a:bodyPr wrap="square" rtlCol="0">
            <a:spAutoFit/>
          </a:bodyPr>
          <a:lstStyle/>
          <a:p>
            <a:endParaRPr lang="en-US" sz="2400" dirty="0"/>
          </a:p>
          <a:p>
            <a:endParaRPr lang="en-US" sz="2400" dirty="0"/>
          </a:p>
          <a:p>
            <a:pPr>
              <a:buFont typeface="Arial" pitchFamily="34" charset="0"/>
              <a:buChar char="•"/>
            </a:pPr>
            <a:r>
              <a:rPr lang="en-US" sz="2400" b="1" dirty="0"/>
              <a:t>Route finding problem in Romania</a:t>
            </a:r>
            <a:r>
              <a:rPr lang="en-US" sz="2400" dirty="0"/>
              <a:t>, using straight      </a:t>
            </a:r>
          </a:p>
          <a:p>
            <a:r>
              <a:rPr lang="en-US" sz="2400" dirty="0"/>
              <a:t>  line distance heuristics.</a:t>
            </a:r>
          </a:p>
        </p:txBody>
      </p:sp>
      <p:pic>
        <p:nvPicPr>
          <p:cNvPr id="7" name="Picture 4"/>
          <p:cNvPicPr>
            <a:picLocks noGrp="1" noChangeAspect="1" noChangeArrowheads="1"/>
          </p:cNvPicPr>
          <p:nvPr>
            <p:ph sz="quarter" idx="1"/>
          </p:nvPr>
        </p:nvPicPr>
        <p:blipFill>
          <a:blip r:embed="rId2"/>
          <a:srcRect/>
          <a:stretch>
            <a:fillRect/>
          </a:stretch>
        </p:blipFill>
        <p:spPr bwMode="auto">
          <a:xfrm>
            <a:off x="228600" y="2362200"/>
            <a:ext cx="8610600" cy="3962400"/>
          </a:xfrm>
          <a:prstGeom prst="rect">
            <a:avLst/>
          </a:prstGeom>
          <a:noFill/>
          <a:ln w="9525">
            <a:noFill/>
            <a:miter lim="800000"/>
            <a:headEnd/>
            <a:tailEnd/>
          </a:ln>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Greedy Best First Search</a:t>
            </a:r>
          </a:p>
        </p:txBody>
      </p:sp>
      <p:pic>
        <p:nvPicPr>
          <p:cNvPr id="5" name="Content Placeholder 4"/>
          <p:cNvPicPr>
            <a:picLocks noGrp="1" noChangeAspect="1" noChangeArrowheads="1"/>
          </p:cNvPicPr>
          <p:nvPr>
            <p:ph sz="quarter" idx="1"/>
          </p:nvPr>
        </p:nvPicPr>
        <p:blipFill>
          <a:blip r:embed="rId2"/>
          <a:srcRect/>
          <a:stretch>
            <a:fillRect/>
          </a:stretch>
        </p:blipFill>
        <p:spPr bwMode="auto">
          <a:xfrm>
            <a:off x="3429000" y="1828800"/>
            <a:ext cx="1743318" cy="657317"/>
          </a:xfrm>
          <a:prstGeom prst="rect">
            <a:avLst/>
          </a:prstGeom>
          <a:noFill/>
          <a:ln w="9525">
            <a:noFill/>
            <a:miter lim="800000"/>
            <a:headEnd/>
            <a:tailEnd/>
          </a:ln>
        </p:spPr>
      </p:pic>
      <p:pic>
        <p:nvPicPr>
          <p:cNvPr id="6" name="Picture 5"/>
          <p:cNvPicPr>
            <a:picLocks noChangeAspect="1" noChangeArrowheads="1"/>
          </p:cNvPicPr>
          <p:nvPr/>
        </p:nvPicPr>
        <p:blipFill>
          <a:blip r:embed="rId3"/>
          <a:srcRect/>
          <a:stretch>
            <a:fillRect/>
          </a:stretch>
        </p:blipFill>
        <p:spPr bwMode="auto">
          <a:xfrm>
            <a:off x="838200" y="3276600"/>
            <a:ext cx="7419975" cy="1562100"/>
          </a:xfrm>
          <a:prstGeom prst="rect">
            <a:avLst/>
          </a:prstGeom>
          <a:noFill/>
          <a:ln w="9525">
            <a:noFill/>
            <a:miter lim="800000"/>
            <a:headEnd/>
            <a:tailEnd/>
          </a:ln>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Greedy Best First Search</a:t>
            </a:r>
          </a:p>
        </p:txBody>
      </p:sp>
      <p:pic>
        <p:nvPicPr>
          <p:cNvPr id="5" name="Content Placeholder 4"/>
          <p:cNvPicPr>
            <a:picLocks noGrp="1" noChangeAspect="1" noChangeArrowheads="1"/>
          </p:cNvPicPr>
          <p:nvPr>
            <p:ph sz="quarter" idx="1"/>
          </p:nvPr>
        </p:nvPicPr>
        <p:blipFill>
          <a:blip r:embed="rId2"/>
          <a:srcRect/>
          <a:stretch>
            <a:fillRect/>
          </a:stretch>
        </p:blipFill>
        <p:spPr bwMode="auto">
          <a:xfrm>
            <a:off x="301625" y="2665474"/>
            <a:ext cx="8504238" cy="2295401"/>
          </a:xfrm>
          <a:prstGeom prst="rect">
            <a:avLst/>
          </a:prstGeom>
          <a:noFill/>
          <a:ln w="9525">
            <a:noFill/>
            <a:miter lim="800000"/>
            <a:headEnd/>
            <a:tailEnd/>
          </a:ln>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Greedy Best First Search</a:t>
            </a:r>
          </a:p>
        </p:txBody>
      </p:sp>
      <p:pic>
        <p:nvPicPr>
          <p:cNvPr id="5" name="Content Placeholder 4"/>
          <p:cNvPicPr>
            <a:picLocks noGrp="1" noChangeAspect="1" noChangeArrowheads="1"/>
          </p:cNvPicPr>
          <p:nvPr>
            <p:ph sz="quarter" idx="1"/>
          </p:nvPr>
        </p:nvPicPr>
        <p:blipFill>
          <a:blip r:embed="rId2"/>
          <a:srcRect/>
          <a:stretch>
            <a:fillRect/>
          </a:stretch>
        </p:blipFill>
        <p:spPr bwMode="auto">
          <a:xfrm>
            <a:off x="301625" y="2241260"/>
            <a:ext cx="8504238" cy="3143830"/>
          </a:xfrm>
          <a:prstGeom prst="rect">
            <a:avLst/>
          </a:prstGeom>
          <a:noFill/>
          <a:ln w="9525">
            <a:noFill/>
            <a:miter lim="800000"/>
            <a:headEnd/>
            <a:tailEnd/>
          </a:ln>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Rectangle 3"/>
          <p:cNvSpPr>
            <a:spLocks/>
          </p:cNvSpPr>
          <p:nvPr/>
        </p:nvSpPr>
        <p:spPr bwMode="auto">
          <a:xfrm>
            <a:off x="381000" y="1447800"/>
            <a:ext cx="7010400" cy="4876800"/>
          </a:xfrm>
          <a:prstGeom prst="rect">
            <a:avLst/>
          </a:prstGeom>
          <a:solidFill>
            <a:srgbClr val="00CECE"/>
          </a:solidFill>
          <a:ln w="12700">
            <a:noFill/>
            <a:miter lim="800000"/>
            <a:headEnd/>
            <a:tailEnd/>
          </a:ln>
        </p:spPr>
        <p:txBody>
          <a:bodyPr lIns="0" tIns="0" rIns="0" bIns="0"/>
          <a:lstStyle/>
          <a:p>
            <a:endParaRPr lang="en-US"/>
          </a:p>
        </p:txBody>
      </p:sp>
      <p:sp>
        <p:nvSpPr>
          <p:cNvPr id="114692" name="Rectangle 4"/>
          <p:cNvSpPr>
            <a:spLocks noGrp="1" noChangeArrowheads="1"/>
          </p:cNvSpPr>
          <p:nvPr>
            <p:ph type="title"/>
          </p:nvPr>
        </p:nvSpPr>
        <p:spPr>
          <a:xfrm>
            <a:off x="0" y="1"/>
            <a:ext cx="8610600" cy="1066800"/>
          </a:xfrm>
        </p:spPr>
        <p:txBody>
          <a:bodyPr rIns="130174"/>
          <a:lstStyle/>
          <a:p>
            <a:pPr indent="0" eaLnBrk="1" hangingPunct="1">
              <a:defRPr/>
            </a:pPr>
            <a:r>
              <a:rPr lang="en-US" dirty="0"/>
              <a:t>Greedy Best-First Search Snapshot</a:t>
            </a:r>
          </a:p>
        </p:txBody>
      </p:sp>
      <p:sp>
        <p:nvSpPr>
          <p:cNvPr id="110598" name="Oval 5"/>
          <p:cNvSpPr>
            <a:spLocks/>
          </p:cNvSpPr>
          <p:nvPr/>
        </p:nvSpPr>
        <p:spPr bwMode="auto">
          <a:xfrm>
            <a:off x="8804275"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110599"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110600"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110601"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110602"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110603"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110604"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110605"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110606"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110607"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110608"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110609"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110610"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110611"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110612"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110613"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110614"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110615"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110616"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110617"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110618"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110619"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110620"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110621"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110622"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110623"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110624"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110625"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110626"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110627"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110628"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grpSp>
        <p:nvGrpSpPr>
          <p:cNvPr id="2" name="Group 38"/>
          <p:cNvGrpSpPr>
            <a:grpSpLocks/>
          </p:cNvGrpSpPr>
          <p:nvPr/>
        </p:nvGrpSpPr>
        <p:grpSpPr bwMode="auto">
          <a:xfrm flipH="1">
            <a:off x="6915150" y="5492750"/>
            <a:ext cx="304800" cy="330200"/>
            <a:chOff x="0" y="0"/>
            <a:chExt cx="192" cy="208"/>
          </a:xfrm>
        </p:grpSpPr>
        <p:sp>
          <p:nvSpPr>
            <p:cNvPr id="110767" name="Oval 36"/>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0768" name="Rectangle 37"/>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3" name="Group 41"/>
          <p:cNvGrpSpPr>
            <a:grpSpLocks/>
          </p:cNvGrpSpPr>
          <p:nvPr/>
        </p:nvGrpSpPr>
        <p:grpSpPr bwMode="auto">
          <a:xfrm>
            <a:off x="887413" y="5492750"/>
            <a:ext cx="304800" cy="330200"/>
            <a:chOff x="0" y="0"/>
            <a:chExt cx="192" cy="208"/>
          </a:xfrm>
        </p:grpSpPr>
        <p:sp>
          <p:nvSpPr>
            <p:cNvPr id="110765" name="Oval 39"/>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0766" name="Rectangle 40"/>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4" name="Group 44"/>
          <p:cNvGrpSpPr>
            <a:grpSpLocks/>
          </p:cNvGrpSpPr>
          <p:nvPr/>
        </p:nvGrpSpPr>
        <p:grpSpPr bwMode="auto">
          <a:xfrm>
            <a:off x="1317625" y="5492750"/>
            <a:ext cx="304800" cy="330200"/>
            <a:chOff x="0" y="0"/>
            <a:chExt cx="192" cy="208"/>
          </a:xfrm>
        </p:grpSpPr>
        <p:sp>
          <p:nvSpPr>
            <p:cNvPr id="110763" name="Oval 42"/>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64" name="Rectangle 43"/>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6</a:t>
              </a:r>
            </a:p>
          </p:txBody>
        </p:sp>
      </p:grpSp>
      <p:grpSp>
        <p:nvGrpSpPr>
          <p:cNvPr id="5" name="Group 47"/>
          <p:cNvGrpSpPr>
            <a:grpSpLocks/>
          </p:cNvGrpSpPr>
          <p:nvPr/>
        </p:nvGrpSpPr>
        <p:grpSpPr bwMode="auto">
          <a:xfrm>
            <a:off x="1747838" y="5492750"/>
            <a:ext cx="304800" cy="330200"/>
            <a:chOff x="0" y="0"/>
            <a:chExt cx="192" cy="208"/>
          </a:xfrm>
        </p:grpSpPr>
        <p:sp>
          <p:nvSpPr>
            <p:cNvPr id="110761" name="Oval 45"/>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62" name="Rectangle 46"/>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5</a:t>
              </a:r>
            </a:p>
          </p:txBody>
        </p:sp>
      </p:grpSp>
      <p:grpSp>
        <p:nvGrpSpPr>
          <p:cNvPr id="6" name="Group 50"/>
          <p:cNvGrpSpPr>
            <a:grpSpLocks/>
          </p:cNvGrpSpPr>
          <p:nvPr/>
        </p:nvGrpSpPr>
        <p:grpSpPr bwMode="auto">
          <a:xfrm>
            <a:off x="2178050" y="5492750"/>
            <a:ext cx="304800" cy="330200"/>
            <a:chOff x="0" y="0"/>
            <a:chExt cx="192" cy="208"/>
          </a:xfrm>
        </p:grpSpPr>
        <p:sp>
          <p:nvSpPr>
            <p:cNvPr id="110759" name="Oval 48"/>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60" name="Rectangle 49"/>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4</a:t>
              </a:r>
            </a:p>
          </p:txBody>
        </p:sp>
      </p:grpSp>
      <p:grpSp>
        <p:nvGrpSpPr>
          <p:cNvPr id="7" name="Group 53"/>
          <p:cNvGrpSpPr>
            <a:grpSpLocks/>
          </p:cNvGrpSpPr>
          <p:nvPr/>
        </p:nvGrpSpPr>
        <p:grpSpPr bwMode="auto">
          <a:xfrm>
            <a:off x="2609850" y="5492750"/>
            <a:ext cx="304800" cy="330200"/>
            <a:chOff x="0" y="0"/>
            <a:chExt cx="192" cy="208"/>
          </a:xfrm>
        </p:grpSpPr>
        <p:sp>
          <p:nvSpPr>
            <p:cNvPr id="110757" name="Oval 51"/>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58" name="Rectangle 52"/>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3</a:t>
              </a:r>
            </a:p>
          </p:txBody>
        </p:sp>
      </p:grpSp>
      <p:grpSp>
        <p:nvGrpSpPr>
          <p:cNvPr id="8" name="Group 56"/>
          <p:cNvGrpSpPr>
            <a:grpSpLocks/>
          </p:cNvGrpSpPr>
          <p:nvPr/>
        </p:nvGrpSpPr>
        <p:grpSpPr bwMode="auto">
          <a:xfrm>
            <a:off x="3040063" y="5492750"/>
            <a:ext cx="304800" cy="330200"/>
            <a:chOff x="0" y="0"/>
            <a:chExt cx="192" cy="208"/>
          </a:xfrm>
        </p:grpSpPr>
        <p:sp>
          <p:nvSpPr>
            <p:cNvPr id="110755" name="Oval 54"/>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56" name="Rectangle 55"/>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2</a:t>
              </a:r>
            </a:p>
          </p:txBody>
        </p:sp>
      </p:grpSp>
      <p:grpSp>
        <p:nvGrpSpPr>
          <p:cNvPr id="9" name="Group 59"/>
          <p:cNvGrpSpPr>
            <a:grpSpLocks/>
          </p:cNvGrpSpPr>
          <p:nvPr/>
        </p:nvGrpSpPr>
        <p:grpSpPr bwMode="auto">
          <a:xfrm>
            <a:off x="3470275" y="5492750"/>
            <a:ext cx="304800" cy="330200"/>
            <a:chOff x="0" y="0"/>
            <a:chExt cx="192" cy="208"/>
          </a:xfrm>
        </p:grpSpPr>
        <p:sp>
          <p:nvSpPr>
            <p:cNvPr id="110753" name="Oval 57"/>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54" name="Rectangle 58"/>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1</a:t>
              </a:r>
            </a:p>
          </p:txBody>
        </p:sp>
      </p:grpSp>
      <p:grpSp>
        <p:nvGrpSpPr>
          <p:cNvPr id="10" name="Group 62"/>
          <p:cNvGrpSpPr>
            <a:grpSpLocks/>
          </p:cNvGrpSpPr>
          <p:nvPr/>
        </p:nvGrpSpPr>
        <p:grpSpPr bwMode="auto">
          <a:xfrm>
            <a:off x="3900488" y="5492750"/>
            <a:ext cx="304800" cy="330200"/>
            <a:chOff x="0" y="0"/>
            <a:chExt cx="192" cy="208"/>
          </a:xfrm>
        </p:grpSpPr>
        <p:sp>
          <p:nvSpPr>
            <p:cNvPr id="110751" name="Oval 60"/>
            <p:cNvSpPr>
              <a:spLocks/>
            </p:cNvSpPr>
            <p:nvPr/>
          </p:nvSpPr>
          <p:spPr bwMode="auto">
            <a:xfrm>
              <a:off x="0" y="8"/>
              <a:ext cx="192" cy="192"/>
            </a:xfrm>
            <a:prstGeom prst="ellipse">
              <a:avLst/>
            </a:prstGeom>
            <a:solidFill>
              <a:srgbClr val="FC0128"/>
            </a:solidFill>
            <a:ln w="38100">
              <a:solidFill>
                <a:srgbClr val="00FF00"/>
              </a:solidFill>
              <a:round/>
              <a:headEnd/>
              <a:tailEnd/>
            </a:ln>
          </p:spPr>
          <p:txBody>
            <a:bodyPr lIns="0" tIns="0" rIns="0" bIns="0"/>
            <a:lstStyle/>
            <a:p>
              <a:endParaRPr lang="en-US"/>
            </a:p>
          </p:txBody>
        </p:sp>
        <p:sp>
          <p:nvSpPr>
            <p:cNvPr id="110752" name="Rectangle 61"/>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0</a:t>
              </a:r>
            </a:p>
          </p:txBody>
        </p:sp>
      </p:grpSp>
      <p:grpSp>
        <p:nvGrpSpPr>
          <p:cNvPr id="11" name="Group 65"/>
          <p:cNvGrpSpPr>
            <a:grpSpLocks/>
          </p:cNvGrpSpPr>
          <p:nvPr/>
        </p:nvGrpSpPr>
        <p:grpSpPr bwMode="auto">
          <a:xfrm>
            <a:off x="4330700" y="5492750"/>
            <a:ext cx="304800" cy="330200"/>
            <a:chOff x="0" y="0"/>
            <a:chExt cx="192" cy="208"/>
          </a:xfrm>
        </p:grpSpPr>
        <p:sp>
          <p:nvSpPr>
            <p:cNvPr id="110749" name="Oval 63"/>
            <p:cNvSpPr>
              <a:spLocks/>
            </p:cNvSpPr>
            <p:nvPr/>
          </p:nvSpPr>
          <p:spPr bwMode="auto">
            <a:xfrm>
              <a:off x="0" y="8"/>
              <a:ext cx="192" cy="192"/>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110750" name="Rectangle 64"/>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1</a:t>
              </a:r>
            </a:p>
          </p:txBody>
        </p:sp>
      </p:grpSp>
      <p:grpSp>
        <p:nvGrpSpPr>
          <p:cNvPr id="12" name="Group 68"/>
          <p:cNvGrpSpPr>
            <a:grpSpLocks/>
          </p:cNvGrpSpPr>
          <p:nvPr/>
        </p:nvGrpSpPr>
        <p:grpSpPr bwMode="auto">
          <a:xfrm>
            <a:off x="5192713" y="5492750"/>
            <a:ext cx="304800" cy="330200"/>
            <a:chOff x="0" y="0"/>
            <a:chExt cx="192" cy="208"/>
          </a:xfrm>
        </p:grpSpPr>
        <p:sp>
          <p:nvSpPr>
            <p:cNvPr id="110747" name="Oval 66"/>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0748" name="Rectangle 67"/>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3</a:t>
              </a:r>
            </a:p>
          </p:txBody>
        </p:sp>
      </p:grpSp>
      <p:grpSp>
        <p:nvGrpSpPr>
          <p:cNvPr id="13" name="Group 71"/>
          <p:cNvGrpSpPr>
            <a:grpSpLocks/>
          </p:cNvGrpSpPr>
          <p:nvPr/>
        </p:nvGrpSpPr>
        <p:grpSpPr bwMode="auto">
          <a:xfrm>
            <a:off x="6053138" y="5492750"/>
            <a:ext cx="304800" cy="330200"/>
            <a:chOff x="0" y="0"/>
            <a:chExt cx="192" cy="208"/>
          </a:xfrm>
        </p:grpSpPr>
        <p:sp>
          <p:nvSpPr>
            <p:cNvPr id="110745" name="Oval 69"/>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0746" name="Rectangle 70"/>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14" name="Group 74"/>
          <p:cNvGrpSpPr>
            <a:grpSpLocks/>
          </p:cNvGrpSpPr>
          <p:nvPr/>
        </p:nvGrpSpPr>
        <p:grpSpPr bwMode="auto">
          <a:xfrm>
            <a:off x="6483350" y="5492750"/>
            <a:ext cx="304800" cy="330200"/>
            <a:chOff x="0" y="0"/>
            <a:chExt cx="192" cy="208"/>
          </a:xfrm>
        </p:grpSpPr>
        <p:sp>
          <p:nvSpPr>
            <p:cNvPr id="110743" name="Oval 7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0744" name="Rectangle 73"/>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15" name="Group 77"/>
          <p:cNvGrpSpPr>
            <a:grpSpLocks/>
          </p:cNvGrpSpPr>
          <p:nvPr/>
        </p:nvGrpSpPr>
        <p:grpSpPr bwMode="auto">
          <a:xfrm>
            <a:off x="4762500" y="5492750"/>
            <a:ext cx="304800" cy="330200"/>
            <a:chOff x="0" y="0"/>
            <a:chExt cx="192" cy="208"/>
          </a:xfrm>
        </p:grpSpPr>
        <p:sp>
          <p:nvSpPr>
            <p:cNvPr id="110741" name="Oval 75"/>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0742" name="Rectangle 76"/>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2</a:t>
              </a:r>
            </a:p>
          </p:txBody>
        </p:sp>
      </p:grpSp>
      <p:grpSp>
        <p:nvGrpSpPr>
          <p:cNvPr id="16" name="Group 80"/>
          <p:cNvGrpSpPr>
            <a:grpSpLocks/>
          </p:cNvGrpSpPr>
          <p:nvPr/>
        </p:nvGrpSpPr>
        <p:grpSpPr bwMode="auto">
          <a:xfrm>
            <a:off x="5622925" y="5492750"/>
            <a:ext cx="304800" cy="330200"/>
            <a:chOff x="0" y="0"/>
            <a:chExt cx="192" cy="208"/>
          </a:xfrm>
        </p:grpSpPr>
        <p:sp>
          <p:nvSpPr>
            <p:cNvPr id="110739" name="Oval 78"/>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0740" name="Rectangle 79"/>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17" name="Group 83"/>
          <p:cNvGrpSpPr>
            <a:grpSpLocks/>
          </p:cNvGrpSpPr>
          <p:nvPr/>
        </p:nvGrpSpPr>
        <p:grpSpPr bwMode="auto">
          <a:xfrm>
            <a:off x="457200" y="5492750"/>
            <a:ext cx="304800" cy="330200"/>
            <a:chOff x="0" y="0"/>
            <a:chExt cx="192" cy="208"/>
          </a:xfrm>
        </p:grpSpPr>
        <p:sp>
          <p:nvSpPr>
            <p:cNvPr id="110737" name="Oval 81"/>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0738" name="Rectangle 82"/>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8</a:t>
              </a:r>
            </a:p>
          </p:txBody>
        </p:sp>
      </p:grpSp>
      <p:grpSp>
        <p:nvGrpSpPr>
          <p:cNvPr id="18" name="Group 86"/>
          <p:cNvGrpSpPr>
            <a:grpSpLocks/>
          </p:cNvGrpSpPr>
          <p:nvPr/>
        </p:nvGrpSpPr>
        <p:grpSpPr bwMode="auto">
          <a:xfrm flipH="1">
            <a:off x="6134100" y="4483100"/>
            <a:ext cx="304800" cy="330200"/>
            <a:chOff x="0" y="0"/>
            <a:chExt cx="192" cy="208"/>
          </a:xfrm>
        </p:grpSpPr>
        <p:sp>
          <p:nvSpPr>
            <p:cNvPr id="110735" name="Oval 84"/>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0736" name="Rectangle 85"/>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19" name="Group 89"/>
          <p:cNvGrpSpPr>
            <a:grpSpLocks/>
          </p:cNvGrpSpPr>
          <p:nvPr/>
        </p:nvGrpSpPr>
        <p:grpSpPr bwMode="auto">
          <a:xfrm>
            <a:off x="1920875" y="4483100"/>
            <a:ext cx="304800" cy="330200"/>
            <a:chOff x="0" y="0"/>
            <a:chExt cx="192" cy="208"/>
          </a:xfrm>
        </p:grpSpPr>
        <p:sp>
          <p:nvSpPr>
            <p:cNvPr id="110733" name="Oval 87"/>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34" name="Rectangle 88"/>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5</a:t>
              </a:r>
            </a:p>
          </p:txBody>
        </p:sp>
      </p:grpSp>
      <p:grpSp>
        <p:nvGrpSpPr>
          <p:cNvPr id="20" name="Group 92"/>
          <p:cNvGrpSpPr>
            <a:grpSpLocks/>
          </p:cNvGrpSpPr>
          <p:nvPr/>
        </p:nvGrpSpPr>
        <p:grpSpPr bwMode="auto">
          <a:xfrm>
            <a:off x="2622550" y="4483100"/>
            <a:ext cx="304800" cy="330200"/>
            <a:chOff x="0" y="0"/>
            <a:chExt cx="192" cy="208"/>
          </a:xfrm>
        </p:grpSpPr>
        <p:sp>
          <p:nvSpPr>
            <p:cNvPr id="110731" name="Oval 90"/>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32" name="Rectangle 91"/>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4</a:t>
              </a:r>
            </a:p>
          </p:txBody>
        </p:sp>
      </p:grpSp>
      <p:grpSp>
        <p:nvGrpSpPr>
          <p:cNvPr id="21" name="Group 95"/>
          <p:cNvGrpSpPr>
            <a:grpSpLocks/>
          </p:cNvGrpSpPr>
          <p:nvPr/>
        </p:nvGrpSpPr>
        <p:grpSpPr bwMode="auto">
          <a:xfrm>
            <a:off x="4027488" y="4483100"/>
            <a:ext cx="304800" cy="330200"/>
            <a:chOff x="0" y="0"/>
            <a:chExt cx="192" cy="208"/>
          </a:xfrm>
        </p:grpSpPr>
        <p:sp>
          <p:nvSpPr>
            <p:cNvPr id="110729" name="Oval 93"/>
            <p:cNvSpPr>
              <a:spLocks/>
            </p:cNvSpPr>
            <p:nvPr/>
          </p:nvSpPr>
          <p:spPr bwMode="auto">
            <a:xfrm>
              <a:off x="0" y="8"/>
              <a:ext cx="192" cy="192"/>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110730" name="Rectangle 94"/>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2</a:t>
              </a:r>
            </a:p>
          </p:txBody>
        </p:sp>
      </p:grpSp>
      <p:grpSp>
        <p:nvGrpSpPr>
          <p:cNvPr id="22" name="Group 98"/>
          <p:cNvGrpSpPr>
            <a:grpSpLocks/>
          </p:cNvGrpSpPr>
          <p:nvPr/>
        </p:nvGrpSpPr>
        <p:grpSpPr bwMode="auto">
          <a:xfrm>
            <a:off x="4729163" y="4483100"/>
            <a:ext cx="304800" cy="330200"/>
            <a:chOff x="0" y="0"/>
            <a:chExt cx="192" cy="208"/>
          </a:xfrm>
        </p:grpSpPr>
        <p:sp>
          <p:nvSpPr>
            <p:cNvPr id="110727" name="Oval 96"/>
            <p:cNvSpPr>
              <a:spLocks/>
            </p:cNvSpPr>
            <p:nvPr/>
          </p:nvSpPr>
          <p:spPr bwMode="auto">
            <a:xfrm>
              <a:off x="0" y="8"/>
              <a:ext cx="192" cy="192"/>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0728" name="Rectangle 97"/>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23" name="Group 101"/>
          <p:cNvGrpSpPr>
            <a:grpSpLocks/>
          </p:cNvGrpSpPr>
          <p:nvPr/>
        </p:nvGrpSpPr>
        <p:grpSpPr bwMode="auto">
          <a:xfrm>
            <a:off x="5430838" y="4483100"/>
            <a:ext cx="304800" cy="330200"/>
            <a:chOff x="0" y="0"/>
            <a:chExt cx="192" cy="208"/>
          </a:xfrm>
        </p:grpSpPr>
        <p:sp>
          <p:nvSpPr>
            <p:cNvPr id="110725" name="Oval 99"/>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0726" name="Rectangle 100"/>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24" name="Group 104"/>
          <p:cNvGrpSpPr>
            <a:grpSpLocks/>
          </p:cNvGrpSpPr>
          <p:nvPr/>
        </p:nvGrpSpPr>
        <p:grpSpPr bwMode="auto">
          <a:xfrm>
            <a:off x="3324225" y="4483100"/>
            <a:ext cx="304800" cy="330200"/>
            <a:chOff x="0" y="0"/>
            <a:chExt cx="192" cy="208"/>
          </a:xfrm>
        </p:grpSpPr>
        <p:sp>
          <p:nvSpPr>
            <p:cNvPr id="110723" name="Oval 102"/>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24" name="Rectangle 103"/>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3</a:t>
              </a:r>
            </a:p>
          </p:txBody>
        </p:sp>
      </p:grpSp>
      <p:grpSp>
        <p:nvGrpSpPr>
          <p:cNvPr id="25" name="Group 107"/>
          <p:cNvGrpSpPr>
            <a:grpSpLocks/>
          </p:cNvGrpSpPr>
          <p:nvPr/>
        </p:nvGrpSpPr>
        <p:grpSpPr bwMode="auto">
          <a:xfrm>
            <a:off x="1219200" y="4483100"/>
            <a:ext cx="304800" cy="330200"/>
            <a:chOff x="0" y="0"/>
            <a:chExt cx="192" cy="208"/>
          </a:xfrm>
        </p:grpSpPr>
        <p:sp>
          <p:nvSpPr>
            <p:cNvPr id="110721" name="Oval 105"/>
            <p:cNvSpPr>
              <a:spLocks/>
            </p:cNvSpPr>
            <p:nvPr/>
          </p:nvSpPr>
          <p:spPr bwMode="auto">
            <a:xfrm>
              <a:off x="0" y="8"/>
              <a:ext cx="192" cy="192"/>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0722" name="Rectangle 106"/>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26" name="Group 110"/>
          <p:cNvGrpSpPr>
            <a:grpSpLocks/>
          </p:cNvGrpSpPr>
          <p:nvPr/>
        </p:nvGrpSpPr>
        <p:grpSpPr bwMode="auto">
          <a:xfrm flipH="1">
            <a:off x="5353050" y="3508375"/>
            <a:ext cx="304800" cy="330200"/>
            <a:chOff x="0" y="0"/>
            <a:chExt cx="192" cy="208"/>
          </a:xfrm>
        </p:grpSpPr>
        <p:sp>
          <p:nvSpPr>
            <p:cNvPr id="110719" name="Oval 108"/>
            <p:cNvSpPr>
              <a:spLocks/>
            </p:cNvSpPr>
            <p:nvPr/>
          </p:nvSpPr>
          <p:spPr bwMode="auto">
            <a:xfrm>
              <a:off x="0" y="8"/>
              <a:ext cx="192" cy="192"/>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0720" name="Rectangle 109"/>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27" name="Group 113"/>
          <p:cNvGrpSpPr>
            <a:grpSpLocks/>
          </p:cNvGrpSpPr>
          <p:nvPr/>
        </p:nvGrpSpPr>
        <p:grpSpPr bwMode="auto">
          <a:xfrm>
            <a:off x="3124200" y="3508375"/>
            <a:ext cx="304800" cy="330200"/>
            <a:chOff x="0" y="0"/>
            <a:chExt cx="192" cy="208"/>
          </a:xfrm>
        </p:grpSpPr>
        <p:sp>
          <p:nvSpPr>
            <p:cNvPr id="110717" name="Oval 111"/>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18" name="Rectangle 112"/>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5</a:t>
              </a:r>
            </a:p>
          </p:txBody>
        </p:sp>
      </p:grpSp>
      <p:grpSp>
        <p:nvGrpSpPr>
          <p:cNvPr id="28" name="Group 116"/>
          <p:cNvGrpSpPr>
            <a:grpSpLocks/>
          </p:cNvGrpSpPr>
          <p:nvPr/>
        </p:nvGrpSpPr>
        <p:grpSpPr bwMode="auto">
          <a:xfrm>
            <a:off x="4229100" y="3508375"/>
            <a:ext cx="304800" cy="330200"/>
            <a:chOff x="0" y="0"/>
            <a:chExt cx="192" cy="208"/>
          </a:xfrm>
        </p:grpSpPr>
        <p:sp>
          <p:nvSpPr>
            <p:cNvPr id="110715" name="Oval 114"/>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16" name="Rectangle 115"/>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5</a:t>
              </a:r>
            </a:p>
          </p:txBody>
        </p:sp>
      </p:grpSp>
      <p:grpSp>
        <p:nvGrpSpPr>
          <p:cNvPr id="29" name="Group 119"/>
          <p:cNvGrpSpPr>
            <a:grpSpLocks/>
          </p:cNvGrpSpPr>
          <p:nvPr/>
        </p:nvGrpSpPr>
        <p:grpSpPr bwMode="auto">
          <a:xfrm>
            <a:off x="1981200" y="3508375"/>
            <a:ext cx="304800" cy="330200"/>
            <a:chOff x="0" y="0"/>
            <a:chExt cx="192" cy="208"/>
          </a:xfrm>
        </p:grpSpPr>
        <p:sp>
          <p:nvSpPr>
            <p:cNvPr id="110713" name="Oval 117"/>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14" name="Rectangle 118"/>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6</a:t>
              </a:r>
            </a:p>
          </p:txBody>
        </p:sp>
      </p:grpSp>
      <p:grpSp>
        <p:nvGrpSpPr>
          <p:cNvPr id="30" name="Group 122"/>
          <p:cNvGrpSpPr>
            <a:grpSpLocks/>
          </p:cNvGrpSpPr>
          <p:nvPr/>
        </p:nvGrpSpPr>
        <p:grpSpPr bwMode="auto">
          <a:xfrm flipH="1">
            <a:off x="4572000" y="2501900"/>
            <a:ext cx="304800" cy="330200"/>
            <a:chOff x="0" y="0"/>
            <a:chExt cx="192" cy="208"/>
          </a:xfrm>
        </p:grpSpPr>
        <p:sp>
          <p:nvSpPr>
            <p:cNvPr id="110711" name="Oval 120"/>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12" name="Rectangle 121"/>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7</a:t>
              </a:r>
            </a:p>
          </p:txBody>
        </p:sp>
      </p:grpSp>
      <p:grpSp>
        <p:nvGrpSpPr>
          <p:cNvPr id="31" name="Group 125"/>
          <p:cNvGrpSpPr>
            <a:grpSpLocks/>
          </p:cNvGrpSpPr>
          <p:nvPr/>
        </p:nvGrpSpPr>
        <p:grpSpPr bwMode="auto">
          <a:xfrm>
            <a:off x="2743200" y="2501900"/>
            <a:ext cx="304800" cy="330200"/>
            <a:chOff x="0" y="0"/>
            <a:chExt cx="192" cy="208"/>
          </a:xfrm>
        </p:grpSpPr>
        <p:sp>
          <p:nvSpPr>
            <p:cNvPr id="110709" name="Oval 123"/>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710" name="Rectangle 124"/>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7</a:t>
              </a:r>
            </a:p>
          </p:txBody>
        </p:sp>
      </p:grpSp>
      <p:grpSp>
        <p:nvGrpSpPr>
          <p:cNvPr id="110656" name="Group 128"/>
          <p:cNvGrpSpPr>
            <a:grpSpLocks/>
          </p:cNvGrpSpPr>
          <p:nvPr/>
        </p:nvGrpSpPr>
        <p:grpSpPr bwMode="auto">
          <a:xfrm>
            <a:off x="3657600" y="1557338"/>
            <a:ext cx="406400" cy="354013"/>
            <a:chOff x="0" y="0"/>
            <a:chExt cx="256" cy="223"/>
          </a:xfrm>
        </p:grpSpPr>
        <p:sp>
          <p:nvSpPr>
            <p:cNvPr id="110707" name="Oval 126"/>
            <p:cNvSpPr>
              <a:spLocks/>
            </p:cNvSpPr>
            <p:nvPr/>
          </p:nvSpPr>
          <p:spPr bwMode="auto">
            <a:xfrm>
              <a:off x="0" y="7"/>
              <a:ext cx="192" cy="192"/>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110708" name="Rectangle 127"/>
            <p:cNvSpPr>
              <a:spLocks/>
            </p:cNvSpPr>
            <p:nvPr/>
          </p:nvSpPr>
          <p:spPr bwMode="auto">
            <a:xfrm>
              <a:off x="19" y="0"/>
              <a:ext cx="237" cy="223"/>
            </a:xfrm>
            <a:prstGeom prst="rect">
              <a:avLst/>
            </a:prstGeom>
            <a:noFill/>
            <a:ln w="12700">
              <a:noFill/>
              <a:miter lim="800000"/>
              <a:headEnd/>
              <a:tailEnd/>
            </a:ln>
          </p:spPr>
          <p:txBody>
            <a:bodyPr wrap="none" lIns="38100" tIns="38100" rIns="78049" bIns="38100" anchor="ctr">
              <a:spAutoFit/>
            </a:bodyPr>
            <a:lstStyle/>
            <a:p>
              <a:pPr marL="1588" algn="ctr"/>
              <a:r>
                <a:rPr lang="en-US" sz="1800" dirty="0">
                  <a:solidFill>
                    <a:schemeClr val="tx1"/>
                  </a:solidFill>
                  <a:latin typeface="Times New Roman Bold" charset="0"/>
                  <a:cs typeface="Times New Roman Bold" charset="0"/>
                  <a:sym typeface="Times New Roman Bold" charset="0"/>
                </a:rPr>
                <a:t>9</a:t>
              </a:r>
              <a:r>
                <a:rPr lang="en-US" sz="1800" dirty="0">
                  <a:solidFill>
                    <a:schemeClr val="bg1"/>
                  </a:solidFill>
                  <a:latin typeface="Times New Roman Bold" charset="0"/>
                  <a:cs typeface="Times New Roman Bold" charset="0"/>
                  <a:sym typeface="Times New Roman Bold" charset="0"/>
                </a:rPr>
                <a:t>9</a:t>
              </a:r>
              <a:endParaRPr lang="en-US" sz="1800" dirty="0">
                <a:solidFill>
                  <a:schemeClr val="tx1"/>
                </a:solidFill>
                <a:latin typeface="Times New Roman Bold" charset="0"/>
                <a:cs typeface="Times New Roman Bold" charset="0"/>
                <a:sym typeface="Times New Roman Bold" charset="0"/>
              </a:endParaRPr>
            </a:p>
          </p:txBody>
        </p:sp>
      </p:grpSp>
      <p:sp>
        <p:nvSpPr>
          <p:cNvPr id="110660" name="Rectangle 129"/>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Initial</a:t>
            </a:r>
          </a:p>
        </p:txBody>
      </p:sp>
      <p:sp>
        <p:nvSpPr>
          <p:cNvPr id="110661" name="Oval 130"/>
          <p:cNvSpPr>
            <a:spLocks/>
          </p:cNvSpPr>
          <p:nvPr/>
        </p:nvSpPr>
        <p:spPr bwMode="auto">
          <a:xfrm>
            <a:off x="8804275"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0662" name="Rectangle 131"/>
          <p:cNvSpPr>
            <a:spLocks/>
          </p:cNvSpPr>
          <p:nvPr/>
        </p:nvSpPr>
        <p:spPr bwMode="auto">
          <a:xfrm>
            <a:off x="7604125"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Visited</a:t>
            </a:r>
          </a:p>
        </p:txBody>
      </p:sp>
      <p:sp>
        <p:nvSpPr>
          <p:cNvPr id="110663" name="Oval 132"/>
          <p:cNvSpPr>
            <a:spLocks/>
          </p:cNvSpPr>
          <p:nvPr/>
        </p:nvSpPr>
        <p:spPr bwMode="auto">
          <a:xfrm>
            <a:off x="8804275"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0664" name="Rectangle 133"/>
          <p:cNvSpPr>
            <a:spLocks/>
          </p:cNvSpPr>
          <p:nvPr/>
        </p:nvSpPr>
        <p:spPr bwMode="auto">
          <a:xfrm>
            <a:off x="7604125"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Fringe</a:t>
            </a:r>
          </a:p>
        </p:txBody>
      </p:sp>
      <p:sp>
        <p:nvSpPr>
          <p:cNvPr id="110665" name="Oval 134"/>
          <p:cNvSpPr>
            <a:spLocks/>
          </p:cNvSpPr>
          <p:nvPr/>
        </p:nvSpPr>
        <p:spPr bwMode="auto">
          <a:xfrm>
            <a:off x="8804275"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110666" name="Rectangle 135"/>
          <p:cNvSpPr>
            <a:spLocks/>
          </p:cNvSpPr>
          <p:nvPr/>
        </p:nvSpPr>
        <p:spPr bwMode="auto">
          <a:xfrm>
            <a:off x="7604125"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Current</a:t>
            </a:r>
          </a:p>
        </p:txBody>
      </p:sp>
      <p:sp>
        <p:nvSpPr>
          <p:cNvPr id="110667" name="Oval 136"/>
          <p:cNvSpPr>
            <a:spLocks/>
          </p:cNvSpPr>
          <p:nvPr/>
        </p:nvSpPr>
        <p:spPr bwMode="auto">
          <a:xfrm>
            <a:off x="8804275"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110668" name="Rectangle 137"/>
          <p:cNvSpPr>
            <a:spLocks/>
          </p:cNvSpPr>
          <p:nvPr/>
        </p:nvSpPr>
        <p:spPr bwMode="auto">
          <a:xfrm>
            <a:off x="7604125"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Visible</a:t>
            </a:r>
          </a:p>
        </p:txBody>
      </p:sp>
      <p:sp>
        <p:nvSpPr>
          <p:cNvPr id="110669" name="Oval 138"/>
          <p:cNvSpPr>
            <a:spLocks/>
          </p:cNvSpPr>
          <p:nvPr/>
        </p:nvSpPr>
        <p:spPr bwMode="auto">
          <a:xfrm>
            <a:off x="8804275"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110670" name="Rectangle 139"/>
          <p:cNvSpPr>
            <a:spLocks/>
          </p:cNvSpPr>
          <p:nvPr/>
        </p:nvSpPr>
        <p:spPr bwMode="auto">
          <a:xfrm>
            <a:off x="7604125"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Goal</a:t>
            </a:r>
          </a:p>
        </p:txBody>
      </p:sp>
      <p:sp>
        <p:nvSpPr>
          <p:cNvPr id="110671" name="Rectangle 140"/>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110672" name="Rectangle 141"/>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110673" name="Rectangle 142"/>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110674" name="Rectangle 143"/>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110675" name="Rectangle 144"/>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110676" name="Rectangle 145"/>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110677" name="Rectangle 146"/>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110678" name="Rectangle 147"/>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110679" name="Rectangle 148"/>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110680" name="Rectangle 149"/>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110681" name="Rectangle 150"/>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110682" name="Rectangle 151"/>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110683" name="Rectangle 152"/>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110684" name="Rectangle 153"/>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110685" name="Rectangle 154"/>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110686" name="Rectangle 155"/>
          <p:cNvSpPr>
            <a:spLocks/>
          </p:cNvSpPr>
          <p:nvPr/>
        </p:nvSpPr>
        <p:spPr bwMode="auto">
          <a:xfrm>
            <a:off x="477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110687" name="Rectangle 156"/>
          <p:cNvSpPr>
            <a:spLocks/>
          </p:cNvSpPr>
          <p:nvPr/>
        </p:nvSpPr>
        <p:spPr bwMode="auto">
          <a:xfrm>
            <a:off x="858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110688" name="Rectangle 157"/>
          <p:cNvSpPr>
            <a:spLocks/>
          </p:cNvSpPr>
          <p:nvPr/>
        </p:nvSpPr>
        <p:spPr bwMode="auto">
          <a:xfrm>
            <a:off x="1316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110689" name="Rectangle 158"/>
          <p:cNvSpPr>
            <a:spLocks/>
          </p:cNvSpPr>
          <p:nvPr/>
        </p:nvSpPr>
        <p:spPr bwMode="auto">
          <a:xfrm>
            <a:off x="1697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110690" name="Rectangle 159"/>
          <p:cNvSpPr>
            <a:spLocks/>
          </p:cNvSpPr>
          <p:nvPr/>
        </p:nvSpPr>
        <p:spPr bwMode="auto">
          <a:xfrm>
            <a:off x="21542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110691" name="Rectangle 160"/>
          <p:cNvSpPr>
            <a:spLocks/>
          </p:cNvSpPr>
          <p:nvPr/>
        </p:nvSpPr>
        <p:spPr bwMode="auto">
          <a:xfrm>
            <a:off x="2611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110692" name="Rectangle 161"/>
          <p:cNvSpPr>
            <a:spLocks/>
          </p:cNvSpPr>
          <p:nvPr/>
        </p:nvSpPr>
        <p:spPr bwMode="auto">
          <a:xfrm>
            <a:off x="2992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110693" name="Rectangle 162"/>
          <p:cNvSpPr>
            <a:spLocks/>
          </p:cNvSpPr>
          <p:nvPr/>
        </p:nvSpPr>
        <p:spPr bwMode="auto">
          <a:xfrm>
            <a:off x="34496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110694" name="Rectangle 163"/>
          <p:cNvSpPr>
            <a:spLocks/>
          </p:cNvSpPr>
          <p:nvPr/>
        </p:nvSpPr>
        <p:spPr bwMode="auto">
          <a:xfrm>
            <a:off x="3906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110695" name="Rectangle 164"/>
          <p:cNvSpPr>
            <a:spLocks/>
          </p:cNvSpPr>
          <p:nvPr/>
        </p:nvSpPr>
        <p:spPr bwMode="auto">
          <a:xfrm>
            <a:off x="4364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110696" name="Rectangle 165"/>
          <p:cNvSpPr>
            <a:spLocks/>
          </p:cNvSpPr>
          <p:nvPr/>
        </p:nvSpPr>
        <p:spPr bwMode="auto">
          <a:xfrm>
            <a:off x="4745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110697" name="Rectangle 166"/>
          <p:cNvSpPr>
            <a:spLocks/>
          </p:cNvSpPr>
          <p:nvPr/>
        </p:nvSpPr>
        <p:spPr bwMode="auto">
          <a:xfrm>
            <a:off x="52022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110698" name="Rectangle 167"/>
          <p:cNvSpPr>
            <a:spLocks/>
          </p:cNvSpPr>
          <p:nvPr/>
        </p:nvSpPr>
        <p:spPr bwMode="auto">
          <a:xfrm>
            <a:off x="5659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110699" name="Rectangle 168"/>
          <p:cNvSpPr>
            <a:spLocks/>
          </p:cNvSpPr>
          <p:nvPr/>
        </p:nvSpPr>
        <p:spPr bwMode="auto">
          <a:xfrm>
            <a:off x="6040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110700" name="Rectangle 169"/>
          <p:cNvSpPr>
            <a:spLocks/>
          </p:cNvSpPr>
          <p:nvPr/>
        </p:nvSpPr>
        <p:spPr bwMode="auto">
          <a:xfrm>
            <a:off x="64976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110701" name="Rectangle 170"/>
          <p:cNvSpPr>
            <a:spLocks/>
          </p:cNvSpPr>
          <p:nvPr/>
        </p:nvSpPr>
        <p:spPr bwMode="auto">
          <a:xfrm>
            <a:off x="6954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110702" name="Rectangle 171"/>
          <p:cNvSpPr>
            <a:spLocks/>
          </p:cNvSpPr>
          <p:nvPr/>
        </p:nvSpPr>
        <p:spPr bwMode="auto">
          <a:xfrm>
            <a:off x="2514600" y="6324600"/>
            <a:ext cx="3784600" cy="317500"/>
          </a:xfrm>
          <a:prstGeom prst="rect">
            <a:avLst/>
          </a:prstGeom>
          <a:noFill/>
          <a:ln w="12700">
            <a:noFill/>
            <a:miter lim="800000"/>
            <a:headEnd/>
            <a:tailEnd/>
          </a:ln>
        </p:spPr>
        <p:txBody>
          <a:bodyPr wrap="none" lIns="0" tIns="0" rIns="40639" bIns="0">
            <a:spAutoFit/>
          </a:bodyPr>
          <a:lstStyle/>
          <a:p>
            <a:pPr marL="39688"/>
            <a:r>
              <a:rPr lang="en-US" sz="1600" dirty="0">
                <a:solidFill>
                  <a:srgbClr val="FAFD00"/>
                </a:solidFill>
                <a:latin typeface="Arial" charset="0"/>
                <a:cs typeface="Arial" charset="0"/>
                <a:sym typeface="Arial" charset="0"/>
              </a:rPr>
              <a:t>Fringe: [13(</a:t>
            </a:r>
            <a:r>
              <a:rPr lang="en-US" sz="1600" dirty="0">
                <a:solidFill>
                  <a:srgbClr val="000020"/>
                </a:solidFill>
                <a:latin typeface="Arial Bold" charset="0"/>
                <a:cs typeface="Arial Bold" charset="0"/>
                <a:sym typeface="Arial Bold" charset="0"/>
              </a:rPr>
              <a:t>4</a:t>
            </a:r>
            <a:r>
              <a:rPr lang="en-US" sz="1600" dirty="0">
                <a:solidFill>
                  <a:srgbClr val="FAFD00"/>
                </a:solidFill>
                <a:latin typeface="Arial" charset="0"/>
                <a:cs typeface="Arial" charset="0"/>
                <a:sym typeface="Arial" charset="0"/>
              </a:rPr>
              <a:t>), 7(</a:t>
            </a:r>
            <a:r>
              <a:rPr lang="en-US" sz="1600" dirty="0">
                <a:solidFill>
                  <a:srgbClr val="000020"/>
                </a:solidFill>
                <a:latin typeface="Arial Bold" charset="0"/>
                <a:cs typeface="Arial Bold" charset="0"/>
                <a:sym typeface="Arial Bold" charset="0"/>
              </a:rPr>
              <a:t>6</a:t>
            </a:r>
            <a:r>
              <a:rPr lang="en-US" sz="1600" dirty="0">
                <a:solidFill>
                  <a:srgbClr val="FAFD00"/>
                </a:solidFill>
                <a:latin typeface="Arial" charset="0"/>
                <a:cs typeface="Arial" charset="0"/>
                <a:sym typeface="Arial" charset="0"/>
              </a:rPr>
              <a:t>), 8(</a:t>
            </a:r>
            <a:r>
              <a:rPr lang="en-US" sz="1600" dirty="0">
                <a:solidFill>
                  <a:srgbClr val="000020"/>
                </a:solidFill>
                <a:latin typeface="Arial Bold" charset="0"/>
                <a:cs typeface="Arial Bold" charset="0"/>
                <a:sym typeface="Arial Bold" charset="0"/>
              </a:rPr>
              <a:t>7</a:t>
            </a:r>
            <a:r>
              <a:rPr lang="en-US" sz="1600" dirty="0">
                <a:solidFill>
                  <a:srgbClr val="FAFD00"/>
                </a:solidFill>
                <a:latin typeface="Arial" charset="0"/>
                <a:cs typeface="Arial" charset="0"/>
                <a:sym typeface="Arial" charset="0"/>
              </a:rPr>
              <a:t>)] </a:t>
            </a:r>
            <a:r>
              <a:rPr lang="en-US" sz="1600" dirty="0">
                <a:solidFill>
                  <a:srgbClr val="00FF00"/>
                </a:solidFill>
                <a:latin typeface="Arial" charset="0"/>
                <a:cs typeface="Arial" charset="0"/>
                <a:sym typeface="Arial" charset="0"/>
              </a:rPr>
              <a:t>+ [24(</a:t>
            </a:r>
            <a:r>
              <a:rPr lang="en-US" sz="1600" dirty="0">
                <a:solidFill>
                  <a:srgbClr val="000020"/>
                </a:solidFill>
                <a:latin typeface="Arial Bold" charset="0"/>
                <a:cs typeface="Arial Bold" charset="0"/>
                <a:sym typeface="Arial Bold" charset="0"/>
              </a:rPr>
              <a:t>0</a:t>
            </a:r>
            <a:r>
              <a:rPr lang="en-US" sz="1600" dirty="0">
                <a:solidFill>
                  <a:srgbClr val="00FF00"/>
                </a:solidFill>
                <a:latin typeface="Arial" charset="0"/>
                <a:cs typeface="Arial" charset="0"/>
                <a:sym typeface="Arial" charset="0"/>
              </a:rPr>
              <a:t>), 25(</a:t>
            </a:r>
            <a:r>
              <a:rPr lang="en-US" sz="1600" dirty="0">
                <a:solidFill>
                  <a:srgbClr val="000020"/>
                </a:solidFill>
                <a:latin typeface="Arial Bold" charset="0"/>
                <a:cs typeface="Arial Bold" charset="0"/>
                <a:sym typeface="Arial Bold" charset="0"/>
              </a:rPr>
              <a:t>1</a:t>
            </a:r>
            <a:r>
              <a:rPr lang="en-US" sz="1600" dirty="0">
                <a:solidFill>
                  <a:srgbClr val="00FF00"/>
                </a:solidFill>
                <a:latin typeface="Arial" charset="0"/>
                <a:cs typeface="Arial" charset="0"/>
                <a:sym typeface="Arial" charset="0"/>
              </a:rPr>
              <a:t>)]</a:t>
            </a:r>
          </a:p>
        </p:txBody>
      </p:sp>
      <p:grpSp>
        <p:nvGrpSpPr>
          <p:cNvPr id="110657" name="Group 174"/>
          <p:cNvGrpSpPr>
            <a:grpSpLocks/>
          </p:cNvGrpSpPr>
          <p:nvPr/>
        </p:nvGrpSpPr>
        <p:grpSpPr bwMode="auto">
          <a:xfrm flipH="1">
            <a:off x="8804275" y="4140200"/>
            <a:ext cx="304800" cy="330200"/>
            <a:chOff x="0" y="0"/>
            <a:chExt cx="192" cy="208"/>
          </a:xfrm>
        </p:grpSpPr>
        <p:sp>
          <p:nvSpPr>
            <p:cNvPr id="110705" name="Oval 17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0706" name="Rectangle 173"/>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dirty="0">
                  <a:solidFill>
                    <a:srgbClr val="000020"/>
                  </a:solidFill>
                  <a:latin typeface="Times New Roman Bold" charset="0"/>
                  <a:cs typeface="Times New Roman Bold" charset="0"/>
                  <a:sym typeface="Times New Roman Bold" charset="0"/>
                </a:rPr>
                <a:t>7</a:t>
              </a:r>
            </a:p>
          </p:txBody>
        </p:sp>
      </p:grpSp>
      <p:sp>
        <p:nvSpPr>
          <p:cNvPr id="110704" name="Rectangle 175"/>
          <p:cNvSpPr>
            <a:spLocks/>
          </p:cNvSpPr>
          <p:nvPr/>
        </p:nvSpPr>
        <p:spPr bwMode="auto">
          <a:xfrm>
            <a:off x="7604125" y="4121150"/>
            <a:ext cx="1144588" cy="355600"/>
          </a:xfrm>
          <a:prstGeom prst="rect">
            <a:avLst/>
          </a:prstGeom>
          <a:noFill/>
          <a:ln w="12700">
            <a:noFill/>
            <a:miter lim="800000"/>
            <a:headEnd/>
            <a:tailEnd/>
          </a:ln>
        </p:spPr>
        <p:txBody>
          <a:bodyPr wrap="none" lIns="0" tIns="0" rIns="40639" bIns="0">
            <a:spAutoFit/>
          </a:bodyPr>
          <a:lstStyle/>
          <a:p>
            <a:pPr marL="39688"/>
            <a:r>
              <a:rPr lang="en-US" sz="1800" dirty="0">
                <a:solidFill>
                  <a:srgbClr val="000020"/>
                </a:solidFill>
                <a:latin typeface="Times New Roman Bold" charset="0"/>
                <a:cs typeface="Times New Roman Bold" charset="0"/>
                <a:sym typeface="Times New Roman Bold" charset="0"/>
              </a:rPr>
              <a:t>Heuristics</a:t>
            </a:r>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screen"/>
          <p:cNvPicPr>
            <a:picLocks noChangeAspect="1" noChangeArrowheads="1"/>
          </p:cNvPicPr>
          <p:nvPr/>
        </p:nvPicPr>
        <p:blipFill>
          <a:blip r:embed="rId3"/>
          <a:srcRect/>
          <a:stretch>
            <a:fillRect/>
          </a:stretch>
        </p:blipFill>
        <p:spPr bwMode="auto">
          <a:xfrm>
            <a:off x="3048000" y="1752600"/>
            <a:ext cx="5257800" cy="4714875"/>
          </a:xfrm>
          <a:prstGeom prst="rect">
            <a:avLst/>
          </a:prstGeom>
          <a:noFill/>
          <a:ln w="9525">
            <a:noFill/>
            <a:miter lim="800000"/>
            <a:headEnd/>
            <a:tailEnd/>
          </a:ln>
        </p:spPr>
      </p:pic>
      <p:sp>
        <p:nvSpPr>
          <p:cNvPr id="12291" name="Rectangle 3"/>
          <p:cNvSpPr>
            <a:spLocks noGrp="1" noChangeArrowheads="1"/>
          </p:cNvSpPr>
          <p:nvPr>
            <p:ph type="title"/>
          </p:nvPr>
        </p:nvSpPr>
        <p:spPr>
          <a:xfrm>
            <a:off x="685800" y="304800"/>
            <a:ext cx="7772400" cy="609600"/>
          </a:xfrm>
        </p:spPr>
        <p:txBody>
          <a:bodyPr/>
          <a:lstStyle/>
          <a:p>
            <a:pPr eaLnBrk="1" hangingPunct="1"/>
            <a:r>
              <a:rPr lang="en-US" sz="3200">
                <a:solidFill>
                  <a:schemeClr val="hlink"/>
                </a:solidFill>
              </a:rPr>
              <a:t>Best first (Greedy) search</a:t>
            </a:r>
          </a:p>
        </p:txBody>
      </p:sp>
      <p:sp>
        <p:nvSpPr>
          <p:cNvPr id="12292" name="Text Box 4"/>
          <p:cNvSpPr txBox="1">
            <a:spLocks noChangeArrowheads="1"/>
          </p:cNvSpPr>
          <p:nvPr/>
        </p:nvSpPr>
        <p:spPr bwMode="auto">
          <a:xfrm>
            <a:off x="288925" y="1941513"/>
            <a:ext cx="2752725" cy="822325"/>
          </a:xfrm>
          <a:prstGeom prst="rect">
            <a:avLst/>
          </a:prstGeom>
          <a:noFill/>
          <a:ln w="9525">
            <a:noFill/>
            <a:miter lim="800000"/>
            <a:headEnd/>
            <a:tailEnd/>
          </a:ln>
        </p:spPr>
        <p:txBody>
          <a:bodyPr wrap="none">
            <a:spAutoFit/>
          </a:bodyPr>
          <a:lstStyle/>
          <a:p>
            <a:r>
              <a:rPr lang="en-US" sz="2400">
                <a:solidFill>
                  <a:schemeClr val="tx2"/>
                </a:solidFill>
              </a:rPr>
              <a:t>h(n) = number of </a:t>
            </a:r>
          </a:p>
          <a:p>
            <a:r>
              <a:rPr lang="en-US" sz="2400">
                <a:solidFill>
                  <a:schemeClr val="tx2"/>
                </a:solidFill>
              </a:rPr>
              <a:t>misplaced tiles</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74638"/>
            <a:ext cx="8229600" cy="639762"/>
          </a:xfrm>
        </p:spPr>
        <p:txBody>
          <a:bodyPr>
            <a:normAutofit fontScale="90000"/>
          </a:bodyPr>
          <a:lstStyle/>
          <a:p>
            <a:pPr eaLnBrk="1" hangingPunct="1"/>
            <a:r>
              <a:rPr lang="en-US" sz="3600">
                <a:solidFill>
                  <a:srgbClr val="003399"/>
                </a:solidFill>
              </a:rPr>
              <a:t>Properties of greedy best-first search</a:t>
            </a:r>
          </a:p>
        </p:txBody>
      </p:sp>
      <p:sp>
        <p:nvSpPr>
          <p:cNvPr id="13315" name="Rectangle 3"/>
          <p:cNvSpPr>
            <a:spLocks noGrp="1" noChangeArrowheads="1"/>
          </p:cNvSpPr>
          <p:nvPr>
            <p:ph type="body" idx="1"/>
          </p:nvPr>
        </p:nvSpPr>
        <p:spPr>
          <a:xfrm>
            <a:off x="457200" y="1600200"/>
            <a:ext cx="8305800" cy="5029200"/>
          </a:xfrm>
        </p:spPr>
        <p:txBody>
          <a:bodyPr>
            <a:normAutofit lnSpcReduction="10000"/>
          </a:bodyPr>
          <a:lstStyle/>
          <a:p>
            <a:pPr eaLnBrk="1" hangingPunct="1">
              <a:lnSpc>
                <a:spcPct val="115000"/>
              </a:lnSpc>
            </a:pPr>
            <a:r>
              <a:rPr lang="en-US" u="sng">
                <a:solidFill>
                  <a:srgbClr val="CC0099"/>
                </a:solidFill>
              </a:rPr>
              <a:t>Complete?</a:t>
            </a:r>
            <a:r>
              <a:rPr lang="en-US"/>
              <a:t> No – can get stuck in loops, e.g., Iasi </a:t>
            </a:r>
            <a:r>
              <a:rPr lang="en-US">
                <a:sym typeface="Wingdings" charset="2"/>
              </a:rPr>
              <a:t></a:t>
            </a:r>
            <a:r>
              <a:rPr lang="en-US"/>
              <a:t> Neamt </a:t>
            </a:r>
            <a:r>
              <a:rPr lang="en-US">
                <a:sym typeface="Wingdings" charset="2"/>
              </a:rPr>
              <a:t></a:t>
            </a:r>
            <a:r>
              <a:rPr lang="en-US"/>
              <a:t> Iasi </a:t>
            </a:r>
            <a:r>
              <a:rPr lang="en-US">
                <a:sym typeface="Wingdings" charset="2"/>
              </a:rPr>
              <a:t></a:t>
            </a:r>
            <a:r>
              <a:rPr lang="en-US"/>
              <a:t> Neamt </a:t>
            </a:r>
            <a:r>
              <a:rPr lang="en-US">
                <a:sym typeface="Wingdings" charset="2"/>
              </a:rPr>
              <a:t></a:t>
            </a:r>
            <a:r>
              <a:rPr lang="en-US"/>
              <a:t> 
</a:t>
            </a:r>
          </a:p>
          <a:p>
            <a:pPr eaLnBrk="1" hangingPunct="1">
              <a:lnSpc>
                <a:spcPct val="115000"/>
              </a:lnSpc>
            </a:pPr>
            <a:r>
              <a:rPr lang="en-US" u="sng">
                <a:solidFill>
                  <a:srgbClr val="CC0099"/>
                </a:solidFill>
              </a:rPr>
              <a:t>Time?</a:t>
            </a:r>
            <a:r>
              <a:rPr lang="en-US"/>
              <a:t> </a:t>
            </a:r>
            <a:r>
              <a:rPr lang="en-US" i="1"/>
              <a:t>O(b</a:t>
            </a:r>
            <a:r>
              <a:rPr lang="en-US" i="1" baseline="30000"/>
              <a:t>m</a:t>
            </a:r>
            <a:r>
              <a:rPr lang="en-US" i="1"/>
              <a:t>)</a:t>
            </a:r>
            <a:r>
              <a:rPr lang="en-US"/>
              <a:t>, but a good heuristic can give dramatic improvement
</a:t>
            </a:r>
          </a:p>
          <a:p>
            <a:pPr eaLnBrk="1" hangingPunct="1">
              <a:lnSpc>
                <a:spcPct val="115000"/>
              </a:lnSpc>
            </a:pPr>
            <a:r>
              <a:rPr lang="en-US" u="sng">
                <a:solidFill>
                  <a:srgbClr val="CC0099"/>
                </a:solidFill>
              </a:rPr>
              <a:t>Space?</a:t>
            </a:r>
            <a:r>
              <a:rPr lang="en-US"/>
              <a:t> </a:t>
            </a:r>
            <a:r>
              <a:rPr lang="en-US" i="1"/>
              <a:t>O(b</a:t>
            </a:r>
            <a:r>
              <a:rPr lang="en-US" i="1" baseline="30000"/>
              <a:t>m</a:t>
            </a:r>
            <a:r>
              <a:rPr lang="en-US" i="1"/>
              <a:t>) </a:t>
            </a:r>
            <a:r>
              <a:rPr lang="en-US"/>
              <a:t>-- keeps all nodes in memory
</a:t>
            </a:r>
          </a:p>
          <a:p>
            <a:pPr eaLnBrk="1" hangingPunct="1">
              <a:lnSpc>
                <a:spcPct val="115000"/>
              </a:lnSpc>
            </a:pPr>
            <a:r>
              <a:rPr lang="en-US" u="sng">
                <a:solidFill>
                  <a:srgbClr val="CC0099"/>
                </a:solidFill>
              </a:rPr>
              <a:t>Optimal?</a:t>
            </a:r>
            <a:r>
              <a:rPr lang="en-US"/>
              <a:t> No
</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p:cNvSpPr>
            <a:spLocks noGrp="1" noChangeArrowheads="1"/>
          </p:cNvSpPr>
          <p:nvPr>
            <p:ph type="title"/>
          </p:nvPr>
        </p:nvSpPr>
        <p:spPr>
          <a:xfrm>
            <a:off x="228600" y="338138"/>
            <a:ext cx="8610600" cy="652462"/>
          </a:xfrm>
        </p:spPr>
        <p:txBody>
          <a:bodyPr rIns="130174"/>
          <a:lstStyle/>
          <a:p>
            <a:pPr indent="0" eaLnBrk="1" hangingPunct="1">
              <a:defRPr/>
            </a:pPr>
            <a:r>
              <a:rPr lang="en-US" dirty="0"/>
              <a:t>A* Search</a:t>
            </a:r>
          </a:p>
        </p:txBody>
      </p:sp>
      <p:sp>
        <p:nvSpPr>
          <p:cNvPr id="111621" name="Rectangle 4"/>
          <p:cNvSpPr>
            <a:spLocks noGrp="1" noChangeArrowheads="1"/>
          </p:cNvSpPr>
          <p:nvPr>
            <p:ph type="body" idx="1"/>
          </p:nvPr>
        </p:nvSpPr>
        <p:spPr>
          <a:xfrm>
            <a:off x="304800" y="1524000"/>
            <a:ext cx="8839200" cy="4724400"/>
          </a:xfrm>
        </p:spPr>
        <p:txBody>
          <a:bodyPr rIns="130174"/>
          <a:lstStyle/>
          <a:p>
            <a:pPr eaLnBrk="1" hangingPunct="1"/>
            <a:r>
              <a:rPr lang="en-US" dirty="0"/>
              <a:t>Combines greedy and uniform-cost search to find the (estimated) cheapest path through the current node</a:t>
            </a:r>
          </a:p>
          <a:p>
            <a:pPr marL="723900" lvl="1" eaLnBrk="1" hangingPunct="1"/>
            <a:r>
              <a:rPr lang="en-US" dirty="0">
                <a:latin typeface="Arial Italic" charset="0"/>
                <a:cs typeface="Arial Italic" charset="0"/>
                <a:sym typeface="Arial Italic" charset="0"/>
              </a:rPr>
              <a:t>f(n) = g(n) + h(n)</a:t>
            </a:r>
            <a:br>
              <a:rPr lang="en-US" dirty="0">
                <a:latin typeface="Arial Italic" charset="0"/>
                <a:sym typeface="Arial Italic" charset="0"/>
              </a:rPr>
            </a:br>
            <a:r>
              <a:rPr lang="en-US" dirty="0">
                <a:latin typeface="Arial Italic" charset="0"/>
                <a:sym typeface="Arial Italic" charset="0"/>
              </a:rPr>
              <a:t>	</a:t>
            </a:r>
            <a:r>
              <a:rPr lang="en-US" dirty="0">
                <a:latin typeface="Arial Italic" charset="0"/>
                <a:cs typeface="Arial Italic" charset="0"/>
                <a:sym typeface="Arial Italic" charset="0"/>
              </a:rPr>
              <a:t>    = </a:t>
            </a:r>
            <a:r>
              <a:rPr lang="en-US" dirty="0"/>
              <a:t>path cost + estimated cost to the goal</a:t>
            </a:r>
          </a:p>
          <a:p>
            <a:pPr marL="723900" lvl="1" eaLnBrk="1" hangingPunct="1"/>
            <a:endParaRPr lang="en-US" dirty="0"/>
          </a:p>
          <a:p>
            <a:pPr marL="723900" lvl="1" eaLnBrk="1" hangingPunct="1"/>
            <a:r>
              <a:rPr lang="en-US" dirty="0"/>
              <a:t>Very good search method, but with complexity problems</a:t>
            </a:r>
          </a:p>
        </p:txBody>
      </p:sp>
      <p:sp>
        <p:nvSpPr>
          <p:cNvPr id="111622" name="Rectangle 5"/>
          <p:cNvSpPr>
            <a:spLocks/>
          </p:cNvSpPr>
          <p:nvPr/>
        </p:nvSpPr>
        <p:spPr bwMode="auto">
          <a:xfrm>
            <a:off x="1530350" y="4191000"/>
            <a:ext cx="6215063" cy="1143000"/>
          </a:xfrm>
          <a:prstGeom prst="rect">
            <a:avLst/>
          </a:prstGeom>
          <a:solidFill>
            <a:srgbClr val="0099FF"/>
          </a:solidFill>
          <a:ln w="12700">
            <a:solidFill>
              <a:srgbClr val="000020"/>
            </a:solidFill>
            <a:miter lim="800000"/>
            <a:headEnd/>
            <a:tailEnd/>
          </a:ln>
        </p:spPr>
        <p:txBody>
          <a:bodyPr wrap="square" lIns="0" tIns="0" rIns="40639" bIns="0">
            <a:spAutoFit/>
          </a:bodyPr>
          <a:lstStyle/>
          <a:p>
            <a:pPr marL="39688"/>
            <a:r>
              <a:rPr lang="en-US" sz="1800" b="1" dirty="0">
                <a:solidFill>
                  <a:srgbClr val="000020"/>
                </a:solidFill>
                <a:latin typeface="Courier" charset="0"/>
                <a:ea typeface="Courier" charset="0"/>
                <a:cs typeface="Courier" charset="0"/>
                <a:sym typeface="Courier" charset="0"/>
              </a:rPr>
              <a:t>function</a:t>
            </a:r>
            <a:r>
              <a:rPr lang="en-US" sz="1800" dirty="0">
                <a:solidFill>
                  <a:srgbClr val="000020"/>
                </a:solidFill>
                <a:latin typeface="Courier" charset="0"/>
                <a:ea typeface="Courier" charset="0"/>
                <a:cs typeface="Courier" charset="0"/>
                <a:sym typeface="Courier" charset="0"/>
              </a:rPr>
              <a:t> A*-SEARCH(</a:t>
            </a:r>
            <a:r>
              <a:rPr lang="en-US" sz="1800" i="1" dirty="0">
                <a:solidFill>
                  <a:srgbClr val="000020"/>
                </a:solidFill>
                <a:latin typeface="Courier" charset="0"/>
                <a:ea typeface="Courier" charset="0"/>
                <a:cs typeface="Courier" charset="0"/>
                <a:sym typeface="Courier" charset="0"/>
              </a:rPr>
              <a:t>problem</a:t>
            </a:r>
            <a:r>
              <a:rPr lang="en-US" sz="1800" dirty="0">
                <a:solidFill>
                  <a:srgbClr val="000020"/>
                </a:solidFill>
                <a:latin typeface="Courier" charset="0"/>
                <a:ea typeface="Courier" charset="0"/>
                <a:cs typeface="Courier" charset="0"/>
                <a:sym typeface="Courier" charset="0"/>
              </a:rPr>
              <a:t>) </a:t>
            </a:r>
            <a:r>
              <a:rPr lang="en-US" sz="1800" b="1" dirty="0">
                <a:solidFill>
                  <a:srgbClr val="000020"/>
                </a:solidFill>
                <a:latin typeface="Courier" charset="0"/>
                <a:ea typeface="Courier" charset="0"/>
                <a:cs typeface="Courier" charset="0"/>
                <a:sym typeface="Courier" charset="0"/>
              </a:rPr>
              <a:t>returns</a:t>
            </a:r>
            <a:r>
              <a:rPr lang="en-US" sz="1800" dirty="0">
                <a:solidFill>
                  <a:srgbClr val="000020"/>
                </a:solidFill>
                <a:latin typeface="Courier" charset="0"/>
                <a:ea typeface="Courier" charset="0"/>
                <a:cs typeface="Courier" charset="0"/>
                <a:sym typeface="Courier" charset="0"/>
              </a:rPr>
              <a:t> </a:t>
            </a:r>
            <a:r>
              <a:rPr lang="en-US" sz="1800" i="1" dirty="0">
                <a:solidFill>
                  <a:srgbClr val="000020"/>
                </a:solidFill>
                <a:latin typeface="Courier" charset="0"/>
                <a:ea typeface="Courier" charset="0"/>
                <a:cs typeface="Courier" charset="0"/>
                <a:sym typeface="Courier" charset="0"/>
              </a:rPr>
              <a:t>solution</a:t>
            </a:r>
          </a:p>
          <a:p>
            <a:pPr marL="39688"/>
            <a:endParaRPr lang="en-US" dirty="0">
              <a:solidFill>
                <a:schemeClr val="tx1"/>
              </a:solidFill>
              <a:cs typeface="Times New Roman" pitchFamily="18" charset="0"/>
            </a:endParaRPr>
          </a:p>
          <a:p>
            <a:pPr marL="39688"/>
            <a:r>
              <a:rPr lang="en-US" sz="1800" b="1" dirty="0">
                <a:solidFill>
                  <a:srgbClr val="000020"/>
                </a:solidFill>
                <a:latin typeface="Courier" charset="0"/>
                <a:ea typeface="Courier" charset="0"/>
                <a:cs typeface="Courier" charset="0"/>
                <a:sym typeface="Courier" charset="0"/>
              </a:rPr>
              <a:t>return </a:t>
            </a:r>
            <a:r>
              <a:rPr lang="en-US" sz="1800" dirty="0">
                <a:solidFill>
                  <a:srgbClr val="000020"/>
                </a:solidFill>
                <a:latin typeface="Courier" charset="0"/>
                <a:ea typeface="Courier" charset="0"/>
                <a:cs typeface="Courier" charset="0"/>
                <a:sym typeface="Courier" charset="0"/>
              </a:rPr>
              <a:t>BEST-FIRST-SEARCH(</a:t>
            </a:r>
            <a:r>
              <a:rPr lang="en-US" sz="1800" i="1" dirty="0">
                <a:solidFill>
                  <a:srgbClr val="000020"/>
                </a:solidFill>
                <a:latin typeface="Courier" charset="0"/>
                <a:ea typeface="Courier" charset="0"/>
                <a:cs typeface="Courier" charset="0"/>
                <a:sym typeface="Courier" charset="0"/>
              </a:rPr>
              <a:t>problem, </a:t>
            </a:r>
            <a:r>
              <a:rPr lang="en-US" sz="1800" i="1" dirty="0" err="1">
                <a:solidFill>
                  <a:srgbClr val="000020"/>
                </a:solidFill>
                <a:latin typeface="Courier" charset="0"/>
                <a:ea typeface="Courier" charset="0"/>
                <a:cs typeface="Courier" charset="0"/>
                <a:sym typeface="Courier" charset="0"/>
              </a:rPr>
              <a:t>g+h</a:t>
            </a:r>
            <a:r>
              <a:rPr lang="en-US" sz="1800" dirty="0">
                <a:solidFill>
                  <a:srgbClr val="000020"/>
                </a:solidFill>
                <a:latin typeface="Courier" charset="0"/>
                <a:ea typeface="Courier" charset="0"/>
                <a:cs typeface="Courier" charset="0"/>
                <a:sym typeface="Courier" charset="0"/>
              </a:rPr>
              <a:t>)</a:t>
            </a:r>
          </a:p>
          <a:p>
            <a:pPr marL="39688"/>
            <a:r>
              <a:rPr lang="en-US" sz="1800" dirty="0">
                <a:solidFill>
                  <a:srgbClr val="000020"/>
                </a:solidFill>
                <a:latin typeface="Arial Italic" charset="0"/>
                <a:cs typeface="Arial Italic" charset="0"/>
                <a:sym typeface="Arial Italic" charset="0"/>
              </a:rPr>
              <a:t>    </a:t>
            </a:r>
          </a:p>
        </p:txBody>
      </p:sp>
      <p:pic>
        <p:nvPicPr>
          <p:cNvPr id="111623" name="Picture 6"/>
          <p:cNvPicPr>
            <a:picLocks noChangeArrowheads="1"/>
          </p:cNvPicPr>
          <p:nvPr/>
        </p:nvPicPr>
        <p:blipFill>
          <a:blip r:embed="rId2"/>
          <a:srcRect/>
          <a:stretch>
            <a:fillRect/>
          </a:stretch>
        </p:blipFill>
        <p:spPr bwMode="auto">
          <a:xfrm>
            <a:off x="1600200" y="5410200"/>
            <a:ext cx="6261100" cy="1236663"/>
          </a:xfrm>
          <a:prstGeom prst="rect">
            <a:avLst/>
          </a:prstGeom>
          <a:noFill/>
          <a:ln w="9525">
            <a:noFill/>
            <a:miter lim="800000"/>
            <a:headEnd/>
            <a:tailEnd/>
          </a:ln>
        </p:spPr>
      </p:pic>
    </p:spTree>
  </p:cSld>
  <p:clrMapOvr>
    <a:masterClrMapping/>
  </p:clrMapOv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152400"/>
            <a:ext cx="8229600" cy="334963"/>
          </a:xfrm>
          <a:noFill/>
        </p:spPr>
        <p:txBody>
          <a:bodyPr lIns="90488" tIns="44450" rIns="90488" bIns="44450">
            <a:normAutofit fontScale="90000"/>
          </a:bodyPr>
          <a:lstStyle/>
          <a:p>
            <a:pPr eaLnBrk="1" hangingPunct="1"/>
            <a:r>
              <a:rPr lang="en-US" sz="3600">
                <a:solidFill>
                  <a:srgbClr val="009900"/>
                </a:solidFill>
              </a:rPr>
              <a:t>Algorithm A*</a:t>
            </a:r>
          </a:p>
        </p:txBody>
      </p:sp>
      <p:sp>
        <p:nvSpPr>
          <p:cNvPr id="26627" name="Rectangle 3"/>
          <p:cNvSpPr>
            <a:spLocks noGrp="1" noChangeArrowheads="1"/>
          </p:cNvSpPr>
          <p:nvPr>
            <p:ph type="body" idx="1"/>
          </p:nvPr>
        </p:nvSpPr>
        <p:spPr>
          <a:xfrm>
            <a:off x="0" y="1371600"/>
            <a:ext cx="9144000" cy="5105400"/>
          </a:xfrm>
          <a:noFill/>
        </p:spPr>
        <p:txBody>
          <a:bodyPr lIns="90488" tIns="44450" rIns="90488" bIns="44450">
            <a:normAutofit/>
          </a:bodyPr>
          <a:lstStyle/>
          <a:p>
            <a:pPr eaLnBrk="1" hangingPunct="1">
              <a:buFontTx/>
              <a:buNone/>
            </a:pPr>
            <a:r>
              <a:rPr lang="en-US" sz="2400" dirty="0">
                <a:solidFill>
                  <a:srgbClr val="003399"/>
                </a:solidFill>
              </a:rPr>
              <a:t>    </a:t>
            </a:r>
            <a:r>
              <a:rPr lang="en-US" sz="2400" b="1" i="1" dirty="0">
                <a:solidFill>
                  <a:srgbClr val="FF0000"/>
                </a:solidFill>
              </a:rPr>
              <a:t>Input:</a:t>
            </a:r>
            <a:r>
              <a:rPr lang="en-US" sz="2400" dirty="0">
                <a:solidFill>
                  <a:srgbClr val="FF0000"/>
                </a:solidFill>
              </a:rPr>
              <a:t> a search graph with cost on the arcs</a:t>
            </a:r>
          </a:p>
          <a:p>
            <a:pPr eaLnBrk="1" hangingPunct="1">
              <a:buFontTx/>
              <a:buNone/>
            </a:pPr>
            <a:r>
              <a:rPr lang="en-US" sz="2400" dirty="0">
                <a:solidFill>
                  <a:srgbClr val="FF0000"/>
                </a:solidFill>
              </a:rPr>
              <a:t>    </a:t>
            </a:r>
            <a:r>
              <a:rPr lang="en-US" sz="2400" b="1" i="1" dirty="0">
                <a:solidFill>
                  <a:srgbClr val="FF0000"/>
                </a:solidFill>
              </a:rPr>
              <a:t>Output:</a:t>
            </a:r>
            <a:r>
              <a:rPr lang="en-US" sz="2400" dirty="0">
                <a:solidFill>
                  <a:srgbClr val="FF0000"/>
                </a:solidFill>
              </a:rPr>
              <a:t> the minimal cost path from start node to a goal node.</a:t>
            </a:r>
          </a:p>
          <a:p>
            <a:pPr lvl="1" eaLnBrk="1" hangingPunct="1">
              <a:buFontTx/>
              <a:buNone/>
            </a:pPr>
            <a:r>
              <a:rPr lang="en-US" sz="1800" b="1" dirty="0">
                <a:solidFill>
                  <a:srgbClr val="003399"/>
                </a:solidFill>
              </a:rPr>
              <a:t>1. Put the start node s on OPEN.</a:t>
            </a:r>
          </a:p>
          <a:p>
            <a:pPr lvl="1" eaLnBrk="1" hangingPunct="1">
              <a:buFontTx/>
              <a:buNone/>
            </a:pPr>
            <a:r>
              <a:rPr lang="en-US" sz="1800" b="1" dirty="0">
                <a:solidFill>
                  <a:srgbClr val="003399"/>
                </a:solidFill>
              </a:rPr>
              <a:t>2. If OPEN is empty, exit with failure</a:t>
            </a:r>
          </a:p>
          <a:p>
            <a:pPr lvl="1" eaLnBrk="1" hangingPunct="1">
              <a:buFontTx/>
              <a:buNone/>
            </a:pPr>
            <a:r>
              <a:rPr lang="en-US" sz="1800" b="1" dirty="0">
                <a:solidFill>
                  <a:srgbClr val="003399"/>
                </a:solidFill>
              </a:rPr>
              <a:t>3. Remove from OPEN and place on CLOSED a node n having minimum f.</a:t>
            </a:r>
          </a:p>
          <a:p>
            <a:pPr lvl="1" eaLnBrk="1" hangingPunct="1">
              <a:buFontTx/>
              <a:buNone/>
            </a:pPr>
            <a:r>
              <a:rPr lang="en-US" sz="1800" b="1" dirty="0">
                <a:solidFill>
                  <a:srgbClr val="003399"/>
                </a:solidFill>
              </a:rPr>
              <a:t>4. If n is a goal node exit successfully with a solution path obtained by tracing back the pointers from n to s.</a:t>
            </a:r>
          </a:p>
          <a:p>
            <a:pPr lvl="1" eaLnBrk="1" hangingPunct="1">
              <a:buFontTx/>
              <a:buNone/>
            </a:pPr>
            <a:r>
              <a:rPr lang="en-US" sz="1800" b="1" dirty="0">
                <a:solidFill>
                  <a:srgbClr val="003399"/>
                </a:solidFill>
              </a:rPr>
              <a:t>5. Otherwise, expand n generating its children and directing pointers from each child node to n.</a:t>
            </a:r>
          </a:p>
          <a:p>
            <a:pPr lvl="2" eaLnBrk="1" hangingPunct="1"/>
            <a:r>
              <a:rPr lang="en-US" sz="1800" b="1" dirty="0">
                <a:solidFill>
                  <a:srgbClr val="003399"/>
                </a:solidFill>
              </a:rPr>
              <a:t>For every child node  n’ do</a:t>
            </a:r>
          </a:p>
          <a:p>
            <a:pPr lvl="3" eaLnBrk="1" hangingPunct="1"/>
            <a:r>
              <a:rPr lang="en-US" sz="1800" b="1" dirty="0">
                <a:solidFill>
                  <a:srgbClr val="003399"/>
                </a:solidFill>
              </a:rPr>
              <a:t>evaluate  h(n’) and compute f(n’) = g(n’) +h(n’)= g(n)+c(</a:t>
            </a:r>
            <a:r>
              <a:rPr lang="en-US" sz="1800" b="1" dirty="0" err="1">
                <a:solidFill>
                  <a:srgbClr val="003399"/>
                </a:solidFill>
              </a:rPr>
              <a:t>n,n</a:t>
            </a:r>
            <a:r>
              <a:rPr lang="en-US" sz="1800" b="1" dirty="0">
                <a:solidFill>
                  <a:srgbClr val="003399"/>
                </a:solidFill>
              </a:rPr>
              <a:t>’)+h(n)</a:t>
            </a:r>
          </a:p>
          <a:p>
            <a:pPr lvl="3" eaLnBrk="1" hangingPunct="1"/>
            <a:r>
              <a:rPr lang="en-US" sz="1800" b="1" dirty="0">
                <a:solidFill>
                  <a:srgbClr val="003399"/>
                </a:solidFill>
              </a:rPr>
              <a:t>If n’ is already on OPEN or CLOSED compare its new f with the old f and attach the lowest f to n’.</a:t>
            </a:r>
          </a:p>
          <a:p>
            <a:pPr lvl="3" eaLnBrk="1" hangingPunct="1"/>
            <a:r>
              <a:rPr lang="en-US" sz="1800" b="1" dirty="0">
                <a:solidFill>
                  <a:srgbClr val="003399"/>
                </a:solidFill>
              </a:rPr>
              <a:t>put n’ with its  f value in the right order in OPEN</a:t>
            </a:r>
          </a:p>
          <a:p>
            <a:pPr lvl="1" eaLnBrk="1" hangingPunct="1">
              <a:buFontTx/>
              <a:buNone/>
            </a:pPr>
            <a:r>
              <a:rPr lang="en-US" sz="1800" b="1" dirty="0">
                <a:solidFill>
                  <a:srgbClr val="003399"/>
                </a:solidFill>
              </a:rPr>
              <a:t>6. Go to step 2.</a:t>
            </a:r>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4" name="Rectangle 3"/>
          <p:cNvSpPr>
            <a:spLocks/>
          </p:cNvSpPr>
          <p:nvPr/>
        </p:nvSpPr>
        <p:spPr bwMode="auto">
          <a:xfrm>
            <a:off x="381000" y="1524000"/>
            <a:ext cx="7086600" cy="4572000"/>
          </a:xfrm>
          <a:prstGeom prst="rect">
            <a:avLst/>
          </a:prstGeom>
          <a:solidFill>
            <a:srgbClr val="00CECE"/>
          </a:solidFill>
          <a:ln w="12700">
            <a:noFill/>
            <a:miter lim="800000"/>
            <a:headEnd/>
            <a:tailEnd/>
          </a:ln>
        </p:spPr>
        <p:txBody>
          <a:bodyPr lIns="0" tIns="0" rIns="0" bIns="0"/>
          <a:lstStyle/>
          <a:p>
            <a:endParaRPr lang="en-US"/>
          </a:p>
        </p:txBody>
      </p:sp>
      <p:sp>
        <p:nvSpPr>
          <p:cNvPr id="116740" name="Rectangle 4"/>
          <p:cNvSpPr>
            <a:spLocks noGrp="1" noChangeArrowheads="1"/>
          </p:cNvSpPr>
          <p:nvPr>
            <p:ph type="title"/>
          </p:nvPr>
        </p:nvSpPr>
        <p:spPr>
          <a:xfrm>
            <a:off x="0" y="1"/>
            <a:ext cx="8610600" cy="990600"/>
          </a:xfrm>
        </p:spPr>
        <p:txBody>
          <a:bodyPr rIns="130174"/>
          <a:lstStyle/>
          <a:p>
            <a:pPr indent="0" eaLnBrk="1" hangingPunct="1">
              <a:defRPr/>
            </a:pPr>
            <a:r>
              <a:rPr lang="en-US" dirty="0"/>
              <a:t>A* Snapshot</a:t>
            </a:r>
          </a:p>
        </p:txBody>
      </p:sp>
      <p:sp>
        <p:nvSpPr>
          <p:cNvPr id="112646" name="Oval 5"/>
          <p:cNvSpPr>
            <a:spLocks/>
          </p:cNvSpPr>
          <p:nvPr/>
        </p:nvSpPr>
        <p:spPr bwMode="auto">
          <a:xfrm>
            <a:off x="8804275"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112647"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112648"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112649"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112650"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112651"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112652"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112653"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112654"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112655"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112656"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112657"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112658"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112659"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112660"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112661"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112662" name="Line 21"/>
          <p:cNvSpPr>
            <a:spLocks noChangeShapeType="1"/>
          </p:cNvSpPr>
          <p:nvPr/>
        </p:nvSpPr>
        <p:spPr bwMode="auto">
          <a:xfrm>
            <a:off x="5486400" y="3733800"/>
            <a:ext cx="76200" cy="762000"/>
          </a:xfrm>
          <a:prstGeom prst="line">
            <a:avLst/>
          </a:prstGeom>
          <a:noFill/>
          <a:ln w="12700">
            <a:solidFill>
              <a:srgbClr val="000020"/>
            </a:solidFill>
            <a:round/>
            <a:headEnd/>
            <a:tailEnd/>
          </a:ln>
        </p:spPr>
        <p:txBody>
          <a:bodyPr lIns="0" tIns="0" rIns="0" bIns="0"/>
          <a:lstStyle/>
          <a:p>
            <a:endParaRPr lang="en-US"/>
          </a:p>
        </p:txBody>
      </p:sp>
      <p:sp>
        <p:nvSpPr>
          <p:cNvPr id="112663"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112664"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112665"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112666"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112667"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112668"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112669"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112670"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112671"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112672"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112673"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112674" name="Line 33"/>
          <p:cNvSpPr>
            <a:spLocks noChangeShapeType="1"/>
          </p:cNvSpPr>
          <p:nvPr/>
        </p:nvSpPr>
        <p:spPr bwMode="auto">
          <a:xfrm>
            <a:off x="55626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112675" name="Line 34"/>
          <p:cNvSpPr>
            <a:spLocks noChangeShapeType="1"/>
          </p:cNvSpPr>
          <p:nvPr/>
        </p:nvSpPr>
        <p:spPr bwMode="auto">
          <a:xfrm>
            <a:off x="5638800" y="4800600"/>
            <a:ext cx="533400" cy="685800"/>
          </a:xfrm>
          <a:prstGeom prst="line">
            <a:avLst/>
          </a:prstGeom>
          <a:noFill/>
          <a:ln w="12700">
            <a:solidFill>
              <a:srgbClr val="000020"/>
            </a:solidFill>
            <a:round/>
            <a:headEnd/>
            <a:tailEnd/>
          </a:ln>
        </p:spPr>
        <p:txBody>
          <a:bodyPr lIns="0" tIns="0" rIns="0" bIns="0"/>
          <a:lstStyle/>
          <a:p>
            <a:endParaRPr lang="en-US"/>
          </a:p>
        </p:txBody>
      </p:sp>
      <p:sp>
        <p:nvSpPr>
          <p:cNvPr id="112676"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grpSp>
        <p:nvGrpSpPr>
          <p:cNvPr id="2" name="Group 38"/>
          <p:cNvGrpSpPr>
            <a:grpSpLocks/>
          </p:cNvGrpSpPr>
          <p:nvPr/>
        </p:nvGrpSpPr>
        <p:grpSpPr bwMode="auto">
          <a:xfrm flipH="1">
            <a:off x="6915150" y="5492750"/>
            <a:ext cx="304800" cy="330200"/>
            <a:chOff x="0" y="0"/>
            <a:chExt cx="192" cy="208"/>
          </a:xfrm>
        </p:grpSpPr>
        <p:sp>
          <p:nvSpPr>
            <p:cNvPr id="112858" name="Oval 36"/>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59" name="Rectangle 37"/>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3" name="Group 41"/>
          <p:cNvGrpSpPr>
            <a:grpSpLocks/>
          </p:cNvGrpSpPr>
          <p:nvPr/>
        </p:nvGrpSpPr>
        <p:grpSpPr bwMode="auto">
          <a:xfrm>
            <a:off x="887413" y="5492750"/>
            <a:ext cx="304800" cy="330200"/>
            <a:chOff x="0" y="0"/>
            <a:chExt cx="192" cy="208"/>
          </a:xfrm>
        </p:grpSpPr>
        <p:sp>
          <p:nvSpPr>
            <p:cNvPr id="112856" name="Oval 39"/>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57" name="Rectangle 40"/>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4" name="Group 44"/>
          <p:cNvGrpSpPr>
            <a:grpSpLocks/>
          </p:cNvGrpSpPr>
          <p:nvPr/>
        </p:nvGrpSpPr>
        <p:grpSpPr bwMode="auto">
          <a:xfrm>
            <a:off x="1317625" y="5492750"/>
            <a:ext cx="304800" cy="330200"/>
            <a:chOff x="0" y="0"/>
            <a:chExt cx="192" cy="208"/>
          </a:xfrm>
        </p:grpSpPr>
        <p:sp>
          <p:nvSpPr>
            <p:cNvPr id="112854" name="Oval 4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55" name="Rectangle 43"/>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5" name="Group 47"/>
          <p:cNvGrpSpPr>
            <a:grpSpLocks/>
          </p:cNvGrpSpPr>
          <p:nvPr/>
        </p:nvGrpSpPr>
        <p:grpSpPr bwMode="auto">
          <a:xfrm>
            <a:off x="1747838" y="5492750"/>
            <a:ext cx="304800" cy="330200"/>
            <a:chOff x="0" y="0"/>
            <a:chExt cx="192" cy="208"/>
          </a:xfrm>
        </p:grpSpPr>
        <p:sp>
          <p:nvSpPr>
            <p:cNvPr id="112852" name="Oval 45"/>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53" name="Rectangle 46"/>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6" name="Group 50"/>
          <p:cNvGrpSpPr>
            <a:grpSpLocks/>
          </p:cNvGrpSpPr>
          <p:nvPr/>
        </p:nvGrpSpPr>
        <p:grpSpPr bwMode="auto">
          <a:xfrm>
            <a:off x="2178050" y="5492750"/>
            <a:ext cx="304800" cy="330200"/>
            <a:chOff x="0" y="0"/>
            <a:chExt cx="192" cy="208"/>
          </a:xfrm>
        </p:grpSpPr>
        <p:sp>
          <p:nvSpPr>
            <p:cNvPr id="112850" name="Oval 48"/>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51" name="Rectangle 49"/>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7" name="Group 53"/>
          <p:cNvGrpSpPr>
            <a:grpSpLocks/>
          </p:cNvGrpSpPr>
          <p:nvPr/>
        </p:nvGrpSpPr>
        <p:grpSpPr bwMode="auto">
          <a:xfrm>
            <a:off x="2609850" y="5492750"/>
            <a:ext cx="304800" cy="330200"/>
            <a:chOff x="0" y="0"/>
            <a:chExt cx="192" cy="208"/>
          </a:xfrm>
        </p:grpSpPr>
        <p:sp>
          <p:nvSpPr>
            <p:cNvPr id="112848" name="Oval 51"/>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49" name="Rectangle 52"/>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3</a:t>
              </a:r>
            </a:p>
          </p:txBody>
        </p:sp>
      </p:grpSp>
      <p:grpSp>
        <p:nvGrpSpPr>
          <p:cNvPr id="8" name="Group 56"/>
          <p:cNvGrpSpPr>
            <a:grpSpLocks/>
          </p:cNvGrpSpPr>
          <p:nvPr/>
        </p:nvGrpSpPr>
        <p:grpSpPr bwMode="auto">
          <a:xfrm>
            <a:off x="3040063" y="5492750"/>
            <a:ext cx="304800" cy="330200"/>
            <a:chOff x="0" y="0"/>
            <a:chExt cx="192" cy="208"/>
          </a:xfrm>
        </p:grpSpPr>
        <p:sp>
          <p:nvSpPr>
            <p:cNvPr id="112846" name="Oval 54"/>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47" name="Rectangle 55"/>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2</a:t>
              </a:r>
            </a:p>
          </p:txBody>
        </p:sp>
      </p:grpSp>
      <p:grpSp>
        <p:nvGrpSpPr>
          <p:cNvPr id="9" name="Group 59"/>
          <p:cNvGrpSpPr>
            <a:grpSpLocks/>
          </p:cNvGrpSpPr>
          <p:nvPr/>
        </p:nvGrpSpPr>
        <p:grpSpPr bwMode="auto">
          <a:xfrm>
            <a:off x="3470275" y="5492750"/>
            <a:ext cx="304800" cy="330200"/>
            <a:chOff x="0" y="0"/>
            <a:chExt cx="192" cy="208"/>
          </a:xfrm>
        </p:grpSpPr>
        <p:sp>
          <p:nvSpPr>
            <p:cNvPr id="112844" name="Oval 57"/>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45" name="Rectangle 58"/>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1</a:t>
              </a:r>
            </a:p>
          </p:txBody>
        </p:sp>
      </p:grpSp>
      <p:grpSp>
        <p:nvGrpSpPr>
          <p:cNvPr id="10" name="Group 62"/>
          <p:cNvGrpSpPr>
            <a:grpSpLocks/>
          </p:cNvGrpSpPr>
          <p:nvPr/>
        </p:nvGrpSpPr>
        <p:grpSpPr bwMode="auto">
          <a:xfrm>
            <a:off x="3900488" y="5492750"/>
            <a:ext cx="304800" cy="330200"/>
            <a:chOff x="0" y="0"/>
            <a:chExt cx="192" cy="208"/>
          </a:xfrm>
        </p:grpSpPr>
        <p:sp>
          <p:nvSpPr>
            <p:cNvPr id="112842" name="Oval 60"/>
            <p:cNvSpPr>
              <a:spLocks/>
            </p:cNvSpPr>
            <p:nvPr/>
          </p:nvSpPr>
          <p:spPr bwMode="auto">
            <a:xfrm>
              <a:off x="0" y="8"/>
              <a:ext cx="192" cy="192"/>
            </a:xfrm>
            <a:prstGeom prst="ellipse">
              <a:avLst/>
            </a:prstGeom>
            <a:solidFill>
              <a:srgbClr val="FC0128"/>
            </a:solidFill>
            <a:ln w="38100">
              <a:solidFill>
                <a:srgbClr val="00FF00"/>
              </a:solidFill>
              <a:round/>
              <a:headEnd/>
              <a:tailEnd/>
            </a:ln>
          </p:spPr>
          <p:txBody>
            <a:bodyPr lIns="0" tIns="0" rIns="0" bIns="0"/>
            <a:lstStyle/>
            <a:p>
              <a:endParaRPr lang="en-US"/>
            </a:p>
          </p:txBody>
        </p:sp>
        <p:sp>
          <p:nvSpPr>
            <p:cNvPr id="112843" name="Rectangle 61"/>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0</a:t>
              </a:r>
            </a:p>
          </p:txBody>
        </p:sp>
      </p:grpSp>
      <p:grpSp>
        <p:nvGrpSpPr>
          <p:cNvPr id="11" name="Group 65"/>
          <p:cNvGrpSpPr>
            <a:grpSpLocks/>
          </p:cNvGrpSpPr>
          <p:nvPr/>
        </p:nvGrpSpPr>
        <p:grpSpPr bwMode="auto">
          <a:xfrm>
            <a:off x="4330700" y="5492750"/>
            <a:ext cx="304800" cy="330200"/>
            <a:chOff x="0" y="0"/>
            <a:chExt cx="192" cy="208"/>
          </a:xfrm>
        </p:grpSpPr>
        <p:sp>
          <p:nvSpPr>
            <p:cNvPr id="112840" name="Oval 63"/>
            <p:cNvSpPr>
              <a:spLocks/>
            </p:cNvSpPr>
            <p:nvPr/>
          </p:nvSpPr>
          <p:spPr bwMode="auto">
            <a:xfrm>
              <a:off x="0" y="8"/>
              <a:ext cx="192" cy="192"/>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112841" name="Rectangle 64"/>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1</a:t>
              </a:r>
            </a:p>
          </p:txBody>
        </p:sp>
      </p:grpSp>
      <p:grpSp>
        <p:nvGrpSpPr>
          <p:cNvPr id="12" name="Group 68"/>
          <p:cNvGrpSpPr>
            <a:grpSpLocks/>
          </p:cNvGrpSpPr>
          <p:nvPr/>
        </p:nvGrpSpPr>
        <p:grpSpPr bwMode="auto">
          <a:xfrm>
            <a:off x="5192713" y="5492750"/>
            <a:ext cx="304800" cy="330200"/>
            <a:chOff x="0" y="0"/>
            <a:chExt cx="192" cy="208"/>
          </a:xfrm>
        </p:grpSpPr>
        <p:sp>
          <p:nvSpPr>
            <p:cNvPr id="112838" name="Oval 66"/>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39" name="Rectangle 67"/>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3</a:t>
              </a:r>
            </a:p>
          </p:txBody>
        </p:sp>
      </p:grpSp>
      <p:grpSp>
        <p:nvGrpSpPr>
          <p:cNvPr id="13" name="Group 71"/>
          <p:cNvGrpSpPr>
            <a:grpSpLocks/>
          </p:cNvGrpSpPr>
          <p:nvPr/>
        </p:nvGrpSpPr>
        <p:grpSpPr bwMode="auto">
          <a:xfrm>
            <a:off x="6053138" y="5492750"/>
            <a:ext cx="304800" cy="330200"/>
            <a:chOff x="0" y="0"/>
            <a:chExt cx="192" cy="208"/>
          </a:xfrm>
        </p:grpSpPr>
        <p:sp>
          <p:nvSpPr>
            <p:cNvPr id="112836" name="Oval 69"/>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37" name="Rectangle 70"/>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14" name="Group 74"/>
          <p:cNvGrpSpPr>
            <a:grpSpLocks/>
          </p:cNvGrpSpPr>
          <p:nvPr/>
        </p:nvGrpSpPr>
        <p:grpSpPr bwMode="auto">
          <a:xfrm>
            <a:off x="6483350" y="5492750"/>
            <a:ext cx="304800" cy="330200"/>
            <a:chOff x="0" y="0"/>
            <a:chExt cx="192" cy="208"/>
          </a:xfrm>
        </p:grpSpPr>
        <p:sp>
          <p:nvSpPr>
            <p:cNvPr id="112834" name="Oval 7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35" name="Rectangle 73"/>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15" name="Group 77"/>
          <p:cNvGrpSpPr>
            <a:grpSpLocks/>
          </p:cNvGrpSpPr>
          <p:nvPr/>
        </p:nvGrpSpPr>
        <p:grpSpPr bwMode="auto">
          <a:xfrm>
            <a:off x="4762500" y="5492750"/>
            <a:ext cx="304800" cy="330200"/>
            <a:chOff x="0" y="0"/>
            <a:chExt cx="192" cy="208"/>
          </a:xfrm>
        </p:grpSpPr>
        <p:sp>
          <p:nvSpPr>
            <p:cNvPr id="112832" name="Oval 75"/>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33" name="Rectangle 76"/>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2</a:t>
              </a:r>
            </a:p>
          </p:txBody>
        </p:sp>
      </p:grpSp>
      <p:grpSp>
        <p:nvGrpSpPr>
          <p:cNvPr id="16" name="Group 80"/>
          <p:cNvGrpSpPr>
            <a:grpSpLocks/>
          </p:cNvGrpSpPr>
          <p:nvPr/>
        </p:nvGrpSpPr>
        <p:grpSpPr bwMode="auto">
          <a:xfrm>
            <a:off x="5622925" y="5492750"/>
            <a:ext cx="304800" cy="330200"/>
            <a:chOff x="0" y="0"/>
            <a:chExt cx="192" cy="208"/>
          </a:xfrm>
        </p:grpSpPr>
        <p:sp>
          <p:nvSpPr>
            <p:cNvPr id="112830" name="Oval 78"/>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31" name="Rectangle 79"/>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17" name="Group 83"/>
          <p:cNvGrpSpPr>
            <a:grpSpLocks/>
          </p:cNvGrpSpPr>
          <p:nvPr/>
        </p:nvGrpSpPr>
        <p:grpSpPr bwMode="auto">
          <a:xfrm>
            <a:off x="457200" y="5492750"/>
            <a:ext cx="304800" cy="330200"/>
            <a:chOff x="0" y="0"/>
            <a:chExt cx="192" cy="208"/>
          </a:xfrm>
        </p:grpSpPr>
        <p:sp>
          <p:nvSpPr>
            <p:cNvPr id="112828" name="Oval 81"/>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29" name="Rectangle 82"/>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8</a:t>
              </a:r>
            </a:p>
          </p:txBody>
        </p:sp>
      </p:grpSp>
      <p:grpSp>
        <p:nvGrpSpPr>
          <p:cNvPr id="18" name="Group 86"/>
          <p:cNvGrpSpPr>
            <a:grpSpLocks/>
          </p:cNvGrpSpPr>
          <p:nvPr/>
        </p:nvGrpSpPr>
        <p:grpSpPr bwMode="auto">
          <a:xfrm flipH="1">
            <a:off x="6134100" y="4483100"/>
            <a:ext cx="304800" cy="330200"/>
            <a:chOff x="0" y="0"/>
            <a:chExt cx="192" cy="208"/>
          </a:xfrm>
        </p:grpSpPr>
        <p:sp>
          <p:nvSpPr>
            <p:cNvPr id="112826" name="Oval 84"/>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27" name="Rectangle 85"/>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19" name="Group 89"/>
          <p:cNvGrpSpPr>
            <a:grpSpLocks/>
          </p:cNvGrpSpPr>
          <p:nvPr/>
        </p:nvGrpSpPr>
        <p:grpSpPr bwMode="auto">
          <a:xfrm>
            <a:off x="1920875" y="4483100"/>
            <a:ext cx="304800" cy="330200"/>
            <a:chOff x="0" y="0"/>
            <a:chExt cx="192" cy="208"/>
          </a:xfrm>
        </p:grpSpPr>
        <p:sp>
          <p:nvSpPr>
            <p:cNvPr id="112824" name="Oval 87"/>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25" name="Rectangle 88"/>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20" name="Group 92"/>
          <p:cNvGrpSpPr>
            <a:grpSpLocks/>
          </p:cNvGrpSpPr>
          <p:nvPr/>
        </p:nvGrpSpPr>
        <p:grpSpPr bwMode="auto">
          <a:xfrm>
            <a:off x="2622550" y="4483100"/>
            <a:ext cx="304800" cy="330200"/>
            <a:chOff x="0" y="0"/>
            <a:chExt cx="192" cy="208"/>
          </a:xfrm>
        </p:grpSpPr>
        <p:sp>
          <p:nvSpPr>
            <p:cNvPr id="112822" name="Oval 90"/>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23" name="Rectangle 91"/>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21" name="Group 95"/>
          <p:cNvGrpSpPr>
            <a:grpSpLocks/>
          </p:cNvGrpSpPr>
          <p:nvPr/>
        </p:nvGrpSpPr>
        <p:grpSpPr bwMode="auto">
          <a:xfrm>
            <a:off x="4027488" y="4483100"/>
            <a:ext cx="304800" cy="330200"/>
            <a:chOff x="0" y="0"/>
            <a:chExt cx="192" cy="208"/>
          </a:xfrm>
        </p:grpSpPr>
        <p:sp>
          <p:nvSpPr>
            <p:cNvPr id="112820" name="Oval 93"/>
            <p:cNvSpPr>
              <a:spLocks/>
            </p:cNvSpPr>
            <p:nvPr/>
          </p:nvSpPr>
          <p:spPr bwMode="auto">
            <a:xfrm>
              <a:off x="0" y="8"/>
              <a:ext cx="192" cy="192"/>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112821" name="Rectangle 94"/>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2</a:t>
              </a:r>
            </a:p>
          </p:txBody>
        </p:sp>
      </p:grpSp>
      <p:grpSp>
        <p:nvGrpSpPr>
          <p:cNvPr id="22" name="Group 98"/>
          <p:cNvGrpSpPr>
            <a:grpSpLocks/>
          </p:cNvGrpSpPr>
          <p:nvPr/>
        </p:nvGrpSpPr>
        <p:grpSpPr bwMode="auto">
          <a:xfrm>
            <a:off x="4729163" y="4483100"/>
            <a:ext cx="304800" cy="330200"/>
            <a:chOff x="0" y="0"/>
            <a:chExt cx="192" cy="208"/>
          </a:xfrm>
        </p:grpSpPr>
        <p:sp>
          <p:nvSpPr>
            <p:cNvPr id="112818" name="Oval 96"/>
            <p:cNvSpPr>
              <a:spLocks/>
            </p:cNvSpPr>
            <p:nvPr/>
          </p:nvSpPr>
          <p:spPr bwMode="auto">
            <a:xfrm>
              <a:off x="0" y="8"/>
              <a:ext cx="192" cy="192"/>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2819" name="Rectangle 97"/>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23" name="Group 101"/>
          <p:cNvGrpSpPr>
            <a:grpSpLocks/>
          </p:cNvGrpSpPr>
          <p:nvPr/>
        </p:nvGrpSpPr>
        <p:grpSpPr bwMode="auto">
          <a:xfrm>
            <a:off x="5430838" y="4483100"/>
            <a:ext cx="304800" cy="330200"/>
            <a:chOff x="0" y="0"/>
            <a:chExt cx="192" cy="208"/>
          </a:xfrm>
        </p:grpSpPr>
        <p:sp>
          <p:nvSpPr>
            <p:cNvPr id="112816" name="Oval 99"/>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17" name="Rectangle 100"/>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24" name="Group 104"/>
          <p:cNvGrpSpPr>
            <a:grpSpLocks/>
          </p:cNvGrpSpPr>
          <p:nvPr/>
        </p:nvGrpSpPr>
        <p:grpSpPr bwMode="auto">
          <a:xfrm>
            <a:off x="3324225" y="4483100"/>
            <a:ext cx="304800" cy="330200"/>
            <a:chOff x="0" y="0"/>
            <a:chExt cx="192" cy="208"/>
          </a:xfrm>
        </p:grpSpPr>
        <p:sp>
          <p:nvSpPr>
            <p:cNvPr id="112814" name="Oval 10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15" name="Rectangle 103"/>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3</a:t>
              </a:r>
            </a:p>
          </p:txBody>
        </p:sp>
      </p:grpSp>
      <p:grpSp>
        <p:nvGrpSpPr>
          <p:cNvPr id="25" name="Group 107"/>
          <p:cNvGrpSpPr>
            <a:grpSpLocks/>
          </p:cNvGrpSpPr>
          <p:nvPr/>
        </p:nvGrpSpPr>
        <p:grpSpPr bwMode="auto">
          <a:xfrm>
            <a:off x="1219200" y="4483100"/>
            <a:ext cx="304800" cy="330200"/>
            <a:chOff x="0" y="0"/>
            <a:chExt cx="192" cy="208"/>
          </a:xfrm>
        </p:grpSpPr>
        <p:sp>
          <p:nvSpPr>
            <p:cNvPr id="112812" name="Oval 105"/>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13" name="Rectangle 106"/>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26" name="Group 110"/>
          <p:cNvGrpSpPr>
            <a:grpSpLocks/>
          </p:cNvGrpSpPr>
          <p:nvPr/>
        </p:nvGrpSpPr>
        <p:grpSpPr bwMode="auto">
          <a:xfrm flipH="1">
            <a:off x="5353050" y="3508375"/>
            <a:ext cx="304800" cy="330200"/>
            <a:chOff x="0" y="0"/>
            <a:chExt cx="192" cy="208"/>
          </a:xfrm>
        </p:grpSpPr>
        <p:sp>
          <p:nvSpPr>
            <p:cNvPr id="112810" name="Oval 108"/>
            <p:cNvSpPr>
              <a:spLocks/>
            </p:cNvSpPr>
            <p:nvPr/>
          </p:nvSpPr>
          <p:spPr bwMode="auto">
            <a:xfrm>
              <a:off x="0" y="8"/>
              <a:ext cx="192" cy="192"/>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2811" name="Rectangle 109"/>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27" name="Group 113"/>
          <p:cNvGrpSpPr>
            <a:grpSpLocks/>
          </p:cNvGrpSpPr>
          <p:nvPr/>
        </p:nvGrpSpPr>
        <p:grpSpPr bwMode="auto">
          <a:xfrm>
            <a:off x="3124200" y="3508375"/>
            <a:ext cx="304800" cy="330200"/>
            <a:chOff x="0" y="0"/>
            <a:chExt cx="192" cy="208"/>
          </a:xfrm>
        </p:grpSpPr>
        <p:sp>
          <p:nvSpPr>
            <p:cNvPr id="112808" name="Oval 111"/>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09" name="Rectangle 112"/>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28" name="Group 116"/>
          <p:cNvGrpSpPr>
            <a:grpSpLocks/>
          </p:cNvGrpSpPr>
          <p:nvPr/>
        </p:nvGrpSpPr>
        <p:grpSpPr bwMode="auto">
          <a:xfrm>
            <a:off x="4229100" y="3508375"/>
            <a:ext cx="304800" cy="330200"/>
            <a:chOff x="0" y="0"/>
            <a:chExt cx="192" cy="208"/>
          </a:xfrm>
        </p:grpSpPr>
        <p:sp>
          <p:nvSpPr>
            <p:cNvPr id="112806" name="Oval 114"/>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2807" name="Rectangle 115"/>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5</a:t>
              </a:r>
            </a:p>
          </p:txBody>
        </p:sp>
      </p:grpSp>
      <p:grpSp>
        <p:nvGrpSpPr>
          <p:cNvPr id="29" name="Group 119"/>
          <p:cNvGrpSpPr>
            <a:grpSpLocks/>
          </p:cNvGrpSpPr>
          <p:nvPr/>
        </p:nvGrpSpPr>
        <p:grpSpPr bwMode="auto">
          <a:xfrm>
            <a:off x="1981200" y="3508375"/>
            <a:ext cx="304800" cy="330200"/>
            <a:chOff x="0" y="0"/>
            <a:chExt cx="192" cy="208"/>
          </a:xfrm>
        </p:grpSpPr>
        <p:sp>
          <p:nvSpPr>
            <p:cNvPr id="112804" name="Oval 117"/>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805" name="Rectangle 118"/>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30" name="Group 122"/>
          <p:cNvGrpSpPr>
            <a:grpSpLocks/>
          </p:cNvGrpSpPr>
          <p:nvPr/>
        </p:nvGrpSpPr>
        <p:grpSpPr bwMode="auto">
          <a:xfrm flipH="1">
            <a:off x="4572000" y="2501900"/>
            <a:ext cx="304800" cy="330200"/>
            <a:chOff x="0" y="0"/>
            <a:chExt cx="192" cy="208"/>
          </a:xfrm>
        </p:grpSpPr>
        <p:sp>
          <p:nvSpPr>
            <p:cNvPr id="112802" name="Oval 120"/>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2803" name="Rectangle 121"/>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7</a:t>
              </a:r>
            </a:p>
          </p:txBody>
        </p:sp>
      </p:grpSp>
      <p:grpSp>
        <p:nvGrpSpPr>
          <p:cNvPr id="31" name="Group 125"/>
          <p:cNvGrpSpPr>
            <a:grpSpLocks/>
          </p:cNvGrpSpPr>
          <p:nvPr/>
        </p:nvGrpSpPr>
        <p:grpSpPr bwMode="auto">
          <a:xfrm>
            <a:off x="2743200" y="2501900"/>
            <a:ext cx="304800" cy="330200"/>
            <a:chOff x="0" y="0"/>
            <a:chExt cx="192" cy="208"/>
          </a:xfrm>
        </p:grpSpPr>
        <p:sp>
          <p:nvSpPr>
            <p:cNvPr id="112800" name="Oval 123"/>
            <p:cNvSpPr>
              <a:spLocks/>
            </p:cNvSpPr>
            <p:nvPr/>
          </p:nvSpPr>
          <p:spPr bwMode="auto">
            <a:xfrm>
              <a:off x="0" y="8"/>
              <a:ext cx="192" cy="192"/>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2801" name="Rectangle 124"/>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112677" name="Group 128"/>
          <p:cNvGrpSpPr>
            <a:grpSpLocks/>
          </p:cNvGrpSpPr>
          <p:nvPr/>
        </p:nvGrpSpPr>
        <p:grpSpPr bwMode="auto">
          <a:xfrm>
            <a:off x="3657600" y="1557338"/>
            <a:ext cx="304800" cy="330200"/>
            <a:chOff x="0" y="0"/>
            <a:chExt cx="192" cy="208"/>
          </a:xfrm>
        </p:grpSpPr>
        <p:sp>
          <p:nvSpPr>
            <p:cNvPr id="112798" name="Oval 126"/>
            <p:cNvSpPr>
              <a:spLocks/>
            </p:cNvSpPr>
            <p:nvPr/>
          </p:nvSpPr>
          <p:spPr bwMode="auto">
            <a:xfrm>
              <a:off x="0" y="7"/>
              <a:ext cx="192" cy="192"/>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112799" name="Rectangle 127"/>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9</a:t>
              </a:r>
            </a:p>
          </p:txBody>
        </p:sp>
      </p:grpSp>
      <p:sp>
        <p:nvSpPr>
          <p:cNvPr id="112708" name="Rectangle 129"/>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Initial</a:t>
            </a:r>
          </a:p>
        </p:txBody>
      </p:sp>
      <p:sp>
        <p:nvSpPr>
          <p:cNvPr id="112709" name="Oval 130"/>
          <p:cNvSpPr>
            <a:spLocks/>
          </p:cNvSpPr>
          <p:nvPr/>
        </p:nvSpPr>
        <p:spPr bwMode="auto">
          <a:xfrm>
            <a:off x="8804275"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2710" name="Rectangle 131"/>
          <p:cNvSpPr>
            <a:spLocks/>
          </p:cNvSpPr>
          <p:nvPr/>
        </p:nvSpPr>
        <p:spPr bwMode="auto">
          <a:xfrm>
            <a:off x="7604125"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Visited</a:t>
            </a:r>
          </a:p>
        </p:txBody>
      </p:sp>
      <p:sp>
        <p:nvSpPr>
          <p:cNvPr id="112711" name="Oval 132"/>
          <p:cNvSpPr>
            <a:spLocks/>
          </p:cNvSpPr>
          <p:nvPr/>
        </p:nvSpPr>
        <p:spPr bwMode="auto">
          <a:xfrm>
            <a:off x="8804275"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2712" name="Rectangle 133"/>
          <p:cNvSpPr>
            <a:spLocks/>
          </p:cNvSpPr>
          <p:nvPr/>
        </p:nvSpPr>
        <p:spPr bwMode="auto">
          <a:xfrm>
            <a:off x="7604125"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Fringe</a:t>
            </a:r>
          </a:p>
        </p:txBody>
      </p:sp>
      <p:sp>
        <p:nvSpPr>
          <p:cNvPr id="112713" name="Oval 134"/>
          <p:cNvSpPr>
            <a:spLocks/>
          </p:cNvSpPr>
          <p:nvPr/>
        </p:nvSpPr>
        <p:spPr bwMode="auto">
          <a:xfrm>
            <a:off x="8804275"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112714" name="Rectangle 135"/>
          <p:cNvSpPr>
            <a:spLocks/>
          </p:cNvSpPr>
          <p:nvPr/>
        </p:nvSpPr>
        <p:spPr bwMode="auto">
          <a:xfrm>
            <a:off x="7604125"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Current</a:t>
            </a:r>
          </a:p>
        </p:txBody>
      </p:sp>
      <p:sp>
        <p:nvSpPr>
          <p:cNvPr id="112715" name="Oval 136"/>
          <p:cNvSpPr>
            <a:spLocks/>
          </p:cNvSpPr>
          <p:nvPr/>
        </p:nvSpPr>
        <p:spPr bwMode="auto">
          <a:xfrm>
            <a:off x="8804275"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112716" name="Rectangle 137"/>
          <p:cNvSpPr>
            <a:spLocks/>
          </p:cNvSpPr>
          <p:nvPr/>
        </p:nvSpPr>
        <p:spPr bwMode="auto">
          <a:xfrm>
            <a:off x="7604125"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Visible</a:t>
            </a:r>
          </a:p>
        </p:txBody>
      </p:sp>
      <p:sp>
        <p:nvSpPr>
          <p:cNvPr id="112717" name="Oval 138"/>
          <p:cNvSpPr>
            <a:spLocks/>
          </p:cNvSpPr>
          <p:nvPr/>
        </p:nvSpPr>
        <p:spPr bwMode="auto">
          <a:xfrm>
            <a:off x="8804275"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112718" name="Rectangle 139"/>
          <p:cNvSpPr>
            <a:spLocks/>
          </p:cNvSpPr>
          <p:nvPr/>
        </p:nvSpPr>
        <p:spPr bwMode="auto">
          <a:xfrm>
            <a:off x="7604125"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Goal</a:t>
            </a:r>
          </a:p>
        </p:txBody>
      </p:sp>
      <p:sp>
        <p:nvSpPr>
          <p:cNvPr id="112719" name="Rectangle 140"/>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112720" name="Rectangle 141"/>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112721" name="Rectangle 142"/>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dirty="0">
                <a:solidFill>
                  <a:srgbClr val="000020"/>
                </a:solidFill>
                <a:latin typeface="Arial" charset="0"/>
                <a:cs typeface="Arial" charset="0"/>
                <a:sym typeface="Arial" charset="0"/>
              </a:rPr>
              <a:t>3</a:t>
            </a:r>
          </a:p>
        </p:txBody>
      </p:sp>
      <p:sp>
        <p:nvSpPr>
          <p:cNvPr id="112722" name="Rectangle 143"/>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112723" name="Rectangle 144"/>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112724" name="Rectangle 145"/>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112725" name="Rectangle 146"/>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112726" name="Rectangle 147"/>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112727" name="Rectangle 148"/>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112728" name="Rectangle 149"/>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112729" name="Rectangle 150"/>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112730" name="Rectangle 151"/>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112731" name="Rectangle 152"/>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112732" name="Rectangle 153"/>
          <p:cNvSpPr>
            <a:spLocks/>
          </p:cNvSpPr>
          <p:nvPr/>
        </p:nvSpPr>
        <p:spPr bwMode="auto">
          <a:xfrm>
            <a:off x="5105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112733" name="Rectangle 154"/>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112734" name="Rectangle 155"/>
          <p:cNvSpPr>
            <a:spLocks/>
          </p:cNvSpPr>
          <p:nvPr/>
        </p:nvSpPr>
        <p:spPr bwMode="auto">
          <a:xfrm>
            <a:off x="477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112735" name="Rectangle 156"/>
          <p:cNvSpPr>
            <a:spLocks/>
          </p:cNvSpPr>
          <p:nvPr/>
        </p:nvSpPr>
        <p:spPr bwMode="auto">
          <a:xfrm>
            <a:off x="858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112736" name="Rectangle 157"/>
          <p:cNvSpPr>
            <a:spLocks/>
          </p:cNvSpPr>
          <p:nvPr/>
        </p:nvSpPr>
        <p:spPr bwMode="auto">
          <a:xfrm>
            <a:off x="1316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112737" name="Rectangle 158"/>
          <p:cNvSpPr>
            <a:spLocks/>
          </p:cNvSpPr>
          <p:nvPr/>
        </p:nvSpPr>
        <p:spPr bwMode="auto">
          <a:xfrm>
            <a:off x="1697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112738" name="Rectangle 159"/>
          <p:cNvSpPr>
            <a:spLocks/>
          </p:cNvSpPr>
          <p:nvPr/>
        </p:nvSpPr>
        <p:spPr bwMode="auto">
          <a:xfrm>
            <a:off x="21542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112739" name="Rectangle 160"/>
          <p:cNvSpPr>
            <a:spLocks/>
          </p:cNvSpPr>
          <p:nvPr/>
        </p:nvSpPr>
        <p:spPr bwMode="auto">
          <a:xfrm>
            <a:off x="2611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112740" name="Rectangle 161"/>
          <p:cNvSpPr>
            <a:spLocks/>
          </p:cNvSpPr>
          <p:nvPr/>
        </p:nvSpPr>
        <p:spPr bwMode="auto">
          <a:xfrm>
            <a:off x="2992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112741" name="Rectangle 162"/>
          <p:cNvSpPr>
            <a:spLocks/>
          </p:cNvSpPr>
          <p:nvPr/>
        </p:nvSpPr>
        <p:spPr bwMode="auto">
          <a:xfrm>
            <a:off x="34496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112742" name="Rectangle 163"/>
          <p:cNvSpPr>
            <a:spLocks/>
          </p:cNvSpPr>
          <p:nvPr/>
        </p:nvSpPr>
        <p:spPr bwMode="auto">
          <a:xfrm>
            <a:off x="3906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112743" name="Rectangle 164"/>
          <p:cNvSpPr>
            <a:spLocks/>
          </p:cNvSpPr>
          <p:nvPr/>
        </p:nvSpPr>
        <p:spPr bwMode="auto">
          <a:xfrm>
            <a:off x="4364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112744" name="Rectangle 165"/>
          <p:cNvSpPr>
            <a:spLocks/>
          </p:cNvSpPr>
          <p:nvPr/>
        </p:nvSpPr>
        <p:spPr bwMode="auto">
          <a:xfrm>
            <a:off x="47450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112745" name="Rectangle 166"/>
          <p:cNvSpPr>
            <a:spLocks/>
          </p:cNvSpPr>
          <p:nvPr/>
        </p:nvSpPr>
        <p:spPr bwMode="auto">
          <a:xfrm>
            <a:off x="52022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112746" name="Rectangle 167"/>
          <p:cNvSpPr>
            <a:spLocks/>
          </p:cNvSpPr>
          <p:nvPr/>
        </p:nvSpPr>
        <p:spPr bwMode="auto">
          <a:xfrm>
            <a:off x="5659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112747" name="Rectangle 168"/>
          <p:cNvSpPr>
            <a:spLocks/>
          </p:cNvSpPr>
          <p:nvPr/>
        </p:nvSpPr>
        <p:spPr bwMode="auto">
          <a:xfrm>
            <a:off x="60404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112748" name="Rectangle 169"/>
          <p:cNvSpPr>
            <a:spLocks/>
          </p:cNvSpPr>
          <p:nvPr/>
        </p:nvSpPr>
        <p:spPr bwMode="auto">
          <a:xfrm>
            <a:off x="64976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112749" name="Rectangle 170"/>
          <p:cNvSpPr>
            <a:spLocks/>
          </p:cNvSpPr>
          <p:nvPr/>
        </p:nvSpPr>
        <p:spPr bwMode="auto">
          <a:xfrm>
            <a:off x="6954838" y="5791200"/>
            <a:ext cx="323850"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112750" name="Rectangle 171"/>
          <p:cNvSpPr>
            <a:spLocks/>
          </p:cNvSpPr>
          <p:nvPr/>
        </p:nvSpPr>
        <p:spPr bwMode="auto">
          <a:xfrm>
            <a:off x="2971800" y="2095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2751" name="Rectangle 172"/>
          <p:cNvSpPr>
            <a:spLocks/>
          </p:cNvSpPr>
          <p:nvPr/>
        </p:nvSpPr>
        <p:spPr bwMode="auto">
          <a:xfrm>
            <a:off x="4267200" y="2095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2752" name="Rectangle 173"/>
          <p:cNvSpPr>
            <a:spLocks/>
          </p:cNvSpPr>
          <p:nvPr/>
        </p:nvSpPr>
        <p:spPr bwMode="auto">
          <a:xfrm>
            <a:off x="22098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7</a:t>
            </a:r>
          </a:p>
        </p:txBody>
      </p:sp>
      <p:sp>
        <p:nvSpPr>
          <p:cNvPr id="112753" name="Rectangle 174"/>
          <p:cNvSpPr>
            <a:spLocks/>
          </p:cNvSpPr>
          <p:nvPr/>
        </p:nvSpPr>
        <p:spPr bwMode="auto">
          <a:xfrm>
            <a:off x="15240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2754" name="Rectangle 175"/>
          <p:cNvSpPr>
            <a:spLocks/>
          </p:cNvSpPr>
          <p:nvPr/>
        </p:nvSpPr>
        <p:spPr bwMode="auto">
          <a:xfrm>
            <a:off x="31242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2755" name="Rectangle 176"/>
          <p:cNvSpPr>
            <a:spLocks/>
          </p:cNvSpPr>
          <p:nvPr/>
        </p:nvSpPr>
        <p:spPr bwMode="auto">
          <a:xfrm>
            <a:off x="42672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2756" name="Rectangle 177"/>
          <p:cNvSpPr>
            <a:spLocks/>
          </p:cNvSpPr>
          <p:nvPr/>
        </p:nvSpPr>
        <p:spPr bwMode="auto">
          <a:xfrm>
            <a:off x="50292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2757" name="Rectangle 178"/>
          <p:cNvSpPr>
            <a:spLocks/>
          </p:cNvSpPr>
          <p:nvPr/>
        </p:nvSpPr>
        <p:spPr bwMode="auto">
          <a:xfrm>
            <a:off x="20574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5</a:t>
            </a:r>
          </a:p>
        </p:txBody>
      </p:sp>
      <p:sp>
        <p:nvSpPr>
          <p:cNvPr id="112758" name="Rectangle 179"/>
          <p:cNvSpPr>
            <a:spLocks/>
          </p:cNvSpPr>
          <p:nvPr/>
        </p:nvSpPr>
        <p:spPr bwMode="auto">
          <a:xfrm>
            <a:off x="27432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2759" name="Rectangle 180"/>
          <p:cNvSpPr>
            <a:spLocks/>
          </p:cNvSpPr>
          <p:nvPr/>
        </p:nvSpPr>
        <p:spPr bwMode="auto">
          <a:xfrm>
            <a:off x="34290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2760" name="Rectangle 181"/>
          <p:cNvSpPr>
            <a:spLocks/>
          </p:cNvSpPr>
          <p:nvPr/>
        </p:nvSpPr>
        <p:spPr bwMode="auto">
          <a:xfrm>
            <a:off x="39624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2761" name="Rectangle 182"/>
          <p:cNvSpPr>
            <a:spLocks/>
          </p:cNvSpPr>
          <p:nvPr/>
        </p:nvSpPr>
        <p:spPr bwMode="auto">
          <a:xfrm>
            <a:off x="43434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2762" name="Rectangle 183"/>
          <p:cNvSpPr>
            <a:spLocks/>
          </p:cNvSpPr>
          <p:nvPr/>
        </p:nvSpPr>
        <p:spPr bwMode="auto">
          <a:xfrm>
            <a:off x="52578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6</a:t>
            </a:r>
          </a:p>
        </p:txBody>
      </p:sp>
      <p:sp>
        <p:nvSpPr>
          <p:cNvPr id="112763" name="Rectangle 184"/>
          <p:cNvSpPr>
            <a:spLocks/>
          </p:cNvSpPr>
          <p:nvPr/>
        </p:nvSpPr>
        <p:spPr bwMode="auto">
          <a:xfrm>
            <a:off x="59436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9</a:t>
            </a:r>
          </a:p>
        </p:txBody>
      </p:sp>
      <p:sp>
        <p:nvSpPr>
          <p:cNvPr id="112764" name="Rectangle 185"/>
          <p:cNvSpPr>
            <a:spLocks/>
          </p:cNvSpPr>
          <p:nvPr/>
        </p:nvSpPr>
        <p:spPr bwMode="auto">
          <a:xfrm>
            <a:off x="762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2765" name="Rectangle 186"/>
          <p:cNvSpPr>
            <a:spLocks/>
          </p:cNvSpPr>
          <p:nvPr/>
        </p:nvSpPr>
        <p:spPr bwMode="auto">
          <a:xfrm>
            <a:off x="1143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2766" name="Rectangle 187"/>
          <p:cNvSpPr>
            <a:spLocks/>
          </p:cNvSpPr>
          <p:nvPr/>
        </p:nvSpPr>
        <p:spPr bwMode="auto">
          <a:xfrm>
            <a:off x="1524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7</a:t>
            </a:r>
          </a:p>
        </p:txBody>
      </p:sp>
      <p:sp>
        <p:nvSpPr>
          <p:cNvPr id="112767" name="Rectangle 188"/>
          <p:cNvSpPr>
            <a:spLocks/>
          </p:cNvSpPr>
          <p:nvPr/>
        </p:nvSpPr>
        <p:spPr bwMode="auto">
          <a:xfrm>
            <a:off x="1981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2768" name="Rectangle 189"/>
          <p:cNvSpPr>
            <a:spLocks/>
          </p:cNvSpPr>
          <p:nvPr/>
        </p:nvSpPr>
        <p:spPr bwMode="auto">
          <a:xfrm>
            <a:off x="2362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2769" name="Rectangle 190"/>
          <p:cNvSpPr>
            <a:spLocks/>
          </p:cNvSpPr>
          <p:nvPr/>
        </p:nvSpPr>
        <p:spPr bwMode="auto">
          <a:xfrm>
            <a:off x="2743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8</a:t>
            </a:r>
          </a:p>
        </p:txBody>
      </p:sp>
      <p:sp>
        <p:nvSpPr>
          <p:cNvPr id="112770" name="Rectangle 191"/>
          <p:cNvSpPr>
            <a:spLocks/>
          </p:cNvSpPr>
          <p:nvPr/>
        </p:nvSpPr>
        <p:spPr bwMode="auto">
          <a:xfrm>
            <a:off x="3124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6</a:t>
            </a:r>
          </a:p>
        </p:txBody>
      </p:sp>
      <p:sp>
        <p:nvSpPr>
          <p:cNvPr id="112771" name="Rectangle 192"/>
          <p:cNvSpPr>
            <a:spLocks/>
          </p:cNvSpPr>
          <p:nvPr/>
        </p:nvSpPr>
        <p:spPr bwMode="auto">
          <a:xfrm>
            <a:off x="3810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2772" name="Rectangle 193"/>
          <p:cNvSpPr>
            <a:spLocks/>
          </p:cNvSpPr>
          <p:nvPr/>
        </p:nvSpPr>
        <p:spPr bwMode="auto">
          <a:xfrm>
            <a:off x="43434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2773" name="Rectangle 194"/>
          <p:cNvSpPr>
            <a:spLocks/>
          </p:cNvSpPr>
          <p:nvPr/>
        </p:nvSpPr>
        <p:spPr bwMode="auto">
          <a:xfrm>
            <a:off x="4648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2774" name="Rectangle 195"/>
          <p:cNvSpPr>
            <a:spLocks/>
          </p:cNvSpPr>
          <p:nvPr/>
        </p:nvSpPr>
        <p:spPr bwMode="auto">
          <a:xfrm>
            <a:off x="51054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2775" name="Rectangle 196"/>
          <p:cNvSpPr>
            <a:spLocks/>
          </p:cNvSpPr>
          <p:nvPr/>
        </p:nvSpPr>
        <p:spPr bwMode="auto">
          <a:xfrm>
            <a:off x="5791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2776" name="Rectangle 197"/>
          <p:cNvSpPr>
            <a:spLocks/>
          </p:cNvSpPr>
          <p:nvPr/>
        </p:nvSpPr>
        <p:spPr bwMode="auto">
          <a:xfrm>
            <a:off x="6096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9</a:t>
            </a:r>
          </a:p>
        </p:txBody>
      </p:sp>
      <p:sp>
        <p:nvSpPr>
          <p:cNvPr id="112777" name="Rectangle 198"/>
          <p:cNvSpPr>
            <a:spLocks/>
          </p:cNvSpPr>
          <p:nvPr/>
        </p:nvSpPr>
        <p:spPr bwMode="auto">
          <a:xfrm>
            <a:off x="66294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2778" name="Rectangle 199"/>
          <p:cNvSpPr>
            <a:spLocks/>
          </p:cNvSpPr>
          <p:nvPr/>
        </p:nvSpPr>
        <p:spPr bwMode="auto">
          <a:xfrm>
            <a:off x="3505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5</a:t>
            </a:r>
          </a:p>
        </p:txBody>
      </p:sp>
      <p:sp>
        <p:nvSpPr>
          <p:cNvPr id="112779" name="Rectangle 200"/>
          <p:cNvSpPr>
            <a:spLocks/>
          </p:cNvSpPr>
          <p:nvPr/>
        </p:nvSpPr>
        <p:spPr bwMode="auto">
          <a:xfrm>
            <a:off x="5334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8</a:t>
            </a:r>
          </a:p>
        </p:txBody>
      </p:sp>
      <p:sp>
        <p:nvSpPr>
          <p:cNvPr id="112780" name="Rectangle 201"/>
          <p:cNvSpPr>
            <a:spLocks/>
          </p:cNvSpPr>
          <p:nvPr/>
        </p:nvSpPr>
        <p:spPr bwMode="auto">
          <a:xfrm>
            <a:off x="152400" y="6313488"/>
            <a:ext cx="7027863" cy="317500"/>
          </a:xfrm>
          <a:prstGeom prst="rect">
            <a:avLst/>
          </a:prstGeom>
          <a:noFill/>
          <a:ln w="12700">
            <a:noFill/>
            <a:miter lim="800000"/>
            <a:headEnd/>
            <a:tailEnd/>
          </a:ln>
        </p:spPr>
        <p:txBody>
          <a:bodyPr wrap="none" lIns="0" tIns="0" rIns="40639" bIns="0">
            <a:spAutoFit/>
          </a:bodyPr>
          <a:lstStyle/>
          <a:p>
            <a:pPr marL="39688"/>
            <a:r>
              <a:rPr lang="en-US" sz="1600">
                <a:solidFill>
                  <a:srgbClr val="FAFD00"/>
                </a:solidFill>
                <a:latin typeface="Arial" charset="0"/>
                <a:cs typeface="Arial" charset="0"/>
                <a:sym typeface="Arial" charset="0"/>
              </a:rPr>
              <a:t>Fringe: [2(</a:t>
            </a:r>
            <a:r>
              <a:rPr lang="en-US" sz="1600">
                <a:solidFill>
                  <a:srgbClr val="C000C0"/>
                </a:solidFill>
                <a:latin typeface="Arial" charset="0"/>
                <a:cs typeface="Arial" charset="0"/>
                <a:sym typeface="Arial" charset="0"/>
              </a:rPr>
              <a:t>4</a:t>
            </a:r>
            <a:r>
              <a:rPr lang="en-US" sz="1600">
                <a:solidFill>
                  <a:srgbClr val="FAFD00"/>
                </a:solidFill>
                <a:latin typeface="Arial" charset="0"/>
                <a:cs typeface="Arial" charset="0"/>
                <a:sym typeface="Arial" charset="0"/>
              </a:rPr>
              <a:t>+</a:t>
            </a:r>
            <a:r>
              <a:rPr lang="en-US" sz="1600">
                <a:solidFill>
                  <a:srgbClr val="000020"/>
                </a:solidFill>
                <a:latin typeface="Arial Bold" charset="0"/>
                <a:cs typeface="Arial Bold" charset="0"/>
                <a:sym typeface="Arial Bold" charset="0"/>
              </a:rPr>
              <a:t>7</a:t>
            </a:r>
            <a:r>
              <a:rPr lang="en-US" sz="1600">
                <a:solidFill>
                  <a:srgbClr val="FAFD00"/>
                </a:solidFill>
                <a:latin typeface="Arial" charset="0"/>
                <a:cs typeface="Arial" charset="0"/>
                <a:sym typeface="Arial" charset="0"/>
              </a:rPr>
              <a:t>), 13(</a:t>
            </a:r>
            <a:r>
              <a:rPr lang="en-US" sz="1600">
                <a:solidFill>
                  <a:srgbClr val="C000C0"/>
                </a:solidFill>
                <a:latin typeface="Arial" charset="0"/>
                <a:cs typeface="Arial" charset="0"/>
                <a:sym typeface="Arial" charset="0"/>
              </a:rPr>
              <a:t>3</a:t>
            </a:r>
            <a:r>
              <a:rPr lang="en-US" sz="1600">
                <a:solidFill>
                  <a:srgbClr val="FAFD00"/>
                </a:solidFill>
                <a:latin typeface="Arial" charset="0"/>
                <a:cs typeface="Arial" charset="0"/>
                <a:sym typeface="Arial" charset="0"/>
              </a:rPr>
              <a:t>+</a:t>
            </a:r>
            <a:r>
              <a:rPr lang="en-US" sz="1600">
                <a:solidFill>
                  <a:srgbClr val="C000C0"/>
                </a:solidFill>
                <a:latin typeface="Arial" charset="0"/>
                <a:cs typeface="Arial" charset="0"/>
                <a:sym typeface="Arial" charset="0"/>
              </a:rPr>
              <a:t>2</a:t>
            </a:r>
            <a:r>
              <a:rPr lang="en-US" sz="1600">
                <a:solidFill>
                  <a:srgbClr val="FAFD00"/>
                </a:solidFill>
                <a:latin typeface="Arial" charset="0"/>
                <a:cs typeface="Arial" charset="0"/>
                <a:sym typeface="Arial" charset="0"/>
              </a:rPr>
              <a:t>+</a:t>
            </a:r>
            <a:r>
              <a:rPr lang="en-US" sz="1600">
                <a:solidFill>
                  <a:srgbClr val="C000C0"/>
                </a:solidFill>
                <a:latin typeface="Arial" charset="0"/>
                <a:cs typeface="Arial" charset="0"/>
                <a:sym typeface="Arial" charset="0"/>
              </a:rPr>
              <a:t>3</a:t>
            </a:r>
            <a:r>
              <a:rPr lang="en-US" sz="1600">
                <a:solidFill>
                  <a:srgbClr val="FAFD00"/>
                </a:solidFill>
                <a:latin typeface="Arial" charset="0"/>
                <a:cs typeface="Arial" charset="0"/>
                <a:sym typeface="Arial" charset="0"/>
              </a:rPr>
              <a:t>+</a:t>
            </a:r>
            <a:r>
              <a:rPr lang="en-US" sz="1600">
                <a:solidFill>
                  <a:srgbClr val="000020"/>
                </a:solidFill>
                <a:latin typeface="Arial Bold" charset="0"/>
                <a:cs typeface="Arial Bold" charset="0"/>
                <a:sym typeface="Arial Bold" charset="0"/>
              </a:rPr>
              <a:t>4</a:t>
            </a:r>
            <a:r>
              <a:rPr lang="en-US" sz="1600">
                <a:solidFill>
                  <a:srgbClr val="FAFD00"/>
                </a:solidFill>
                <a:latin typeface="Arial" charset="0"/>
                <a:cs typeface="Arial" charset="0"/>
                <a:sym typeface="Arial" charset="0"/>
              </a:rPr>
              <a:t>), 7(</a:t>
            </a:r>
            <a:r>
              <a:rPr lang="en-US" sz="1600">
                <a:solidFill>
                  <a:srgbClr val="C000C0"/>
                </a:solidFill>
                <a:latin typeface="Arial" charset="0"/>
                <a:cs typeface="Arial" charset="0"/>
                <a:sym typeface="Arial" charset="0"/>
              </a:rPr>
              <a:t>3</a:t>
            </a:r>
            <a:r>
              <a:rPr lang="en-US" sz="1600">
                <a:solidFill>
                  <a:srgbClr val="FAFD00"/>
                </a:solidFill>
                <a:latin typeface="Arial" charset="0"/>
                <a:cs typeface="Arial" charset="0"/>
                <a:sym typeface="Arial" charset="0"/>
              </a:rPr>
              <a:t>+</a:t>
            </a:r>
            <a:r>
              <a:rPr lang="en-US" sz="1600">
                <a:solidFill>
                  <a:srgbClr val="C000C0"/>
                </a:solidFill>
                <a:latin typeface="Arial" charset="0"/>
                <a:cs typeface="Arial" charset="0"/>
                <a:sym typeface="Arial" charset="0"/>
              </a:rPr>
              <a:t>4</a:t>
            </a:r>
            <a:r>
              <a:rPr lang="en-US" sz="1600">
                <a:solidFill>
                  <a:srgbClr val="FAFD00"/>
                </a:solidFill>
                <a:latin typeface="Arial" charset="0"/>
                <a:cs typeface="Arial" charset="0"/>
                <a:sym typeface="Arial" charset="0"/>
              </a:rPr>
              <a:t>+</a:t>
            </a:r>
            <a:r>
              <a:rPr lang="en-US" sz="1600">
                <a:solidFill>
                  <a:srgbClr val="000020"/>
                </a:solidFill>
                <a:latin typeface="Arial Bold" charset="0"/>
                <a:cs typeface="Arial Bold" charset="0"/>
                <a:sym typeface="Arial Bold" charset="0"/>
              </a:rPr>
              <a:t>6</a:t>
            </a:r>
            <a:r>
              <a:rPr lang="en-US" sz="1600">
                <a:solidFill>
                  <a:srgbClr val="FAFD00"/>
                </a:solidFill>
                <a:latin typeface="Arial" charset="0"/>
                <a:cs typeface="Arial" charset="0"/>
                <a:sym typeface="Arial" charset="0"/>
              </a:rPr>
              <a:t>)] </a:t>
            </a:r>
            <a:r>
              <a:rPr lang="en-US" sz="1600">
                <a:solidFill>
                  <a:srgbClr val="00FF00"/>
                </a:solidFill>
                <a:latin typeface="Arial" charset="0"/>
                <a:cs typeface="Arial" charset="0"/>
                <a:sym typeface="Arial" charset="0"/>
              </a:rPr>
              <a:t>+ [24(</a:t>
            </a:r>
            <a:r>
              <a:rPr lang="en-US" sz="1600">
                <a:solidFill>
                  <a:srgbClr val="C000C0"/>
                </a:solidFill>
                <a:latin typeface="Arial" charset="0"/>
                <a:cs typeface="Arial" charset="0"/>
                <a:sym typeface="Arial" charset="0"/>
              </a:rPr>
              <a:t>3</a:t>
            </a:r>
            <a:r>
              <a:rPr lang="en-US" sz="1600">
                <a:solidFill>
                  <a:srgbClr val="FAFD00"/>
                </a:solidFill>
                <a:latin typeface="Arial" charset="0"/>
                <a:cs typeface="Arial" charset="0"/>
                <a:sym typeface="Arial" charset="0"/>
              </a:rPr>
              <a:t>+</a:t>
            </a:r>
            <a:r>
              <a:rPr lang="en-US" sz="1600">
                <a:solidFill>
                  <a:srgbClr val="C000C0"/>
                </a:solidFill>
                <a:latin typeface="Arial" charset="0"/>
                <a:cs typeface="Arial" charset="0"/>
                <a:sym typeface="Arial" charset="0"/>
              </a:rPr>
              <a:t>2</a:t>
            </a:r>
            <a:r>
              <a:rPr lang="en-US" sz="1600">
                <a:solidFill>
                  <a:srgbClr val="FAFD00"/>
                </a:solidFill>
                <a:latin typeface="Arial" charset="0"/>
                <a:cs typeface="Arial" charset="0"/>
                <a:sym typeface="Arial" charset="0"/>
              </a:rPr>
              <a:t>+</a:t>
            </a:r>
            <a:r>
              <a:rPr lang="en-US" sz="1600">
                <a:solidFill>
                  <a:srgbClr val="C000C0"/>
                </a:solidFill>
                <a:latin typeface="Arial" charset="0"/>
                <a:cs typeface="Arial" charset="0"/>
                <a:sym typeface="Arial" charset="0"/>
              </a:rPr>
              <a:t>4</a:t>
            </a:r>
            <a:r>
              <a:rPr lang="en-US" sz="1600">
                <a:solidFill>
                  <a:srgbClr val="FAFD00"/>
                </a:solidFill>
                <a:latin typeface="Arial" charset="0"/>
                <a:cs typeface="Arial" charset="0"/>
                <a:sym typeface="Arial" charset="0"/>
              </a:rPr>
              <a:t>+</a:t>
            </a:r>
            <a:r>
              <a:rPr lang="en-US" sz="1600">
                <a:solidFill>
                  <a:srgbClr val="C000C0"/>
                </a:solidFill>
                <a:latin typeface="Arial" charset="0"/>
                <a:cs typeface="Arial" charset="0"/>
                <a:sym typeface="Arial" charset="0"/>
              </a:rPr>
              <a:t>4</a:t>
            </a:r>
            <a:r>
              <a:rPr lang="en-US" sz="1600">
                <a:solidFill>
                  <a:srgbClr val="FAFD00"/>
                </a:solidFill>
                <a:latin typeface="Arial" charset="0"/>
                <a:cs typeface="Arial" charset="0"/>
                <a:sym typeface="Arial" charset="0"/>
              </a:rPr>
              <a:t>+</a:t>
            </a:r>
            <a:r>
              <a:rPr lang="en-US" sz="1600">
                <a:solidFill>
                  <a:srgbClr val="000020"/>
                </a:solidFill>
                <a:latin typeface="Arial Bold" charset="0"/>
                <a:cs typeface="Arial Bold" charset="0"/>
                <a:sym typeface="Arial Bold" charset="0"/>
              </a:rPr>
              <a:t>0</a:t>
            </a:r>
            <a:r>
              <a:rPr lang="en-US" sz="1600">
                <a:solidFill>
                  <a:srgbClr val="00FF00"/>
                </a:solidFill>
                <a:latin typeface="Arial" charset="0"/>
                <a:cs typeface="Arial" charset="0"/>
                <a:sym typeface="Arial" charset="0"/>
              </a:rPr>
              <a:t>), 25(</a:t>
            </a:r>
            <a:r>
              <a:rPr lang="en-US" sz="1600">
                <a:solidFill>
                  <a:srgbClr val="C000C0"/>
                </a:solidFill>
                <a:latin typeface="Arial" charset="0"/>
                <a:cs typeface="Arial" charset="0"/>
                <a:sym typeface="Arial" charset="0"/>
              </a:rPr>
              <a:t>3</a:t>
            </a:r>
            <a:r>
              <a:rPr lang="en-US" sz="1600">
                <a:solidFill>
                  <a:srgbClr val="FAFD00"/>
                </a:solidFill>
                <a:latin typeface="Arial" charset="0"/>
                <a:cs typeface="Arial" charset="0"/>
                <a:sym typeface="Arial" charset="0"/>
              </a:rPr>
              <a:t>+</a:t>
            </a:r>
            <a:r>
              <a:rPr lang="en-US" sz="1600">
                <a:solidFill>
                  <a:srgbClr val="C000C0"/>
                </a:solidFill>
                <a:latin typeface="Arial" charset="0"/>
                <a:cs typeface="Arial" charset="0"/>
                <a:sym typeface="Arial" charset="0"/>
              </a:rPr>
              <a:t>2</a:t>
            </a:r>
            <a:r>
              <a:rPr lang="en-US" sz="1600">
                <a:solidFill>
                  <a:srgbClr val="FAFD00"/>
                </a:solidFill>
                <a:latin typeface="Arial" charset="0"/>
                <a:cs typeface="Arial" charset="0"/>
                <a:sym typeface="Arial" charset="0"/>
              </a:rPr>
              <a:t>+</a:t>
            </a:r>
            <a:r>
              <a:rPr lang="en-US" sz="1600">
                <a:solidFill>
                  <a:srgbClr val="C000C0"/>
                </a:solidFill>
                <a:latin typeface="Arial" charset="0"/>
                <a:cs typeface="Arial" charset="0"/>
                <a:sym typeface="Arial" charset="0"/>
              </a:rPr>
              <a:t>4</a:t>
            </a:r>
            <a:r>
              <a:rPr lang="en-US" sz="1600">
                <a:solidFill>
                  <a:srgbClr val="FAFD00"/>
                </a:solidFill>
                <a:latin typeface="Arial" charset="0"/>
                <a:cs typeface="Arial" charset="0"/>
                <a:sym typeface="Arial" charset="0"/>
              </a:rPr>
              <a:t>+</a:t>
            </a:r>
            <a:r>
              <a:rPr lang="en-US" sz="1600">
                <a:solidFill>
                  <a:srgbClr val="C000C0"/>
                </a:solidFill>
                <a:latin typeface="Arial" charset="0"/>
                <a:cs typeface="Arial" charset="0"/>
                <a:sym typeface="Arial" charset="0"/>
              </a:rPr>
              <a:t>3</a:t>
            </a:r>
            <a:r>
              <a:rPr lang="en-US" sz="1600">
                <a:solidFill>
                  <a:srgbClr val="FAFD00"/>
                </a:solidFill>
                <a:latin typeface="Arial" charset="0"/>
                <a:cs typeface="Arial" charset="0"/>
                <a:sym typeface="Arial" charset="0"/>
              </a:rPr>
              <a:t>+</a:t>
            </a:r>
            <a:r>
              <a:rPr lang="en-US" sz="1600">
                <a:solidFill>
                  <a:srgbClr val="000020"/>
                </a:solidFill>
                <a:latin typeface="Arial Bold" charset="0"/>
                <a:cs typeface="Arial Bold" charset="0"/>
                <a:sym typeface="Arial Bold" charset="0"/>
              </a:rPr>
              <a:t>1</a:t>
            </a:r>
            <a:r>
              <a:rPr lang="en-US" sz="1600">
                <a:solidFill>
                  <a:srgbClr val="00FF00"/>
                </a:solidFill>
                <a:latin typeface="Arial" charset="0"/>
                <a:cs typeface="Arial" charset="0"/>
                <a:sym typeface="Arial" charset="0"/>
              </a:rPr>
              <a:t>)]</a:t>
            </a:r>
          </a:p>
        </p:txBody>
      </p:sp>
      <p:sp>
        <p:nvSpPr>
          <p:cNvPr id="112781" name="Rectangle 202"/>
          <p:cNvSpPr>
            <a:spLocks/>
          </p:cNvSpPr>
          <p:nvPr/>
        </p:nvSpPr>
        <p:spPr bwMode="auto">
          <a:xfrm>
            <a:off x="7604125" y="3851275"/>
            <a:ext cx="865188"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charset="0"/>
                <a:cs typeface="Arial" charset="0"/>
                <a:sym typeface="Arial" charset="0"/>
              </a:rPr>
              <a:t>Edge Cost</a:t>
            </a:r>
          </a:p>
        </p:txBody>
      </p:sp>
      <p:grpSp>
        <p:nvGrpSpPr>
          <p:cNvPr id="112678" name="Group 205"/>
          <p:cNvGrpSpPr>
            <a:grpSpLocks/>
          </p:cNvGrpSpPr>
          <p:nvPr/>
        </p:nvGrpSpPr>
        <p:grpSpPr bwMode="auto">
          <a:xfrm flipH="1">
            <a:off x="8804275" y="4140200"/>
            <a:ext cx="304800" cy="330200"/>
            <a:chOff x="0" y="0"/>
            <a:chExt cx="192" cy="208"/>
          </a:xfrm>
        </p:grpSpPr>
        <p:sp>
          <p:nvSpPr>
            <p:cNvPr id="112796" name="Oval 203"/>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2797" name="Rectangle 204"/>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sp>
        <p:nvSpPr>
          <p:cNvPr id="112783" name="Rectangle 206"/>
          <p:cNvSpPr>
            <a:spLocks/>
          </p:cNvSpPr>
          <p:nvPr/>
        </p:nvSpPr>
        <p:spPr bwMode="auto">
          <a:xfrm>
            <a:off x="7604125" y="4121150"/>
            <a:ext cx="1144588" cy="355600"/>
          </a:xfrm>
          <a:prstGeom prst="rect">
            <a:avLst/>
          </a:prstGeom>
          <a:noFill/>
          <a:ln w="12700">
            <a:noFill/>
            <a:miter lim="800000"/>
            <a:headEnd/>
            <a:tailEnd/>
          </a:ln>
        </p:spPr>
        <p:txBody>
          <a:bodyPr wrap="none" lIns="0" tIns="0" rIns="40639" bIns="0">
            <a:spAutoFit/>
          </a:bodyPr>
          <a:lstStyle/>
          <a:p>
            <a:pPr marL="39688"/>
            <a:r>
              <a:rPr lang="en-US" sz="1800">
                <a:solidFill>
                  <a:srgbClr val="000020"/>
                </a:solidFill>
                <a:latin typeface="Times New Roman Bold" charset="0"/>
                <a:cs typeface="Times New Roman Bold" charset="0"/>
                <a:sym typeface="Times New Roman Bold" charset="0"/>
              </a:rPr>
              <a:t>Heuristics</a:t>
            </a:r>
          </a:p>
        </p:txBody>
      </p:sp>
      <p:sp>
        <p:nvSpPr>
          <p:cNvPr id="112784" name="Rectangle 207"/>
          <p:cNvSpPr>
            <a:spLocks/>
          </p:cNvSpPr>
          <p:nvPr/>
        </p:nvSpPr>
        <p:spPr bwMode="auto">
          <a:xfrm>
            <a:off x="8823325" y="3851275"/>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9</a:t>
            </a:r>
          </a:p>
        </p:txBody>
      </p:sp>
      <p:sp>
        <p:nvSpPr>
          <p:cNvPr id="112785" name="Rectangle 208"/>
          <p:cNvSpPr>
            <a:spLocks/>
          </p:cNvSpPr>
          <p:nvPr/>
        </p:nvSpPr>
        <p:spPr bwMode="auto">
          <a:xfrm>
            <a:off x="7696200" y="4495800"/>
            <a:ext cx="617538" cy="317500"/>
          </a:xfrm>
          <a:prstGeom prst="rect">
            <a:avLst/>
          </a:prstGeom>
          <a:noFill/>
          <a:ln w="12700">
            <a:noFill/>
            <a:miter lim="800000"/>
            <a:headEnd/>
            <a:tailEnd/>
          </a:ln>
        </p:spPr>
        <p:txBody>
          <a:bodyPr wrap="none" lIns="0" tIns="0" rIns="40639" bIns="0">
            <a:spAutoFit/>
          </a:bodyPr>
          <a:lstStyle/>
          <a:p>
            <a:pPr marL="39688"/>
            <a:r>
              <a:rPr lang="en-US" sz="1600" dirty="0">
                <a:solidFill>
                  <a:schemeClr val="tx1"/>
                </a:solidFill>
                <a:cs typeface="Times New Roman" pitchFamily="18" charset="0"/>
              </a:rPr>
              <a:t>f-cost</a:t>
            </a:r>
          </a:p>
        </p:txBody>
      </p:sp>
      <p:sp>
        <p:nvSpPr>
          <p:cNvPr id="112786" name="Rectangle 209"/>
          <p:cNvSpPr>
            <a:spLocks/>
          </p:cNvSpPr>
          <p:nvPr/>
        </p:nvSpPr>
        <p:spPr bwMode="auto">
          <a:xfrm>
            <a:off x="8756650" y="4495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10</a:t>
            </a:r>
          </a:p>
        </p:txBody>
      </p:sp>
      <p:sp>
        <p:nvSpPr>
          <p:cNvPr id="112787" name="Rectangle 210"/>
          <p:cNvSpPr>
            <a:spLocks/>
          </p:cNvSpPr>
          <p:nvPr/>
        </p:nvSpPr>
        <p:spPr bwMode="auto">
          <a:xfrm>
            <a:off x="3886200" y="1371600"/>
            <a:ext cx="2555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9</a:t>
            </a:r>
          </a:p>
        </p:txBody>
      </p:sp>
      <p:sp>
        <p:nvSpPr>
          <p:cNvPr id="112788" name="Rectangle 211"/>
          <p:cNvSpPr>
            <a:spLocks/>
          </p:cNvSpPr>
          <p:nvPr/>
        </p:nvSpPr>
        <p:spPr bwMode="auto">
          <a:xfrm>
            <a:off x="2819400" y="2286000"/>
            <a:ext cx="349250"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11</a:t>
            </a:r>
          </a:p>
        </p:txBody>
      </p:sp>
      <p:sp>
        <p:nvSpPr>
          <p:cNvPr id="112789" name="Rectangle 212"/>
          <p:cNvSpPr>
            <a:spLocks/>
          </p:cNvSpPr>
          <p:nvPr/>
        </p:nvSpPr>
        <p:spPr bwMode="auto">
          <a:xfrm>
            <a:off x="4648200" y="2286000"/>
            <a:ext cx="357188" cy="317500"/>
          </a:xfrm>
          <a:prstGeom prst="rect">
            <a:avLst/>
          </a:prstGeom>
          <a:noFill/>
          <a:ln w="12700">
            <a:noFill/>
            <a:miter lim="800000"/>
            <a:headEnd/>
            <a:tailEnd/>
          </a:ln>
        </p:spPr>
        <p:txBody>
          <a:bodyPr wrap="none" lIns="0" tIns="0" rIns="40639" bIns="0">
            <a:spAutoFit/>
          </a:bodyPr>
          <a:lstStyle/>
          <a:p>
            <a:pPr marL="39688"/>
            <a:r>
              <a:rPr lang="en-US" sz="1600" dirty="0">
                <a:solidFill>
                  <a:schemeClr val="tx1"/>
                </a:solidFill>
                <a:cs typeface="Times New Roman" pitchFamily="18" charset="0"/>
              </a:rPr>
              <a:t>10</a:t>
            </a:r>
          </a:p>
        </p:txBody>
      </p:sp>
      <p:sp>
        <p:nvSpPr>
          <p:cNvPr id="112790" name="Rectangle 213"/>
          <p:cNvSpPr>
            <a:spLocks/>
          </p:cNvSpPr>
          <p:nvPr/>
        </p:nvSpPr>
        <p:spPr bwMode="auto">
          <a:xfrm>
            <a:off x="3886200" y="4267200"/>
            <a:ext cx="349250"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11</a:t>
            </a:r>
          </a:p>
        </p:txBody>
      </p:sp>
      <p:sp>
        <p:nvSpPr>
          <p:cNvPr id="112791" name="Rectangle 214"/>
          <p:cNvSpPr>
            <a:spLocks/>
          </p:cNvSpPr>
          <p:nvPr/>
        </p:nvSpPr>
        <p:spPr bwMode="auto">
          <a:xfrm>
            <a:off x="4114800" y="32766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10</a:t>
            </a:r>
          </a:p>
        </p:txBody>
      </p:sp>
      <p:sp>
        <p:nvSpPr>
          <p:cNvPr id="112792" name="Rectangle 215"/>
          <p:cNvSpPr>
            <a:spLocks/>
          </p:cNvSpPr>
          <p:nvPr/>
        </p:nvSpPr>
        <p:spPr bwMode="auto">
          <a:xfrm>
            <a:off x="5334000" y="32766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
        <p:nvSpPr>
          <p:cNvPr id="112793" name="Rectangle 216"/>
          <p:cNvSpPr>
            <a:spLocks/>
          </p:cNvSpPr>
          <p:nvPr/>
        </p:nvSpPr>
        <p:spPr bwMode="auto">
          <a:xfrm>
            <a:off x="47244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12</a:t>
            </a:r>
          </a:p>
        </p:txBody>
      </p:sp>
      <p:sp>
        <p:nvSpPr>
          <p:cNvPr id="112794" name="Rectangle 217"/>
          <p:cNvSpPr>
            <a:spLocks/>
          </p:cNvSpPr>
          <p:nvPr/>
        </p:nvSpPr>
        <p:spPr bwMode="auto">
          <a:xfrm>
            <a:off x="37338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
        <p:nvSpPr>
          <p:cNvPr id="112795" name="Rectangle 218"/>
          <p:cNvSpPr>
            <a:spLocks/>
          </p:cNvSpPr>
          <p:nvPr/>
        </p:nvSpPr>
        <p:spPr bwMode="auto">
          <a:xfrm>
            <a:off x="44196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Tree>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Rectangle 3"/>
          <p:cNvSpPr>
            <a:spLocks/>
          </p:cNvSpPr>
          <p:nvPr/>
        </p:nvSpPr>
        <p:spPr bwMode="auto">
          <a:xfrm>
            <a:off x="457200" y="1447800"/>
            <a:ext cx="7010400" cy="4876800"/>
          </a:xfrm>
          <a:prstGeom prst="rect">
            <a:avLst/>
          </a:prstGeom>
          <a:solidFill>
            <a:srgbClr val="00CECE"/>
          </a:solidFill>
          <a:ln w="12700">
            <a:noFill/>
            <a:miter lim="800000"/>
            <a:headEnd/>
            <a:tailEnd/>
          </a:ln>
        </p:spPr>
        <p:txBody>
          <a:bodyPr lIns="0" tIns="0" rIns="0" bIns="0"/>
          <a:lstStyle/>
          <a:p>
            <a:endParaRPr lang="en-US"/>
          </a:p>
        </p:txBody>
      </p:sp>
      <p:sp>
        <p:nvSpPr>
          <p:cNvPr id="117764" name="Rectangle 4"/>
          <p:cNvSpPr>
            <a:spLocks noGrp="1" noChangeArrowheads="1"/>
          </p:cNvSpPr>
          <p:nvPr>
            <p:ph type="title"/>
          </p:nvPr>
        </p:nvSpPr>
        <p:spPr>
          <a:xfrm>
            <a:off x="0" y="1"/>
            <a:ext cx="8610600" cy="990600"/>
          </a:xfrm>
        </p:spPr>
        <p:txBody>
          <a:bodyPr rIns="130174"/>
          <a:lstStyle/>
          <a:p>
            <a:pPr indent="0" eaLnBrk="1" hangingPunct="1">
              <a:defRPr/>
            </a:pPr>
            <a:r>
              <a:rPr lang="en-US" dirty="0"/>
              <a:t>A* Snapshot with all f-Costs</a:t>
            </a:r>
          </a:p>
        </p:txBody>
      </p:sp>
      <p:sp>
        <p:nvSpPr>
          <p:cNvPr id="113670" name="Oval 5"/>
          <p:cNvSpPr>
            <a:spLocks/>
          </p:cNvSpPr>
          <p:nvPr/>
        </p:nvSpPr>
        <p:spPr bwMode="auto">
          <a:xfrm>
            <a:off x="8797925"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113671"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113672"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113673"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113674"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113675"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113676"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113677"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113678"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113679"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113680"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113681"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113682"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113683"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113684"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113685"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113686" name="Line 21"/>
          <p:cNvSpPr>
            <a:spLocks noChangeShapeType="1"/>
          </p:cNvSpPr>
          <p:nvPr/>
        </p:nvSpPr>
        <p:spPr bwMode="auto">
          <a:xfrm>
            <a:off x="5486400" y="3733800"/>
            <a:ext cx="228600" cy="762000"/>
          </a:xfrm>
          <a:prstGeom prst="line">
            <a:avLst/>
          </a:prstGeom>
          <a:noFill/>
          <a:ln w="12700">
            <a:solidFill>
              <a:srgbClr val="000020"/>
            </a:solidFill>
            <a:round/>
            <a:headEnd/>
            <a:tailEnd/>
          </a:ln>
        </p:spPr>
        <p:txBody>
          <a:bodyPr lIns="0" tIns="0" rIns="0" bIns="0"/>
          <a:lstStyle/>
          <a:p>
            <a:endParaRPr lang="en-US"/>
          </a:p>
        </p:txBody>
      </p:sp>
      <p:sp>
        <p:nvSpPr>
          <p:cNvPr id="113687"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113688"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113689"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113690"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113691"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113692"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113693"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113694"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113695"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113696" name="Line 31"/>
          <p:cNvSpPr>
            <a:spLocks noChangeShapeType="1"/>
          </p:cNvSpPr>
          <p:nvPr/>
        </p:nvSpPr>
        <p:spPr bwMode="auto">
          <a:xfrm>
            <a:off x="48768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113697"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113698" name="Line 33"/>
          <p:cNvSpPr>
            <a:spLocks noChangeShapeType="1"/>
          </p:cNvSpPr>
          <p:nvPr/>
        </p:nvSpPr>
        <p:spPr bwMode="auto">
          <a:xfrm>
            <a:off x="57912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113699" name="Line 34"/>
          <p:cNvSpPr>
            <a:spLocks noChangeShapeType="1"/>
          </p:cNvSpPr>
          <p:nvPr/>
        </p:nvSpPr>
        <p:spPr bwMode="auto">
          <a:xfrm>
            <a:off x="58674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113700"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grpSp>
        <p:nvGrpSpPr>
          <p:cNvPr id="2" name="Group 38"/>
          <p:cNvGrpSpPr>
            <a:grpSpLocks/>
          </p:cNvGrpSpPr>
          <p:nvPr/>
        </p:nvGrpSpPr>
        <p:grpSpPr bwMode="auto">
          <a:xfrm flipH="1">
            <a:off x="6915150" y="5492750"/>
            <a:ext cx="304800" cy="330200"/>
            <a:chOff x="0" y="0"/>
            <a:chExt cx="192" cy="208"/>
          </a:xfrm>
        </p:grpSpPr>
        <p:sp>
          <p:nvSpPr>
            <p:cNvPr id="113902" name="Oval 36"/>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903" name="Rectangle 37"/>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3" name="Group 41"/>
          <p:cNvGrpSpPr>
            <a:grpSpLocks/>
          </p:cNvGrpSpPr>
          <p:nvPr/>
        </p:nvGrpSpPr>
        <p:grpSpPr bwMode="auto">
          <a:xfrm>
            <a:off x="887413" y="5492750"/>
            <a:ext cx="304800" cy="330200"/>
            <a:chOff x="0" y="0"/>
            <a:chExt cx="192" cy="208"/>
          </a:xfrm>
        </p:grpSpPr>
        <p:sp>
          <p:nvSpPr>
            <p:cNvPr id="113900" name="Oval 39"/>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901" name="Rectangle 40"/>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4" name="Group 44"/>
          <p:cNvGrpSpPr>
            <a:grpSpLocks/>
          </p:cNvGrpSpPr>
          <p:nvPr/>
        </p:nvGrpSpPr>
        <p:grpSpPr bwMode="auto">
          <a:xfrm>
            <a:off x="1317625" y="5492750"/>
            <a:ext cx="304800" cy="330200"/>
            <a:chOff x="0" y="0"/>
            <a:chExt cx="192" cy="208"/>
          </a:xfrm>
        </p:grpSpPr>
        <p:sp>
          <p:nvSpPr>
            <p:cNvPr id="113898" name="Oval 4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99" name="Rectangle 43"/>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5" name="Group 47"/>
          <p:cNvGrpSpPr>
            <a:grpSpLocks/>
          </p:cNvGrpSpPr>
          <p:nvPr/>
        </p:nvGrpSpPr>
        <p:grpSpPr bwMode="auto">
          <a:xfrm>
            <a:off x="1747838" y="5492750"/>
            <a:ext cx="304800" cy="330200"/>
            <a:chOff x="0" y="0"/>
            <a:chExt cx="192" cy="208"/>
          </a:xfrm>
        </p:grpSpPr>
        <p:sp>
          <p:nvSpPr>
            <p:cNvPr id="113896" name="Oval 45"/>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97" name="Rectangle 46"/>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6" name="Group 50"/>
          <p:cNvGrpSpPr>
            <a:grpSpLocks/>
          </p:cNvGrpSpPr>
          <p:nvPr/>
        </p:nvGrpSpPr>
        <p:grpSpPr bwMode="auto">
          <a:xfrm>
            <a:off x="2178050" y="5492750"/>
            <a:ext cx="304800" cy="330200"/>
            <a:chOff x="0" y="0"/>
            <a:chExt cx="192" cy="208"/>
          </a:xfrm>
        </p:grpSpPr>
        <p:sp>
          <p:nvSpPr>
            <p:cNvPr id="113894" name="Oval 48"/>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95" name="Rectangle 49"/>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7" name="Group 53"/>
          <p:cNvGrpSpPr>
            <a:grpSpLocks/>
          </p:cNvGrpSpPr>
          <p:nvPr/>
        </p:nvGrpSpPr>
        <p:grpSpPr bwMode="auto">
          <a:xfrm>
            <a:off x="2609850" y="5492750"/>
            <a:ext cx="304800" cy="330200"/>
            <a:chOff x="0" y="0"/>
            <a:chExt cx="192" cy="208"/>
          </a:xfrm>
        </p:grpSpPr>
        <p:sp>
          <p:nvSpPr>
            <p:cNvPr id="113892" name="Oval 51"/>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93" name="Rectangle 52"/>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3</a:t>
              </a:r>
            </a:p>
          </p:txBody>
        </p:sp>
      </p:grpSp>
      <p:grpSp>
        <p:nvGrpSpPr>
          <p:cNvPr id="8" name="Group 56"/>
          <p:cNvGrpSpPr>
            <a:grpSpLocks/>
          </p:cNvGrpSpPr>
          <p:nvPr/>
        </p:nvGrpSpPr>
        <p:grpSpPr bwMode="auto">
          <a:xfrm>
            <a:off x="3040063" y="5492750"/>
            <a:ext cx="304800" cy="330200"/>
            <a:chOff x="0" y="0"/>
            <a:chExt cx="192" cy="208"/>
          </a:xfrm>
        </p:grpSpPr>
        <p:sp>
          <p:nvSpPr>
            <p:cNvPr id="113890" name="Oval 54"/>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91" name="Rectangle 55"/>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2</a:t>
              </a:r>
            </a:p>
          </p:txBody>
        </p:sp>
      </p:grpSp>
      <p:grpSp>
        <p:nvGrpSpPr>
          <p:cNvPr id="9" name="Group 59"/>
          <p:cNvGrpSpPr>
            <a:grpSpLocks/>
          </p:cNvGrpSpPr>
          <p:nvPr/>
        </p:nvGrpSpPr>
        <p:grpSpPr bwMode="auto">
          <a:xfrm>
            <a:off x="3470275" y="5492750"/>
            <a:ext cx="304800" cy="330200"/>
            <a:chOff x="0" y="0"/>
            <a:chExt cx="192" cy="208"/>
          </a:xfrm>
        </p:grpSpPr>
        <p:sp>
          <p:nvSpPr>
            <p:cNvPr id="113888" name="Oval 57"/>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89" name="Rectangle 58"/>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1</a:t>
              </a:r>
            </a:p>
          </p:txBody>
        </p:sp>
      </p:grpSp>
      <p:grpSp>
        <p:nvGrpSpPr>
          <p:cNvPr id="10" name="Group 62"/>
          <p:cNvGrpSpPr>
            <a:grpSpLocks/>
          </p:cNvGrpSpPr>
          <p:nvPr/>
        </p:nvGrpSpPr>
        <p:grpSpPr bwMode="auto">
          <a:xfrm>
            <a:off x="3900488" y="5492750"/>
            <a:ext cx="304800" cy="330200"/>
            <a:chOff x="0" y="0"/>
            <a:chExt cx="192" cy="208"/>
          </a:xfrm>
        </p:grpSpPr>
        <p:sp>
          <p:nvSpPr>
            <p:cNvPr id="113886" name="Oval 60"/>
            <p:cNvSpPr>
              <a:spLocks/>
            </p:cNvSpPr>
            <p:nvPr/>
          </p:nvSpPr>
          <p:spPr bwMode="auto">
            <a:xfrm>
              <a:off x="0" y="8"/>
              <a:ext cx="192" cy="192"/>
            </a:xfrm>
            <a:prstGeom prst="ellipse">
              <a:avLst/>
            </a:prstGeom>
            <a:solidFill>
              <a:srgbClr val="FC0128"/>
            </a:solidFill>
            <a:ln w="38100">
              <a:solidFill>
                <a:srgbClr val="00FF00"/>
              </a:solidFill>
              <a:round/>
              <a:headEnd/>
              <a:tailEnd/>
            </a:ln>
          </p:spPr>
          <p:txBody>
            <a:bodyPr lIns="0" tIns="0" rIns="0" bIns="0"/>
            <a:lstStyle/>
            <a:p>
              <a:endParaRPr lang="en-US"/>
            </a:p>
          </p:txBody>
        </p:sp>
        <p:sp>
          <p:nvSpPr>
            <p:cNvPr id="113887" name="Rectangle 61"/>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0</a:t>
              </a:r>
            </a:p>
          </p:txBody>
        </p:sp>
      </p:grpSp>
      <p:grpSp>
        <p:nvGrpSpPr>
          <p:cNvPr id="11" name="Group 65"/>
          <p:cNvGrpSpPr>
            <a:grpSpLocks/>
          </p:cNvGrpSpPr>
          <p:nvPr/>
        </p:nvGrpSpPr>
        <p:grpSpPr bwMode="auto">
          <a:xfrm>
            <a:off x="4330700" y="5492750"/>
            <a:ext cx="304800" cy="330200"/>
            <a:chOff x="0" y="0"/>
            <a:chExt cx="192" cy="208"/>
          </a:xfrm>
        </p:grpSpPr>
        <p:sp>
          <p:nvSpPr>
            <p:cNvPr id="113884" name="Oval 63"/>
            <p:cNvSpPr>
              <a:spLocks/>
            </p:cNvSpPr>
            <p:nvPr/>
          </p:nvSpPr>
          <p:spPr bwMode="auto">
            <a:xfrm>
              <a:off x="0" y="8"/>
              <a:ext cx="192" cy="192"/>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113885" name="Rectangle 64"/>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1</a:t>
              </a:r>
            </a:p>
          </p:txBody>
        </p:sp>
      </p:grpSp>
      <p:grpSp>
        <p:nvGrpSpPr>
          <p:cNvPr id="12" name="Group 68"/>
          <p:cNvGrpSpPr>
            <a:grpSpLocks/>
          </p:cNvGrpSpPr>
          <p:nvPr/>
        </p:nvGrpSpPr>
        <p:grpSpPr bwMode="auto">
          <a:xfrm>
            <a:off x="5181600" y="5473700"/>
            <a:ext cx="304800" cy="330200"/>
            <a:chOff x="0" y="0"/>
            <a:chExt cx="192" cy="208"/>
          </a:xfrm>
        </p:grpSpPr>
        <p:sp>
          <p:nvSpPr>
            <p:cNvPr id="113882" name="Oval 66"/>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83" name="Rectangle 67"/>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3</a:t>
              </a:r>
            </a:p>
          </p:txBody>
        </p:sp>
      </p:grpSp>
      <p:grpSp>
        <p:nvGrpSpPr>
          <p:cNvPr id="13" name="Group 71"/>
          <p:cNvGrpSpPr>
            <a:grpSpLocks/>
          </p:cNvGrpSpPr>
          <p:nvPr/>
        </p:nvGrpSpPr>
        <p:grpSpPr bwMode="auto">
          <a:xfrm>
            <a:off x="6053138" y="5492750"/>
            <a:ext cx="304800" cy="330200"/>
            <a:chOff x="0" y="0"/>
            <a:chExt cx="192" cy="208"/>
          </a:xfrm>
        </p:grpSpPr>
        <p:sp>
          <p:nvSpPr>
            <p:cNvPr id="113880" name="Oval 69"/>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81" name="Rectangle 70"/>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14" name="Group 74"/>
          <p:cNvGrpSpPr>
            <a:grpSpLocks/>
          </p:cNvGrpSpPr>
          <p:nvPr/>
        </p:nvGrpSpPr>
        <p:grpSpPr bwMode="auto">
          <a:xfrm>
            <a:off x="6483350" y="5492750"/>
            <a:ext cx="304800" cy="330200"/>
            <a:chOff x="0" y="0"/>
            <a:chExt cx="192" cy="208"/>
          </a:xfrm>
        </p:grpSpPr>
        <p:sp>
          <p:nvSpPr>
            <p:cNvPr id="113878" name="Oval 7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79" name="Rectangle 73"/>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15" name="Group 77"/>
          <p:cNvGrpSpPr>
            <a:grpSpLocks/>
          </p:cNvGrpSpPr>
          <p:nvPr/>
        </p:nvGrpSpPr>
        <p:grpSpPr bwMode="auto">
          <a:xfrm>
            <a:off x="4762500" y="5492750"/>
            <a:ext cx="304800" cy="330200"/>
            <a:chOff x="0" y="0"/>
            <a:chExt cx="192" cy="208"/>
          </a:xfrm>
        </p:grpSpPr>
        <p:sp>
          <p:nvSpPr>
            <p:cNvPr id="113876" name="Oval 75"/>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77" name="Rectangle 76"/>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2</a:t>
              </a:r>
            </a:p>
          </p:txBody>
        </p:sp>
      </p:grpSp>
      <p:grpSp>
        <p:nvGrpSpPr>
          <p:cNvPr id="16" name="Group 80"/>
          <p:cNvGrpSpPr>
            <a:grpSpLocks/>
          </p:cNvGrpSpPr>
          <p:nvPr/>
        </p:nvGrpSpPr>
        <p:grpSpPr bwMode="auto">
          <a:xfrm>
            <a:off x="5622925" y="5492750"/>
            <a:ext cx="304800" cy="330200"/>
            <a:chOff x="0" y="0"/>
            <a:chExt cx="192" cy="208"/>
          </a:xfrm>
        </p:grpSpPr>
        <p:sp>
          <p:nvSpPr>
            <p:cNvPr id="113874" name="Oval 78"/>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75" name="Rectangle 79"/>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17" name="Group 83"/>
          <p:cNvGrpSpPr>
            <a:grpSpLocks/>
          </p:cNvGrpSpPr>
          <p:nvPr/>
        </p:nvGrpSpPr>
        <p:grpSpPr bwMode="auto">
          <a:xfrm>
            <a:off x="457200" y="5492750"/>
            <a:ext cx="304800" cy="330200"/>
            <a:chOff x="0" y="0"/>
            <a:chExt cx="192" cy="208"/>
          </a:xfrm>
        </p:grpSpPr>
        <p:sp>
          <p:nvSpPr>
            <p:cNvPr id="113872" name="Oval 81"/>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73" name="Rectangle 82"/>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8</a:t>
              </a:r>
            </a:p>
          </p:txBody>
        </p:sp>
      </p:grpSp>
      <p:grpSp>
        <p:nvGrpSpPr>
          <p:cNvPr id="18" name="Group 86"/>
          <p:cNvGrpSpPr>
            <a:grpSpLocks/>
          </p:cNvGrpSpPr>
          <p:nvPr/>
        </p:nvGrpSpPr>
        <p:grpSpPr bwMode="auto">
          <a:xfrm flipH="1">
            <a:off x="6134100" y="4483100"/>
            <a:ext cx="304800" cy="330200"/>
            <a:chOff x="0" y="0"/>
            <a:chExt cx="192" cy="208"/>
          </a:xfrm>
        </p:grpSpPr>
        <p:sp>
          <p:nvSpPr>
            <p:cNvPr id="113870" name="Oval 84"/>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71" name="Rectangle 85"/>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19" name="Group 89"/>
          <p:cNvGrpSpPr>
            <a:grpSpLocks/>
          </p:cNvGrpSpPr>
          <p:nvPr/>
        </p:nvGrpSpPr>
        <p:grpSpPr bwMode="auto">
          <a:xfrm>
            <a:off x="1920875" y="4483100"/>
            <a:ext cx="304800" cy="330200"/>
            <a:chOff x="0" y="0"/>
            <a:chExt cx="192" cy="208"/>
          </a:xfrm>
        </p:grpSpPr>
        <p:sp>
          <p:nvSpPr>
            <p:cNvPr id="113868" name="Oval 87"/>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69" name="Rectangle 88"/>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20" name="Group 92"/>
          <p:cNvGrpSpPr>
            <a:grpSpLocks/>
          </p:cNvGrpSpPr>
          <p:nvPr/>
        </p:nvGrpSpPr>
        <p:grpSpPr bwMode="auto">
          <a:xfrm>
            <a:off x="2622550" y="4483100"/>
            <a:ext cx="304800" cy="330200"/>
            <a:chOff x="0" y="0"/>
            <a:chExt cx="192" cy="208"/>
          </a:xfrm>
        </p:grpSpPr>
        <p:sp>
          <p:nvSpPr>
            <p:cNvPr id="113866" name="Oval 90"/>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67" name="Rectangle 91"/>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21" name="Group 95"/>
          <p:cNvGrpSpPr>
            <a:grpSpLocks/>
          </p:cNvGrpSpPr>
          <p:nvPr/>
        </p:nvGrpSpPr>
        <p:grpSpPr bwMode="auto">
          <a:xfrm>
            <a:off x="4027488" y="4483100"/>
            <a:ext cx="304800" cy="330200"/>
            <a:chOff x="0" y="0"/>
            <a:chExt cx="192" cy="208"/>
          </a:xfrm>
        </p:grpSpPr>
        <p:sp>
          <p:nvSpPr>
            <p:cNvPr id="113864" name="Oval 93"/>
            <p:cNvSpPr>
              <a:spLocks/>
            </p:cNvSpPr>
            <p:nvPr/>
          </p:nvSpPr>
          <p:spPr bwMode="auto">
            <a:xfrm>
              <a:off x="0" y="8"/>
              <a:ext cx="192" cy="192"/>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113865" name="Rectangle 94"/>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2</a:t>
              </a:r>
            </a:p>
          </p:txBody>
        </p:sp>
      </p:grpSp>
      <p:grpSp>
        <p:nvGrpSpPr>
          <p:cNvPr id="22" name="Group 98"/>
          <p:cNvGrpSpPr>
            <a:grpSpLocks/>
          </p:cNvGrpSpPr>
          <p:nvPr/>
        </p:nvGrpSpPr>
        <p:grpSpPr bwMode="auto">
          <a:xfrm>
            <a:off x="4729163" y="4483100"/>
            <a:ext cx="304800" cy="330200"/>
            <a:chOff x="0" y="0"/>
            <a:chExt cx="192" cy="208"/>
          </a:xfrm>
        </p:grpSpPr>
        <p:sp>
          <p:nvSpPr>
            <p:cNvPr id="113862" name="Oval 96"/>
            <p:cNvSpPr>
              <a:spLocks/>
            </p:cNvSpPr>
            <p:nvPr/>
          </p:nvSpPr>
          <p:spPr bwMode="auto">
            <a:xfrm>
              <a:off x="0" y="8"/>
              <a:ext cx="192" cy="192"/>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3863" name="Rectangle 97"/>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23" name="Group 101"/>
          <p:cNvGrpSpPr>
            <a:grpSpLocks/>
          </p:cNvGrpSpPr>
          <p:nvPr/>
        </p:nvGrpSpPr>
        <p:grpSpPr bwMode="auto">
          <a:xfrm>
            <a:off x="5659438" y="4483100"/>
            <a:ext cx="304800" cy="330200"/>
            <a:chOff x="0" y="0"/>
            <a:chExt cx="192" cy="208"/>
          </a:xfrm>
        </p:grpSpPr>
        <p:sp>
          <p:nvSpPr>
            <p:cNvPr id="113860" name="Oval 99"/>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61" name="Rectangle 100"/>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24" name="Group 104"/>
          <p:cNvGrpSpPr>
            <a:grpSpLocks/>
          </p:cNvGrpSpPr>
          <p:nvPr/>
        </p:nvGrpSpPr>
        <p:grpSpPr bwMode="auto">
          <a:xfrm>
            <a:off x="3324225" y="4483100"/>
            <a:ext cx="304800" cy="330200"/>
            <a:chOff x="0" y="0"/>
            <a:chExt cx="192" cy="208"/>
          </a:xfrm>
        </p:grpSpPr>
        <p:sp>
          <p:nvSpPr>
            <p:cNvPr id="113858" name="Oval 10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59" name="Rectangle 103"/>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3</a:t>
              </a:r>
            </a:p>
          </p:txBody>
        </p:sp>
      </p:grpSp>
      <p:grpSp>
        <p:nvGrpSpPr>
          <p:cNvPr id="25" name="Group 107"/>
          <p:cNvGrpSpPr>
            <a:grpSpLocks/>
          </p:cNvGrpSpPr>
          <p:nvPr/>
        </p:nvGrpSpPr>
        <p:grpSpPr bwMode="auto">
          <a:xfrm>
            <a:off x="1219200" y="4483100"/>
            <a:ext cx="304800" cy="330200"/>
            <a:chOff x="0" y="0"/>
            <a:chExt cx="192" cy="208"/>
          </a:xfrm>
        </p:grpSpPr>
        <p:sp>
          <p:nvSpPr>
            <p:cNvPr id="113856" name="Oval 105"/>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57" name="Rectangle 106"/>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26" name="Group 110"/>
          <p:cNvGrpSpPr>
            <a:grpSpLocks/>
          </p:cNvGrpSpPr>
          <p:nvPr/>
        </p:nvGrpSpPr>
        <p:grpSpPr bwMode="auto">
          <a:xfrm flipH="1">
            <a:off x="5353050" y="3508375"/>
            <a:ext cx="304800" cy="330200"/>
            <a:chOff x="0" y="0"/>
            <a:chExt cx="192" cy="208"/>
          </a:xfrm>
        </p:grpSpPr>
        <p:sp>
          <p:nvSpPr>
            <p:cNvPr id="113854" name="Oval 108"/>
            <p:cNvSpPr>
              <a:spLocks/>
            </p:cNvSpPr>
            <p:nvPr/>
          </p:nvSpPr>
          <p:spPr bwMode="auto">
            <a:xfrm>
              <a:off x="0" y="8"/>
              <a:ext cx="192" cy="192"/>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3855" name="Rectangle 109"/>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27" name="Group 113"/>
          <p:cNvGrpSpPr>
            <a:grpSpLocks/>
          </p:cNvGrpSpPr>
          <p:nvPr/>
        </p:nvGrpSpPr>
        <p:grpSpPr bwMode="auto">
          <a:xfrm>
            <a:off x="3124200" y="3508375"/>
            <a:ext cx="304800" cy="330200"/>
            <a:chOff x="0" y="0"/>
            <a:chExt cx="192" cy="208"/>
          </a:xfrm>
        </p:grpSpPr>
        <p:sp>
          <p:nvSpPr>
            <p:cNvPr id="113852" name="Oval 111"/>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53" name="Rectangle 112"/>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28" name="Group 116"/>
          <p:cNvGrpSpPr>
            <a:grpSpLocks/>
          </p:cNvGrpSpPr>
          <p:nvPr/>
        </p:nvGrpSpPr>
        <p:grpSpPr bwMode="auto">
          <a:xfrm>
            <a:off x="4229100" y="3508375"/>
            <a:ext cx="304800" cy="330200"/>
            <a:chOff x="0" y="0"/>
            <a:chExt cx="192" cy="208"/>
          </a:xfrm>
        </p:grpSpPr>
        <p:sp>
          <p:nvSpPr>
            <p:cNvPr id="113850" name="Oval 114"/>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3851" name="Rectangle 115"/>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5</a:t>
              </a:r>
            </a:p>
          </p:txBody>
        </p:sp>
      </p:grpSp>
      <p:grpSp>
        <p:nvGrpSpPr>
          <p:cNvPr id="29" name="Group 119"/>
          <p:cNvGrpSpPr>
            <a:grpSpLocks/>
          </p:cNvGrpSpPr>
          <p:nvPr/>
        </p:nvGrpSpPr>
        <p:grpSpPr bwMode="auto">
          <a:xfrm>
            <a:off x="1981200" y="3508375"/>
            <a:ext cx="304800" cy="330200"/>
            <a:chOff x="0" y="0"/>
            <a:chExt cx="192" cy="208"/>
          </a:xfrm>
        </p:grpSpPr>
        <p:sp>
          <p:nvSpPr>
            <p:cNvPr id="113848" name="Oval 117"/>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49" name="Rectangle 118"/>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30" name="Group 122"/>
          <p:cNvGrpSpPr>
            <a:grpSpLocks/>
          </p:cNvGrpSpPr>
          <p:nvPr/>
        </p:nvGrpSpPr>
        <p:grpSpPr bwMode="auto">
          <a:xfrm flipH="1">
            <a:off x="4572000" y="2501900"/>
            <a:ext cx="304800" cy="330200"/>
            <a:chOff x="0" y="0"/>
            <a:chExt cx="192" cy="208"/>
          </a:xfrm>
        </p:grpSpPr>
        <p:sp>
          <p:nvSpPr>
            <p:cNvPr id="113846" name="Oval 120"/>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3847" name="Rectangle 121"/>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7</a:t>
              </a:r>
            </a:p>
          </p:txBody>
        </p:sp>
      </p:grpSp>
      <p:grpSp>
        <p:nvGrpSpPr>
          <p:cNvPr id="31" name="Group 125"/>
          <p:cNvGrpSpPr>
            <a:grpSpLocks/>
          </p:cNvGrpSpPr>
          <p:nvPr/>
        </p:nvGrpSpPr>
        <p:grpSpPr bwMode="auto">
          <a:xfrm>
            <a:off x="2743200" y="2501900"/>
            <a:ext cx="304800" cy="330200"/>
            <a:chOff x="0" y="0"/>
            <a:chExt cx="192" cy="208"/>
          </a:xfrm>
        </p:grpSpPr>
        <p:sp>
          <p:nvSpPr>
            <p:cNvPr id="113844" name="Oval 123"/>
            <p:cNvSpPr>
              <a:spLocks/>
            </p:cNvSpPr>
            <p:nvPr/>
          </p:nvSpPr>
          <p:spPr bwMode="auto">
            <a:xfrm>
              <a:off x="0" y="8"/>
              <a:ext cx="192" cy="192"/>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3845" name="Rectangle 124"/>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113805" name="Group 128"/>
          <p:cNvGrpSpPr>
            <a:grpSpLocks/>
          </p:cNvGrpSpPr>
          <p:nvPr/>
        </p:nvGrpSpPr>
        <p:grpSpPr bwMode="auto">
          <a:xfrm>
            <a:off x="3657600" y="1557338"/>
            <a:ext cx="304800" cy="330200"/>
            <a:chOff x="0" y="0"/>
            <a:chExt cx="192" cy="208"/>
          </a:xfrm>
        </p:grpSpPr>
        <p:sp>
          <p:nvSpPr>
            <p:cNvPr id="113842" name="Oval 126"/>
            <p:cNvSpPr>
              <a:spLocks/>
            </p:cNvSpPr>
            <p:nvPr/>
          </p:nvSpPr>
          <p:spPr bwMode="auto">
            <a:xfrm>
              <a:off x="0" y="7"/>
              <a:ext cx="192" cy="192"/>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113843" name="Rectangle 127"/>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9</a:t>
              </a:r>
            </a:p>
          </p:txBody>
        </p:sp>
      </p:grpSp>
      <p:sp>
        <p:nvSpPr>
          <p:cNvPr id="113732" name="Rectangle 129"/>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Initial</a:t>
            </a:r>
          </a:p>
        </p:txBody>
      </p:sp>
      <p:sp>
        <p:nvSpPr>
          <p:cNvPr id="113733" name="Oval 130"/>
          <p:cNvSpPr>
            <a:spLocks/>
          </p:cNvSpPr>
          <p:nvPr/>
        </p:nvSpPr>
        <p:spPr bwMode="auto">
          <a:xfrm>
            <a:off x="8797925"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3734" name="Rectangle 131"/>
          <p:cNvSpPr>
            <a:spLocks/>
          </p:cNvSpPr>
          <p:nvPr/>
        </p:nvSpPr>
        <p:spPr bwMode="auto">
          <a:xfrm>
            <a:off x="7604125"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Visited</a:t>
            </a:r>
          </a:p>
        </p:txBody>
      </p:sp>
      <p:sp>
        <p:nvSpPr>
          <p:cNvPr id="113735" name="Oval 132"/>
          <p:cNvSpPr>
            <a:spLocks/>
          </p:cNvSpPr>
          <p:nvPr/>
        </p:nvSpPr>
        <p:spPr bwMode="auto">
          <a:xfrm>
            <a:off x="8797925"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3736" name="Rectangle 133"/>
          <p:cNvSpPr>
            <a:spLocks/>
          </p:cNvSpPr>
          <p:nvPr/>
        </p:nvSpPr>
        <p:spPr bwMode="auto">
          <a:xfrm>
            <a:off x="7604125"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Fringe</a:t>
            </a:r>
          </a:p>
        </p:txBody>
      </p:sp>
      <p:sp>
        <p:nvSpPr>
          <p:cNvPr id="113737" name="Oval 134"/>
          <p:cNvSpPr>
            <a:spLocks/>
          </p:cNvSpPr>
          <p:nvPr/>
        </p:nvSpPr>
        <p:spPr bwMode="auto">
          <a:xfrm>
            <a:off x="8797925"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113738" name="Rectangle 135"/>
          <p:cNvSpPr>
            <a:spLocks/>
          </p:cNvSpPr>
          <p:nvPr/>
        </p:nvSpPr>
        <p:spPr bwMode="auto">
          <a:xfrm>
            <a:off x="7604125"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Current</a:t>
            </a:r>
          </a:p>
        </p:txBody>
      </p:sp>
      <p:sp>
        <p:nvSpPr>
          <p:cNvPr id="113739" name="Oval 136"/>
          <p:cNvSpPr>
            <a:spLocks/>
          </p:cNvSpPr>
          <p:nvPr/>
        </p:nvSpPr>
        <p:spPr bwMode="auto">
          <a:xfrm>
            <a:off x="8797925"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113740" name="Rectangle 137"/>
          <p:cNvSpPr>
            <a:spLocks/>
          </p:cNvSpPr>
          <p:nvPr/>
        </p:nvSpPr>
        <p:spPr bwMode="auto">
          <a:xfrm>
            <a:off x="7604125"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Visible</a:t>
            </a:r>
          </a:p>
        </p:txBody>
      </p:sp>
      <p:sp>
        <p:nvSpPr>
          <p:cNvPr id="113741" name="Oval 138"/>
          <p:cNvSpPr>
            <a:spLocks/>
          </p:cNvSpPr>
          <p:nvPr/>
        </p:nvSpPr>
        <p:spPr bwMode="auto">
          <a:xfrm>
            <a:off x="8797925"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113742" name="Rectangle 139"/>
          <p:cNvSpPr>
            <a:spLocks/>
          </p:cNvSpPr>
          <p:nvPr/>
        </p:nvSpPr>
        <p:spPr bwMode="auto">
          <a:xfrm>
            <a:off x="7604125"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Goal</a:t>
            </a:r>
          </a:p>
        </p:txBody>
      </p:sp>
      <p:sp>
        <p:nvSpPr>
          <p:cNvPr id="113743" name="Rectangle 140"/>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113744" name="Rectangle 141"/>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113745" name="Rectangle 142"/>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113746" name="Rectangle 143"/>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4</a:t>
            </a:r>
          </a:p>
        </p:txBody>
      </p:sp>
      <p:sp>
        <p:nvSpPr>
          <p:cNvPr id="113747" name="Rectangle 144"/>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113748" name="Rectangle 145"/>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113749" name="Rectangle 146"/>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113750" name="Rectangle 147"/>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113751" name="Rectangle 148"/>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113752" name="Rectangle 149"/>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113753" name="Rectangle 150"/>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113754" name="Rectangle 151"/>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113755" name="Rectangle 152"/>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113756" name="Rectangle 153"/>
          <p:cNvSpPr>
            <a:spLocks/>
          </p:cNvSpPr>
          <p:nvPr/>
        </p:nvSpPr>
        <p:spPr bwMode="auto">
          <a:xfrm>
            <a:off x="53340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113757" name="Rectangle 154"/>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113758" name="Rectangle 155"/>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113759" name="Rectangle 156"/>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113760" name="Rectangle 157"/>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113761" name="Rectangle 158"/>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113762" name="Rectangle 159"/>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113763" name="Rectangle 160"/>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113764" name="Rectangle 161"/>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113765" name="Rectangle 162"/>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113766" name="Rectangle 163"/>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113767" name="Rectangle 164"/>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113768" name="Rectangle 165"/>
          <p:cNvSpPr>
            <a:spLocks/>
          </p:cNvSpPr>
          <p:nvPr/>
        </p:nvSpPr>
        <p:spPr bwMode="auto">
          <a:xfrm>
            <a:off x="4743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113769" name="Rectangle 166"/>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113770" name="Rectangle 167"/>
          <p:cNvSpPr>
            <a:spLocks/>
          </p:cNvSpPr>
          <p:nvPr/>
        </p:nvSpPr>
        <p:spPr bwMode="auto">
          <a:xfrm>
            <a:off x="5657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113771" name="Rectangle 168"/>
          <p:cNvSpPr>
            <a:spLocks/>
          </p:cNvSpPr>
          <p:nvPr/>
        </p:nvSpPr>
        <p:spPr bwMode="auto">
          <a:xfrm>
            <a:off x="6038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113772" name="Rectangle 169"/>
          <p:cNvSpPr>
            <a:spLocks/>
          </p:cNvSpPr>
          <p:nvPr/>
        </p:nvSpPr>
        <p:spPr bwMode="auto">
          <a:xfrm>
            <a:off x="6496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113773" name="Rectangle 170"/>
          <p:cNvSpPr>
            <a:spLocks/>
          </p:cNvSpPr>
          <p:nvPr/>
        </p:nvSpPr>
        <p:spPr bwMode="auto">
          <a:xfrm>
            <a:off x="6953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113774" name="Rectangle 171"/>
          <p:cNvSpPr>
            <a:spLocks/>
          </p:cNvSpPr>
          <p:nvPr/>
        </p:nvSpPr>
        <p:spPr bwMode="auto">
          <a:xfrm>
            <a:off x="2971800" y="2095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3775" name="Rectangle 172"/>
          <p:cNvSpPr>
            <a:spLocks/>
          </p:cNvSpPr>
          <p:nvPr/>
        </p:nvSpPr>
        <p:spPr bwMode="auto">
          <a:xfrm>
            <a:off x="4267200" y="2095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3776" name="Rectangle 173"/>
          <p:cNvSpPr>
            <a:spLocks/>
          </p:cNvSpPr>
          <p:nvPr/>
        </p:nvSpPr>
        <p:spPr bwMode="auto">
          <a:xfrm>
            <a:off x="22098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7</a:t>
            </a:r>
          </a:p>
        </p:txBody>
      </p:sp>
      <p:sp>
        <p:nvSpPr>
          <p:cNvPr id="113777" name="Rectangle 174"/>
          <p:cNvSpPr>
            <a:spLocks/>
          </p:cNvSpPr>
          <p:nvPr/>
        </p:nvSpPr>
        <p:spPr bwMode="auto">
          <a:xfrm>
            <a:off x="15240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3778" name="Rectangle 175"/>
          <p:cNvSpPr>
            <a:spLocks/>
          </p:cNvSpPr>
          <p:nvPr/>
        </p:nvSpPr>
        <p:spPr bwMode="auto">
          <a:xfrm>
            <a:off x="31242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3779" name="Rectangle 176"/>
          <p:cNvSpPr>
            <a:spLocks/>
          </p:cNvSpPr>
          <p:nvPr/>
        </p:nvSpPr>
        <p:spPr bwMode="auto">
          <a:xfrm>
            <a:off x="42672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3780" name="Rectangle 177"/>
          <p:cNvSpPr>
            <a:spLocks/>
          </p:cNvSpPr>
          <p:nvPr/>
        </p:nvSpPr>
        <p:spPr bwMode="auto">
          <a:xfrm>
            <a:off x="50292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3781" name="Rectangle 178"/>
          <p:cNvSpPr>
            <a:spLocks/>
          </p:cNvSpPr>
          <p:nvPr/>
        </p:nvSpPr>
        <p:spPr bwMode="auto">
          <a:xfrm>
            <a:off x="20574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5</a:t>
            </a:r>
          </a:p>
        </p:txBody>
      </p:sp>
      <p:sp>
        <p:nvSpPr>
          <p:cNvPr id="113782" name="Rectangle 179"/>
          <p:cNvSpPr>
            <a:spLocks/>
          </p:cNvSpPr>
          <p:nvPr/>
        </p:nvSpPr>
        <p:spPr bwMode="auto">
          <a:xfrm>
            <a:off x="27432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3783" name="Rectangle 180"/>
          <p:cNvSpPr>
            <a:spLocks/>
          </p:cNvSpPr>
          <p:nvPr/>
        </p:nvSpPr>
        <p:spPr bwMode="auto">
          <a:xfrm>
            <a:off x="34290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3784" name="Rectangle 181"/>
          <p:cNvSpPr>
            <a:spLocks/>
          </p:cNvSpPr>
          <p:nvPr/>
        </p:nvSpPr>
        <p:spPr bwMode="auto">
          <a:xfrm>
            <a:off x="39624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3785" name="Rectangle 182"/>
          <p:cNvSpPr>
            <a:spLocks/>
          </p:cNvSpPr>
          <p:nvPr/>
        </p:nvSpPr>
        <p:spPr bwMode="auto">
          <a:xfrm>
            <a:off x="43434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3786" name="Rectangle 183"/>
          <p:cNvSpPr>
            <a:spLocks/>
          </p:cNvSpPr>
          <p:nvPr/>
        </p:nvSpPr>
        <p:spPr bwMode="auto">
          <a:xfrm>
            <a:off x="52578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6</a:t>
            </a:r>
          </a:p>
        </p:txBody>
      </p:sp>
      <p:sp>
        <p:nvSpPr>
          <p:cNvPr id="113787" name="Rectangle 184"/>
          <p:cNvSpPr>
            <a:spLocks/>
          </p:cNvSpPr>
          <p:nvPr/>
        </p:nvSpPr>
        <p:spPr bwMode="auto">
          <a:xfrm>
            <a:off x="59436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9</a:t>
            </a:r>
          </a:p>
        </p:txBody>
      </p:sp>
      <p:sp>
        <p:nvSpPr>
          <p:cNvPr id="113788" name="Rectangle 185"/>
          <p:cNvSpPr>
            <a:spLocks/>
          </p:cNvSpPr>
          <p:nvPr/>
        </p:nvSpPr>
        <p:spPr bwMode="auto">
          <a:xfrm>
            <a:off x="762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3789" name="Rectangle 186"/>
          <p:cNvSpPr>
            <a:spLocks/>
          </p:cNvSpPr>
          <p:nvPr/>
        </p:nvSpPr>
        <p:spPr bwMode="auto">
          <a:xfrm>
            <a:off x="1143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3790" name="Rectangle 187"/>
          <p:cNvSpPr>
            <a:spLocks/>
          </p:cNvSpPr>
          <p:nvPr/>
        </p:nvSpPr>
        <p:spPr bwMode="auto">
          <a:xfrm>
            <a:off x="1524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7</a:t>
            </a:r>
          </a:p>
        </p:txBody>
      </p:sp>
      <p:sp>
        <p:nvSpPr>
          <p:cNvPr id="113791" name="Rectangle 188"/>
          <p:cNvSpPr>
            <a:spLocks/>
          </p:cNvSpPr>
          <p:nvPr/>
        </p:nvSpPr>
        <p:spPr bwMode="auto">
          <a:xfrm>
            <a:off x="1981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3792" name="Rectangle 189"/>
          <p:cNvSpPr>
            <a:spLocks/>
          </p:cNvSpPr>
          <p:nvPr/>
        </p:nvSpPr>
        <p:spPr bwMode="auto">
          <a:xfrm>
            <a:off x="2362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3793" name="Rectangle 190"/>
          <p:cNvSpPr>
            <a:spLocks/>
          </p:cNvSpPr>
          <p:nvPr/>
        </p:nvSpPr>
        <p:spPr bwMode="auto">
          <a:xfrm>
            <a:off x="2743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8</a:t>
            </a:r>
          </a:p>
        </p:txBody>
      </p:sp>
      <p:sp>
        <p:nvSpPr>
          <p:cNvPr id="113794" name="Rectangle 191"/>
          <p:cNvSpPr>
            <a:spLocks/>
          </p:cNvSpPr>
          <p:nvPr/>
        </p:nvSpPr>
        <p:spPr bwMode="auto">
          <a:xfrm>
            <a:off x="3124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6</a:t>
            </a:r>
          </a:p>
        </p:txBody>
      </p:sp>
      <p:sp>
        <p:nvSpPr>
          <p:cNvPr id="113795" name="Rectangle 192"/>
          <p:cNvSpPr>
            <a:spLocks/>
          </p:cNvSpPr>
          <p:nvPr/>
        </p:nvSpPr>
        <p:spPr bwMode="auto">
          <a:xfrm>
            <a:off x="3810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3796" name="Rectangle 193"/>
          <p:cNvSpPr>
            <a:spLocks/>
          </p:cNvSpPr>
          <p:nvPr/>
        </p:nvSpPr>
        <p:spPr bwMode="auto">
          <a:xfrm>
            <a:off x="43434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3797" name="Rectangle 194"/>
          <p:cNvSpPr>
            <a:spLocks/>
          </p:cNvSpPr>
          <p:nvPr/>
        </p:nvSpPr>
        <p:spPr bwMode="auto">
          <a:xfrm>
            <a:off x="4648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3798" name="Rectangle 195"/>
          <p:cNvSpPr>
            <a:spLocks/>
          </p:cNvSpPr>
          <p:nvPr/>
        </p:nvSpPr>
        <p:spPr bwMode="auto">
          <a:xfrm>
            <a:off x="51054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3799" name="Rectangle 196"/>
          <p:cNvSpPr>
            <a:spLocks/>
          </p:cNvSpPr>
          <p:nvPr/>
        </p:nvSpPr>
        <p:spPr bwMode="auto">
          <a:xfrm>
            <a:off x="5791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3800" name="Rectangle 197"/>
          <p:cNvSpPr>
            <a:spLocks/>
          </p:cNvSpPr>
          <p:nvPr/>
        </p:nvSpPr>
        <p:spPr bwMode="auto">
          <a:xfrm>
            <a:off x="6096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9</a:t>
            </a:r>
          </a:p>
        </p:txBody>
      </p:sp>
      <p:sp>
        <p:nvSpPr>
          <p:cNvPr id="113801" name="Rectangle 198"/>
          <p:cNvSpPr>
            <a:spLocks/>
          </p:cNvSpPr>
          <p:nvPr/>
        </p:nvSpPr>
        <p:spPr bwMode="auto">
          <a:xfrm>
            <a:off x="66294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3802" name="Rectangle 199"/>
          <p:cNvSpPr>
            <a:spLocks/>
          </p:cNvSpPr>
          <p:nvPr/>
        </p:nvSpPr>
        <p:spPr bwMode="auto">
          <a:xfrm>
            <a:off x="3505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5</a:t>
            </a:r>
          </a:p>
        </p:txBody>
      </p:sp>
      <p:sp>
        <p:nvSpPr>
          <p:cNvPr id="113803" name="Rectangle 200"/>
          <p:cNvSpPr>
            <a:spLocks/>
          </p:cNvSpPr>
          <p:nvPr/>
        </p:nvSpPr>
        <p:spPr bwMode="auto">
          <a:xfrm>
            <a:off x="55626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8</a:t>
            </a:r>
          </a:p>
        </p:txBody>
      </p:sp>
      <p:sp>
        <p:nvSpPr>
          <p:cNvPr id="113804" name="Rectangle 201"/>
          <p:cNvSpPr>
            <a:spLocks/>
          </p:cNvSpPr>
          <p:nvPr/>
        </p:nvSpPr>
        <p:spPr bwMode="auto">
          <a:xfrm>
            <a:off x="7604125" y="3851275"/>
            <a:ext cx="865188"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charset="0"/>
                <a:cs typeface="Arial" charset="0"/>
                <a:sym typeface="Arial" charset="0"/>
              </a:rPr>
              <a:t>Edge Cost</a:t>
            </a:r>
          </a:p>
        </p:txBody>
      </p:sp>
      <p:grpSp>
        <p:nvGrpSpPr>
          <p:cNvPr id="113664" name="Group 204"/>
          <p:cNvGrpSpPr>
            <a:grpSpLocks/>
          </p:cNvGrpSpPr>
          <p:nvPr/>
        </p:nvGrpSpPr>
        <p:grpSpPr bwMode="auto">
          <a:xfrm flipH="1">
            <a:off x="8797925" y="4140200"/>
            <a:ext cx="304800" cy="330200"/>
            <a:chOff x="0" y="0"/>
            <a:chExt cx="192" cy="208"/>
          </a:xfrm>
        </p:grpSpPr>
        <p:sp>
          <p:nvSpPr>
            <p:cNvPr id="113840" name="Oval 20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3841" name="Rectangle 203"/>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sp>
        <p:nvSpPr>
          <p:cNvPr id="113806" name="Rectangle 205"/>
          <p:cNvSpPr>
            <a:spLocks/>
          </p:cNvSpPr>
          <p:nvPr/>
        </p:nvSpPr>
        <p:spPr bwMode="auto">
          <a:xfrm>
            <a:off x="7604125" y="4121150"/>
            <a:ext cx="1144588" cy="355600"/>
          </a:xfrm>
          <a:prstGeom prst="rect">
            <a:avLst/>
          </a:prstGeom>
          <a:noFill/>
          <a:ln w="12700">
            <a:noFill/>
            <a:miter lim="800000"/>
            <a:headEnd/>
            <a:tailEnd/>
          </a:ln>
        </p:spPr>
        <p:txBody>
          <a:bodyPr wrap="none" lIns="0" tIns="0" rIns="40639" bIns="0">
            <a:spAutoFit/>
          </a:bodyPr>
          <a:lstStyle/>
          <a:p>
            <a:pPr marL="39688"/>
            <a:r>
              <a:rPr lang="en-US" sz="1800">
                <a:solidFill>
                  <a:srgbClr val="000020"/>
                </a:solidFill>
                <a:latin typeface="Times New Roman Bold" charset="0"/>
                <a:cs typeface="Times New Roman Bold" charset="0"/>
                <a:sym typeface="Times New Roman Bold" charset="0"/>
              </a:rPr>
              <a:t>Heuristics</a:t>
            </a:r>
          </a:p>
        </p:txBody>
      </p:sp>
      <p:sp>
        <p:nvSpPr>
          <p:cNvPr id="113807" name="Rectangle 206"/>
          <p:cNvSpPr>
            <a:spLocks/>
          </p:cNvSpPr>
          <p:nvPr/>
        </p:nvSpPr>
        <p:spPr bwMode="auto">
          <a:xfrm>
            <a:off x="8816975" y="3851275"/>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9</a:t>
            </a:r>
          </a:p>
        </p:txBody>
      </p:sp>
      <p:sp>
        <p:nvSpPr>
          <p:cNvPr id="113808" name="Rectangle 207"/>
          <p:cNvSpPr>
            <a:spLocks/>
          </p:cNvSpPr>
          <p:nvPr/>
        </p:nvSpPr>
        <p:spPr bwMode="auto">
          <a:xfrm>
            <a:off x="2743200" y="2286000"/>
            <a:ext cx="349250"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11</a:t>
            </a:r>
          </a:p>
        </p:txBody>
      </p:sp>
      <p:sp>
        <p:nvSpPr>
          <p:cNvPr id="113809" name="Rectangle 208"/>
          <p:cNvSpPr>
            <a:spLocks/>
          </p:cNvSpPr>
          <p:nvPr/>
        </p:nvSpPr>
        <p:spPr bwMode="auto">
          <a:xfrm>
            <a:off x="4572000" y="22860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10</a:t>
            </a:r>
          </a:p>
        </p:txBody>
      </p:sp>
      <p:sp>
        <p:nvSpPr>
          <p:cNvPr id="113810" name="Rectangle 209"/>
          <p:cNvSpPr>
            <a:spLocks/>
          </p:cNvSpPr>
          <p:nvPr/>
        </p:nvSpPr>
        <p:spPr bwMode="auto">
          <a:xfrm>
            <a:off x="1905000" y="32766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17</a:t>
            </a:r>
          </a:p>
        </p:txBody>
      </p:sp>
      <p:sp>
        <p:nvSpPr>
          <p:cNvPr id="113811" name="Rectangle 210"/>
          <p:cNvSpPr>
            <a:spLocks/>
          </p:cNvSpPr>
          <p:nvPr/>
        </p:nvSpPr>
        <p:spPr bwMode="auto">
          <a:xfrm>
            <a:off x="3124200" y="3276600"/>
            <a:ext cx="349250"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11</a:t>
            </a:r>
          </a:p>
        </p:txBody>
      </p:sp>
      <p:sp>
        <p:nvSpPr>
          <p:cNvPr id="113812" name="Rectangle 211"/>
          <p:cNvSpPr>
            <a:spLocks/>
          </p:cNvSpPr>
          <p:nvPr/>
        </p:nvSpPr>
        <p:spPr bwMode="auto">
          <a:xfrm>
            <a:off x="4114800" y="32766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10</a:t>
            </a:r>
          </a:p>
        </p:txBody>
      </p:sp>
      <p:sp>
        <p:nvSpPr>
          <p:cNvPr id="113813" name="Rectangle 212"/>
          <p:cNvSpPr>
            <a:spLocks/>
          </p:cNvSpPr>
          <p:nvPr/>
        </p:nvSpPr>
        <p:spPr bwMode="auto">
          <a:xfrm>
            <a:off x="5334000" y="32766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
        <p:nvSpPr>
          <p:cNvPr id="113814" name="Rectangle 213"/>
          <p:cNvSpPr>
            <a:spLocks/>
          </p:cNvSpPr>
          <p:nvPr/>
        </p:nvSpPr>
        <p:spPr bwMode="auto">
          <a:xfrm>
            <a:off x="12192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20</a:t>
            </a:r>
          </a:p>
        </p:txBody>
      </p:sp>
      <p:sp>
        <p:nvSpPr>
          <p:cNvPr id="113815" name="Rectangle 214"/>
          <p:cNvSpPr>
            <a:spLocks/>
          </p:cNvSpPr>
          <p:nvPr/>
        </p:nvSpPr>
        <p:spPr bwMode="auto">
          <a:xfrm>
            <a:off x="17526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21</a:t>
            </a:r>
          </a:p>
        </p:txBody>
      </p:sp>
      <p:sp>
        <p:nvSpPr>
          <p:cNvPr id="113816" name="Rectangle 215"/>
          <p:cNvSpPr>
            <a:spLocks/>
          </p:cNvSpPr>
          <p:nvPr/>
        </p:nvSpPr>
        <p:spPr bwMode="auto">
          <a:xfrm>
            <a:off x="34290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
        <p:nvSpPr>
          <p:cNvPr id="113817" name="Rectangle 216"/>
          <p:cNvSpPr>
            <a:spLocks/>
          </p:cNvSpPr>
          <p:nvPr/>
        </p:nvSpPr>
        <p:spPr bwMode="auto">
          <a:xfrm>
            <a:off x="4191000" y="4267200"/>
            <a:ext cx="349250"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11</a:t>
            </a:r>
          </a:p>
        </p:txBody>
      </p:sp>
      <p:sp>
        <p:nvSpPr>
          <p:cNvPr id="113818" name="Rectangle 217"/>
          <p:cNvSpPr>
            <a:spLocks/>
          </p:cNvSpPr>
          <p:nvPr/>
        </p:nvSpPr>
        <p:spPr bwMode="auto">
          <a:xfrm>
            <a:off x="47244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12</a:t>
            </a:r>
          </a:p>
        </p:txBody>
      </p:sp>
      <p:sp>
        <p:nvSpPr>
          <p:cNvPr id="113819" name="Rectangle 218"/>
          <p:cNvSpPr>
            <a:spLocks/>
          </p:cNvSpPr>
          <p:nvPr/>
        </p:nvSpPr>
        <p:spPr bwMode="auto">
          <a:xfrm>
            <a:off x="57150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18</a:t>
            </a:r>
          </a:p>
        </p:txBody>
      </p:sp>
      <p:sp>
        <p:nvSpPr>
          <p:cNvPr id="113820" name="Rectangle 219"/>
          <p:cNvSpPr>
            <a:spLocks/>
          </p:cNvSpPr>
          <p:nvPr/>
        </p:nvSpPr>
        <p:spPr bwMode="auto">
          <a:xfrm>
            <a:off x="61722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22</a:t>
            </a:r>
          </a:p>
        </p:txBody>
      </p:sp>
      <p:sp>
        <p:nvSpPr>
          <p:cNvPr id="113821" name="Rectangle 220"/>
          <p:cNvSpPr>
            <a:spLocks/>
          </p:cNvSpPr>
          <p:nvPr/>
        </p:nvSpPr>
        <p:spPr bwMode="auto">
          <a:xfrm>
            <a:off x="379413" y="5257800"/>
            <a:ext cx="358775"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24</a:t>
            </a:r>
          </a:p>
        </p:txBody>
      </p:sp>
      <p:sp>
        <p:nvSpPr>
          <p:cNvPr id="113822" name="Rectangle 221"/>
          <p:cNvSpPr>
            <a:spLocks/>
          </p:cNvSpPr>
          <p:nvPr/>
        </p:nvSpPr>
        <p:spPr bwMode="auto">
          <a:xfrm>
            <a:off x="7620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24</a:t>
            </a:r>
          </a:p>
        </p:txBody>
      </p:sp>
      <p:sp>
        <p:nvSpPr>
          <p:cNvPr id="113823" name="Rectangle 222"/>
          <p:cNvSpPr>
            <a:spLocks/>
          </p:cNvSpPr>
          <p:nvPr/>
        </p:nvSpPr>
        <p:spPr bwMode="auto">
          <a:xfrm>
            <a:off x="12192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29</a:t>
            </a:r>
          </a:p>
        </p:txBody>
      </p:sp>
      <p:sp>
        <p:nvSpPr>
          <p:cNvPr id="113824" name="Rectangle 223"/>
          <p:cNvSpPr>
            <a:spLocks/>
          </p:cNvSpPr>
          <p:nvPr/>
        </p:nvSpPr>
        <p:spPr bwMode="auto">
          <a:xfrm>
            <a:off x="16002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23</a:t>
            </a:r>
          </a:p>
        </p:txBody>
      </p:sp>
      <p:sp>
        <p:nvSpPr>
          <p:cNvPr id="113825" name="Rectangle 224"/>
          <p:cNvSpPr>
            <a:spLocks/>
          </p:cNvSpPr>
          <p:nvPr/>
        </p:nvSpPr>
        <p:spPr bwMode="auto">
          <a:xfrm>
            <a:off x="20574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18</a:t>
            </a:r>
          </a:p>
        </p:txBody>
      </p:sp>
      <p:sp>
        <p:nvSpPr>
          <p:cNvPr id="113826" name="Rectangle 225"/>
          <p:cNvSpPr>
            <a:spLocks/>
          </p:cNvSpPr>
          <p:nvPr/>
        </p:nvSpPr>
        <p:spPr bwMode="auto">
          <a:xfrm>
            <a:off x="26670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19</a:t>
            </a:r>
          </a:p>
        </p:txBody>
      </p:sp>
      <p:sp>
        <p:nvSpPr>
          <p:cNvPr id="113827" name="Rectangle 226"/>
          <p:cNvSpPr>
            <a:spLocks/>
          </p:cNvSpPr>
          <p:nvPr/>
        </p:nvSpPr>
        <p:spPr bwMode="auto">
          <a:xfrm>
            <a:off x="31242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18</a:t>
            </a:r>
          </a:p>
        </p:txBody>
      </p:sp>
      <p:sp>
        <p:nvSpPr>
          <p:cNvPr id="113828" name="Rectangle 227"/>
          <p:cNvSpPr>
            <a:spLocks/>
          </p:cNvSpPr>
          <p:nvPr/>
        </p:nvSpPr>
        <p:spPr bwMode="auto">
          <a:xfrm>
            <a:off x="35814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16</a:t>
            </a:r>
          </a:p>
        </p:txBody>
      </p:sp>
      <p:sp>
        <p:nvSpPr>
          <p:cNvPr id="113829" name="Rectangle 228"/>
          <p:cNvSpPr>
            <a:spLocks/>
          </p:cNvSpPr>
          <p:nvPr/>
        </p:nvSpPr>
        <p:spPr bwMode="auto">
          <a:xfrm>
            <a:off x="39624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
        <p:nvSpPr>
          <p:cNvPr id="113830" name="Rectangle 229"/>
          <p:cNvSpPr>
            <a:spLocks/>
          </p:cNvSpPr>
          <p:nvPr/>
        </p:nvSpPr>
        <p:spPr bwMode="auto">
          <a:xfrm>
            <a:off x="44196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
        <p:nvSpPr>
          <p:cNvPr id="113831" name="Rectangle 230"/>
          <p:cNvSpPr>
            <a:spLocks/>
          </p:cNvSpPr>
          <p:nvPr/>
        </p:nvSpPr>
        <p:spPr bwMode="auto">
          <a:xfrm>
            <a:off x="48006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14</a:t>
            </a:r>
          </a:p>
        </p:txBody>
      </p:sp>
      <p:sp>
        <p:nvSpPr>
          <p:cNvPr id="113832" name="Rectangle 231"/>
          <p:cNvSpPr>
            <a:spLocks/>
          </p:cNvSpPr>
          <p:nvPr/>
        </p:nvSpPr>
        <p:spPr bwMode="auto">
          <a:xfrm>
            <a:off x="57150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25</a:t>
            </a:r>
          </a:p>
        </p:txBody>
      </p:sp>
      <p:sp>
        <p:nvSpPr>
          <p:cNvPr id="113833" name="Rectangle 232"/>
          <p:cNvSpPr>
            <a:spLocks/>
          </p:cNvSpPr>
          <p:nvPr/>
        </p:nvSpPr>
        <p:spPr bwMode="auto">
          <a:xfrm>
            <a:off x="6399213" y="5257800"/>
            <a:ext cx="358775"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31</a:t>
            </a:r>
          </a:p>
        </p:txBody>
      </p:sp>
      <p:sp>
        <p:nvSpPr>
          <p:cNvPr id="113834" name="Rectangle 233"/>
          <p:cNvSpPr>
            <a:spLocks/>
          </p:cNvSpPr>
          <p:nvPr/>
        </p:nvSpPr>
        <p:spPr bwMode="auto">
          <a:xfrm>
            <a:off x="68580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25</a:t>
            </a:r>
          </a:p>
        </p:txBody>
      </p:sp>
      <p:sp>
        <p:nvSpPr>
          <p:cNvPr id="113835" name="Rectangle 234"/>
          <p:cNvSpPr>
            <a:spLocks/>
          </p:cNvSpPr>
          <p:nvPr/>
        </p:nvSpPr>
        <p:spPr bwMode="auto">
          <a:xfrm>
            <a:off x="51816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
        <p:nvSpPr>
          <p:cNvPr id="113836" name="Rectangle 235"/>
          <p:cNvSpPr>
            <a:spLocks/>
          </p:cNvSpPr>
          <p:nvPr/>
        </p:nvSpPr>
        <p:spPr bwMode="auto">
          <a:xfrm>
            <a:off x="7696200" y="4495800"/>
            <a:ext cx="61753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f-cost</a:t>
            </a:r>
          </a:p>
        </p:txBody>
      </p:sp>
      <p:sp>
        <p:nvSpPr>
          <p:cNvPr id="113837" name="Rectangle 236"/>
          <p:cNvSpPr>
            <a:spLocks/>
          </p:cNvSpPr>
          <p:nvPr/>
        </p:nvSpPr>
        <p:spPr bwMode="auto">
          <a:xfrm>
            <a:off x="8756650" y="4495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10</a:t>
            </a:r>
          </a:p>
        </p:txBody>
      </p:sp>
      <p:sp>
        <p:nvSpPr>
          <p:cNvPr id="113838" name="Rectangle 237"/>
          <p:cNvSpPr>
            <a:spLocks/>
          </p:cNvSpPr>
          <p:nvPr/>
        </p:nvSpPr>
        <p:spPr bwMode="auto">
          <a:xfrm>
            <a:off x="60960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21</a:t>
            </a:r>
          </a:p>
        </p:txBody>
      </p:sp>
      <p:sp>
        <p:nvSpPr>
          <p:cNvPr id="113839" name="Rectangle 238"/>
          <p:cNvSpPr>
            <a:spLocks/>
          </p:cNvSpPr>
          <p:nvPr/>
        </p:nvSpPr>
        <p:spPr bwMode="auto">
          <a:xfrm>
            <a:off x="25146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14</a:t>
            </a:r>
          </a:p>
        </p:txBody>
      </p:sp>
    </p:spTree>
  </p:cSld>
  <p:clrMapOvr>
    <a:masterClrMapping/>
  </p:clrMapOv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Rectangle 3"/>
          <p:cNvSpPr>
            <a:spLocks/>
          </p:cNvSpPr>
          <p:nvPr/>
        </p:nvSpPr>
        <p:spPr bwMode="auto">
          <a:xfrm>
            <a:off x="0" y="1295400"/>
            <a:ext cx="7620000" cy="5029200"/>
          </a:xfrm>
          <a:prstGeom prst="rect">
            <a:avLst/>
          </a:prstGeom>
          <a:solidFill>
            <a:srgbClr val="00CECE"/>
          </a:solidFill>
          <a:ln w="12700">
            <a:noFill/>
            <a:miter lim="800000"/>
            <a:headEnd/>
            <a:tailEnd/>
          </a:ln>
        </p:spPr>
        <p:txBody>
          <a:bodyPr lIns="0" tIns="0" rIns="0" bIns="0"/>
          <a:lstStyle/>
          <a:p>
            <a:endParaRPr lang="en-US"/>
          </a:p>
        </p:txBody>
      </p:sp>
      <p:sp>
        <p:nvSpPr>
          <p:cNvPr id="120836" name="Rectangle 4"/>
          <p:cNvSpPr>
            <a:spLocks noGrp="1" noChangeArrowheads="1"/>
          </p:cNvSpPr>
          <p:nvPr>
            <p:ph type="title"/>
          </p:nvPr>
        </p:nvSpPr>
        <p:spPr>
          <a:xfrm>
            <a:off x="0" y="1"/>
            <a:ext cx="8610600" cy="990600"/>
          </a:xfrm>
        </p:spPr>
        <p:txBody>
          <a:bodyPr rIns="130174"/>
          <a:lstStyle/>
          <a:p>
            <a:pPr indent="0" eaLnBrk="1" hangingPunct="1">
              <a:defRPr/>
            </a:pPr>
            <a:r>
              <a:rPr lang="en-US" dirty="0"/>
              <a:t>A* Snapshot with Contour f=13</a:t>
            </a:r>
          </a:p>
        </p:txBody>
      </p:sp>
      <p:sp>
        <p:nvSpPr>
          <p:cNvPr id="116742" name="Oval 5"/>
          <p:cNvSpPr>
            <a:spLocks/>
          </p:cNvSpPr>
          <p:nvPr/>
        </p:nvSpPr>
        <p:spPr bwMode="auto">
          <a:xfrm>
            <a:off x="8797925" y="1489075"/>
            <a:ext cx="304800" cy="304800"/>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116743" name="Line 6"/>
          <p:cNvSpPr>
            <a:spLocks noChangeShapeType="1"/>
          </p:cNvSpPr>
          <p:nvPr/>
        </p:nvSpPr>
        <p:spPr bwMode="auto">
          <a:xfrm rot="10800000" flipH="1">
            <a:off x="2209800" y="2743200"/>
            <a:ext cx="609600" cy="838200"/>
          </a:xfrm>
          <a:prstGeom prst="line">
            <a:avLst/>
          </a:prstGeom>
          <a:noFill/>
          <a:ln w="12700">
            <a:solidFill>
              <a:srgbClr val="000020"/>
            </a:solidFill>
            <a:round/>
            <a:headEnd/>
            <a:tailEnd/>
          </a:ln>
        </p:spPr>
        <p:txBody>
          <a:bodyPr lIns="0" tIns="0" rIns="0" bIns="0"/>
          <a:lstStyle/>
          <a:p>
            <a:endParaRPr lang="en-US"/>
          </a:p>
        </p:txBody>
      </p:sp>
      <p:sp>
        <p:nvSpPr>
          <p:cNvPr id="116744" name="Line 7"/>
          <p:cNvSpPr>
            <a:spLocks noChangeShapeType="1"/>
          </p:cNvSpPr>
          <p:nvPr/>
        </p:nvSpPr>
        <p:spPr bwMode="auto">
          <a:xfrm rot="10800000" flipH="1">
            <a:off x="1447800" y="3733800"/>
            <a:ext cx="609600" cy="838200"/>
          </a:xfrm>
          <a:prstGeom prst="line">
            <a:avLst/>
          </a:prstGeom>
          <a:noFill/>
          <a:ln w="12700">
            <a:solidFill>
              <a:srgbClr val="000020"/>
            </a:solidFill>
            <a:round/>
            <a:headEnd/>
            <a:tailEnd/>
          </a:ln>
        </p:spPr>
        <p:txBody>
          <a:bodyPr lIns="0" tIns="0" rIns="0" bIns="0"/>
          <a:lstStyle/>
          <a:p>
            <a:endParaRPr lang="en-US"/>
          </a:p>
        </p:txBody>
      </p:sp>
      <p:sp>
        <p:nvSpPr>
          <p:cNvPr id="116745" name="Line 8"/>
          <p:cNvSpPr>
            <a:spLocks noChangeShapeType="1"/>
          </p:cNvSpPr>
          <p:nvPr/>
        </p:nvSpPr>
        <p:spPr bwMode="auto">
          <a:xfrm rot="10800000" flipH="1">
            <a:off x="685800" y="4724400"/>
            <a:ext cx="609600" cy="838200"/>
          </a:xfrm>
          <a:prstGeom prst="line">
            <a:avLst/>
          </a:prstGeom>
          <a:noFill/>
          <a:ln w="12700">
            <a:solidFill>
              <a:srgbClr val="000020"/>
            </a:solidFill>
            <a:round/>
            <a:headEnd/>
            <a:tailEnd/>
          </a:ln>
        </p:spPr>
        <p:txBody>
          <a:bodyPr lIns="0" tIns="0" rIns="0" bIns="0"/>
          <a:lstStyle/>
          <a:p>
            <a:endParaRPr lang="en-US"/>
          </a:p>
        </p:txBody>
      </p:sp>
      <p:sp>
        <p:nvSpPr>
          <p:cNvPr id="116746" name="Line 9"/>
          <p:cNvSpPr>
            <a:spLocks noChangeShapeType="1"/>
          </p:cNvSpPr>
          <p:nvPr/>
        </p:nvSpPr>
        <p:spPr bwMode="auto">
          <a:xfrm>
            <a:off x="38862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116747" name="Line 10"/>
          <p:cNvSpPr>
            <a:spLocks noChangeShapeType="1"/>
          </p:cNvSpPr>
          <p:nvPr/>
        </p:nvSpPr>
        <p:spPr bwMode="auto">
          <a:xfrm flipH="1">
            <a:off x="2971800" y="1828800"/>
            <a:ext cx="762000" cy="762000"/>
          </a:xfrm>
          <a:prstGeom prst="line">
            <a:avLst/>
          </a:prstGeom>
          <a:noFill/>
          <a:ln w="12700">
            <a:solidFill>
              <a:srgbClr val="000020"/>
            </a:solidFill>
            <a:round/>
            <a:headEnd/>
            <a:tailEnd/>
          </a:ln>
        </p:spPr>
        <p:txBody>
          <a:bodyPr lIns="0" tIns="0" rIns="0" bIns="0"/>
          <a:lstStyle/>
          <a:p>
            <a:endParaRPr lang="en-US"/>
          </a:p>
        </p:txBody>
      </p:sp>
      <p:sp>
        <p:nvSpPr>
          <p:cNvPr id="116748" name="Line 11"/>
          <p:cNvSpPr>
            <a:spLocks noChangeShapeType="1"/>
          </p:cNvSpPr>
          <p:nvPr/>
        </p:nvSpPr>
        <p:spPr bwMode="auto">
          <a:xfrm>
            <a:off x="4800600" y="2819400"/>
            <a:ext cx="609600" cy="762000"/>
          </a:xfrm>
          <a:prstGeom prst="line">
            <a:avLst/>
          </a:prstGeom>
          <a:noFill/>
          <a:ln w="12700">
            <a:solidFill>
              <a:srgbClr val="000020"/>
            </a:solidFill>
            <a:round/>
            <a:headEnd/>
            <a:tailEnd/>
          </a:ln>
        </p:spPr>
        <p:txBody>
          <a:bodyPr lIns="0" tIns="0" rIns="0" bIns="0"/>
          <a:lstStyle/>
          <a:p>
            <a:endParaRPr lang="en-US"/>
          </a:p>
        </p:txBody>
      </p:sp>
      <p:sp>
        <p:nvSpPr>
          <p:cNvPr id="116749" name="Line 12"/>
          <p:cNvSpPr>
            <a:spLocks noChangeShapeType="1"/>
          </p:cNvSpPr>
          <p:nvPr/>
        </p:nvSpPr>
        <p:spPr bwMode="auto">
          <a:xfrm>
            <a:off x="5562600" y="3733800"/>
            <a:ext cx="685800" cy="838200"/>
          </a:xfrm>
          <a:prstGeom prst="line">
            <a:avLst/>
          </a:prstGeom>
          <a:noFill/>
          <a:ln w="12700">
            <a:solidFill>
              <a:srgbClr val="000020"/>
            </a:solidFill>
            <a:round/>
            <a:headEnd/>
            <a:tailEnd/>
          </a:ln>
        </p:spPr>
        <p:txBody>
          <a:bodyPr lIns="0" tIns="0" rIns="0" bIns="0"/>
          <a:lstStyle/>
          <a:p>
            <a:endParaRPr lang="en-US"/>
          </a:p>
        </p:txBody>
      </p:sp>
      <p:sp>
        <p:nvSpPr>
          <p:cNvPr id="116750" name="Line 13"/>
          <p:cNvSpPr>
            <a:spLocks noChangeShapeType="1"/>
          </p:cNvSpPr>
          <p:nvPr/>
        </p:nvSpPr>
        <p:spPr bwMode="auto">
          <a:xfrm>
            <a:off x="6324600" y="4724400"/>
            <a:ext cx="685800" cy="838200"/>
          </a:xfrm>
          <a:prstGeom prst="line">
            <a:avLst/>
          </a:prstGeom>
          <a:noFill/>
          <a:ln w="12700">
            <a:solidFill>
              <a:srgbClr val="000020"/>
            </a:solidFill>
            <a:round/>
            <a:headEnd/>
            <a:tailEnd/>
          </a:ln>
        </p:spPr>
        <p:txBody>
          <a:bodyPr lIns="0" tIns="0" rIns="0" bIns="0"/>
          <a:lstStyle/>
          <a:p>
            <a:endParaRPr lang="en-US"/>
          </a:p>
        </p:txBody>
      </p:sp>
      <p:sp>
        <p:nvSpPr>
          <p:cNvPr id="116751" name="Line 14"/>
          <p:cNvSpPr>
            <a:spLocks noChangeShapeType="1"/>
          </p:cNvSpPr>
          <p:nvPr/>
        </p:nvSpPr>
        <p:spPr bwMode="auto">
          <a:xfrm>
            <a:off x="29718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116752" name="Line 15"/>
          <p:cNvSpPr>
            <a:spLocks noChangeShapeType="1"/>
          </p:cNvSpPr>
          <p:nvPr/>
        </p:nvSpPr>
        <p:spPr bwMode="auto">
          <a:xfrm flipH="1">
            <a:off x="4419600" y="2819400"/>
            <a:ext cx="228600" cy="685800"/>
          </a:xfrm>
          <a:prstGeom prst="line">
            <a:avLst/>
          </a:prstGeom>
          <a:noFill/>
          <a:ln w="12700">
            <a:solidFill>
              <a:srgbClr val="000020"/>
            </a:solidFill>
            <a:round/>
            <a:headEnd/>
            <a:tailEnd/>
          </a:ln>
        </p:spPr>
        <p:txBody>
          <a:bodyPr lIns="0" tIns="0" rIns="0" bIns="0"/>
          <a:lstStyle/>
          <a:p>
            <a:endParaRPr lang="en-US"/>
          </a:p>
        </p:txBody>
      </p:sp>
      <p:sp>
        <p:nvSpPr>
          <p:cNvPr id="116753" name="Line 16"/>
          <p:cNvSpPr>
            <a:spLocks noChangeShapeType="1"/>
          </p:cNvSpPr>
          <p:nvPr/>
        </p:nvSpPr>
        <p:spPr bwMode="auto">
          <a:xfrm flipH="1">
            <a:off x="2057400" y="3810000"/>
            <a:ext cx="76200" cy="685800"/>
          </a:xfrm>
          <a:prstGeom prst="line">
            <a:avLst/>
          </a:prstGeom>
          <a:noFill/>
          <a:ln w="12700">
            <a:solidFill>
              <a:srgbClr val="000020"/>
            </a:solidFill>
            <a:round/>
            <a:headEnd/>
            <a:tailEnd/>
          </a:ln>
        </p:spPr>
        <p:txBody>
          <a:bodyPr lIns="0" tIns="0" rIns="0" bIns="0"/>
          <a:lstStyle/>
          <a:p>
            <a:endParaRPr lang="en-US"/>
          </a:p>
        </p:txBody>
      </p:sp>
      <p:sp>
        <p:nvSpPr>
          <p:cNvPr id="116754" name="Line 17"/>
          <p:cNvSpPr>
            <a:spLocks noChangeShapeType="1"/>
          </p:cNvSpPr>
          <p:nvPr/>
        </p:nvSpPr>
        <p:spPr bwMode="auto">
          <a:xfrm flipH="1">
            <a:off x="28194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116755" name="Line 18"/>
          <p:cNvSpPr>
            <a:spLocks noChangeShapeType="1"/>
          </p:cNvSpPr>
          <p:nvPr/>
        </p:nvSpPr>
        <p:spPr bwMode="auto">
          <a:xfrm>
            <a:off x="33528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116756" name="Line 19"/>
          <p:cNvSpPr>
            <a:spLocks noChangeShapeType="1"/>
          </p:cNvSpPr>
          <p:nvPr/>
        </p:nvSpPr>
        <p:spPr bwMode="auto">
          <a:xfrm flipH="1">
            <a:off x="4191000" y="3810000"/>
            <a:ext cx="152400" cy="685800"/>
          </a:xfrm>
          <a:prstGeom prst="line">
            <a:avLst/>
          </a:prstGeom>
          <a:noFill/>
          <a:ln w="12700">
            <a:solidFill>
              <a:srgbClr val="000020"/>
            </a:solidFill>
            <a:round/>
            <a:headEnd/>
            <a:tailEnd/>
          </a:ln>
        </p:spPr>
        <p:txBody>
          <a:bodyPr lIns="0" tIns="0" rIns="0" bIns="0"/>
          <a:lstStyle/>
          <a:p>
            <a:endParaRPr lang="en-US"/>
          </a:p>
        </p:txBody>
      </p:sp>
      <p:sp>
        <p:nvSpPr>
          <p:cNvPr id="116757" name="Line 20"/>
          <p:cNvSpPr>
            <a:spLocks noChangeShapeType="1"/>
          </p:cNvSpPr>
          <p:nvPr/>
        </p:nvSpPr>
        <p:spPr bwMode="auto">
          <a:xfrm>
            <a:off x="4419600" y="3810000"/>
            <a:ext cx="381000" cy="685800"/>
          </a:xfrm>
          <a:prstGeom prst="line">
            <a:avLst/>
          </a:prstGeom>
          <a:noFill/>
          <a:ln w="12700">
            <a:solidFill>
              <a:srgbClr val="000020"/>
            </a:solidFill>
            <a:round/>
            <a:headEnd/>
            <a:tailEnd/>
          </a:ln>
        </p:spPr>
        <p:txBody>
          <a:bodyPr lIns="0" tIns="0" rIns="0" bIns="0"/>
          <a:lstStyle/>
          <a:p>
            <a:endParaRPr lang="en-US"/>
          </a:p>
        </p:txBody>
      </p:sp>
      <p:sp>
        <p:nvSpPr>
          <p:cNvPr id="116758" name="Line 21"/>
          <p:cNvSpPr>
            <a:spLocks noChangeShapeType="1"/>
          </p:cNvSpPr>
          <p:nvPr/>
        </p:nvSpPr>
        <p:spPr bwMode="auto">
          <a:xfrm>
            <a:off x="5486400" y="3733800"/>
            <a:ext cx="228600" cy="762000"/>
          </a:xfrm>
          <a:prstGeom prst="line">
            <a:avLst/>
          </a:prstGeom>
          <a:noFill/>
          <a:ln w="12700">
            <a:solidFill>
              <a:srgbClr val="000020"/>
            </a:solidFill>
            <a:round/>
            <a:headEnd/>
            <a:tailEnd/>
          </a:ln>
        </p:spPr>
        <p:txBody>
          <a:bodyPr lIns="0" tIns="0" rIns="0" bIns="0"/>
          <a:lstStyle/>
          <a:p>
            <a:endParaRPr lang="en-US"/>
          </a:p>
        </p:txBody>
      </p:sp>
      <p:sp>
        <p:nvSpPr>
          <p:cNvPr id="116759" name="Line 22"/>
          <p:cNvSpPr>
            <a:spLocks noChangeShapeType="1"/>
          </p:cNvSpPr>
          <p:nvPr/>
        </p:nvSpPr>
        <p:spPr bwMode="auto">
          <a:xfrm flipH="1">
            <a:off x="10668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116760" name="Line 23"/>
          <p:cNvSpPr>
            <a:spLocks noChangeShapeType="1"/>
          </p:cNvSpPr>
          <p:nvPr/>
        </p:nvSpPr>
        <p:spPr bwMode="auto">
          <a:xfrm flipH="1">
            <a:off x="1524000" y="4800600"/>
            <a:ext cx="457200" cy="762000"/>
          </a:xfrm>
          <a:prstGeom prst="line">
            <a:avLst/>
          </a:prstGeom>
          <a:noFill/>
          <a:ln w="12700">
            <a:solidFill>
              <a:srgbClr val="000020"/>
            </a:solidFill>
            <a:round/>
            <a:headEnd/>
            <a:tailEnd/>
          </a:ln>
        </p:spPr>
        <p:txBody>
          <a:bodyPr lIns="0" tIns="0" rIns="0" bIns="0"/>
          <a:lstStyle/>
          <a:p>
            <a:endParaRPr lang="en-US"/>
          </a:p>
        </p:txBody>
      </p:sp>
      <p:sp>
        <p:nvSpPr>
          <p:cNvPr id="116761" name="Line 24"/>
          <p:cNvSpPr>
            <a:spLocks noChangeShapeType="1"/>
          </p:cNvSpPr>
          <p:nvPr/>
        </p:nvSpPr>
        <p:spPr bwMode="auto">
          <a:xfrm flipH="1">
            <a:off x="1905000" y="4800600"/>
            <a:ext cx="152400" cy="762000"/>
          </a:xfrm>
          <a:prstGeom prst="line">
            <a:avLst/>
          </a:prstGeom>
          <a:noFill/>
          <a:ln w="12700">
            <a:solidFill>
              <a:srgbClr val="000020"/>
            </a:solidFill>
            <a:round/>
            <a:headEnd/>
            <a:tailEnd/>
          </a:ln>
        </p:spPr>
        <p:txBody>
          <a:bodyPr lIns="0" tIns="0" rIns="0" bIns="0"/>
          <a:lstStyle/>
          <a:p>
            <a:endParaRPr lang="en-US"/>
          </a:p>
        </p:txBody>
      </p:sp>
      <p:sp>
        <p:nvSpPr>
          <p:cNvPr id="116762" name="Line 25"/>
          <p:cNvSpPr>
            <a:spLocks noChangeShapeType="1"/>
          </p:cNvSpPr>
          <p:nvPr/>
        </p:nvSpPr>
        <p:spPr bwMode="auto">
          <a:xfrm flipH="1">
            <a:off x="2362200" y="4724400"/>
            <a:ext cx="381000" cy="838200"/>
          </a:xfrm>
          <a:prstGeom prst="line">
            <a:avLst/>
          </a:prstGeom>
          <a:noFill/>
          <a:ln w="12700">
            <a:solidFill>
              <a:srgbClr val="000020"/>
            </a:solidFill>
            <a:round/>
            <a:headEnd/>
            <a:tailEnd/>
          </a:ln>
        </p:spPr>
        <p:txBody>
          <a:bodyPr lIns="0" tIns="0" rIns="0" bIns="0"/>
          <a:lstStyle/>
          <a:p>
            <a:endParaRPr lang="en-US"/>
          </a:p>
        </p:txBody>
      </p:sp>
      <p:sp>
        <p:nvSpPr>
          <p:cNvPr id="116763" name="Line 26"/>
          <p:cNvSpPr>
            <a:spLocks noChangeShapeType="1"/>
          </p:cNvSpPr>
          <p:nvPr/>
        </p:nvSpPr>
        <p:spPr bwMode="auto">
          <a:xfrm flipH="1">
            <a:off x="27432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116764" name="Line 27"/>
          <p:cNvSpPr>
            <a:spLocks noChangeShapeType="1"/>
          </p:cNvSpPr>
          <p:nvPr/>
        </p:nvSpPr>
        <p:spPr bwMode="auto">
          <a:xfrm flipH="1">
            <a:off x="3200400" y="4800600"/>
            <a:ext cx="228600" cy="685800"/>
          </a:xfrm>
          <a:prstGeom prst="line">
            <a:avLst/>
          </a:prstGeom>
          <a:noFill/>
          <a:ln w="12700">
            <a:solidFill>
              <a:srgbClr val="000020"/>
            </a:solidFill>
            <a:round/>
            <a:headEnd/>
            <a:tailEnd/>
          </a:ln>
        </p:spPr>
        <p:txBody>
          <a:bodyPr lIns="0" tIns="0" rIns="0" bIns="0"/>
          <a:lstStyle/>
          <a:p>
            <a:endParaRPr lang="en-US"/>
          </a:p>
        </p:txBody>
      </p:sp>
      <p:sp>
        <p:nvSpPr>
          <p:cNvPr id="116765" name="Line 28"/>
          <p:cNvSpPr>
            <a:spLocks noChangeShapeType="1"/>
          </p:cNvSpPr>
          <p:nvPr/>
        </p:nvSpPr>
        <p:spPr bwMode="auto">
          <a:xfrm>
            <a:off x="3505200" y="4800600"/>
            <a:ext cx="152400" cy="685800"/>
          </a:xfrm>
          <a:prstGeom prst="line">
            <a:avLst/>
          </a:prstGeom>
          <a:noFill/>
          <a:ln w="12700">
            <a:solidFill>
              <a:srgbClr val="000020"/>
            </a:solidFill>
            <a:round/>
            <a:headEnd/>
            <a:tailEnd/>
          </a:ln>
        </p:spPr>
        <p:txBody>
          <a:bodyPr lIns="0" tIns="0" rIns="0" bIns="0"/>
          <a:lstStyle/>
          <a:p>
            <a:endParaRPr lang="en-US"/>
          </a:p>
        </p:txBody>
      </p:sp>
      <p:sp>
        <p:nvSpPr>
          <p:cNvPr id="116766" name="Line 29"/>
          <p:cNvSpPr>
            <a:spLocks noChangeShapeType="1"/>
          </p:cNvSpPr>
          <p:nvPr/>
        </p:nvSpPr>
        <p:spPr bwMode="auto">
          <a:xfrm flipH="1">
            <a:off x="4038600" y="4800600"/>
            <a:ext cx="76200" cy="685800"/>
          </a:xfrm>
          <a:prstGeom prst="line">
            <a:avLst/>
          </a:prstGeom>
          <a:noFill/>
          <a:ln w="12700">
            <a:solidFill>
              <a:srgbClr val="000020"/>
            </a:solidFill>
            <a:round/>
            <a:headEnd/>
            <a:tailEnd/>
          </a:ln>
        </p:spPr>
        <p:txBody>
          <a:bodyPr lIns="0" tIns="0" rIns="0" bIns="0"/>
          <a:lstStyle/>
          <a:p>
            <a:endParaRPr lang="en-US"/>
          </a:p>
        </p:txBody>
      </p:sp>
      <p:sp>
        <p:nvSpPr>
          <p:cNvPr id="116767" name="Line 30"/>
          <p:cNvSpPr>
            <a:spLocks noChangeShapeType="1"/>
          </p:cNvSpPr>
          <p:nvPr/>
        </p:nvSpPr>
        <p:spPr bwMode="auto">
          <a:xfrm>
            <a:off x="4267200" y="4800600"/>
            <a:ext cx="228600" cy="762000"/>
          </a:xfrm>
          <a:prstGeom prst="line">
            <a:avLst/>
          </a:prstGeom>
          <a:noFill/>
          <a:ln w="12700">
            <a:solidFill>
              <a:srgbClr val="000020"/>
            </a:solidFill>
            <a:round/>
            <a:headEnd/>
            <a:tailEnd/>
          </a:ln>
        </p:spPr>
        <p:txBody>
          <a:bodyPr lIns="0" tIns="0" rIns="0" bIns="0"/>
          <a:lstStyle/>
          <a:p>
            <a:endParaRPr lang="en-US"/>
          </a:p>
        </p:txBody>
      </p:sp>
      <p:sp>
        <p:nvSpPr>
          <p:cNvPr id="116768" name="Line 31"/>
          <p:cNvSpPr>
            <a:spLocks noChangeShapeType="1"/>
          </p:cNvSpPr>
          <p:nvPr/>
        </p:nvSpPr>
        <p:spPr bwMode="auto">
          <a:xfrm>
            <a:off x="4876800" y="4800600"/>
            <a:ext cx="1588" cy="1249363"/>
          </a:xfrm>
          <a:prstGeom prst="line">
            <a:avLst/>
          </a:prstGeom>
          <a:noFill/>
          <a:ln w="12700">
            <a:solidFill>
              <a:srgbClr val="000020"/>
            </a:solidFill>
            <a:round/>
            <a:headEnd/>
            <a:tailEnd/>
          </a:ln>
        </p:spPr>
        <p:txBody>
          <a:bodyPr lIns="0" tIns="0" rIns="0" bIns="0"/>
          <a:lstStyle/>
          <a:p>
            <a:endParaRPr lang="en-US"/>
          </a:p>
        </p:txBody>
      </p:sp>
      <p:sp>
        <p:nvSpPr>
          <p:cNvPr id="116769" name="Line 32"/>
          <p:cNvSpPr>
            <a:spLocks noChangeShapeType="1"/>
          </p:cNvSpPr>
          <p:nvPr/>
        </p:nvSpPr>
        <p:spPr bwMode="auto">
          <a:xfrm>
            <a:off x="4953000" y="4800600"/>
            <a:ext cx="381000" cy="685800"/>
          </a:xfrm>
          <a:prstGeom prst="line">
            <a:avLst/>
          </a:prstGeom>
          <a:noFill/>
          <a:ln w="12700">
            <a:solidFill>
              <a:srgbClr val="000020"/>
            </a:solidFill>
            <a:round/>
            <a:headEnd/>
            <a:tailEnd/>
          </a:ln>
        </p:spPr>
        <p:txBody>
          <a:bodyPr lIns="0" tIns="0" rIns="0" bIns="0"/>
          <a:lstStyle/>
          <a:p>
            <a:endParaRPr lang="en-US"/>
          </a:p>
        </p:txBody>
      </p:sp>
      <p:sp>
        <p:nvSpPr>
          <p:cNvPr id="116770" name="Line 33"/>
          <p:cNvSpPr>
            <a:spLocks noChangeShapeType="1"/>
          </p:cNvSpPr>
          <p:nvPr/>
        </p:nvSpPr>
        <p:spPr bwMode="auto">
          <a:xfrm>
            <a:off x="5791200" y="4800600"/>
            <a:ext cx="1588" cy="685800"/>
          </a:xfrm>
          <a:prstGeom prst="line">
            <a:avLst/>
          </a:prstGeom>
          <a:noFill/>
          <a:ln w="12700">
            <a:solidFill>
              <a:srgbClr val="000020"/>
            </a:solidFill>
            <a:round/>
            <a:headEnd/>
            <a:tailEnd/>
          </a:ln>
        </p:spPr>
        <p:txBody>
          <a:bodyPr lIns="0" tIns="0" rIns="0" bIns="0"/>
          <a:lstStyle/>
          <a:p>
            <a:endParaRPr lang="en-US"/>
          </a:p>
        </p:txBody>
      </p:sp>
      <p:sp>
        <p:nvSpPr>
          <p:cNvPr id="116771" name="Line 34"/>
          <p:cNvSpPr>
            <a:spLocks noChangeShapeType="1"/>
          </p:cNvSpPr>
          <p:nvPr/>
        </p:nvSpPr>
        <p:spPr bwMode="auto">
          <a:xfrm>
            <a:off x="5867400" y="4800600"/>
            <a:ext cx="304800" cy="685800"/>
          </a:xfrm>
          <a:prstGeom prst="line">
            <a:avLst/>
          </a:prstGeom>
          <a:noFill/>
          <a:ln w="12700">
            <a:solidFill>
              <a:srgbClr val="000020"/>
            </a:solidFill>
            <a:round/>
            <a:headEnd/>
            <a:tailEnd/>
          </a:ln>
        </p:spPr>
        <p:txBody>
          <a:bodyPr lIns="0" tIns="0" rIns="0" bIns="0"/>
          <a:lstStyle/>
          <a:p>
            <a:endParaRPr lang="en-US"/>
          </a:p>
        </p:txBody>
      </p:sp>
      <p:sp>
        <p:nvSpPr>
          <p:cNvPr id="116772" name="Line 35"/>
          <p:cNvSpPr>
            <a:spLocks noChangeShapeType="1"/>
          </p:cNvSpPr>
          <p:nvPr/>
        </p:nvSpPr>
        <p:spPr bwMode="auto">
          <a:xfrm>
            <a:off x="6248400" y="4800600"/>
            <a:ext cx="304800" cy="762000"/>
          </a:xfrm>
          <a:prstGeom prst="line">
            <a:avLst/>
          </a:prstGeom>
          <a:noFill/>
          <a:ln w="12700">
            <a:solidFill>
              <a:srgbClr val="000020"/>
            </a:solidFill>
            <a:round/>
            <a:headEnd/>
            <a:tailEnd/>
          </a:ln>
        </p:spPr>
        <p:txBody>
          <a:bodyPr lIns="0" tIns="0" rIns="0" bIns="0"/>
          <a:lstStyle/>
          <a:p>
            <a:endParaRPr lang="en-US"/>
          </a:p>
        </p:txBody>
      </p:sp>
      <p:grpSp>
        <p:nvGrpSpPr>
          <p:cNvPr id="2" name="Group 38"/>
          <p:cNvGrpSpPr>
            <a:grpSpLocks/>
          </p:cNvGrpSpPr>
          <p:nvPr/>
        </p:nvGrpSpPr>
        <p:grpSpPr bwMode="auto">
          <a:xfrm flipH="1">
            <a:off x="6915150" y="5492750"/>
            <a:ext cx="304800" cy="330200"/>
            <a:chOff x="0" y="0"/>
            <a:chExt cx="192" cy="208"/>
          </a:xfrm>
        </p:grpSpPr>
        <p:sp>
          <p:nvSpPr>
            <p:cNvPr id="116977" name="Oval 36"/>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78" name="Rectangle 37"/>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3" name="Group 41"/>
          <p:cNvGrpSpPr>
            <a:grpSpLocks/>
          </p:cNvGrpSpPr>
          <p:nvPr/>
        </p:nvGrpSpPr>
        <p:grpSpPr bwMode="auto">
          <a:xfrm>
            <a:off x="887413" y="5492750"/>
            <a:ext cx="304800" cy="330200"/>
            <a:chOff x="0" y="0"/>
            <a:chExt cx="192" cy="208"/>
          </a:xfrm>
        </p:grpSpPr>
        <p:sp>
          <p:nvSpPr>
            <p:cNvPr id="116975" name="Oval 39"/>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76" name="Rectangle 40"/>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4" name="Group 44"/>
          <p:cNvGrpSpPr>
            <a:grpSpLocks/>
          </p:cNvGrpSpPr>
          <p:nvPr/>
        </p:nvGrpSpPr>
        <p:grpSpPr bwMode="auto">
          <a:xfrm>
            <a:off x="1317625" y="5492750"/>
            <a:ext cx="304800" cy="330200"/>
            <a:chOff x="0" y="0"/>
            <a:chExt cx="192" cy="208"/>
          </a:xfrm>
        </p:grpSpPr>
        <p:sp>
          <p:nvSpPr>
            <p:cNvPr id="116973" name="Oval 4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74" name="Rectangle 43"/>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5" name="Group 47"/>
          <p:cNvGrpSpPr>
            <a:grpSpLocks/>
          </p:cNvGrpSpPr>
          <p:nvPr/>
        </p:nvGrpSpPr>
        <p:grpSpPr bwMode="auto">
          <a:xfrm>
            <a:off x="1747838" y="5492750"/>
            <a:ext cx="304800" cy="330200"/>
            <a:chOff x="0" y="0"/>
            <a:chExt cx="192" cy="208"/>
          </a:xfrm>
        </p:grpSpPr>
        <p:sp>
          <p:nvSpPr>
            <p:cNvPr id="116971" name="Oval 45"/>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72" name="Rectangle 46"/>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6" name="Group 50"/>
          <p:cNvGrpSpPr>
            <a:grpSpLocks/>
          </p:cNvGrpSpPr>
          <p:nvPr/>
        </p:nvGrpSpPr>
        <p:grpSpPr bwMode="auto">
          <a:xfrm>
            <a:off x="2178050" y="5492750"/>
            <a:ext cx="304800" cy="330200"/>
            <a:chOff x="0" y="0"/>
            <a:chExt cx="192" cy="208"/>
          </a:xfrm>
        </p:grpSpPr>
        <p:sp>
          <p:nvSpPr>
            <p:cNvPr id="116969" name="Oval 48"/>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70" name="Rectangle 49"/>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7" name="Group 53"/>
          <p:cNvGrpSpPr>
            <a:grpSpLocks/>
          </p:cNvGrpSpPr>
          <p:nvPr/>
        </p:nvGrpSpPr>
        <p:grpSpPr bwMode="auto">
          <a:xfrm>
            <a:off x="2609850" y="5492750"/>
            <a:ext cx="304800" cy="330200"/>
            <a:chOff x="0" y="0"/>
            <a:chExt cx="192" cy="208"/>
          </a:xfrm>
        </p:grpSpPr>
        <p:sp>
          <p:nvSpPr>
            <p:cNvPr id="116967" name="Oval 51"/>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68" name="Rectangle 52"/>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3</a:t>
              </a:r>
            </a:p>
          </p:txBody>
        </p:sp>
      </p:grpSp>
      <p:grpSp>
        <p:nvGrpSpPr>
          <p:cNvPr id="8" name="Group 56"/>
          <p:cNvGrpSpPr>
            <a:grpSpLocks/>
          </p:cNvGrpSpPr>
          <p:nvPr/>
        </p:nvGrpSpPr>
        <p:grpSpPr bwMode="auto">
          <a:xfrm>
            <a:off x="3040063" y="5492750"/>
            <a:ext cx="304800" cy="330200"/>
            <a:chOff x="0" y="0"/>
            <a:chExt cx="192" cy="208"/>
          </a:xfrm>
        </p:grpSpPr>
        <p:sp>
          <p:nvSpPr>
            <p:cNvPr id="116965" name="Oval 54"/>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66" name="Rectangle 55"/>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2</a:t>
              </a:r>
            </a:p>
          </p:txBody>
        </p:sp>
      </p:grpSp>
      <p:grpSp>
        <p:nvGrpSpPr>
          <p:cNvPr id="9" name="Group 59"/>
          <p:cNvGrpSpPr>
            <a:grpSpLocks/>
          </p:cNvGrpSpPr>
          <p:nvPr/>
        </p:nvGrpSpPr>
        <p:grpSpPr bwMode="auto">
          <a:xfrm>
            <a:off x="3470275" y="5492750"/>
            <a:ext cx="304800" cy="330200"/>
            <a:chOff x="0" y="0"/>
            <a:chExt cx="192" cy="208"/>
          </a:xfrm>
        </p:grpSpPr>
        <p:sp>
          <p:nvSpPr>
            <p:cNvPr id="116963" name="Oval 57"/>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64" name="Rectangle 58"/>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1</a:t>
              </a:r>
            </a:p>
          </p:txBody>
        </p:sp>
      </p:grpSp>
      <p:grpSp>
        <p:nvGrpSpPr>
          <p:cNvPr id="10" name="Group 62"/>
          <p:cNvGrpSpPr>
            <a:grpSpLocks/>
          </p:cNvGrpSpPr>
          <p:nvPr/>
        </p:nvGrpSpPr>
        <p:grpSpPr bwMode="auto">
          <a:xfrm>
            <a:off x="3900488" y="5492750"/>
            <a:ext cx="304800" cy="330200"/>
            <a:chOff x="0" y="0"/>
            <a:chExt cx="192" cy="208"/>
          </a:xfrm>
        </p:grpSpPr>
        <p:sp>
          <p:nvSpPr>
            <p:cNvPr id="116961" name="Oval 60"/>
            <p:cNvSpPr>
              <a:spLocks/>
            </p:cNvSpPr>
            <p:nvPr/>
          </p:nvSpPr>
          <p:spPr bwMode="auto">
            <a:xfrm>
              <a:off x="0" y="8"/>
              <a:ext cx="192" cy="192"/>
            </a:xfrm>
            <a:prstGeom prst="ellipse">
              <a:avLst/>
            </a:prstGeom>
            <a:solidFill>
              <a:srgbClr val="FC0128"/>
            </a:solidFill>
            <a:ln w="38100">
              <a:solidFill>
                <a:srgbClr val="00FF00"/>
              </a:solidFill>
              <a:round/>
              <a:headEnd/>
              <a:tailEnd/>
            </a:ln>
          </p:spPr>
          <p:txBody>
            <a:bodyPr lIns="0" tIns="0" rIns="0" bIns="0"/>
            <a:lstStyle/>
            <a:p>
              <a:endParaRPr lang="en-US"/>
            </a:p>
          </p:txBody>
        </p:sp>
        <p:sp>
          <p:nvSpPr>
            <p:cNvPr id="116962" name="Rectangle 61"/>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0</a:t>
              </a:r>
            </a:p>
          </p:txBody>
        </p:sp>
      </p:grpSp>
      <p:grpSp>
        <p:nvGrpSpPr>
          <p:cNvPr id="11" name="Group 65"/>
          <p:cNvGrpSpPr>
            <a:grpSpLocks/>
          </p:cNvGrpSpPr>
          <p:nvPr/>
        </p:nvGrpSpPr>
        <p:grpSpPr bwMode="auto">
          <a:xfrm>
            <a:off x="4330700" y="5492750"/>
            <a:ext cx="304800" cy="330200"/>
            <a:chOff x="0" y="0"/>
            <a:chExt cx="192" cy="208"/>
          </a:xfrm>
        </p:grpSpPr>
        <p:sp>
          <p:nvSpPr>
            <p:cNvPr id="116959" name="Oval 63"/>
            <p:cNvSpPr>
              <a:spLocks/>
            </p:cNvSpPr>
            <p:nvPr/>
          </p:nvSpPr>
          <p:spPr bwMode="auto">
            <a:xfrm>
              <a:off x="0" y="8"/>
              <a:ext cx="192" cy="192"/>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116960" name="Rectangle 64"/>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1</a:t>
              </a:r>
            </a:p>
          </p:txBody>
        </p:sp>
      </p:grpSp>
      <p:grpSp>
        <p:nvGrpSpPr>
          <p:cNvPr id="12" name="Group 68"/>
          <p:cNvGrpSpPr>
            <a:grpSpLocks/>
          </p:cNvGrpSpPr>
          <p:nvPr/>
        </p:nvGrpSpPr>
        <p:grpSpPr bwMode="auto">
          <a:xfrm>
            <a:off x="5181600" y="5473700"/>
            <a:ext cx="304800" cy="330200"/>
            <a:chOff x="0" y="0"/>
            <a:chExt cx="192" cy="208"/>
          </a:xfrm>
        </p:grpSpPr>
        <p:sp>
          <p:nvSpPr>
            <p:cNvPr id="116957" name="Oval 66"/>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58" name="Rectangle 67"/>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3</a:t>
              </a:r>
            </a:p>
          </p:txBody>
        </p:sp>
      </p:grpSp>
      <p:grpSp>
        <p:nvGrpSpPr>
          <p:cNvPr id="13" name="Group 71"/>
          <p:cNvGrpSpPr>
            <a:grpSpLocks/>
          </p:cNvGrpSpPr>
          <p:nvPr/>
        </p:nvGrpSpPr>
        <p:grpSpPr bwMode="auto">
          <a:xfrm>
            <a:off x="6053138" y="5492750"/>
            <a:ext cx="304800" cy="330200"/>
            <a:chOff x="0" y="0"/>
            <a:chExt cx="192" cy="208"/>
          </a:xfrm>
        </p:grpSpPr>
        <p:sp>
          <p:nvSpPr>
            <p:cNvPr id="116955" name="Oval 69"/>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56" name="Rectangle 70"/>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14" name="Group 74"/>
          <p:cNvGrpSpPr>
            <a:grpSpLocks/>
          </p:cNvGrpSpPr>
          <p:nvPr/>
        </p:nvGrpSpPr>
        <p:grpSpPr bwMode="auto">
          <a:xfrm>
            <a:off x="6483350" y="5492750"/>
            <a:ext cx="304800" cy="330200"/>
            <a:chOff x="0" y="0"/>
            <a:chExt cx="192" cy="208"/>
          </a:xfrm>
        </p:grpSpPr>
        <p:sp>
          <p:nvSpPr>
            <p:cNvPr id="116953" name="Oval 7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54" name="Rectangle 73"/>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15" name="Group 77"/>
          <p:cNvGrpSpPr>
            <a:grpSpLocks/>
          </p:cNvGrpSpPr>
          <p:nvPr/>
        </p:nvGrpSpPr>
        <p:grpSpPr bwMode="auto">
          <a:xfrm>
            <a:off x="4762500" y="6056313"/>
            <a:ext cx="304800" cy="330200"/>
            <a:chOff x="0" y="0"/>
            <a:chExt cx="192" cy="208"/>
          </a:xfrm>
        </p:grpSpPr>
        <p:sp>
          <p:nvSpPr>
            <p:cNvPr id="116951" name="Oval 75"/>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52" name="Rectangle 76"/>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2</a:t>
              </a:r>
            </a:p>
          </p:txBody>
        </p:sp>
      </p:grpSp>
      <p:grpSp>
        <p:nvGrpSpPr>
          <p:cNvPr id="16" name="Group 80"/>
          <p:cNvGrpSpPr>
            <a:grpSpLocks/>
          </p:cNvGrpSpPr>
          <p:nvPr/>
        </p:nvGrpSpPr>
        <p:grpSpPr bwMode="auto">
          <a:xfrm>
            <a:off x="5622925" y="5492750"/>
            <a:ext cx="304800" cy="330200"/>
            <a:chOff x="0" y="0"/>
            <a:chExt cx="192" cy="208"/>
          </a:xfrm>
        </p:grpSpPr>
        <p:sp>
          <p:nvSpPr>
            <p:cNvPr id="116949" name="Oval 78"/>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50" name="Rectangle 79"/>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17" name="Group 83"/>
          <p:cNvGrpSpPr>
            <a:grpSpLocks/>
          </p:cNvGrpSpPr>
          <p:nvPr/>
        </p:nvGrpSpPr>
        <p:grpSpPr bwMode="auto">
          <a:xfrm>
            <a:off x="457200" y="5492750"/>
            <a:ext cx="304800" cy="330200"/>
            <a:chOff x="0" y="0"/>
            <a:chExt cx="192" cy="208"/>
          </a:xfrm>
        </p:grpSpPr>
        <p:sp>
          <p:nvSpPr>
            <p:cNvPr id="116947" name="Oval 81"/>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48" name="Rectangle 82"/>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8</a:t>
              </a:r>
            </a:p>
          </p:txBody>
        </p:sp>
      </p:grpSp>
      <p:grpSp>
        <p:nvGrpSpPr>
          <p:cNvPr id="18" name="Group 86"/>
          <p:cNvGrpSpPr>
            <a:grpSpLocks/>
          </p:cNvGrpSpPr>
          <p:nvPr/>
        </p:nvGrpSpPr>
        <p:grpSpPr bwMode="auto">
          <a:xfrm flipH="1">
            <a:off x="6134100" y="4483100"/>
            <a:ext cx="304800" cy="330200"/>
            <a:chOff x="0" y="0"/>
            <a:chExt cx="192" cy="208"/>
          </a:xfrm>
        </p:grpSpPr>
        <p:sp>
          <p:nvSpPr>
            <p:cNvPr id="116945" name="Oval 84"/>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46" name="Rectangle 85"/>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19" name="Group 89"/>
          <p:cNvGrpSpPr>
            <a:grpSpLocks/>
          </p:cNvGrpSpPr>
          <p:nvPr/>
        </p:nvGrpSpPr>
        <p:grpSpPr bwMode="auto">
          <a:xfrm>
            <a:off x="1920875" y="4483100"/>
            <a:ext cx="304800" cy="330200"/>
            <a:chOff x="0" y="0"/>
            <a:chExt cx="192" cy="208"/>
          </a:xfrm>
        </p:grpSpPr>
        <p:sp>
          <p:nvSpPr>
            <p:cNvPr id="116943" name="Oval 87"/>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44" name="Rectangle 88"/>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20" name="Group 92"/>
          <p:cNvGrpSpPr>
            <a:grpSpLocks/>
          </p:cNvGrpSpPr>
          <p:nvPr/>
        </p:nvGrpSpPr>
        <p:grpSpPr bwMode="auto">
          <a:xfrm>
            <a:off x="2622550" y="4483100"/>
            <a:ext cx="304800" cy="330200"/>
            <a:chOff x="0" y="0"/>
            <a:chExt cx="192" cy="208"/>
          </a:xfrm>
        </p:grpSpPr>
        <p:sp>
          <p:nvSpPr>
            <p:cNvPr id="116941" name="Oval 90"/>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42" name="Rectangle 91"/>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21" name="Group 95"/>
          <p:cNvGrpSpPr>
            <a:grpSpLocks/>
          </p:cNvGrpSpPr>
          <p:nvPr/>
        </p:nvGrpSpPr>
        <p:grpSpPr bwMode="auto">
          <a:xfrm>
            <a:off x="4027488" y="4483100"/>
            <a:ext cx="304800" cy="330200"/>
            <a:chOff x="0" y="0"/>
            <a:chExt cx="192" cy="208"/>
          </a:xfrm>
        </p:grpSpPr>
        <p:sp>
          <p:nvSpPr>
            <p:cNvPr id="116939" name="Oval 93"/>
            <p:cNvSpPr>
              <a:spLocks/>
            </p:cNvSpPr>
            <p:nvPr/>
          </p:nvSpPr>
          <p:spPr bwMode="auto">
            <a:xfrm>
              <a:off x="0" y="8"/>
              <a:ext cx="192" cy="192"/>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116940" name="Rectangle 94"/>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2</a:t>
              </a:r>
            </a:p>
          </p:txBody>
        </p:sp>
      </p:grpSp>
      <p:grpSp>
        <p:nvGrpSpPr>
          <p:cNvPr id="22" name="Group 98"/>
          <p:cNvGrpSpPr>
            <a:grpSpLocks/>
          </p:cNvGrpSpPr>
          <p:nvPr/>
        </p:nvGrpSpPr>
        <p:grpSpPr bwMode="auto">
          <a:xfrm>
            <a:off x="4729163" y="4483100"/>
            <a:ext cx="304800" cy="330200"/>
            <a:chOff x="0" y="0"/>
            <a:chExt cx="192" cy="208"/>
          </a:xfrm>
        </p:grpSpPr>
        <p:sp>
          <p:nvSpPr>
            <p:cNvPr id="116937" name="Oval 96"/>
            <p:cNvSpPr>
              <a:spLocks/>
            </p:cNvSpPr>
            <p:nvPr/>
          </p:nvSpPr>
          <p:spPr bwMode="auto">
            <a:xfrm>
              <a:off x="0" y="8"/>
              <a:ext cx="192" cy="192"/>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6938" name="Rectangle 97"/>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4</a:t>
              </a:r>
            </a:p>
          </p:txBody>
        </p:sp>
      </p:grpSp>
      <p:grpSp>
        <p:nvGrpSpPr>
          <p:cNvPr id="23" name="Group 101"/>
          <p:cNvGrpSpPr>
            <a:grpSpLocks/>
          </p:cNvGrpSpPr>
          <p:nvPr/>
        </p:nvGrpSpPr>
        <p:grpSpPr bwMode="auto">
          <a:xfrm>
            <a:off x="5659438" y="4483100"/>
            <a:ext cx="304800" cy="330200"/>
            <a:chOff x="0" y="0"/>
            <a:chExt cx="192" cy="208"/>
          </a:xfrm>
        </p:grpSpPr>
        <p:sp>
          <p:nvSpPr>
            <p:cNvPr id="116935" name="Oval 99"/>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36" name="Rectangle 100"/>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24" name="Group 104"/>
          <p:cNvGrpSpPr>
            <a:grpSpLocks/>
          </p:cNvGrpSpPr>
          <p:nvPr/>
        </p:nvGrpSpPr>
        <p:grpSpPr bwMode="auto">
          <a:xfrm>
            <a:off x="3324225" y="4483100"/>
            <a:ext cx="304800" cy="330200"/>
            <a:chOff x="0" y="0"/>
            <a:chExt cx="192" cy="208"/>
          </a:xfrm>
        </p:grpSpPr>
        <p:sp>
          <p:nvSpPr>
            <p:cNvPr id="116933" name="Oval 10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34" name="Rectangle 103"/>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3</a:t>
              </a:r>
            </a:p>
          </p:txBody>
        </p:sp>
      </p:grpSp>
      <p:grpSp>
        <p:nvGrpSpPr>
          <p:cNvPr id="25" name="Group 107"/>
          <p:cNvGrpSpPr>
            <a:grpSpLocks/>
          </p:cNvGrpSpPr>
          <p:nvPr/>
        </p:nvGrpSpPr>
        <p:grpSpPr bwMode="auto">
          <a:xfrm>
            <a:off x="1219200" y="4483100"/>
            <a:ext cx="304800" cy="330200"/>
            <a:chOff x="0" y="0"/>
            <a:chExt cx="192" cy="208"/>
          </a:xfrm>
        </p:grpSpPr>
        <p:sp>
          <p:nvSpPr>
            <p:cNvPr id="116931" name="Oval 105"/>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32" name="Rectangle 106"/>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26" name="Group 110"/>
          <p:cNvGrpSpPr>
            <a:grpSpLocks/>
          </p:cNvGrpSpPr>
          <p:nvPr/>
        </p:nvGrpSpPr>
        <p:grpSpPr bwMode="auto">
          <a:xfrm flipH="1">
            <a:off x="5353050" y="3508375"/>
            <a:ext cx="304800" cy="330200"/>
            <a:chOff x="0" y="0"/>
            <a:chExt cx="192" cy="208"/>
          </a:xfrm>
        </p:grpSpPr>
        <p:sp>
          <p:nvSpPr>
            <p:cNvPr id="116929" name="Oval 108"/>
            <p:cNvSpPr>
              <a:spLocks/>
            </p:cNvSpPr>
            <p:nvPr/>
          </p:nvSpPr>
          <p:spPr bwMode="auto">
            <a:xfrm>
              <a:off x="0" y="8"/>
              <a:ext cx="192" cy="192"/>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6930" name="Rectangle 109"/>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27" name="Group 113"/>
          <p:cNvGrpSpPr>
            <a:grpSpLocks/>
          </p:cNvGrpSpPr>
          <p:nvPr/>
        </p:nvGrpSpPr>
        <p:grpSpPr bwMode="auto">
          <a:xfrm>
            <a:off x="3124200" y="3508375"/>
            <a:ext cx="304800" cy="330200"/>
            <a:chOff x="0" y="0"/>
            <a:chExt cx="192" cy="208"/>
          </a:xfrm>
        </p:grpSpPr>
        <p:sp>
          <p:nvSpPr>
            <p:cNvPr id="116927" name="Oval 111"/>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28" name="Rectangle 112"/>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5</a:t>
              </a:r>
            </a:p>
          </p:txBody>
        </p:sp>
      </p:grpSp>
      <p:grpSp>
        <p:nvGrpSpPr>
          <p:cNvPr id="28" name="Group 116"/>
          <p:cNvGrpSpPr>
            <a:grpSpLocks/>
          </p:cNvGrpSpPr>
          <p:nvPr/>
        </p:nvGrpSpPr>
        <p:grpSpPr bwMode="auto">
          <a:xfrm>
            <a:off x="4229100" y="3508375"/>
            <a:ext cx="304800" cy="330200"/>
            <a:chOff x="0" y="0"/>
            <a:chExt cx="192" cy="208"/>
          </a:xfrm>
        </p:grpSpPr>
        <p:sp>
          <p:nvSpPr>
            <p:cNvPr id="116925" name="Oval 114"/>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6926" name="Rectangle 115"/>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5</a:t>
              </a:r>
            </a:p>
          </p:txBody>
        </p:sp>
      </p:grpSp>
      <p:grpSp>
        <p:nvGrpSpPr>
          <p:cNvPr id="29" name="Group 119"/>
          <p:cNvGrpSpPr>
            <a:grpSpLocks/>
          </p:cNvGrpSpPr>
          <p:nvPr/>
        </p:nvGrpSpPr>
        <p:grpSpPr bwMode="auto">
          <a:xfrm>
            <a:off x="1981200" y="3508375"/>
            <a:ext cx="304800" cy="330200"/>
            <a:chOff x="0" y="0"/>
            <a:chExt cx="192" cy="208"/>
          </a:xfrm>
        </p:grpSpPr>
        <p:sp>
          <p:nvSpPr>
            <p:cNvPr id="116923" name="Oval 117"/>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24" name="Rectangle 118"/>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6</a:t>
              </a:r>
            </a:p>
          </p:txBody>
        </p:sp>
      </p:grpSp>
      <p:grpSp>
        <p:nvGrpSpPr>
          <p:cNvPr id="30" name="Group 122"/>
          <p:cNvGrpSpPr>
            <a:grpSpLocks/>
          </p:cNvGrpSpPr>
          <p:nvPr/>
        </p:nvGrpSpPr>
        <p:grpSpPr bwMode="auto">
          <a:xfrm flipH="1">
            <a:off x="4572000" y="2501900"/>
            <a:ext cx="304800" cy="330200"/>
            <a:chOff x="0" y="0"/>
            <a:chExt cx="192" cy="208"/>
          </a:xfrm>
        </p:grpSpPr>
        <p:sp>
          <p:nvSpPr>
            <p:cNvPr id="116921" name="Oval 120"/>
            <p:cNvSpPr>
              <a:spLocks/>
            </p:cNvSpPr>
            <p:nvPr/>
          </p:nvSpPr>
          <p:spPr bwMode="auto">
            <a:xfrm>
              <a:off x="0" y="8"/>
              <a:ext cx="192" cy="192"/>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6922" name="Rectangle 121"/>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7</a:t>
              </a:r>
            </a:p>
          </p:txBody>
        </p:sp>
      </p:grpSp>
      <p:grpSp>
        <p:nvGrpSpPr>
          <p:cNvPr id="31" name="Group 125"/>
          <p:cNvGrpSpPr>
            <a:grpSpLocks/>
          </p:cNvGrpSpPr>
          <p:nvPr/>
        </p:nvGrpSpPr>
        <p:grpSpPr bwMode="auto">
          <a:xfrm>
            <a:off x="2743200" y="2501900"/>
            <a:ext cx="304800" cy="330200"/>
            <a:chOff x="0" y="0"/>
            <a:chExt cx="192" cy="208"/>
          </a:xfrm>
        </p:grpSpPr>
        <p:sp>
          <p:nvSpPr>
            <p:cNvPr id="116919" name="Oval 123"/>
            <p:cNvSpPr>
              <a:spLocks/>
            </p:cNvSpPr>
            <p:nvPr/>
          </p:nvSpPr>
          <p:spPr bwMode="auto">
            <a:xfrm>
              <a:off x="0" y="8"/>
              <a:ext cx="192" cy="192"/>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6920" name="Rectangle 124"/>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grpSp>
        <p:nvGrpSpPr>
          <p:cNvPr id="116736" name="Group 128"/>
          <p:cNvGrpSpPr>
            <a:grpSpLocks/>
          </p:cNvGrpSpPr>
          <p:nvPr/>
        </p:nvGrpSpPr>
        <p:grpSpPr bwMode="auto">
          <a:xfrm>
            <a:off x="3657600" y="1557338"/>
            <a:ext cx="304800" cy="330200"/>
            <a:chOff x="0" y="0"/>
            <a:chExt cx="192" cy="208"/>
          </a:xfrm>
        </p:grpSpPr>
        <p:sp>
          <p:nvSpPr>
            <p:cNvPr id="116917" name="Oval 126"/>
            <p:cNvSpPr>
              <a:spLocks/>
            </p:cNvSpPr>
            <p:nvPr/>
          </p:nvSpPr>
          <p:spPr bwMode="auto">
            <a:xfrm>
              <a:off x="0" y="7"/>
              <a:ext cx="192" cy="192"/>
            </a:xfrm>
            <a:prstGeom prst="ellipse">
              <a:avLst/>
            </a:prstGeom>
            <a:solidFill>
              <a:srgbClr val="00025A"/>
            </a:solidFill>
            <a:ln w="12700">
              <a:solidFill>
                <a:srgbClr val="000020"/>
              </a:solidFill>
              <a:round/>
              <a:headEnd/>
              <a:tailEnd/>
            </a:ln>
          </p:spPr>
          <p:txBody>
            <a:bodyPr lIns="0" tIns="0" rIns="0" bIns="0"/>
            <a:lstStyle/>
            <a:p>
              <a:endParaRPr lang="en-US"/>
            </a:p>
          </p:txBody>
        </p:sp>
        <p:sp>
          <p:nvSpPr>
            <p:cNvPr id="116918" name="Rectangle 127"/>
            <p:cNvSpPr>
              <a:spLocks/>
            </p:cNvSpPr>
            <p:nvPr/>
          </p:nvSpPr>
          <p:spPr bwMode="auto">
            <a:xfrm>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chemeClr val="tx1"/>
                  </a:solidFill>
                  <a:latin typeface="Times New Roman Bold" charset="0"/>
                  <a:cs typeface="Times New Roman Bold" charset="0"/>
                  <a:sym typeface="Times New Roman Bold" charset="0"/>
                </a:rPr>
                <a:t>9</a:t>
              </a:r>
            </a:p>
          </p:txBody>
        </p:sp>
      </p:grpSp>
      <p:sp>
        <p:nvSpPr>
          <p:cNvPr id="116804" name="Rectangle 129"/>
          <p:cNvSpPr>
            <a:spLocks/>
          </p:cNvSpPr>
          <p:nvPr/>
        </p:nvSpPr>
        <p:spPr bwMode="auto">
          <a:xfrm>
            <a:off x="7604125" y="1412875"/>
            <a:ext cx="8826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Initial</a:t>
            </a:r>
          </a:p>
        </p:txBody>
      </p:sp>
      <p:sp>
        <p:nvSpPr>
          <p:cNvPr id="116805" name="Oval 130"/>
          <p:cNvSpPr>
            <a:spLocks/>
          </p:cNvSpPr>
          <p:nvPr/>
        </p:nvSpPr>
        <p:spPr bwMode="auto">
          <a:xfrm>
            <a:off x="8797925" y="1828800"/>
            <a:ext cx="304800" cy="304800"/>
          </a:xfrm>
          <a:prstGeom prst="ellipse">
            <a:avLst/>
          </a:prstGeom>
          <a:solidFill>
            <a:schemeClr val="accent1"/>
          </a:solidFill>
          <a:ln w="12700">
            <a:solidFill>
              <a:srgbClr val="000020"/>
            </a:solidFill>
            <a:round/>
            <a:headEnd/>
            <a:tailEnd/>
          </a:ln>
        </p:spPr>
        <p:txBody>
          <a:bodyPr lIns="0" tIns="0" rIns="0" bIns="0"/>
          <a:lstStyle/>
          <a:p>
            <a:endParaRPr lang="en-US"/>
          </a:p>
        </p:txBody>
      </p:sp>
      <p:sp>
        <p:nvSpPr>
          <p:cNvPr id="116806" name="Rectangle 131"/>
          <p:cNvSpPr>
            <a:spLocks/>
          </p:cNvSpPr>
          <p:nvPr/>
        </p:nvSpPr>
        <p:spPr bwMode="auto">
          <a:xfrm>
            <a:off x="7604125" y="1752600"/>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Visited</a:t>
            </a:r>
          </a:p>
        </p:txBody>
      </p:sp>
      <p:sp>
        <p:nvSpPr>
          <p:cNvPr id="116807" name="Oval 132"/>
          <p:cNvSpPr>
            <a:spLocks/>
          </p:cNvSpPr>
          <p:nvPr/>
        </p:nvSpPr>
        <p:spPr bwMode="auto">
          <a:xfrm>
            <a:off x="8797925" y="2168525"/>
            <a:ext cx="304800" cy="304800"/>
          </a:xfrm>
          <a:prstGeom prst="ellipse">
            <a:avLst/>
          </a:prstGeom>
          <a:solidFill>
            <a:srgbClr val="FAFD00"/>
          </a:solidFill>
          <a:ln w="12700">
            <a:solidFill>
              <a:srgbClr val="000020"/>
            </a:solidFill>
            <a:round/>
            <a:headEnd/>
            <a:tailEnd/>
          </a:ln>
        </p:spPr>
        <p:txBody>
          <a:bodyPr lIns="0" tIns="0" rIns="0" bIns="0"/>
          <a:lstStyle/>
          <a:p>
            <a:endParaRPr lang="en-US"/>
          </a:p>
        </p:txBody>
      </p:sp>
      <p:sp>
        <p:nvSpPr>
          <p:cNvPr id="116808" name="Rectangle 133"/>
          <p:cNvSpPr>
            <a:spLocks/>
          </p:cNvSpPr>
          <p:nvPr/>
        </p:nvSpPr>
        <p:spPr bwMode="auto">
          <a:xfrm>
            <a:off x="7604125" y="2092325"/>
            <a:ext cx="9493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Fringe</a:t>
            </a:r>
          </a:p>
        </p:txBody>
      </p:sp>
      <p:sp>
        <p:nvSpPr>
          <p:cNvPr id="116809" name="Oval 134"/>
          <p:cNvSpPr>
            <a:spLocks/>
          </p:cNvSpPr>
          <p:nvPr/>
        </p:nvSpPr>
        <p:spPr bwMode="auto">
          <a:xfrm>
            <a:off x="8797925" y="2508250"/>
            <a:ext cx="304800" cy="304800"/>
          </a:xfrm>
          <a:prstGeom prst="ellipse">
            <a:avLst/>
          </a:prstGeom>
          <a:solidFill>
            <a:srgbClr val="FF6600"/>
          </a:solidFill>
          <a:ln w="12700">
            <a:solidFill>
              <a:srgbClr val="000020"/>
            </a:solidFill>
            <a:round/>
            <a:headEnd/>
            <a:tailEnd/>
          </a:ln>
        </p:spPr>
        <p:txBody>
          <a:bodyPr lIns="0" tIns="0" rIns="0" bIns="0"/>
          <a:lstStyle/>
          <a:p>
            <a:endParaRPr lang="en-US"/>
          </a:p>
        </p:txBody>
      </p:sp>
      <p:sp>
        <p:nvSpPr>
          <p:cNvPr id="116810" name="Rectangle 135"/>
          <p:cNvSpPr>
            <a:spLocks/>
          </p:cNvSpPr>
          <p:nvPr/>
        </p:nvSpPr>
        <p:spPr bwMode="auto">
          <a:xfrm>
            <a:off x="7604125" y="2432050"/>
            <a:ext cx="108585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Current</a:t>
            </a:r>
          </a:p>
        </p:txBody>
      </p:sp>
      <p:sp>
        <p:nvSpPr>
          <p:cNvPr id="116811" name="Oval 136"/>
          <p:cNvSpPr>
            <a:spLocks/>
          </p:cNvSpPr>
          <p:nvPr/>
        </p:nvSpPr>
        <p:spPr bwMode="auto">
          <a:xfrm>
            <a:off x="8797925" y="2847975"/>
            <a:ext cx="304800" cy="304800"/>
          </a:xfrm>
          <a:prstGeom prst="ellipse">
            <a:avLst/>
          </a:prstGeom>
          <a:solidFill>
            <a:srgbClr val="00FF00"/>
          </a:solidFill>
          <a:ln w="12700">
            <a:solidFill>
              <a:srgbClr val="000020"/>
            </a:solidFill>
            <a:round/>
            <a:headEnd/>
            <a:tailEnd/>
          </a:ln>
        </p:spPr>
        <p:txBody>
          <a:bodyPr lIns="0" tIns="0" rIns="0" bIns="0"/>
          <a:lstStyle/>
          <a:p>
            <a:endParaRPr lang="en-US"/>
          </a:p>
        </p:txBody>
      </p:sp>
      <p:sp>
        <p:nvSpPr>
          <p:cNvPr id="116812" name="Rectangle 137"/>
          <p:cNvSpPr>
            <a:spLocks/>
          </p:cNvSpPr>
          <p:nvPr/>
        </p:nvSpPr>
        <p:spPr bwMode="auto">
          <a:xfrm>
            <a:off x="7604125" y="2771775"/>
            <a:ext cx="1016000"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Visible</a:t>
            </a:r>
          </a:p>
        </p:txBody>
      </p:sp>
      <p:sp>
        <p:nvSpPr>
          <p:cNvPr id="116813" name="Oval 138"/>
          <p:cNvSpPr>
            <a:spLocks/>
          </p:cNvSpPr>
          <p:nvPr/>
        </p:nvSpPr>
        <p:spPr bwMode="auto">
          <a:xfrm>
            <a:off x="8797925" y="3187700"/>
            <a:ext cx="304800" cy="304800"/>
          </a:xfrm>
          <a:prstGeom prst="ellipse">
            <a:avLst/>
          </a:prstGeom>
          <a:solidFill>
            <a:srgbClr val="FC0128"/>
          </a:solidFill>
          <a:ln w="12700">
            <a:solidFill>
              <a:srgbClr val="000020"/>
            </a:solidFill>
            <a:round/>
            <a:headEnd/>
            <a:tailEnd/>
          </a:ln>
        </p:spPr>
        <p:txBody>
          <a:bodyPr lIns="0" tIns="0" rIns="0" bIns="0"/>
          <a:lstStyle/>
          <a:p>
            <a:endParaRPr lang="en-US"/>
          </a:p>
        </p:txBody>
      </p:sp>
      <p:sp>
        <p:nvSpPr>
          <p:cNvPr id="116814" name="Rectangle 139"/>
          <p:cNvSpPr>
            <a:spLocks/>
          </p:cNvSpPr>
          <p:nvPr/>
        </p:nvSpPr>
        <p:spPr bwMode="auto">
          <a:xfrm>
            <a:off x="7604125" y="3111500"/>
            <a:ext cx="746125" cy="431800"/>
          </a:xfrm>
          <a:prstGeom prst="rect">
            <a:avLst/>
          </a:prstGeom>
          <a:noFill/>
          <a:ln w="12700">
            <a:noFill/>
            <a:miter lim="800000"/>
            <a:headEnd/>
            <a:tailEnd/>
          </a:ln>
        </p:spPr>
        <p:txBody>
          <a:bodyPr wrap="none" lIns="0" tIns="0" rIns="40639" bIns="0">
            <a:spAutoFit/>
          </a:bodyPr>
          <a:lstStyle/>
          <a:p>
            <a:pPr marL="39688"/>
            <a:r>
              <a:rPr lang="en-US">
                <a:solidFill>
                  <a:schemeClr val="tx1"/>
                </a:solidFill>
                <a:cs typeface="Times New Roman" pitchFamily="18" charset="0"/>
              </a:rPr>
              <a:t>Goal</a:t>
            </a:r>
          </a:p>
        </p:txBody>
      </p:sp>
      <p:sp>
        <p:nvSpPr>
          <p:cNvPr id="116815" name="Rectangle 140"/>
          <p:cNvSpPr>
            <a:spLocks/>
          </p:cNvSpPr>
          <p:nvPr/>
        </p:nvSpPr>
        <p:spPr bwMode="auto">
          <a:xfrm>
            <a:off x="3429000" y="158591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a:t>
            </a:r>
          </a:p>
        </p:txBody>
      </p:sp>
      <p:sp>
        <p:nvSpPr>
          <p:cNvPr id="116816" name="Rectangle 141"/>
          <p:cNvSpPr>
            <a:spLocks/>
          </p:cNvSpPr>
          <p:nvPr/>
        </p:nvSpPr>
        <p:spPr bwMode="auto">
          <a:xfrm>
            <a:off x="25146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2</a:t>
            </a:r>
          </a:p>
        </p:txBody>
      </p:sp>
      <p:sp>
        <p:nvSpPr>
          <p:cNvPr id="116817" name="Rectangle 142"/>
          <p:cNvSpPr>
            <a:spLocks/>
          </p:cNvSpPr>
          <p:nvPr/>
        </p:nvSpPr>
        <p:spPr bwMode="auto">
          <a:xfrm>
            <a:off x="4343400" y="25288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3</a:t>
            </a:r>
          </a:p>
        </p:txBody>
      </p:sp>
      <p:sp>
        <p:nvSpPr>
          <p:cNvPr id="116818" name="Rectangle 143"/>
          <p:cNvSpPr>
            <a:spLocks/>
          </p:cNvSpPr>
          <p:nvPr/>
        </p:nvSpPr>
        <p:spPr bwMode="auto">
          <a:xfrm>
            <a:off x="1752600" y="3535363"/>
            <a:ext cx="238125" cy="279400"/>
          </a:xfrm>
          <a:prstGeom prst="rect">
            <a:avLst/>
          </a:prstGeom>
          <a:noFill/>
          <a:ln w="12700">
            <a:noFill/>
            <a:miter lim="800000"/>
            <a:headEnd/>
            <a:tailEnd/>
          </a:ln>
        </p:spPr>
        <p:txBody>
          <a:bodyPr wrap="none" lIns="0" tIns="0" rIns="40639" bIns="0">
            <a:spAutoFit/>
          </a:bodyPr>
          <a:lstStyle/>
          <a:p>
            <a:pPr marL="39688"/>
            <a:r>
              <a:rPr lang="en-US" sz="1200" dirty="0">
                <a:solidFill>
                  <a:srgbClr val="000020"/>
                </a:solidFill>
                <a:latin typeface="Arial" charset="0"/>
                <a:cs typeface="Arial" charset="0"/>
                <a:sym typeface="Arial" charset="0"/>
              </a:rPr>
              <a:t>4</a:t>
            </a:r>
          </a:p>
        </p:txBody>
      </p:sp>
      <p:sp>
        <p:nvSpPr>
          <p:cNvPr id="116819" name="Rectangle 144"/>
          <p:cNvSpPr>
            <a:spLocks/>
          </p:cNvSpPr>
          <p:nvPr/>
        </p:nvSpPr>
        <p:spPr bwMode="auto">
          <a:xfrm>
            <a:off x="2895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5</a:t>
            </a:r>
          </a:p>
        </p:txBody>
      </p:sp>
      <p:sp>
        <p:nvSpPr>
          <p:cNvPr id="116820" name="Rectangle 145"/>
          <p:cNvSpPr>
            <a:spLocks/>
          </p:cNvSpPr>
          <p:nvPr/>
        </p:nvSpPr>
        <p:spPr bwMode="auto">
          <a:xfrm>
            <a:off x="4038600" y="3535363"/>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6</a:t>
            </a:r>
          </a:p>
        </p:txBody>
      </p:sp>
      <p:sp>
        <p:nvSpPr>
          <p:cNvPr id="116821" name="Rectangle 146"/>
          <p:cNvSpPr>
            <a:spLocks/>
          </p:cNvSpPr>
          <p:nvPr/>
        </p:nvSpPr>
        <p:spPr bwMode="auto">
          <a:xfrm>
            <a:off x="5105400" y="353695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7</a:t>
            </a:r>
          </a:p>
        </p:txBody>
      </p:sp>
      <p:sp>
        <p:nvSpPr>
          <p:cNvPr id="116822" name="Rectangle 147"/>
          <p:cNvSpPr>
            <a:spLocks/>
          </p:cNvSpPr>
          <p:nvPr/>
        </p:nvSpPr>
        <p:spPr bwMode="auto">
          <a:xfrm>
            <a:off x="9906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8</a:t>
            </a:r>
          </a:p>
        </p:txBody>
      </p:sp>
      <p:sp>
        <p:nvSpPr>
          <p:cNvPr id="116823" name="Rectangle 148"/>
          <p:cNvSpPr>
            <a:spLocks/>
          </p:cNvSpPr>
          <p:nvPr/>
        </p:nvSpPr>
        <p:spPr bwMode="auto">
          <a:xfrm>
            <a:off x="1676400" y="4510088"/>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9</a:t>
            </a:r>
          </a:p>
        </p:txBody>
      </p:sp>
      <p:sp>
        <p:nvSpPr>
          <p:cNvPr id="116824" name="Rectangle 149"/>
          <p:cNvSpPr>
            <a:spLocks/>
          </p:cNvSpPr>
          <p:nvPr/>
        </p:nvSpPr>
        <p:spPr bwMode="auto">
          <a:xfrm>
            <a:off x="23622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10</a:t>
            </a:r>
          </a:p>
        </p:txBody>
      </p:sp>
      <p:sp>
        <p:nvSpPr>
          <p:cNvPr id="116825" name="Rectangle 150"/>
          <p:cNvSpPr>
            <a:spLocks/>
          </p:cNvSpPr>
          <p:nvPr/>
        </p:nvSpPr>
        <p:spPr bwMode="auto">
          <a:xfrm>
            <a:off x="3048000" y="4510088"/>
            <a:ext cx="312738"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11</a:t>
            </a:r>
          </a:p>
        </p:txBody>
      </p:sp>
      <p:sp>
        <p:nvSpPr>
          <p:cNvPr id="116826" name="Rectangle 151"/>
          <p:cNvSpPr>
            <a:spLocks/>
          </p:cNvSpPr>
          <p:nvPr/>
        </p:nvSpPr>
        <p:spPr bwMode="auto">
          <a:xfrm>
            <a:off x="37338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12</a:t>
            </a:r>
          </a:p>
        </p:txBody>
      </p:sp>
      <p:sp>
        <p:nvSpPr>
          <p:cNvPr id="116827" name="Rectangle 152"/>
          <p:cNvSpPr>
            <a:spLocks/>
          </p:cNvSpPr>
          <p:nvPr/>
        </p:nvSpPr>
        <p:spPr bwMode="auto">
          <a:xfrm>
            <a:off x="44196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13</a:t>
            </a:r>
          </a:p>
        </p:txBody>
      </p:sp>
      <p:sp>
        <p:nvSpPr>
          <p:cNvPr id="116828" name="Rectangle 153"/>
          <p:cNvSpPr>
            <a:spLocks/>
          </p:cNvSpPr>
          <p:nvPr/>
        </p:nvSpPr>
        <p:spPr bwMode="auto">
          <a:xfrm>
            <a:off x="53340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14</a:t>
            </a:r>
          </a:p>
        </p:txBody>
      </p:sp>
      <p:sp>
        <p:nvSpPr>
          <p:cNvPr id="116829" name="Rectangle 154"/>
          <p:cNvSpPr>
            <a:spLocks/>
          </p:cNvSpPr>
          <p:nvPr/>
        </p:nvSpPr>
        <p:spPr bwMode="auto">
          <a:xfrm>
            <a:off x="5867400" y="4510088"/>
            <a:ext cx="323850" cy="279400"/>
          </a:xfrm>
          <a:prstGeom prst="rect">
            <a:avLst/>
          </a:prstGeom>
          <a:noFill/>
          <a:ln w="12700">
            <a:noFill/>
            <a:miter lim="800000"/>
            <a:headEnd/>
            <a:tailEnd/>
          </a:ln>
        </p:spPr>
        <p:txBody>
          <a:bodyPr wrap="none" lIns="0" tIns="0" rIns="40639" bIns="0">
            <a:spAutoFit/>
          </a:bodyPr>
          <a:lstStyle/>
          <a:p>
            <a:pPr marL="39688"/>
            <a:r>
              <a:rPr lang="en-US" sz="1200">
                <a:solidFill>
                  <a:srgbClr val="000020"/>
                </a:solidFill>
                <a:latin typeface="Arial" charset="0"/>
                <a:cs typeface="Arial" charset="0"/>
                <a:sym typeface="Arial" charset="0"/>
              </a:rPr>
              <a:t>15</a:t>
            </a:r>
          </a:p>
        </p:txBody>
      </p:sp>
      <p:sp>
        <p:nvSpPr>
          <p:cNvPr id="116830" name="Rectangle 155"/>
          <p:cNvSpPr>
            <a:spLocks/>
          </p:cNvSpPr>
          <p:nvPr/>
        </p:nvSpPr>
        <p:spPr bwMode="auto">
          <a:xfrm>
            <a:off x="476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16</a:t>
            </a:r>
          </a:p>
        </p:txBody>
      </p:sp>
      <p:sp>
        <p:nvSpPr>
          <p:cNvPr id="116831" name="Rectangle 156"/>
          <p:cNvSpPr>
            <a:spLocks/>
          </p:cNvSpPr>
          <p:nvPr/>
        </p:nvSpPr>
        <p:spPr bwMode="auto">
          <a:xfrm>
            <a:off x="857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17</a:t>
            </a:r>
          </a:p>
        </p:txBody>
      </p:sp>
      <p:sp>
        <p:nvSpPr>
          <p:cNvPr id="116832" name="Rectangle 157"/>
          <p:cNvSpPr>
            <a:spLocks/>
          </p:cNvSpPr>
          <p:nvPr/>
        </p:nvSpPr>
        <p:spPr bwMode="auto">
          <a:xfrm>
            <a:off x="1314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18</a:t>
            </a:r>
          </a:p>
        </p:txBody>
      </p:sp>
      <p:sp>
        <p:nvSpPr>
          <p:cNvPr id="116833" name="Rectangle 158"/>
          <p:cNvSpPr>
            <a:spLocks/>
          </p:cNvSpPr>
          <p:nvPr/>
        </p:nvSpPr>
        <p:spPr bwMode="auto">
          <a:xfrm>
            <a:off x="1695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19</a:t>
            </a:r>
          </a:p>
        </p:txBody>
      </p:sp>
      <p:sp>
        <p:nvSpPr>
          <p:cNvPr id="116834" name="Rectangle 159"/>
          <p:cNvSpPr>
            <a:spLocks/>
          </p:cNvSpPr>
          <p:nvPr/>
        </p:nvSpPr>
        <p:spPr bwMode="auto">
          <a:xfrm>
            <a:off x="2152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20</a:t>
            </a:r>
          </a:p>
        </p:txBody>
      </p:sp>
      <p:sp>
        <p:nvSpPr>
          <p:cNvPr id="116835" name="Rectangle 160"/>
          <p:cNvSpPr>
            <a:spLocks/>
          </p:cNvSpPr>
          <p:nvPr/>
        </p:nvSpPr>
        <p:spPr bwMode="auto">
          <a:xfrm>
            <a:off x="2609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21</a:t>
            </a:r>
          </a:p>
        </p:txBody>
      </p:sp>
      <p:sp>
        <p:nvSpPr>
          <p:cNvPr id="116836" name="Rectangle 161"/>
          <p:cNvSpPr>
            <a:spLocks/>
          </p:cNvSpPr>
          <p:nvPr/>
        </p:nvSpPr>
        <p:spPr bwMode="auto">
          <a:xfrm>
            <a:off x="2990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22</a:t>
            </a:r>
          </a:p>
        </p:txBody>
      </p:sp>
      <p:sp>
        <p:nvSpPr>
          <p:cNvPr id="116837" name="Rectangle 162"/>
          <p:cNvSpPr>
            <a:spLocks/>
          </p:cNvSpPr>
          <p:nvPr/>
        </p:nvSpPr>
        <p:spPr bwMode="auto">
          <a:xfrm>
            <a:off x="3448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23</a:t>
            </a:r>
          </a:p>
        </p:txBody>
      </p:sp>
      <p:sp>
        <p:nvSpPr>
          <p:cNvPr id="116838" name="Rectangle 163"/>
          <p:cNvSpPr>
            <a:spLocks/>
          </p:cNvSpPr>
          <p:nvPr/>
        </p:nvSpPr>
        <p:spPr bwMode="auto">
          <a:xfrm>
            <a:off x="3905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24</a:t>
            </a:r>
          </a:p>
        </p:txBody>
      </p:sp>
      <p:sp>
        <p:nvSpPr>
          <p:cNvPr id="116839" name="Rectangle 164"/>
          <p:cNvSpPr>
            <a:spLocks/>
          </p:cNvSpPr>
          <p:nvPr/>
        </p:nvSpPr>
        <p:spPr bwMode="auto">
          <a:xfrm>
            <a:off x="43624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25</a:t>
            </a:r>
          </a:p>
        </p:txBody>
      </p:sp>
      <p:sp>
        <p:nvSpPr>
          <p:cNvPr id="116840" name="Rectangle 165"/>
          <p:cNvSpPr>
            <a:spLocks/>
          </p:cNvSpPr>
          <p:nvPr/>
        </p:nvSpPr>
        <p:spPr bwMode="auto">
          <a:xfrm>
            <a:off x="4743450" y="6354763"/>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26</a:t>
            </a:r>
          </a:p>
        </p:txBody>
      </p:sp>
      <p:sp>
        <p:nvSpPr>
          <p:cNvPr id="116841" name="Rectangle 166"/>
          <p:cNvSpPr>
            <a:spLocks/>
          </p:cNvSpPr>
          <p:nvPr/>
        </p:nvSpPr>
        <p:spPr bwMode="auto">
          <a:xfrm>
            <a:off x="52006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27</a:t>
            </a:r>
          </a:p>
        </p:txBody>
      </p:sp>
      <p:sp>
        <p:nvSpPr>
          <p:cNvPr id="116842" name="Rectangle 167"/>
          <p:cNvSpPr>
            <a:spLocks/>
          </p:cNvSpPr>
          <p:nvPr/>
        </p:nvSpPr>
        <p:spPr bwMode="auto">
          <a:xfrm>
            <a:off x="5657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28</a:t>
            </a:r>
          </a:p>
        </p:txBody>
      </p:sp>
      <p:sp>
        <p:nvSpPr>
          <p:cNvPr id="116843" name="Rectangle 168"/>
          <p:cNvSpPr>
            <a:spLocks/>
          </p:cNvSpPr>
          <p:nvPr/>
        </p:nvSpPr>
        <p:spPr bwMode="auto">
          <a:xfrm>
            <a:off x="60388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29</a:t>
            </a:r>
          </a:p>
        </p:txBody>
      </p:sp>
      <p:sp>
        <p:nvSpPr>
          <p:cNvPr id="116844" name="Rectangle 169"/>
          <p:cNvSpPr>
            <a:spLocks/>
          </p:cNvSpPr>
          <p:nvPr/>
        </p:nvSpPr>
        <p:spPr bwMode="auto">
          <a:xfrm>
            <a:off x="64960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30</a:t>
            </a:r>
          </a:p>
        </p:txBody>
      </p:sp>
      <p:sp>
        <p:nvSpPr>
          <p:cNvPr id="116845" name="Rectangle 170"/>
          <p:cNvSpPr>
            <a:spLocks/>
          </p:cNvSpPr>
          <p:nvPr/>
        </p:nvSpPr>
        <p:spPr bwMode="auto">
          <a:xfrm>
            <a:off x="6953250" y="5791200"/>
            <a:ext cx="325438" cy="279400"/>
          </a:xfrm>
          <a:prstGeom prst="rect">
            <a:avLst/>
          </a:prstGeom>
          <a:noFill/>
          <a:ln w="12700">
            <a:noFill/>
            <a:miter lim="800000"/>
            <a:headEnd/>
            <a:tailEnd/>
          </a:ln>
        </p:spPr>
        <p:txBody>
          <a:bodyPr wrap="none" lIns="0" tIns="0" rIns="40639" bIns="0">
            <a:spAutoFit/>
          </a:bodyPr>
          <a:lstStyle/>
          <a:p>
            <a:pPr marL="39688" algn="ctr"/>
            <a:r>
              <a:rPr lang="en-US" sz="1200">
                <a:solidFill>
                  <a:srgbClr val="000020"/>
                </a:solidFill>
                <a:latin typeface="Arial" charset="0"/>
                <a:cs typeface="Arial" charset="0"/>
                <a:sym typeface="Arial" charset="0"/>
              </a:rPr>
              <a:t>31</a:t>
            </a:r>
          </a:p>
        </p:txBody>
      </p:sp>
      <p:sp>
        <p:nvSpPr>
          <p:cNvPr id="116846" name="Rectangle 171"/>
          <p:cNvSpPr>
            <a:spLocks/>
          </p:cNvSpPr>
          <p:nvPr/>
        </p:nvSpPr>
        <p:spPr bwMode="auto">
          <a:xfrm>
            <a:off x="2971800" y="2095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6847" name="Rectangle 172"/>
          <p:cNvSpPr>
            <a:spLocks/>
          </p:cNvSpPr>
          <p:nvPr/>
        </p:nvSpPr>
        <p:spPr bwMode="auto">
          <a:xfrm>
            <a:off x="4267200" y="2095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6848" name="Rectangle 173"/>
          <p:cNvSpPr>
            <a:spLocks/>
          </p:cNvSpPr>
          <p:nvPr/>
        </p:nvSpPr>
        <p:spPr bwMode="auto">
          <a:xfrm>
            <a:off x="22098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7</a:t>
            </a:r>
          </a:p>
        </p:txBody>
      </p:sp>
      <p:sp>
        <p:nvSpPr>
          <p:cNvPr id="116849" name="Rectangle 174"/>
          <p:cNvSpPr>
            <a:spLocks/>
          </p:cNvSpPr>
          <p:nvPr/>
        </p:nvSpPr>
        <p:spPr bwMode="auto">
          <a:xfrm>
            <a:off x="15240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6850" name="Rectangle 175"/>
          <p:cNvSpPr>
            <a:spLocks/>
          </p:cNvSpPr>
          <p:nvPr/>
        </p:nvSpPr>
        <p:spPr bwMode="auto">
          <a:xfrm>
            <a:off x="31242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6851" name="Rectangle 176"/>
          <p:cNvSpPr>
            <a:spLocks/>
          </p:cNvSpPr>
          <p:nvPr/>
        </p:nvSpPr>
        <p:spPr bwMode="auto">
          <a:xfrm>
            <a:off x="42672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6852" name="Rectangle 177"/>
          <p:cNvSpPr>
            <a:spLocks/>
          </p:cNvSpPr>
          <p:nvPr/>
        </p:nvSpPr>
        <p:spPr bwMode="auto">
          <a:xfrm>
            <a:off x="5029200" y="3048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6853" name="Rectangle 178"/>
          <p:cNvSpPr>
            <a:spLocks/>
          </p:cNvSpPr>
          <p:nvPr/>
        </p:nvSpPr>
        <p:spPr bwMode="auto">
          <a:xfrm>
            <a:off x="20574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5</a:t>
            </a:r>
          </a:p>
        </p:txBody>
      </p:sp>
      <p:sp>
        <p:nvSpPr>
          <p:cNvPr id="116854" name="Rectangle 179"/>
          <p:cNvSpPr>
            <a:spLocks/>
          </p:cNvSpPr>
          <p:nvPr/>
        </p:nvSpPr>
        <p:spPr bwMode="auto">
          <a:xfrm>
            <a:off x="27432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6855" name="Rectangle 180"/>
          <p:cNvSpPr>
            <a:spLocks/>
          </p:cNvSpPr>
          <p:nvPr/>
        </p:nvSpPr>
        <p:spPr bwMode="auto">
          <a:xfrm>
            <a:off x="34290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6856" name="Rectangle 181"/>
          <p:cNvSpPr>
            <a:spLocks/>
          </p:cNvSpPr>
          <p:nvPr/>
        </p:nvSpPr>
        <p:spPr bwMode="auto">
          <a:xfrm>
            <a:off x="39624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6857" name="Rectangle 182"/>
          <p:cNvSpPr>
            <a:spLocks/>
          </p:cNvSpPr>
          <p:nvPr/>
        </p:nvSpPr>
        <p:spPr bwMode="auto">
          <a:xfrm>
            <a:off x="43434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6858" name="Rectangle 183"/>
          <p:cNvSpPr>
            <a:spLocks/>
          </p:cNvSpPr>
          <p:nvPr/>
        </p:nvSpPr>
        <p:spPr bwMode="auto">
          <a:xfrm>
            <a:off x="52578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6</a:t>
            </a:r>
          </a:p>
        </p:txBody>
      </p:sp>
      <p:sp>
        <p:nvSpPr>
          <p:cNvPr id="116859" name="Rectangle 184"/>
          <p:cNvSpPr>
            <a:spLocks/>
          </p:cNvSpPr>
          <p:nvPr/>
        </p:nvSpPr>
        <p:spPr bwMode="auto">
          <a:xfrm>
            <a:off x="5943600" y="40005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9</a:t>
            </a:r>
          </a:p>
        </p:txBody>
      </p:sp>
      <p:sp>
        <p:nvSpPr>
          <p:cNvPr id="116860" name="Rectangle 185"/>
          <p:cNvSpPr>
            <a:spLocks/>
          </p:cNvSpPr>
          <p:nvPr/>
        </p:nvSpPr>
        <p:spPr bwMode="auto">
          <a:xfrm>
            <a:off x="762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6861" name="Rectangle 186"/>
          <p:cNvSpPr>
            <a:spLocks/>
          </p:cNvSpPr>
          <p:nvPr/>
        </p:nvSpPr>
        <p:spPr bwMode="auto">
          <a:xfrm>
            <a:off x="1143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6862" name="Rectangle 187"/>
          <p:cNvSpPr>
            <a:spLocks/>
          </p:cNvSpPr>
          <p:nvPr/>
        </p:nvSpPr>
        <p:spPr bwMode="auto">
          <a:xfrm>
            <a:off x="1524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7</a:t>
            </a:r>
          </a:p>
        </p:txBody>
      </p:sp>
      <p:sp>
        <p:nvSpPr>
          <p:cNvPr id="116863" name="Rectangle 188"/>
          <p:cNvSpPr>
            <a:spLocks/>
          </p:cNvSpPr>
          <p:nvPr/>
        </p:nvSpPr>
        <p:spPr bwMode="auto">
          <a:xfrm>
            <a:off x="1981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6864" name="Rectangle 189"/>
          <p:cNvSpPr>
            <a:spLocks/>
          </p:cNvSpPr>
          <p:nvPr/>
        </p:nvSpPr>
        <p:spPr bwMode="auto">
          <a:xfrm>
            <a:off x="2362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6865" name="Rectangle 190"/>
          <p:cNvSpPr>
            <a:spLocks/>
          </p:cNvSpPr>
          <p:nvPr/>
        </p:nvSpPr>
        <p:spPr bwMode="auto">
          <a:xfrm>
            <a:off x="2743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8</a:t>
            </a:r>
          </a:p>
        </p:txBody>
      </p:sp>
      <p:sp>
        <p:nvSpPr>
          <p:cNvPr id="116866" name="Rectangle 191"/>
          <p:cNvSpPr>
            <a:spLocks/>
          </p:cNvSpPr>
          <p:nvPr/>
        </p:nvSpPr>
        <p:spPr bwMode="auto">
          <a:xfrm>
            <a:off x="3124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6</a:t>
            </a:r>
          </a:p>
        </p:txBody>
      </p:sp>
      <p:sp>
        <p:nvSpPr>
          <p:cNvPr id="116867" name="Rectangle 192"/>
          <p:cNvSpPr>
            <a:spLocks/>
          </p:cNvSpPr>
          <p:nvPr/>
        </p:nvSpPr>
        <p:spPr bwMode="auto">
          <a:xfrm>
            <a:off x="3810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6868" name="Rectangle 193"/>
          <p:cNvSpPr>
            <a:spLocks/>
          </p:cNvSpPr>
          <p:nvPr/>
        </p:nvSpPr>
        <p:spPr bwMode="auto">
          <a:xfrm>
            <a:off x="43434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6869" name="Rectangle 194"/>
          <p:cNvSpPr>
            <a:spLocks/>
          </p:cNvSpPr>
          <p:nvPr/>
        </p:nvSpPr>
        <p:spPr bwMode="auto">
          <a:xfrm>
            <a:off x="4648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4</a:t>
            </a:r>
          </a:p>
        </p:txBody>
      </p:sp>
      <p:sp>
        <p:nvSpPr>
          <p:cNvPr id="116870" name="Rectangle 195"/>
          <p:cNvSpPr>
            <a:spLocks/>
          </p:cNvSpPr>
          <p:nvPr/>
        </p:nvSpPr>
        <p:spPr bwMode="auto">
          <a:xfrm>
            <a:off x="51054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6871" name="Rectangle 196"/>
          <p:cNvSpPr>
            <a:spLocks/>
          </p:cNvSpPr>
          <p:nvPr/>
        </p:nvSpPr>
        <p:spPr bwMode="auto">
          <a:xfrm>
            <a:off x="5791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3</a:t>
            </a:r>
          </a:p>
        </p:txBody>
      </p:sp>
      <p:sp>
        <p:nvSpPr>
          <p:cNvPr id="116872" name="Rectangle 197"/>
          <p:cNvSpPr>
            <a:spLocks/>
          </p:cNvSpPr>
          <p:nvPr/>
        </p:nvSpPr>
        <p:spPr bwMode="auto">
          <a:xfrm>
            <a:off x="60960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9</a:t>
            </a:r>
          </a:p>
        </p:txBody>
      </p:sp>
      <p:sp>
        <p:nvSpPr>
          <p:cNvPr id="116873" name="Rectangle 198"/>
          <p:cNvSpPr>
            <a:spLocks/>
          </p:cNvSpPr>
          <p:nvPr/>
        </p:nvSpPr>
        <p:spPr bwMode="auto">
          <a:xfrm>
            <a:off x="66294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2</a:t>
            </a:r>
          </a:p>
        </p:txBody>
      </p:sp>
      <p:sp>
        <p:nvSpPr>
          <p:cNvPr id="116874" name="Rectangle 199"/>
          <p:cNvSpPr>
            <a:spLocks/>
          </p:cNvSpPr>
          <p:nvPr/>
        </p:nvSpPr>
        <p:spPr bwMode="auto">
          <a:xfrm>
            <a:off x="35052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5</a:t>
            </a:r>
          </a:p>
        </p:txBody>
      </p:sp>
      <p:sp>
        <p:nvSpPr>
          <p:cNvPr id="116875" name="Rectangle 200"/>
          <p:cNvSpPr>
            <a:spLocks/>
          </p:cNvSpPr>
          <p:nvPr/>
        </p:nvSpPr>
        <p:spPr bwMode="auto">
          <a:xfrm>
            <a:off x="5562600" y="4953000"/>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8</a:t>
            </a:r>
          </a:p>
        </p:txBody>
      </p:sp>
      <p:sp>
        <p:nvSpPr>
          <p:cNvPr id="116876" name="Rectangle 201"/>
          <p:cNvSpPr>
            <a:spLocks/>
          </p:cNvSpPr>
          <p:nvPr/>
        </p:nvSpPr>
        <p:spPr bwMode="auto">
          <a:xfrm>
            <a:off x="7604125" y="3851275"/>
            <a:ext cx="865188"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charset="0"/>
                <a:cs typeface="Arial" charset="0"/>
                <a:sym typeface="Arial" charset="0"/>
              </a:rPr>
              <a:t>Edge Cost</a:t>
            </a:r>
          </a:p>
        </p:txBody>
      </p:sp>
      <p:grpSp>
        <p:nvGrpSpPr>
          <p:cNvPr id="116737" name="Group 204"/>
          <p:cNvGrpSpPr>
            <a:grpSpLocks/>
          </p:cNvGrpSpPr>
          <p:nvPr/>
        </p:nvGrpSpPr>
        <p:grpSpPr bwMode="auto">
          <a:xfrm flipH="1">
            <a:off x="8797925" y="4140200"/>
            <a:ext cx="304800" cy="330200"/>
            <a:chOff x="0" y="0"/>
            <a:chExt cx="192" cy="208"/>
          </a:xfrm>
        </p:grpSpPr>
        <p:sp>
          <p:nvSpPr>
            <p:cNvPr id="116915" name="Oval 202"/>
            <p:cNvSpPr>
              <a:spLocks/>
            </p:cNvSpPr>
            <p:nvPr/>
          </p:nvSpPr>
          <p:spPr bwMode="auto">
            <a:xfrm>
              <a:off x="0" y="8"/>
              <a:ext cx="192" cy="192"/>
            </a:xfrm>
            <a:prstGeom prst="ellipse">
              <a:avLst/>
            </a:prstGeom>
            <a:solidFill>
              <a:srgbClr val="FCFEB9"/>
            </a:solidFill>
            <a:ln w="12700">
              <a:solidFill>
                <a:srgbClr val="000020"/>
              </a:solidFill>
              <a:round/>
              <a:headEnd/>
              <a:tailEnd/>
            </a:ln>
          </p:spPr>
          <p:txBody>
            <a:bodyPr lIns="0" tIns="0" rIns="0" bIns="0"/>
            <a:lstStyle/>
            <a:p>
              <a:endParaRPr lang="en-US"/>
            </a:p>
          </p:txBody>
        </p:sp>
        <p:sp>
          <p:nvSpPr>
            <p:cNvPr id="116916" name="Rectangle 203"/>
            <p:cNvSpPr>
              <a:spLocks/>
            </p:cNvSpPr>
            <p:nvPr/>
          </p:nvSpPr>
          <p:spPr bwMode="auto">
            <a:xfrm flipH="1">
              <a:off x="19" y="0"/>
              <a:ext cx="153" cy="208"/>
            </a:xfrm>
            <a:prstGeom prst="rect">
              <a:avLst/>
            </a:prstGeom>
            <a:noFill/>
            <a:ln w="12700">
              <a:noFill/>
              <a:miter lim="800000"/>
              <a:headEnd/>
              <a:tailEnd/>
            </a:ln>
          </p:spPr>
          <p:txBody>
            <a:bodyPr wrap="none" lIns="38100" tIns="38100" rIns="78049" bIns="38100" anchor="ctr">
              <a:spAutoFit/>
            </a:bodyPr>
            <a:lstStyle/>
            <a:p>
              <a:pPr marL="1588" algn="ctr"/>
              <a:r>
                <a:rPr lang="en-US" sz="1800">
                  <a:solidFill>
                    <a:srgbClr val="000020"/>
                  </a:solidFill>
                  <a:latin typeface="Times New Roman Bold" charset="0"/>
                  <a:cs typeface="Times New Roman Bold" charset="0"/>
                  <a:sym typeface="Times New Roman Bold" charset="0"/>
                </a:rPr>
                <a:t>7</a:t>
              </a:r>
            </a:p>
          </p:txBody>
        </p:sp>
      </p:grpSp>
      <p:sp>
        <p:nvSpPr>
          <p:cNvPr id="116878" name="Rectangle 205"/>
          <p:cNvSpPr>
            <a:spLocks/>
          </p:cNvSpPr>
          <p:nvPr/>
        </p:nvSpPr>
        <p:spPr bwMode="auto">
          <a:xfrm>
            <a:off x="7604125" y="4121150"/>
            <a:ext cx="1144588" cy="355600"/>
          </a:xfrm>
          <a:prstGeom prst="rect">
            <a:avLst/>
          </a:prstGeom>
          <a:noFill/>
          <a:ln w="12700">
            <a:noFill/>
            <a:miter lim="800000"/>
            <a:headEnd/>
            <a:tailEnd/>
          </a:ln>
        </p:spPr>
        <p:txBody>
          <a:bodyPr wrap="none" lIns="0" tIns="0" rIns="40639" bIns="0">
            <a:spAutoFit/>
          </a:bodyPr>
          <a:lstStyle/>
          <a:p>
            <a:pPr marL="39688"/>
            <a:r>
              <a:rPr lang="en-US" sz="1800">
                <a:solidFill>
                  <a:srgbClr val="000020"/>
                </a:solidFill>
                <a:latin typeface="Times New Roman Bold" charset="0"/>
                <a:cs typeface="Times New Roman Bold" charset="0"/>
                <a:sym typeface="Times New Roman Bold" charset="0"/>
              </a:rPr>
              <a:t>Heuristics</a:t>
            </a:r>
          </a:p>
        </p:txBody>
      </p:sp>
      <p:sp>
        <p:nvSpPr>
          <p:cNvPr id="116879" name="Rectangle 206"/>
          <p:cNvSpPr>
            <a:spLocks/>
          </p:cNvSpPr>
          <p:nvPr/>
        </p:nvSpPr>
        <p:spPr bwMode="auto">
          <a:xfrm>
            <a:off x="8816975" y="3851275"/>
            <a:ext cx="238125" cy="279400"/>
          </a:xfrm>
          <a:prstGeom prst="rect">
            <a:avLst/>
          </a:prstGeom>
          <a:noFill/>
          <a:ln w="12700">
            <a:noFill/>
            <a:miter lim="800000"/>
            <a:headEnd/>
            <a:tailEnd/>
          </a:ln>
        </p:spPr>
        <p:txBody>
          <a:bodyPr wrap="none" lIns="0" tIns="0" rIns="40639" bIns="0">
            <a:spAutoFit/>
          </a:bodyPr>
          <a:lstStyle/>
          <a:p>
            <a:pPr marL="39688"/>
            <a:r>
              <a:rPr lang="en-US" sz="1200">
                <a:solidFill>
                  <a:srgbClr val="C000C0"/>
                </a:solidFill>
                <a:latin typeface="Arial Italic" charset="0"/>
                <a:cs typeface="Arial Italic" charset="0"/>
                <a:sym typeface="Arial Italic" charset="0"/>
              </a:rPr>
              <a:t>9</a:t>
            </a:r>
          </a:p>
        </p:txBody>
      </p:sp>
      <p:sp>
        <p:nvSpPr>
          <p:cNvPr id="116880" name="Rectangle 207"/>
          <p:cNvSpPr>
            <a:spLocks/>
          </p:cNvSpPr>
          <p:nvPr/>
        </p:nvSpPr>
        <p:spPr bwMode="auto">
          <a:xfrm>
            <a:off x="2743200" y="2286000"/>
            <a:ext cx="349250"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11</a:t>
            </a:r>
          </a:p>
        </p:txBody>
      </p:sp>
      <p:sp>
        <p:nvSpPr>
          <p:cNvPr id="116881" name="Rectangle 208"/>
          <p:cNvSpPr>
            <a:spLocks/>
          </p:cNvSpPr>
          <p:nvPr/>
        </p:nvSpPr>
        <p:spPr bwMode="auto">
          <a:xfrm>
            <a:off x="4572000" y="22860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10</a:t>
            </a:r>
          </a:p>
        </p:txBody>
      </p:sp>
      <p:sp>
        <p:nvSpPr>
          <p:cNvPr id="116882" name="Rectangle 209"/>
          <p:cNvSpPr>
            <a:spLocks/>
          </p:cNvSpPr>
          <p:nvPr/>
        </p:nvSpPr>
        <p:spPr bwMode="auto">
          <a:xfrm>
            <a:off x="1905000" y="32766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17</a:t>
            </a:r>
          </a:p>
        </p:txBody>
      </p:sp>
      <p:sp>
        <p:nvSpPr>
          <p:cNvPr id="116883" name="Rectangle 210"/>
          <p:cNvSpPr>
            <a:spLocks/>
          </p:cNvSpPr>
          <p:nvPr/>
        </p:nvSpPr>
        <p:spPr bwMode="auto">
          <a:xfrm>
            <a:off x="3124200" y="3276600"/>
            <a:ext cx="349250"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11</a:t>
            </a:r>
          </a:p>
        </p:txBody>
      </p:sp>
      <p:sp>
        <p:nvSpPr>
          <p:cNvPr id="116884" name="Rectangle 211"/>
          <p:cNvSpPr>
            <a:spLocks/>
          </p:cNvSpPr>
          <p:nvPr/>
        </p:nvSpPr>
        <p:spPr bwMode="auto">
          <a:xfrm>
            <a:off x="4114800" y="32766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10</a:t>
            </a:r>
          </a:p>
        </p:txBody>
      </p:sp>
      <p:sp>
        <p:nvSpPr>
          <p:cNvPr id="116885" name="Rectangle 212"/>
          <p:cNvSpPr>
            <a:spLocks/>
          </p:cNvSpPr>
          <p:nvPr/>
        </p:nvSpPr>
        <p:spPr bwMode="auto">
          <a:xfrm>
            <a:off x="5334000" y="32766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
        <p:nvSpPr>
          <p:cNvPr id="116886" name="Rectangle 213"/>
          <p:cNvSpPr>
            <a:spLocks/>
          </p:cNvSpPr>
          <p:nvPr/>
        </p:nvSpPr>
        <p:spPr bwMode="auto">
          <a:xfrm>
            <a:off x="12192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20</a:t>
            </a:r>
          </a:p>
        </p:txBody>
      </p:sp>
      <p:sp>
        <p:nvSpPr>
          <p:cNvPr id="116887" name="Rectangle 214"/>
          <p:cNvSpPr>
            <a:spLocks/>
          </p:cNvSpPr>
          <p:nvPr/>
        </p:nvSpPr>
        <p:spPr bwMode="auto">
          <a:xfrm>
            <a:off x="17526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21</a:t>
            </a:r>
          </a:p>
        </p:txBody>
      </p:sp>
      <p:sp>
        <p:nvSpPr>
          <p:cNvPr id="116888" name="Rectangle 215"/>
          <p:cNvSpPr>
            <a:spLocks/>
          </p:cNvSpPr>
          <p:nvPr/>
        </p:nvSpPr>
        <p:spPr bwMode="auto">
          <a:xfrm>
            <a:off x="34290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
        <p:nvSpPr>
          <p:cNvPr id="116889" name="Rectangle 216"/>
          <p:cNvSpPr>
            <a:spLocks/>
          </p:cNvSpPr>
          <p:nvPr/>
        </p:nvSpPr>
        <p:spPr bwMode="auto">
          <a:xfrm>
            <a:off x="4191000" y="4267200"/>
            <a:ext cx="349250"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11</a:t>
            </a:r>
          </a:p>
        </p:txBody>
      </p:sp>
      <p:sp>
        <p:nvSpPr>
          <p:cNvPr id="116890" name="Rectangle 217"/>
          <p:cNvSpPr>
            <a:spLocks/>
          </p:cNvSpPr>
          <p:nvPr/>
        </p:nvSpPr>
        <p:spPr bwMode="auto">
          <a:xfrm>
            <a:off x="47244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12</a:t>
            </a:r>
          </a:p>
        </p:txBody>
      </p:sp>
      <p:sp>
        <p:nvSpPr>
          <p:cNvPr id="116891" name="Rectangle 218"/>
          <p:cNvSpPr>
            <a:spLocks/>
          </p:cNvSpPr>
          <p:nvPr/>
        </p:nvSpPr>
        <p:spPr bwMode="auto">
          <a:xfrm>
            <a:off x="57150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18</a:t>
            </a:r>
          </a:p>
        </p:txBody>
      </p:sp>
      <p:sp>
        <p:nvSpPr>
          <p:cNvPr id="116892" name="Rectangle 219"/>
          <p:cNvSpPr>
            <a:spLocks/>
          </p:cNvSpPr>
          <p:nvPr/>
        </p:nvSpPr>
        <p:spPr bwMode="auto">
          <a:xfrm>
            <a:off x="61722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22</a:t>
            </a:r>
          </a:p>
        </p:txBody>
      </p:sp>
      <p:sp>
        <p:nvSpPr>
          <p:cNvPr id="116893" name="Rectangle 220"/>
          <p:cNvSpPr>
            <a:spLocks/>
          </p:cNvSpPr>
          <p:nvPr/>
        </p:nvSpPr>
        <p:spPr bwMode="auto">
          <a:xfrm>
            <a:off x="379413" y="5257800"/>
            <a:ext cx="358775"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24</a:t>
            </a:r>
          </a:p>
        </p:txBody>
      </p:sp>
      <p:sp>
        <p:nvSpPr>
          <p:cNvPr id="116894" name="Rectangle 221"/>
          <p:cNvSpPr>
            <a:spLocks/>
          </p:cNvSpPr>
          <p:nvPr/>
        </p:nvSpPr>
        <p:spPr bwMode="auto">
          <a:xfrm>
            <a:off x="7620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24</a:t>
            </a:r>
          </a:p>
        </p:txBody>
      </p:sp>
      <p:sp>
        <p:nvSpPr>
          <p:cNvPr id="116895" name="Rectangle 222"/>
          <p:cNvSpPr>
            <a:spLocks/>
          </p:cNvSpPr>
          <p:nvPr/>
        </p:nvSpPr>
        <p:spPr bwMode="auto">
          <a:xfrm>
            <a:off x="12192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29</a:t>
            </a:r>
          </a:p>
        </p:txBody>
      </p:sp>
      <p:sp>
        <p:nvSpPr>
          <p:cNvPr id="116896" name="Rectangle 223"/>
          <p:cNvSpPr>
            <a:spLocks/>
          </p:cNvSpPr>
          <p:nvPr/>
        </p:nvSpPr>
        <p:spPr bwMode="auto">
          <a:xfrm>
            <a:off x="16002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23</a:t>
            </a:r>
          </a:p>
        </p:txBody>
      </p:sp>
      <p:sp>
        <p:nvSpPr>
          <p:cNvPr id="116897" name="Rectangle 224"/>
          <p:cNvSpPr>
            <a:spLocks/>
          </p:cNvSpPr>
          <p:nvPr/>
        </p:nvSpPr>
        <p:spPr bwMode="auto">
          <a:xfrm>
            <a:off x="20574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18</a:t>
            </a:r>
          </a:p>
        </p:txBody>
      </p:sp>
      <p:sp>
        <p:nvSpPr>
          <p:cNvPr id="116898" name="Rectangle 225"/>
          <p:cNvSpPr>
            <a:spLocks/>
          </p:cNvSpPr>
          <p:nvPr/>
        </p:nvSpPr>
        <p:spPr bwMode="auto">
          <a:xfrm>
            <a:off x="26670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19</a:t>
            </a:r>
          </a:p>
        </p:txBody>
      </p:sp>
      <p:sp>
        <p:nvSpPr>
          <p:cNvPr id="116899" name="Rectangle 226"/>
          <p:cNvSpPr>
            <a:spLocks/>
          </p:cNvSpPr>
          <p:nvPr/>
        </p:nvSpPr>
        <p:spPr bwMode="auto">
          <a:xfrm>
            <a:off x="31242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18</a:t>
            </a:r>
          </a:p>
        </p:txBody>
      </p:sp>
      <p:sp>
        <p:nvSpPr>
          <p:cNvPr id="116900" name="Rectangle 227"/>
          <p:cNvSpPr>
            <a:spLocks/>
          </p:cNvSpPr>
          <p:nvPr/>
        </p:nvSpPr>
        <p:spPr bwMode="auto">
          <a:xfrm>
            <a:off x="35814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16</a:t>
            </a:r>
          </a:p>
        </p:txBody>
      </p:sp>
      <p:sp>
        <p:nvSpPr>
          <p:cNvPr id="116901" name="Rectangle 228"/>
          <p:cNvSpPr>
            <a:spLocks/>
          </p:cNvSpPr>
          <p:nvPr/>
        </p:nvSpPr>
        <p:spPr bwMode="auto">
          <a:xfrm>
            <a:off x="39624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
        <p:nvSpPr>
          <p:cNvPr id="116902" name="Rectangle 229"/>
          <p:cNvSpPr>
            <a:spLocks/>
          </p:cNvSpPr>
          <p:nvPr/>
        </p:nvSpPr>
        <p:spPr bwMode="auto">
          <a:xfrm>
            <a:off x="44196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
        <p:nvSpPr>
          <p:cNvPr id="116903" name="Rectangle 230"/>
          <p:cNvSpPr>
            <a:spLocks/>
          </p:cNvSpPr>
          <p:nvPr/>
        </p:nvSpPr>
        <p:spPr bwMode="auto">
          <a:xfrm>
            <a:off x="4800600" y="5821363"/>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14</a:t>
            </a:r>
          </a:p>
        </p:txBody>
      </p:sp>
      <p:sp>
        <p:nvSpPr>
          <p:cNvPr id="116904" name="Rectangle 231"/>
          <p:cNvSpPr>
            <a:spLocks/>
          </p:cNvSpPr>
          <p:nvPr/>
        </p:nvSpPr>
        <p:spPr bwMode="auto">
          <a:xfrm>
            <a:off x="57150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25</a:t>
            </a:r>
          </a:p>
        </p:txBody>
      </p:sp>
      <p:sp>
        <p:nvSpPr>
          <p:cNvPr id="116905" name="Rectangle 232"/>
          <p:cNvSpPr>
            <a:spLocks/>
          </p:cNvSpPr>
          <p:nvPr/>
        </p:nvSpPr>
        <p:spPr bwMode="auto">
          <a:xfrm>
            <a:off x="6399213" y="5257800"/>
            <a:ext cx="358775"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31</a:t>
            </a:r>
          </a:p>
        </p:txBody>
      </p:sp>
      <p:sp>
        <p:nvSpPr>
          <p:cNvPr id="116906" name="Rectangle 233"/>
          <p:cNvSpPr>
            <a:spLocks/>
          </p:cNvSpPr>
          <p:nvPr/>
        </p:nvSpPr>
        <p:spPr bwMode="auto">
          <a:xfrm>
            <a:off x="68580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25</a:t>
            </a:r>
          </a:p>
        </p:txBody>
      </p:sp>
      <p:sp>
        <p:nvSpPr>
          <p:cNvPr id="116907" name="Rectangle 234"/>
          <p:cNvSpPr>
            <a:spLocks/>
          </p:cNvSpPr>
          <p:nvPr/>
        </p:nvSpPr>
        <p:spPr bwMode="auto">
          <a:xfrm>
            <a:off x="51816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13</a:t>
            </a:r>
          </a:p>
        </p:txBody>
      </p:sp>
      <p:sp>
        <p:nvSpPr>
          <p:cNvPr id="116908" name="Rectangle 235"/>
          <p:cNvSpPr>
            <a:spLocks/>
          </p:cNvSpPr>
          <p:nvPr/>
        </p:nvSpPr>
        <p:spPr bwMode="auto">
          <a:xfrm>
            <a:off x="7696200" y="4495800"/>
            <a:ext cx="61753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f-cost</a:t>
            </a:r>
          </a:p>
        </p:txBody>
      </p:sp>
      <p:sp>
        <p:nvSpPr>
          <p:cNvPr id="116909" name="Rectangle 236"/>
          <p:cNvSpPr>
            <a:spLocks/>
          </p:cNvSpPr>
          <p:nvPr/>
        </p:nvSpPr>
        <p:spPr bwMode="auto">
          <a:xfrm>
            <a:off x="8756650" y="4495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10</a:t>
            </a:r>
          </a:p>
        </p:txBody>
      </p:sp>
      <p:sp>
        <p:nvSpPr>
          <p:cNvPr id="116910" name="Rectangle 237"/>
          <p:cNvSpPr>
            <a:spLocks/>
          </p:cNvSpPr>
          <p:nvPr/>
        </p:nvSpPr>
        <p:spPr bwMode="auto">
          <a:xfrm>
            <a:off x="6096000" y="52578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21</a:t>
            </a:r>
          </a:p>
        </p:txBody>
      </p:sp>
      <p:sp>
        <p:nvSpPr>
          <p:cNvPr id="116911" name="Rectangle 238"/>
          <p:cNvSpPr>
            <a:spLocks/>
          </p:cNvSpPr>
          <p:nvPr/>
        </p:nvSpPr>
        <p:spPr bwMode="auto">
          <a:xfrm>
            <a:off x="2514600" y="4267200"/>
            <a:ext cx="35718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14</a:t>
            </a:r>
          </a:p>
        </p:txBody>
      </p:sp>
      <p:sp>
        <p:nvSpPr>
          <p:cNvPr id="116912" name="Oval 239"/>
          <p:cNvSpPr>
            <a:spLocks/>
          </p:cNvSpPr>
          <p:nvPr/>
        </p:nvSpPr>
        <p:spPr bwMode="auto">
          <a:xfrm rot="-1319999">
            <a:off x="2879725" y="1308100"/>
            <a:ext cx="2684463" cy="4802188"/>
          </a:xfrm>
          <a:prstGeom prst="ellipse">
            <a:avLst/>
          </a:prstGeom>
          <a:gradFill rotWithShape="0">
            <a:gsLst>
              <a:gs pos="0">
                <a:srgbClr val="C000C0">
                  <a:alpha val="10001"/>
                </a:srgbClr>
              </a:gs>
              <a:gs pos="100000">
                <a:srgbClr val="590059">
                  <a:alpha val="10001"/>
                </a:srgbClr>
              </a:gs>
            </a:gsLst>
            <a:lin ang="4080000" scaled="1"/>
          </a:gradFill>
          <a:ln w="12700">
            <a:solidFill>
              <a:schemeClr val="tx1"/>
            </a:solidFill>
            <a:round/>
            <a:headEnd/>
            <a:tailEnd/>
          </a:ln>
        </p:spPr>
        <p:txBody>
          <a:bodyPr lIns="0" tIns="0" rIns="0" bIns="0"/>
          <a:lstStyle/>
          <a:p>
            <a:endParaRPr lang="en-US"/>
          </a:p>
        </p:txBody>
      </p:sp>
      <p:sp>
        <p:nvSpPr>
          <p:cNvPr id="116913" name="Oval 240"/>
          <p:cNvSpPr>
            <a:spLocks/>
          </p:cNvSpPr>
          <p:nvPr/>
        </p:nvSpPr>
        <p:spPr bwMode="auto">
          <a:xfrm>
            <a:off x="7696200" y="4953000"/>
            <a:ext cx="1447800" cy="685800"/>
          </a:xfrm>
          <a:prstGeom prst="ellipse">
            <a:avLst/>
          </a:prstGeom>
          <a:gradFill rotWithShape="0">
            <a:gsLst>
              <a:gs pos="0">
                <a:srgbClr val="C000C0">
                  <a:alpha val="10001"/>
                </a:srgbClr>
              </a:gs>
              <a:gs pos="100000">
                <a:srgbClr val="590059">
                  <a:alpha val="10001"/>
                </a:srgbClr>
              </a:gs>
            </a:gsLst>
            <a:lin ang="5400000" scaled="1"/>
          </a:gradFill>
          <a:ln w="12700">
            <a:solidFill>
              <a:schemeClr val="tx1"/>
            </a:solidFill>
            <a:round/>
            <a:headEnd/>
            <a:tailEnd/>
          </a:ln>
        </p:spPr>
        <p:txBody>
          <a:bodyPr lIns="0" tIns="0" rIns="0" bIns="0"/>
          <a:lstStyle/>
          <a:p>
            <a:endParaRPr lang="en-US"/>
          </a:p>
        </p:txBody>
      </p:sp>
      <p:sp>
        <p:nvSpPr>
          <p:cNvPr id="116914" name="Rectangle 241"/>
          <p:cNvSpPr>
            <a:spLocks/>
          </p:cNvSpPr>
          <p:nvPr/>
        </p:nvSpPr>
        <p:spPr bwMode="auto">
          <a:xfrm>
            <a:off x="7994650" y="5127625"/>
            <a:ext cx="820738" cy="317500"/>
          </a:xfrm>
          <a:prstGeom prst="rect">
            <a:avLst/>
          </a:prstGeom>
          <a:noFill/>
          <a:ln w="12700">
            <a:noFill/>
            <a:miter lim="800000"/>
            <a:headEnd/>
            <a:tailEnd/>
          </a:ln>
        </p:spPr>
        <p:txBody>
          <a:bodyPr wrap="none" lIns="0" tIns="0" rIns="40639" bIns="0">
            <a:spAutoFit/>
          </a:bodyPr>
          <a:lstStyle/>
          <a:p>
            <a:pPr marL="39688"/>
            <a:r>
              <a:rPr lang="en-US" sz="1600">
                <a:solidFill>
                  <a:schemeClr val="tx1"/>
                </a:solidFill>
                <a:cs typeface="Times New Roman" pitchFamily="18" charset="0"/>
              </a:rPr>
              <a:t>Contour</a:t>
            </a:r>
          </a:p>
        </p:txBody>
      </p:sp>
    </p:spTree>
  </p:cSld>
  <p:clrMapOvr>
    <a:masterClrMapping/>
  </p:clrMapOv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dirty="0"/>
              <a:t>A</a:t>
            </a:r>
            <a:r>
              <a:rPr lang="en-US" baseline="30000" dirty="0"/>
              <a:t>*</a:t>
            </a:r>
            <a:r>
              <a:rPr lang="en-US" dirty="0"/>
              <a:t> search example</a:t>
            </a:r>
          </a:p>
        </p:txBody>
      </p:sp>
      <p:pic>
        <p:nvPicPr>
          <p:cNvPr id="4" name="Picture 4"/>
          <p:cNvPicPr>
            <a:picLocks noGrp="1" noChangeAspect="1" noChangeArrowheads="1"/>
          </p:cNvPicPr>
          <p:nvPr>
            <p:ph sz="quarter" idx="1"/>
          </p:nvPr>
        </p:nvPicPr>
        <p:blipFill>
          <a:blip r:embed="rId2"/>
          <a:srcRect/>
          <a:stretch>
            <a:fillRect/>
          </a:stretch>
        </p:blipFill>
        <p:spPr bwMode="auto">
          <a:xfrm>
            <a:off x="533400" y="1524000"/>
            <a:ext cx="8305800" cy="4648200"/>
          </a:xfrm>
          <a:prstGeom prst="rect">
            <a:avLst/>
          </a:prstGeom>
          <a:noFill/>
          <a:ln w="9525">
            <a:noFill/>
            <a:miter lim="800000"/>
            <a:headEnd/>
            <a:tailEnd/>
          </a:ln>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star-progress01c"/>
          <p:cNvPicPr>
            <a:picLocks noGrp="1" noChangeAspect="1" noChangeArrowheads="1"/>
          </p:cNvPicPr>
          <p:nvPr>
            <p:ph sz="quarter" idx="1"/>
          </p:nvPr>
        </p:nvPicPr>
        <p:blipFill>
          <a:blip r:embed="rId2"/>
          <a:srcRect/>
          <a:stretch>
            <a:fillRect/>
          </a:stretch>
        </p:blipFill>
        <p:spPr bwMode="auto">
          <a:xfrm>
            <a:off x="1848644" y="1600200"/>
            <a:ext cx="5410200" cy="4419600"/>
          </a:xfrm>
          <a:prstGeom prst="rect">
            <a:avLst/>
          </a:prstGeom>
          <a:noFill/>
        </p:spPr>
      </p:pic>
      <p:sp>
        <p:nvSpPr>
          <p:cNvPr id="5" name="Rectangle 2"/>
          <p:cNvSpPr>
            <a:spLocks noGrp="1" noChangeArrowheads="1"/>
          </p:cNvSpPr>
          <p:nvPr>
            <p:ph type="title"/>
          </p:nvPr>
        </p:nvSpPr>
        <p:spPr/>
        <p:txBody>
          <a:bodyPr/>
          <a:lstStyle/>
          <a:p>
            <a:r>
              <a:rPr lang="en-US" dirty="0"/>
              <a:t>A</a:t>
            </a:r>
            <a:r>
              <a:rPr lang="en-US" baseline="30000" dirty="0"/>
              <a:t>*</a:t>
            </a:r>
            <a:r>
              <a:rPr lang="en-US" dirty="0"/>
              <a:t> search example</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descr="astar-progress02c"/>
          <p:cNvPicPr>
            <a:picLocks noChangeAspect="1" noChangeArrowheads="1"/>
          </p:cNvPicPr>
          <p:nvPr/>
        </p:nvPicPr>
        <p:blipFill>
          <a:blip r:embed="rId2"/>
          <a:srcRect/>
          <a:stretch>
            <a:fillRect/>
          </a:stretch>
        </p:blipFill>
        <p:spPr bwMode="auto">
          <a:xfrm>
            <a:off x="762000" y="1676400"/>
            <a:ext cx="7620000" cy="4419600"/>
          </a:xfrm>
          <a:prstGeom prst="rect">
            <a:avLst/>
          </a:prstGeom>
          <a:noFill/>
        </p:spPr>
      </p:pic>
      <p:sp>
        <p:nvSpPr>
          <p:cNvPr id="17410" name="Rectangle 2"/>
          <p:cNvSpPr>
            <a:spLocks noGrp="1" noChangeArrowheads="1"/>
          </p:cNvSpPr>
          <p:nvPr>
            <p:ph type="title"/>
          </p:nvPr>
        </p:nvSpPr>
        <p:spPr/>
        <p:txBody>
          <a:bodyPr/>
          <a:lstStyle/>
          <a:p>
            <a:r>
              <a:rPr lang="en-US"/>
              <a:t>A</a:t>
            </a:r>
            <a:r>
              <a:rPr lang="en-US" baseline="30000"/>
              <a:t>*</a:t>
            </a:r>
            <a:r>
              <a:rPr lang="en-US"/>
              <a:t> search example</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t>A</a:t>
            </a:r>
            <a:r>
              <a:rPr lang="en-US" baseline="30000"/>
              <a:t>*</a:t>
            </a:r>
            <a:r>
              <a:rPr lang="en-US"/>
              <a:t> search example</a:t>
            </a:r>
          </a:p>
        </p:txBody>
      </p:sp>
      <p:pic>
        <p:nvPicPr>
          <p:cNvPr id="18437" name="Picture 5" descr="astar-progress03c"/>
          <p:cNvPicPr>
            <a:picLocks noChangeAspect="1" noChangeArrowheads="1"/>
          </p:cNvPicPr>
          <p:nvPr/>
        </p:nvPicPr>
        <p:blipFill>
          <a:blip r:embed="rId2"/>
          <a:srcRect/>
          <a:stretch>
            <a:fillRect/>
          </a:stretch>
        </p:blipFill>
        <p:spPr bwMode="auto">
          <a:xfrm>
            <a:off x="304800" y="1524000"/>
            <a:ext cx="8534400" cy="4495800"/>
          </a:xfrm>
          <a:prstGeom prst="rect">
            <a:avLst/>
          </a:prstGeom>
          <a:noFill/>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t>A</a:t>
            </a:r>
            <a:r>
              <a:rPr lang="en-US" baseline="30000"/>
              <a:t>*</a:t>
            </a:r>
            <a:r>
              <a:rPr lang="en-US"/>
              <a:t> search example</a:t>
            </a:r>
          </a:p>
        </p:txBody>
      </p:sp>
      <p:pic>
        <p:nvPicPr>
          <p:cNvPr id="19460" name="Picture 4" descr="astar-progress04c"/>
          <p:cNvPicPr>
            <a:picLocks noChangeAspect="1" noChangeArrowheads="1"/>
          </p:cNvPicPr>
          <p:nvPr/>
        </p:nvPicPr>
        <p:blipFill>
          <a:blip r:embed="rId2"/>
          <a:srcRect/>
          <a:stretch>
            <a:fillRect/>
          </a:stretch>
        </p:blipFill>
        <p:spPr bwMode="auto">
          <a:xfrm>
            <a:off x="228600" y="1600200"/>
            <a:ext cx="8534400" cy="4419600"/>
          </a:xfrm>
          <a:prstGeom prst="rect">
            <a:avLst/>
          </a:prstGeom>
          <a:noFill/>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A</a:t>
            </a:r>
            <a:r>
              <a:rPr lang="en-US" baseline="30000"/>
              <a:t>*</a:t>
            </a:r>
            <a:r>
              <a:rPr lang="en-US"/>
              <a:t> search example</a:t>
            </a:r>
          </a:p>
        </p:txBody>
      </p:sp>
      <p:pic>
        <p:nvPicPr>
          <p:cNvPr id="20484" name="Picture 4" descr="astar-progress05c"/>
          <p:cNvPicPr>
            <a:picLocks noChangeAspect="1" noChangeArrowheads="1"/>
          </p:cNvPicPr>
          <p:nvPr/>
        </p:nvPicPr>
        <p:blipFill>
          <a:blip r:embed="rId2"/>
          <a:srcRect/>
          <a:stretch>
            <a:fillRect/>
          </a:stretch>
        </p:blipFill>
        <p:spPr bwMode="auto">
          <a:xfrm>
            <a:off x="304800" y="1600200"/>
            <a:ext cx="8382000" cy="4648200"/>
          </a:xfrm>
          <a:prstGeom prst="rect">
            <a:avLst/>
          </a:prstGeom>
          <a:noFill/>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t>A</a:t>
            </a:r>
            <a:r>
              <a:rPr lang="en-US" baseline="30000"/>
              <a:t>*</a:t>
            </a:r>
            <a:r>
              <a:rPr lang="en-US"/>
              <a:t> search example</a:t>
            </a:r>
          </a:p>
        </p:txBody>
      </p:sp>
      <p:pic>
        <p:nvPicPr>
          <p:cNvPr id="21508" name="Picture 4" descr="astar-progress06c"/>
          <p:cNvPicPr>
            <a:picLocks noChangeAspect="1" noChangeArrowheads="1"/>
          </p:cNvPicPr>
          <p:nvPr/>
        </p:nvPicPr>
        <p:blipFill>
          <a:blip r:embed="rId2"/>
          <a:srcRect/>
          <a:stretch>
            <a:fillRect/>
          </a:stretch>
        </p:blipFill>
        <p:spPr bwMode="auto">
          <a:xfrm>
            <a:off x="228600" y="1600200"/>
            <a:ext cx="8610600" cy="4648200"/>
          </a:xfrm>
          <a:prstGeom prst="rect">
            <a:avLst/>
          </a:prstGeom>
          <a:noFill/>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9" name="Rectangle 3"/>
          <p:cNvSpPr>
            <a:spLocks noGrp="1" noChangeArrowheads="1"/>
          </p:cNvSpPr>
          <p:nvPr>
            <p:ph type="body" idx="1"/>
          </p:nvPr>
        </p:nvSpPr>
        <p:spPr>
          <a:xfrm>
            <a:off x="457200" y="1447800"/>
            <a:ext cx="7629840" cy="1524000"/>
          </a:xfrm>
        </p:spPr>
        <p:txBody>
          <a:bodyPr lIns="82945" tIns="41473" rIns="82945" bIns="41473">
            <a:normAutofit/>
          </a:bodyPr>
          <a:lstStyle/>
          <a:p>
            <a:pPr marL="0" indent="0">
              <a:buNone/>
            </a:pPr>
            <a:r>
              <a:rPr lang="en-US" sz="2200" dirty="0"/>
              <a:t>A simple search problem: S is the start node, G is the goal node, the real distances are shown.</a:t>
            </a:r>
          </a:p>
        </p:txBody>
      </p:sp>
      <p:sp>
        <p:nvSpPr>
          <p:cNvPr id="260102" name="Rectangle 6"/>
          <p:cNvSpPr>
            <a:spLocks noChangeArrowheads="1"/>
          </p:cNvSpPr>
          <p:nvPr/>
        </p:nvSpPr>
        <p:spPr bwMode="auto">
          <a:xfrm>
            <a:off x="685800" y="3810000"/>
            <a:ext cx="7401240" cy="609600"/>
          </a:xfrm>
          <a:prstGeom prst="rect">
            <a:avLst/>
          </a:prstGeom>
          <a:noFill/>
          <a:ln w="9525">
            <a:noFill/>
            <a:miter lim="800000"/>
            <a:headEnd/>
            <a:tailEnd/>
          </a:ln>
        </p:spPr>
        <p:txBody>
          <a:bodyPr lIns="82945" tIns="41473" rIns="82945" bIns="41473"/>
          <a:lstStyle/>
          <a:p>
            <a:pPr>
              <a:spcBef>
                <a:spcPct val="20000"/>
              </a:spcBef>
              <a:spcAft>
                <a:spcPts val="544"/>
              </a:spcAft>
              <a:buClr>
                <a:srgbClr val="800000"/>
              </a:buClr>
              <a:buSzPct val="100000"/>
            </a:pPr>
            <a:r>
              <a:rPr lang="en-US" dirty="0">
                <a:solidFill>
                  <a:srgbClr val="333333"/>
                </a:solidFill>
              </a:rPr>
              <a:t>A lower-bound estimate of the distance to G could be as follows (note that we do not need it for F):</a:t>
            </a:r>
          </a:p>
        </p:txBody>
      </p:sp>
      <p:grpSp>
        <p:nvGrpSpPr>
          <p:cNvPr id="2" name="Group 8"/>
          <p:cNvGrpSpPr>
            <a:grpSpLocks/>
          </p:cNvGrpSpPr>
          <p:nvPr/>
        </p:nvGrpSpPr>
        <p:grpSpPr bwMode="auto">
          <a:xfrm>
            <a:off x="3110400" y="2133600"/>
            <a:ext cx="2856960" cy="1524000"/>
            <a:chOff x="2656" y="684"/>
            <a:chExt cx="1984" cy="1056"/>
          </a:xfrm>
        </p:grpSpPr>
        <p:grpSp>
          <p:nvGrpSpPr>
            <p:cNvPr id="3" name="Group 9"/>
            <p:cNvGrpSpPr>
              <a:grpSpLocks/>
            </p:cNvGrpSpPr>
            <p:nvPr/>
          </p:nvGrpSpPr>
          <p:grpSpPr bwMode="auto">
            <a:xfrm>
              <a:off x="3000" y="750"/>
              <a:ext cx="246" cy="242"/>
              <a:chOff x="3712" y="382"/>
              <a:chExt cx="246" cy="242"/>
            </a:xfrm>
          </p:grpSpPr>
          <p:sp>
            <p:nvSpPr>
              <p:cNvPr id="20565" name="Text Box 10"/>
              <p:cNvSpPr txBox="1">
                <a:spLocks noChangeArrowheads="1"/>
              </p:cNvSpPr>
              <p:nvPr/>
            </p:nvSpPr>
            <p:spPr bwMode="auto">
              <a:xfrm>
                <a:off x="3734" y="382"/>
                <a:ext cx="224"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A</a:t>
                </a:r>
              </a:p>
            </p:txBody>
          </p:sp>
          <p:sp>
            <p:nvSpPr>
              <p:cNvPr id="20566" name="Oval 11"/>
              <p:cNvSpPr>
                <a:spLocks noChangeArrowheads="1"/>
              </p:cNvSpPr>
              <p:nvPr/>
            </p:nvSpPr>
            <p:spPr bwMode="auto">
              <a:xfrm>
                <a:off x="3712" y="384"/>
                <a:ext cx="240" cy="240"/>
              </a:xfrm>
              <a:prstGeom prst="ellipse">
                <a:avLst/>
              </a:prstGeom>
              <a:noFill/>
              <a:ln w="9525">
                <a:solidFill>
                  <a:schemeClr val="tx1"/>
                </a:solidFill>
                <a:round/>
                <a:headEnd/>
                <a:tailEnd/>
              </a:ln>
            </p:spPr>
            <p:txBody>
              <a:bodyPr wrap="none" anchor="ctr"/>
              <a:lstStyle/>
              <a:p>
                <a:endParaRPr lang="en-US"/>
              </a:p>
            </p:txBody>
          </p:sp>
        </p:grpSp>
        <p:grpSp>
          <p:nvGrpSpPr>
            <p:cNvPr id="4" name="Group 12"/>
            <p:cNvGrpSpPr>
              <a:grpSpLocks/>
            </p:cNvGrpSpPr>
            <p:nvPr/>
          </p:nvGrpSpPr>
          <p:grpSpPr bwMode="auto">
            <a:xfrm>
              <a:off x="3648" y="749"/>
              <a:ext cx="246" cy="243"/>
              <a:chOff x="3704" y="789"/>
              <a:chExt cx="246" cy="243"/>
            </a:xfrm>
          </p:grpSpPr>
          <p:sp>
            <p:nvSpPr>
              <p:cNvPr id="20563" name="Text Box 13"/>
              <p:cNvSpPr txBox="1">
                <a:spLocks noChangeArrowheads="1"/>
              </p:cNvSpPr>
              <p:nvPr/>
            </p:nvSpPr>
            <p:spPr bwMode="auto">
              <a:xfrm>
                <a:off x="3728" y="789"/>
                <a:ext cx="222"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B</a:t>
                </a:r>
              </a:p>
            </p:txBody>
          </p:sp>
          <p:sp>
            <p:nvSpPr>
              <p:cNvPr id="20564" name="Oval 14"/>
              <p:cNvSpPr>
                <a:spLocks noChangeArrowheads="1"/>
              </p:cNvSpPr>
              <p:nvPr/>
            </p:nvSpPr>
            <p:spPr bwMode="auto">
              <a:xfrm>
                <a:off x="3704" y="792"/>
                <a:ext cx="240" cy="240"/>
              </a:xfrm>
              <a:prstGeom prst="ellipse">
                <a:avLst/>
              </a:prstGeom>
              <a:noFill/>
              <a:ln w="9525">
                <a:solidFill>
                  <a:schemeClr val="tx1"/>
                </a:solidFill>
                <a:round/>
                <a:headEnd/>
                <a:tailEnd/>
              </a:ln>
            </p:spPr>
            <p:txBody>
              <a:bodyPr wrap="none" anchor="ctr"/>
              <a:lstStyle/>
              <a:p>
                <a:endParaRPr lang="en-US"/>
              </a:p>
            </p:txBody>
          </p:sp>
        </p:grpSp>
        <p:grpSp>
          <p:nvGrpSpPr>
            <p:cNvPr id="5" name="Group 15"/>
            <p:cNvGrpSpPr>
              <a:grpSpLocks/>
            </p:cNvGrpSpPr>
            <p:nvPr/>
          </p:nvGrpSpPr>
          <p:grpSpPr bwMode="auto">
            <a:xfrm>
              <a:off x="4280" y="748"/>
              <a:ext cx="240" cy="244"/>
              <a:chOff x="3720" y="1196"/>
              <a:chExt cx="240" cy="244"/>
            </a:xfrm>
          </p:grpSpPr>
          <p:sp>
            <p:nvSpPr>
              <p:cNvPr id="20561" name="Text Box 16"/>
              <p:cNvSpPr txBox="1">
                <a:spLocks noChangeArrowheads="1"/>
              </p:cNvSpPr>
              <p:nvPr/>
            </p:nvSpPr>
            <p:spPr bwMode="auto">
              <a:xfrm>
                <a:off x="3722" y="1196"/>
                <a:ext cx="220"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C</a:t>
                </a:r>
              </a:p>
            </p:txBody>
          </p:sp>
          <p:sp>
            <p:nvSpPr>
              <p:cNvPr id="20562" name="Oval 17"/>
              <p:cNvSpPr>
                <a:spLocks noChangeArrowheads="1"/>
              </p:cNvSpPr>
              <p:nvPr/>
            </p:nvSpPr>
            <p:spPr bwMode="auto">
              <a:xfrm>
                <a:off x="3720" y="1200"/>
                <a:ext cx="240" cy="240"/>
              </a:xfrm>
              <a:prstGeom prst="ellipse">
                <a:avLst/>
              </a:prstGeom>
              <a:noFill/>
              <a:ln w="9525">
                <a:solidFill>
                  <a:schemeClr val="tx1"/>
                </a:solidFill>
                <a:round/>
                <a:headEnd/>
                <a:tailEnd/>
              </a:ln>
            </p:spPr>
            <p:txBody>
              <a:bodyPr wrap="none" anchor="ctr"/>
              <a:lstStyle/>
              <a:p>
                <a:endParaRPr lang="en-US"/>
              </a:p>
            </p:txBody>
          </p:sp>
        </p:grpSp>
        <p:grpSp>
          <p:nvGrpSpPr>
            <p:cNvPr id="6" name="Group 18"/>
            <p:cNvGrpSpPr>
              <a:grpSpLocks/>
            </p:cNvGrpSpPr>
            <p:nvPr/>
          </p:nvGrpSpPr>
          <p:grpSpPr bwMode="auto">
            <a:xfrm>
              <a:off x="3080" y="1480"/>
              <a:ext cx="247" cy="253"/>
              <a:chOff x="3704" y="1603"/>
              <a:chExt cx="247" cy="253"/>
            </a:xfrm>
          </p:grpSpPr>
          <p:sp>
            <p:nvSpPr>
              <p:cNvPr id="20559" name="Text Box 19"/>
              <p:cNvSpPr txBox="1">
                <a:spLocks noChangeArrowheads="1"/>
              </p:cNvSpPr>
              <p:nvPr/>
            </p:nvSpPr>
            <p:spPr bwMode="auto">
              <a:xfrm>
                <a:off x="3716" y="1603"/>
                <a:ext cx="235"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D</a:t>
                </a:r>
              </a:p>
            </p:txBody>
          </p:sp>
          <p:sp>
            <p:nvSpPr>
              <p:cNvPr id="20560" name="Oval 20"/>
              <p:cNvSpPr>
                <a:spLocks noChangeArrowheads="1"/>
              </p:cNvSpPr>
              <p:nvPr/>
            </p:nvSpPr>
            <p:spPr bwMode="auto">
              <a:xfrm>
                <a:off x="3704" y="1616"/>
                <a:ext cx="240" cy="240"/>
              </a:xfrm>
              <a:prstGeom prst="ellipse">
                <a:avLst/>
              </a:prstGeom>
              <a:noFill/>
              <a:ln w="9525">
                <a:solidFill>
                  <a:schemeClr val="tx1"/>
                </a:solidFill>
                <a:round/>
                <a:headEnd/>
                <a:tailEnd/>
              </a:ln>
            </p:spPr>
            <p:txBody>
              <a:bodyPr wrap="none" anchor="ctr"/>
              <a:lstStyle/>
              <a:p>
                <a:endParaRPr lang="en-US"/>
              </a:p>
            </p:txBody>
          </p:sp>
        </p:grpSp>
        <p:grpSp>
          <p:nvGrpSpPr>
            <p:cNvPr id="7" name="Group 21"/>
            <p:cNvGrpSpPr>
              <a:grpSpLocks/>
            </p:cNvGrpSpPr>
            <p:nvPr/>
          </p:nvGrpSpPr>
          <p:grpSpPr bwMode="auto">
            <a:xfrm>
              <a:off x="3448" y="1490"/>
              <a:ext cx="240" cy="246"/>
              <a:chOff x="3696" y="2010"/>
              <a:chExt cx="240" cy="246"/>
            </a:xfrm>
          </p:grpSpPr>
          <p:sp>
            <p:nvSpPr>
              <p:cNvPr id="20557" name="Text Box 22"/>
              <p:cNvSpPr txBox="1">
                <a:spLocks noChangeArrowheads="1"/>
              </p:cNvSpPr>
              <p:nvPr/>
            </p:nvSpPr>
            <p:spPr bwMode="auto">
              <a:xfrm>
                <a:off x="3710" y="2010"/>
                <a:ext cx="222"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E</a:t>
                </a:r>
              </a:p>
            </p:txBody>
          </p:sp>
          <p:sp>
            <p:nvSpPr>
              <p:cNvPr id="20558" name="Oval 23"/>
              <p:cNvSpPr>
                <a:spLocks noChangeArrowheads="1"/>
              </p:cNvSpPr>
              <p:nvPr/>
            </p:nvSpPr>
            <p:spPr bwMode="auto">
              <a:xfrm>
                <a:off x="3696" y="2016"/>
                <a:ext cx="240" cy="240"/>
              </a:xfrm>
              <a:prstGeom prst="ellipse">
                <a:avLst/>
              </a:prstGeom>
              <a:noFill/>
              <a:ln w="9525">
                <a:solidFill>
                  <a:schemeClr val="tx1"/>
                </a:solidFill>
                <a:round/>
                <a:headEnd/>
                <a:tailEnd/>
              </a:ln>
            </p:spPr>
            <p:txBody>
              <a:bodyPr wrap="none" anchor="ctr"/>
              <a:lstStyle/>
              <a:p>
                <a:endParaRPr lang="en-US"/>
              </a:p>
            </p:txBody>
          </p:sp>
        </p:grpSp>
        <p:grpSp>
          <p:nvGrpSpPr>
            <p:cNvPr id="8" name="Group 24"/>
            <p:cNvGrpSpPr>
              <a:grpSpLocks/>
            </p:cNvGrpSpPr>
            <p:nvPr/>
          </p:nvGrpSpPr>
          <p:grpSpPr bwMode="auto">
            <a:xfrm>
              <a:off x="4080" y="1496"/>
              <a:ext cx="240" cy="244"/>
              <a:chOff x="3680" y="2408"/>
              <a:chExt cx="240" cy="244"/>
            </a:xfrm>
          </p:grpSpPr>
          <p:sp>
            <p:nvSpPr>
              <p:cNvPr id="20555" name="Text Box 25"/>
              <p:cNvSpPr txBox="1">
                <a:spLocks noChangeArrowheads="1"/>
              </p:cNvSpPr>
              <p:nvPr/>
            </p:nvSpPr>
            <p:spPr bwMode="auto">
              <a:xfrm>
                <a:off x="3704" y="2417"/>
                <a:ext cx="214"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F</a:t>
                </a:r>
              </a:p>
            </p:txBody>
          </p:sp>
          <p:sp>
            <p:nvSpPr>
              <p:cNvPr id="20556" name="Oval 26"/>
              <p:cNvSpPr>
                <a:spLocks noChangeArrowheads="1"/>
              </p:cNvSpPr>
              <p:nvPr/>
            </p:nvSpPr>
            <p:spPr bwMode="auto">
              <a:xfrm>
                <a:off x="3680" y="2408"/>
                <a:ext cx="240" cy="240"/>
              </a:xfrm>
              <a:prstGeom prst="ellipse">
                <a:avLst/>
              </a:prstGeom>
              <a:noFill/>
              <a:ln w="9525">
                <a:solidFill>
                  <a:schemeClr val="tx1"/>
                </a:solidFill>
                <a:round/>
                <a:headEnd/>
                <a:tailEnd/>
              </a:ln>
            </p:spPr>
            <p:txBody>
              <a:bodyPr wrap="none" anchor="ctr"/>
              <a:lstStyle/>
              <a:p>
                <a:endParaRPr lang="en-US"/>
              </a:p>
            </p:txBody>
          </p:sp>
        </p:grpSp>
        <p:grpSp>
          <p:nvGrpSpPr>
            <p:cNvPr id="9" name="Group 27"/>
            <p:cNvGrpSpPr>
              <a:grpSpLocks/>
            </p:cNvGrpSpPr>
            <p:nvPr/>
          </p:nvGrpSpPr>
          <p:grpSpPr bwMode="auto">
            <a:xfrm>
              <a:off x="4400" y="1200"/>
              <a:ext cx="240" cy="240"/>
              <a:chOff x="3696" y="2824"/>
              <a:chExt cx="240" cy="240"/>
            </a:xfrm>
          </p:grpSpPr>
          <p:sp>
            <p:nvSpPr>
              <p:cNvPr id="20553" name="Text Box 28"/>
              <p:cNvSpPr txBox="1">
                <a:spLocks noChangeArrowheads="1"/>
              </p:cNvSpPr>
              <p:nvPr/>
            </p:nvSpPr>
            <p:spPr bwMode="auto">
              <a:xfrm>
                <a:off x="3698" y="2824"/>
                <a:ext cx="232"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G</a:t>
                </a:r>
              </a:p>
            </p:txBody>
          </p:sp>
          <p:sp>
            <p:nvSpPr>
              <p:cNvPr id="20554" name="Oval 29"/>
              <p:cNvSpPr>
                <a:spLocks noChangeArrowheads="1"/>
              </p:cNvSpPr>
              <p:nvPr/>
            </p:nvSpPr>
            <p:spPr bwMode="auto">
              <a:xfrm>
                <a:off x="3696" y="2824"/>
                <a:ext cx="240" cy="240"/>
              </a:xfrm>
              <a:prstGeom prst="ellipse">
                <a:avLst/>
              </a:prstGeom>
              <a:noFill/>
              <a:ln w="9525">
                <a:solidFill>
                  <a:schemeClr val="tx1"/>
                </a:solidFill>
                <a:round/>
                <a:headEnd/>
                <a:tailEnd/>
              </a:ln>
            </p:spPr>
            <p:txBody>
              <a:bodyPr wrap="none" anchor="ctr"/>
              <a:lstStyle/>
              <a:p>
                <a:endParaRPr lang="en-US"/>
              </a:p>
            </p:txBody>
          </p:sp>
        </p:grpSp>
        <p:grpSp>
          <p:nvGrpSpPr>
            <p:cNvPr id="10" name="Group 30"/>
            <p:cNvGrpSpPr>
              <a:grpSpLocks/>
            </p:cNvGrpSpPr>
            <p:nvPr/>
          </p:nvGrpSpPr>
          <p:grpSpPr bwMode="auto">
            <a:xfrm>
              <a:off x="2656" y="1080"/>
              <a:ext cx="240" cy="242"/>
              <a:chOff x="3680" y="3224"/>
              <a:chExt cx="240" cy="242"/>
            </a:xfrm>
          </p:grpSpPr>
          <p:sp>
            <p:nvSpPr>
              <p:cNvPr id="20551" name="Text Box 31"/>
              <p:cNvSpPr txBox="1">
                <a:spLocks noChangeArrowheads="1"/>
              </p:cNvSpPr>
              <p:nvPr/>
            </p:nvSpPr>
            <p:spPr bwMode="auto">
              <a:xfrm>
                <a:off x="3692" y="3231"/>
                <a:ext cx="208"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S</a:t>
                </a:r>
              </a:p>
            </p:txBody>
          </p:sp>
          <p:sp>
            <p:nvSpPr>
              <p:cNvPr id="20552" name="Oval 32"/>
              <p:cNvSpPr>
                <a:spLocks noChangeArrowheads="1"/>
              </p:cNvSpPr>
              <p:nvPr/>
            </p:nvSpPr>
            <p:spPr bwMode="auto">
              <a:xfrm>
                <a:off x="3680" y="3224"/>
                <a:ext cx="240" cy="240"/>
              </a:xfrm>
              <a:prstGeom prst="ellipse">
                <a:avLst/>
              </a:prstGeom>
              <a:noFill/>
              <a:ln w="9525">
                <a:solidFill>
                  <a:schemeClr val="tx1"/>
                </a:solidFill>
                <a:round/>
                <a:headEnd/>
                <a:tailEnd/>
              </a:ln>
            </p:spPr>
            <p:txBody>
              <a:bodyPr wrap="none" anchor="ctr"/>
              <a:lstStyle/>
              <a:p>
                <a:endParaRPr lang="en-US"/>
              </a:p>
            </p:txBody>
          </p:sp>
        </p:grpSp>
        <p:sp>
          <p:nvSpPr>
            <p:cNvPr id="20533" name="Line 33"/>
            <p:cNvSpPr>
              <a:spLocks noChangeShapeType="1"/>
            </p:cNvSpPr>
            <p:nvPr/>
          </p:nvSpPr>
          <p:spPr bwMode="auto">
            <a:xfrm>
              <a:off x="3232" y="864"/>
              <a:ext cx="408" cy="0"/>
            </a:xfrm>
            <a:prstGeom prst="line">
              <a:avLst/>
            </a:prstGeom>
            <a:noFill/>
            <a:ln w="9525">
              <a:solidFill>
                <a:schemeClr val="tx1"/>
              </a:solidFill>
              <a:round/>
              <a:headEnd/>
              <a:tailEnd/>
            </a:ln>
          </p:spPr>
          <p:txBody>
            <a:bodyPr wrap="none" anchor="ctr"/>
            <a:lstStyle/>
            <a:p>
              <a:endParaRPr lang="en-US"/>
            </a:p>
          </p:txBody>
        </p:sp>
        <p:sp>
          <p:nvSpPr>
            <p:cNvPr id="20534" name="Line 34"/>
            <p:cNvSpPr>
              <a:spLocks noChangeShapeType="1"/>
            </p:cNvSpPr>
            <p:nvPr/>
          </p:nvSpPr>
          <p:spPr bwMode="auto">
            <a:xfrm>
              <a:off x="3880" y="864"/>
              <a:ext cx="400" cy="0"/>
            </a:xfrm>
            <a:prstGeom prst="line">
              <a:avLst/>
            </a:prstGeom>
            <a:noFill/>
            <a:ln w="9525">
              <a:solidFill>
                <a:schemeClr val="tx1"/>
              </a:solidFill>
              <a:round/>
              <a:headEnd/>
              <a:tailEnd/>
            </a:ln>
          </p:spPr>
          <p:txBody>
            <a:bodyPr wrap="none" anchor="ctr"/>
            <a:lstStyle/>
            <a:p>
              <a:endParaRPr lang="en-US"/>
            </a:p>
          </p:txBody>
        </p:sp>
        <p:sp>
          <p:nvSpPr>
            <p:cNvPr id="20535" name="Line 35"/>
            <p:cNvSpPr>
              <a:spLocks noChangeShapeType="1"/>
            </p:cNvSpPr>
            <p:nvPr/>
          </p:nvSpPr>
          <p:spPr bwMode="auto">
            <a:xfrm>
              <a:off x="3312" y="1608"/>
              <a:ext cx="136" cy="0"/>
            </a:xfrm>
            <a:prstGeom prst="line">
              <a:avLst/>
            </a:prstGeom>
            <a:noFill/>
            <a:ln w="9525">
              <a:solidFill>
                <a:schemeClr val="tx1"/>
              </a:solidFill>
              <a:round/>
              <a:headEnd/>
              <a:tailEnd/>
            </a:ln>
          </p:spPr>
          <p:txBody>
            <a:bodyPr wrap="none" anchor="ctr"/>
            <a:lstStyle/>
            <a:p>
              <a:endParaRPr lang="en-US"/>
            </a:p>
          </p:txBody>
        </p:sp>
        <p:sp>
          <p:nvSpPr>
            <p:cNvPr id="20536" name="Line 36"/>
            <p:cNvSpPr>
              <a:spLocks noChangeShapeType="1"/>
            </p:cNvSpPr>
            <p:nvPr/>
          </p:nvSpPr>
          <p:spPr bwMode="auto">
            <a:xfrm>
              <a:off x="3680" y="1608"/>
              <a:ext cx="400" cy="0"/>
            </a:xfrm>
            <a:prstGeom prst="line">
              <a:avLst/>
            </a:prstGeom>
            <a:noFill/>
            <a:ln w="9525">
              <a:solidFill>
                <a:schemeClr val="tx1"/>
              </a:solidFill>
              <a:round/>
              <a:headEnd/>
              <a:tailEnd/>
            </a:ln>
          </p:spPr>
          <p:txBody>
            <a:bodyPr wrap="none" anchor="ctr"/>
            <a:lstStyle/>
            <a:p>
              <a:endParaRPr lang="en-US"/>
            </a:p>
          </p:txBody>
        </p:sp>
        <p:sp>
          <p:nvSpPr>
            <p:cNvPr id="20537" name="Line 37"/>
            <p:cNvSpPr>
              <a:spLocks noChangeShapeType="1"/>
            </p:cNvSpPr>
            <p:nvPr/>
          </p:nvSpPr>
          <p:spPr bwMode="auto">
            <a:xfrm flipH="1">
              <a:off x="2856" y="960"/>
              <a:ext cx="168" cy="160"/>
            </a:xfrm>
            <a:prstGeom prst="line">
              <a:avLst/>
            </a:prstGeom>
            <a:noFill/>
            <a:ln w="9525">
              <a:solidFill>
                <a:schemeClr val="tx1"/>
              </a:solidFill>
              <a:round/>
              <a:headEnd/>
              <a:tailEnd/>
            </a:ln>
          </p:spPr>
          <p:txBody>
            <a:bodyPr wrap="none" anchor="ctr"/>
            <a:lstStyle/>
            <a:p>
              <a:endParaRPr lang="en-US"/>
            </a:p>
          </p:txBody>
        </p:sp>
        <p:sp>
          <p:nvSpPr>
            <p:cNvPr id="20538" name="Line 38"/>
            <p:cNvSpPr>
              <a:spLocks noChangeShapeType="1"/>
            </p:cNvSpPr>
            <p:nvPr/>
          </p:nvSpPr>
          <p:spPr bwMode="auto">
            <a:xfrm>
              <a:off x="2832" y="1288"/>
              <a:ext cx="256" cy="248"/>
            </a:xfrm>
            <a:prstGeom prst="line">
              <a:avLst/>
            </a:prstGeom>
            <a:noFill/>
            <a:ln w="9525">
              <a:solidFill>
                <a:schemeClr val="tx1"/>
              </a:solidFill>
              <a:round/>
              <a:headEnd/>
              <a:tailEnd/>
            </a:ln>
          </p:spPr>
          <p:txBody>
            <a:bodyPr wrap="none" anchor="ctr"/>
            <a:lstStyle/>
            <a:p>
              <a:endParaRPr lang="en-US"/>
            </a:p>
          </p:txBody>
        </p:sp>
        <p:sp>
          <p:nvSpPr>
            <p:cNvPr id="20539" name="Line 39"/>
            <p:cNvSpPr>
              <a:spLocks noChangeShapeType="1"/>
            </p:cNvSpPr>
            <p:nvPr/>
          </p:nvSpPr>
          <p:spPr bwMode="auto">
            <a:xfrm flipV="1">
              <a:off x="4280" y="1392"/>
              <a:ext cx="144" cy="136"/>
            </a:xfrm>
            <a:prstGeom prst="line">
              <a:avLst/>
            </a:prstGeom>
            <a:noFill/>
            <a:ln w="9525">
              <a:solidFill>
                <a:schemeClr val="tx1"/>
              </a:solidFill>
              <a:round/>
              <a:headEnd/>
              <a:tailEnd/>
            </a:ln>
          </p:spPr>
          <p:txBody>
            <a:bodyPr wrap="none" anchor="ctr"/>
            <a:lstStyle/>
            <a:p>
              <a:endParaRPr lang="en-US"/>
            </a:p>
          </p:txBody>
        </p:sp>
        <p:sp>
          <p:nvSpPr>
            <p:cNvPr id="20540" name="Line 40"/>
            <p:cNvSpPr>
              <a:spLocks noChangeShapeType="1"/>
            </p:cNvSpPr>
            <p:nvPr/>
          </p:nvSpPr>
          <p:spPr bwMode="auto">
            <a:xfrm>
              <a:off x="3128" y="992"/>
              <a:ext cx="40" cy="496"/>
            </a:xfrm>
            <a:prstGeom prst="line">
              <a:avLst/>
            </a:prstGeom>
            <a:noFill/>
            <a:ln w="9525">
              <a:solidFill>
                <a:schemeClr val="tx1"/>
              </a:solidFill>
              <a:round/>
              <a:headEnd/>
              <a:tailEnd/>
            </a:ln>
          </p:spPr>
          <p:txBody>
            <a:bodyPr wrap="none" anchor="ctr"/>
            <a:lstStyle/>
            <a:p>
              <a:endParaRPr lang="en-US"/>
            </a:p>
          </p:txBody>
        </p:sp>
        <p:sp>
          <p:nvSpPr>
            <p:cNvPr id="20541" name="Line 41"/>
            <p:cNvSpPr>
              <a:spLocks noChangeShapeType="1"/>
            </p:cNvSpPr>
            <p:nvPr/>
          </p:nvSpPr>
          <p:spPr bwMode="auto">
            <a:xfrm flipH="1">
              <a:off x="3576" y="992"/>
              <a:ext cx="168" cy="496"/>
            </a:xfrm>
            <a:prstGeom prst="line">
              <a:avLst/>
            </a:prstGeom>
            <a:noFill/>
            <a:ln w="9525">
              <a:solidFill>
                <a:schemeClr val="tx1"/>
              </a:solidFill>
              <a:round/>
              <a:headEnd/>
              <a:tailEnd/>
            </a:ln>
          </p:spPr>
          <p:txBody>
            <a:bodyPr wrap="none" anchor="ctr"/>
            <a:lstStyle/>
            <a:p>
              <a:endParaRPr lang="en-US"/>
            </a:p>
          </p:txBody>
        </p:sp>
        <p:sp>
          <p:nvSpPr>
            <p:cNvPr id="20542" name="Text Box 42"/>
            <p:cNvSpPr txBox="1">
              <a:spLocks noChangeArrowheads="1"/>
            </p:cNvSpPr>
            <p:nvPr/>
          </p:nvSpPr>
          <p:spPr bwMode="auto">
            <a:xfrm>
              <a:off x="3286" y="1422"/>
              <a:ext cx="203"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2</a:t>
              </a:r>
            </a:p>
          </p:txBody>
        </p:sp>
        <p:sp>
          <p:nvSpPr>
            <p:cNvPr id="20543" name="Text Box 43"/>
            <p:cNvSpPr txBox="1">
              <a:spLocks noChangeArrowheads="1"/>
            </p:cNvSpPr>
            <p:nvPr/>
          </p:nvSpPr>
          <p:spPr bwMode="auto">
            <a:xfrm>
              <a:off x="2821" y="872"/>
              <a:ext cx="202"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3</a:t>
              </a:r>
            </a:p>
          </p:txBody>
        </p:sp>
        <p:sp>
          <p:nvSpPr>
            <p:cNvPr id="20544" name="Text Box 44"/>
            <p:cNvSpPr txBox="1">
              <a:spLocks noChangeArrowheads="1"/>
            </p:cNvSpPr>
            <p:nvPr/>
          </p:nvSpPr>
          <p:spPr bwMode="auto">
            <a:xfrm>
              <a:off x="3792" y="1428"/>
              <a:ext cx="204"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4</a:t>
              </a:r>
            </a:p>
          </p:txBody>
        </p:sp>
        <p:sp>
          <p:nvSpPr>
            <p:cNvPr id="20545" name="Text Box 45"/>
            <p:cNvSpPr txBox="1">
              <a:spLocks noChangeArrowheads="1"/>
            </p:cNvSpPr>
            <p:nvPr/>
          </p:nvSpPr>
          <p:spPr bwMode="auto">
            <a:xfrm>
              <a:off x="3339" y="684"/>
              <a:ext cx="204"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4</a:t>
              </a:r>
            </a:p>
          </p:txBody>
        </p:sp>
        <p:sp>
          <p:nvSpPr>
            <p:cNvPr id="20546" name="Text Box 46"/>
            <p:cNvSpPr txBox="1">
              <a:spLocks noChangeArrowheads="1"/>
            </p:cNvSpPr>
            <p:nvPr/>
          </p:nvSpPr>
          <p:spPr bwMode="auto">
            <a:xfrm>
              <a:off x="3965" y="686"/>
              <a:ext cx="204"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4</a:t>
              </a:r>
            </a:p>
          </p:txBody>
        </p:sp>
        <p:sp>
          <p:nvSpPr>
            <p:cNvPr id="20547" name="Text Box 47"/>
            <p:cNvSpPr txBox="1">
              <a:spLocks noChangeArrowheads="1"/>
            </p:cNvSpPr>
            <p:nvPr/>
          </p:nvSpPr>
          <p:spPr bwMode="auto">
            <a:xfrm>
              <a:off x="2904" y="1240"/>
              <a:ext cx="204"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4</a:t>
              </a:r>
            </a:p>
          </p:txBody>
        </p:sp>
        <p:sp>
          <p:nvSpPr>
            <p:cNvPr id="20548" name="Text Box 48"/>
            <p:cNvSpPr txBox="1">
              <a:spLocks noChangeArrowheads="1"/>
            </p:cNvSpPr>
            <p:nvPr/>
          </p:nvSpPr>
          <p:spPr bwMode="auto">
            <a:xfrm>
              <a:off x="3121" y="1102"/>
              <a:ext cx="198"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5</a:t>
              </a:r>
            </a:p>
          </p:txBody>
        </p:sp>
        <p:sp>
          <p:nvSpPr>
            <p:cNvPr id="20549" name="Text Box 49"/>
            <p:cNvSpPr txBox="1">
              <a:spLocks noChangeArrowheads="1"/>
            </p:cNvSpPr>
            <p:nvPr/>
          </p:nvSpPr>
          <p:spPr bwMode="auto">
            <a:xfrm>
              <a:off x="3653" y="1104"/>
              <a:ext cx="198"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5</a:t>
              </a:r>
            </a:p>
          </p:txBody>
        </p:sp>
        <p:sp>
          <p:nvSpPr>
            <p:cNvPr id="20550" name="Text Box 50"/>
            <p:cNvSpPr txBox="1">
              <a:spLocks noChangeArrowheads="1"/>
            </p:cNvSpPr>
            <p:nvPr/>
          </p:nvSpPr>
          <p:spPr bwMode="auto">
            <a:xfrm>
              <a:off x="4120" y="1300"/>
              <a:ext cx="307"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3.5</a:t>
              </a:r>
            </a:p>
          </p:txBody>
        </p:sp>
      </p:grpSp>
      <p:grpSp>
        <p:nvGrpSpPr>
          <p:cNvPr id="11" name="Group 51"/>
          <p:cNvGrpSpPr>
            <a:grpSpLocks/>
          </p:cNvGrpSpPr>
          <p:nvPr/>
        </p:nvGrpSpPr>
        <p:grpSpPr bwMode="auto">
          <a:xfrm>
            <a:off x="3113280" y="4724400"/>
            <a:ext cx="2996640" cy="1524000"/>
            <a:chOff x="2704" y="2392"/>
            <a:chExt cx="2081" cy="1008"/>
          </a:xfrm>
        </p:grpSpPr>
        <p:grpSp>
          <p:nvGrpSpPr>
            <p:cNvPr id="12" name="Group 52"/>
            <p:cNvGrpSpPr>
              <a:grpSpLocks/>
            </p:cNvGrpSpPr>
            <p:nvPr/>
          </p:nvGrpSpPr>
          <p:grpSpPr bwMode="auto">
            <a:xfrm>
              <a:off x="3048" y="2394"/>
              <a:ext cx="246" cy="242"/>
              <a:chOff x="3712" y="382"/>
              <a:chExt cx="246" cy="242"/>
            </a:xfrm>
          </p:grpSpPr>
          <p:sp>
            <p:nvSpPr>
              <p:cNvPr id="20523" name="Text Box 53"/>
              <p:cNvSpPr txBox="1">
                <a:spLocks noChangeArrowheads="1"/>
              </p:cNvSpPr>
              <p:nvPr/>
            </p:nvSpPr>
            <p:spPr bwMode="auto">
              <a:xfrm>
                <a:off x="3734" y="382"/>
                <a:ext cx="224"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A</a:t>
                </a:r>
              </a:p>
            </p:txBody>
          </p:sp>
          <p:sp>
            <p:nvSpPr>
              <p:cNvPr id="20524" name="Oval 54"/>
              <p:cNvSpPr>
                <a:spLocks noChangeArrowheads="1"/>
              </p:cNvSpPr>
              <p:nvPr/>
            </p:nvSpPr>
            <p:spPr bwMode="auto">
              <a:xfrm>
                <a:off x="3712" y="384"/>
                <a:ext cx="240" cy="240"/>
              </a:xfrm>
              <a:prstGeom prst="ellipse">
                <a:avLst/>
              </a:prstGeom>
              <a:noFill/>
              <a:ln w="9525">
                <a:solidFill>
                  <a:schemeClr val="tx1"/>
                </a:solidFill>
                <a:round/>
                <a:headEnd/>
                <a:tailEnd/>
              </a:ln>
            </p:spPr>
            <p:txBody>
              <a:bodyPr wrap="none" anchor="ctr"/>
              <a:lstStyle/>
              <a:p>
                <a:endParaRPr lang="en-US"/>
              </a:p>
            </p:txBody>
          </p:sp>
        </p:grpSp>
        <p:grpSp>
          <p:nvGrpSpPr>
            <p:cNvPr id="13" name="Group 55"/>
            <p:cNvGrpSpPr>
              <a:grpSpLocks/>
            </p:cNvGrpSpPr>
            <p:nvPr/>
          </p:nvGrpSpPr>
          <p:grpSpPr bwMode="auto">
            <a:xfrm>
              <a:off x="3696" y="2393"/>
              <a:ext cx="246" cy="243"/>
              <a:chOff x="3704" y="789"/>
              <a:chExt cx="246" cy="243"/>
            </a:xfrm>
          </p:grpSpPr>
          <p:sp>
            <p:nvSpPr>
              <p:cNvPr id="20521" name="Text Box 56"/>
              <p:cNvSpPr txBox="1">
                <a:spLocks noChangeArrowheads="1"/>
              </p:cNvSpPr>
              <p:nvPr/>
            </p:nvSpPr>
            <p:spPr bwMode="auto">
              <a:xfrm>
                <a:off x="3728" y="789"/>
                <a:ext cx="222"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B</a:t>
                </a:r>
              </a:p>
            </p:txBody>
          </p:sp>
          <p:sp>
            <p:nvSpPr>
              <p:cNvPr id="20522" name="Oval 57"/>
              <p:cNvSpPr>
                <a:spLocks noChangeArrowheads="1"/>
              </p:cNvSpPr>
              <p:nvPr/>
            </p:nvSpPr>
            <p:spPr bwMode="auto">
              <a:xfrm>
                <a:off x="3704" y="792"/>
                <a:ext cx="240" cy="240"/>
              </a:xfrm>
              <a:prstGeom prst="ellipse">
                <a:avLst/>
              </a:prstGeom>
              <a:noFill/>
              <a:ln w="9525">
                <a:solidFill>
                  <a:schemeClr val="tx1"/>
                </a:solidFill>
                <a:round/>
                <a:headEnd/>
                <a:tailEnd/>
              </a:ln>
            </p:spPr>
            <p:txBody>
              <a:bodyPr wrap="none" anchor="ctr"/>
              <a:lstStyle/>
              <a:p>
                <a:endParaRPr lang="en-US"/>
              </a:p>
            </p:txBody>
          </p:sp>
        </p:grpSp>
        <p:grpSp>
          <p:nvGrpSpPr>
            <p:cNvPr id="14" name="Group 58"/>
            <p:cNvGrpSpPr>
              <a:grpSpLocks/>
            </p:cNvGrpSpPr>
            <p:nvPr/>
          </p:nvGrpSpPr>
          <p:grpSpPr bwMode="auto">
            <a:xfrm>
              <a:off x="4328" y="2392"/>
              <a:ext cx="240" cy="244"/>
              <a:chOff x="3720" y="1196"/>
              <a:chExt cx="240" cy="244"/>
            </a:xfrm>
          </p:grpSpPr>
          <p:sp>
            <p:nvSpPr>
              <p:cNvPr id="20519" name="Text Box 59"/>
              <p:cNvSpPr txBox="1">
                <a:spLocks noChangeArrowheads="1"/>
              </p:cNvSpPr>
              <p:nvPr/>
            </p:nvSpPr>
            <p:spPr bwMode="auto">
              <a:xfrm>
                <a:off x="3722" y="1196"/>
                <a:ext cx="220"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C</a:t>
                </a:r>
              </a:p>
            </p:txBody>
          </p:sp>
          <p:sp>
            <p:nvSpPr>
              <p:cNvPr id="20520" name="Oval 60"/>
              <p:cNvSpPr>
                <a:spLocks noChangeArrowheads="1"/>
              </p:cNvSpPr>
              <p:nvPr/>
            </p:nvSpPr>
            <p:spPr bwMode="auto">
              <a:xfrm>
                <a:off x="3720" y="1200"/>
                <a:ext cx="240" cy="240"/>
              </a:xfrm>
              <a:prstGeom prst="ellipse">
                <a:avLst/>
              </a:prstGeom>
              <a:noFill/>
              <a:ln w="9525">
                <a:solidFill>
                  <a:schemeClr val="tx1"/>
                </a:solidFill>
                <a:round/>
                <a:headEnd/>
                <a:tailEnd/>
              </a:ln>
            </p:spPr>
            <p:txBody>
              <a:bodyPr wrap="none" anchor="ctr"/>
              <a:lstStyle/>
              <a:p>
                <a:endParaRPr lang="en-US"/>
              </a:p>
            </p:txBody>
          </p:sp>
        </p:grpSp>
        <p:grpSp>
          <p:nvGrpSpPr>
            <p:cNvPr id="15" name="Group 61"/>
            <p:cNvGrpSpPr>
              <a:grpSpLocks/>
            </p:cNvGrpSpPr>
            <p:nvPr/>
          </p:nvGrpSpPr>
          <p:grpSpPr bwMode="auto">
            <a:xfrm>
              <a:off x="3128" y="3124"/>
              <a:ext cx="247" cy="253"/>
              <a:chOff x="3704" y="1603"/>
              <a:chExt cx="247" cy="253"/>
            </a:xfrm>
          </p:grpSpPr>
          <p:sp>
            <p:nvSpPr>
              <p:cNvPr id="20517" name="Text Box 62"/>
              <p:cNvSpPr txBox="1">
                <a:spLocks noChangeArrowheads="1"/>
              </p:cNvSpPr>
              <p:nvPr/>
            </p:nvSpPr>
            <p:spPr bwMode="auto">
              <a:xfrm>
                <a:off x="3716" y="1603"/>
                <a:ext cx="235"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D</a:t>
                </a:r>
              </a:p>
            </p:txBody>
          </p:sp>
          <p:sp>
            <p:nvSpPr>
              <p:cNvPr id="20518" name="Oval 63"/>
              <p:cNvSpPr>
                <a:spLocks noChangeArrowheads="1"/>
              </p:cNvSpPr>
              <p:nvPr/>
            </p:nvSpPr>
            <p:spPr bwMode="auto">
              <a:xfrm>
                <a:off x="3704" y="1616"/>
                <a:ext cx="240" cy="240"/>
              </a:xfrm>
              <a:prstGeom prst="ellipse">
                <a:avLst/>
              </a:prstGeom>
              <a:noFill/>
              <a:ln w="9525">
                <a:solidFill>
                  <a:schemeClr val="tx1"/>
                </a:solidFill>
                <a:round/>
                <a:headEnd/>
                <a:tailEnd/>
              </a:ln>
            </p:spPr>
            <p:txBody>
              <a:bodyPr wrap="none" anchor="ctr"/>
              <a:lstStyle/>
              <a:p>
                <a:endParaRPr lang="en-US"/>
              </a:p>
            </p:txBody>
          </p:sp>
        </p:grpSp>
        <p:grpSp>
          <p:nvGrpSpPr>
            <p:cNvPr id="16" name="Group 64"/>
            <p:cNvGrpSpPr>
              <a:grpSpLocks/>
            </p:cNvGrpSpPr>
            <p:nvPr/>
          </p:nvGrpSpPr>
          <p:grpSpPr bwMode="auto">
            <a:xfrm>
              <a:off x="3496" y="3134"/>
              <a:ext cx="240" cy="246"/>
              <a:chOff x="3696" y="2010"/>
              <a:chExt cx="240" cy="246"/>
            </a:xfrm>
          </p:grpSpPr>
          <p:sp>
            <p:nvSpPr>
              <p:cNvPr id="20515" name="Text Box 65"/>
              <p:cNvSpPr txBox="1">
                <a:spLocks noChangeArrowheads="1"/>
              </p:cNvSpPr>
              <p:nvPr/>
            </p:nvSpPr>
            <p:spPr bwMode="auto">
              <a:xfrm>
                <a:off x="3710" y="2010"/>
                <a:ext cx="222"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E</a:t>
                </a:r>
              </a:p>
            </p:txBody>
          </p:sp>
          <p:sp>
            <p:nvSpPr>
              <p:cNvPr id="20516" name="Oval 66"/>
              <p:cNvSpPr>
                <a:spLocks noChangeArrowheads="1"/>
              </p:cNvSpPr>
              <p:nvPr/>
            </p:nvSpPr>
            <p:spPr bwMode="auto">
              <a:xfrm>
                <a:off x="3696" y="2016"/>
                <a:ext cx="240" cy="240"/>
              </a:xfrm>
              <a:prstGeom prst="ellipse">
                <a:avLst/>
              </a:prstGeom>
              <a:noFill/>
              <a:ln w="9525">
                <a:solidFill>
                  <a:schemeClr val="tx1"/>
                </a:solidFill>
                <a:round/>
                <a:headEnd/>
                <a:tailEnd/>
              </a:ln>
            </p:spPr>
            <p:txBody>
              <a:bodyPr wrap="none" anchor="ctr"/>
              <a:lstStyle/>
              <a:p>
                <a:endParaRPr lang="en-US"/>
              </a:p>
            </p:txBody>
          </p:sp>
        </p:grpSp>
        <p:grpSp>
          <p:nvGrpSpPr>
            <p:cNvPr id="17" name="Group 67"/>
            <p:cNvGrpSpPr>
              <a:grpSpLocks/>
            </p:cNvGrpSpPr>
            <p:nvPr/>
          </p:nvGrpSpPr>
          <p:grpSpPr bwMode="auto">
            <a:xfrm>
              <a:off x="4128" y="3140"/>
              <a:ext cx="240" cy="244"/>
              <a:chOff x="3680" y="2408"/>
              <a:chExt cx="240" cy="244"/>
            </a:xfrm>
          </p:grpSpPr>
          <p:sp>
            <p:nvSpPr>
              <p:cNvPr id="20513" name="Text Box 68"/>
              <p:cNvSpPr txBox="1">
                <a:spLocks noChangeArrowheads="1"/>
              </p:cNvSpPr>
              <p:nvPr/>
            </p:nvSpPr>
            <p:spPr bwMode="auto">
              <a:xfrm>
                <a:off x="3704" y="2417"/>
                <a:ext cx="214"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F</a:t>
                </a:r>
              </a:p>
            </p:txBody>
          </p:sp>
          <p:sp>
            <p:nvSpPr>
              <p:cNvPr id="20514" name="Oval 69"/>
              <p:cNvSpPr>
                <a:spLocks noChangeArrowheads="1"/>
              </p:cNvSpPr>
              <p:nvPr/>
            </p:nvSpPr>
            <p:spPr bwMode="auto">
              <a:xfrm>
                <a:off x="3680" y="2408"/>
                <a:ext cx="240" cy="240"/>
              </a:xfrm>
              <a:prstGeom prst="ellipse">
                <a:avLst/>
              </a:prstGeom>
              <a:noFill/>
              <a:ln w="9525">
                <a:solidFill>
                  <a:schemeClr val="tx1"/>
                </a:solidFill>
                <a:round/>
                <a:headEnd/>
                <a:tailEnd/>
              </a:ln>
            </p:spPr>
            <p:txBody>
              <a:bodyPr wrap="none" anchor="ctr"/>
              <a:lstStyle/>
              <a:p>
                <a:endParaRPr lang="en-US"/>
              </a:p>
            </p:txBody>
          </p:sp>
        </p:grpSp>
        <p:grpSp>
          <p:nvGrpSpPr>
            <p:cNvPr id="18" name="Group 70"/>
            <p:cNvGrpSpPr>
              <a:grpSpLocks/>
            </p:cNvGrpSpPr>
            <p:nvPr/>
          </p:nvGrpSpPr>
          <p:grpSpPr bwMode="auto">
            <a:xfrm>
              <a:off x="4448" y="2844"/>
              <a:ext cx="240" cy="240"/>
              <a:chOff x="3696" y="2824"/>
              <a:chExt cx="240" cy="240"/>
            </a:xfrm>
          </p:grpSpPr>
          <p:sp>
            <p:nvSpPr>
              <p:cNvPr id="20511" name="Text Box 71"/>
              <p:cNvSpPr txBox="1">
                <a:spLocks noChangeArrowheads="1"/>
              </p:cNvSpPr>
              <p:nvPr/>
            </p:nvSpPr>
            <p:spPr bwMode="auto">
              <a:xfrm>
                <a:off x="3698" y="2824"/>
                <a:ext cx="232"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G</a:t>
                </a:r>
              </a:p>
            </p:txBody>
          </p:sp>
          <p:sp>
            <p:nvSpPr>
              <p:cNvPr id="20512" name="Oval 72"/>
              <p:cNvSpPr>
                <a:spLocks noChangeArrowheads="1"/>
              </p:cNvSpPr>
              <p:nvPr/>
            </p:nvSpPr>
            <p:spPr bwMode="auto">
              <a:xfrm>
                <a:off x="3696" y="2824"/>
                <a:ext cx="240" cy="240"/>
              </a:xfrm>
              <a:prstGeom prst="ellipse">
                <a:avLst/>
              </a:prstGeom>
              <a:noFill/>
              <a:ln w="9525">
                <a:solidFill>
                  <a:schemeClr val="tx1"/>
                </a:solidFill>
                <a:round/>
                <a:headEnd/>
                <a:tailEnd/>
              </a:ln>
            </p:spPr>
            <p:txBody>
              <a:bodyPr wrap="none" anchor="ctr"/>
              <a:lstStyle/>
              <a:p>
                <a:endParaRPr lang="en-US"/>
              </a:p>
            </p:txBody>
          </p:sp>
        </p:grpSp>
        <p:grpSp>
          <p:nvGrpSpPr>
            <p:cNvPr id="19" name="Group 73"/>
            <p:cNvGrpSpPr>
              <a:grpSpLocks/>
            </p:cNvGrpSpPr>
            <p:nvPr/>
          </p:nvGrpSpPr>
          <p:grpSpPr bwMode="auto">
            <a:xfrm>
              <a:off x="2704" y="2724"/>
              <a:ext cx="240" cy="242"/>
              <a:chOff x="3680" y="3224"/>
              <a:chExt cx="240" cy="242"/>
            </a:xfrm>
          </p:grpSpPr>
          <p:sp>
            <p:nvSpPr>
              <p:cNvPr id="20509" name="Text Box 74"/>
              <p:cNvSpPr txBox="1">
                <a:spLocks noChangeArrowheads="1"/>
              </p:cNvSpPr>
              <p:nvPr/>
            </p:nvSpPr>
            <p:spPr bwMode="auto">
              <a:xfrm>
                <a:off x="3692" y="3231"/>
                <a:ext cx="208" cy="235"/>
              </a:xfrm>
              <a:prstGeom prst="rect">
                <a:avLst/>
              </a:prstGeom>
              <a:noFill/>
              <a:ln w="9525">
                <a:noFill/>
                <a:miter lim="800000"/>
                <a:headEnd/>
                <a:tailEnd/>
              </a:ln>
            </p:spPr>
            <p:txBody>
              <a:bodyPr wrap="none">
                <a:spAutoFit/>
              </a:bodyPr>
              <a:lstStyle/>
              <a:p>
                <a:pPr>
                  <a:lnSpc>
                    <a:spcPct val="100000"/>
                  </a:lnSpc>
                </a:pPr>
                <a:r>
                  <a:rPr lang="en-US" sz="1600" dirty="0">
                    <a:ea typeface="ＭＳ Ｐゴシック" pitchFamily="34" charset="-128"/>
                  </a:rPr>
                  <a:t>S</a:t>
                </a:r>
              </a:p>
            </p:txBody>
          </p:sp>
          <p:sp>
            <p:nvSpPr>
              <p:cNvPr id="20510" name="Oval 75"/>
              <p:cNvSpPr>
                <a:spLocks noChangeArrowheads="1"/>
              </p:cNvSpPr>
              <p:nvPr/>
            </p:nvSpPr>
            <p:spPr bwMode="auto">
              <a:xfrm>
                <a:off x="3680" y="3224"/>
                <a:ext cx="240" cy="240"/>
              </a:xfrm>
              <a:prstGeom prst="ellipse">
                <a:avLst/>
              </a:prstGeom>
              <a:noFill/>
              <a:ln w="9525">
                <a:solidFill>
                  <a:schemeClr val="tx1"/>
                </a:solidFill>
                <a:round/>
                <a:headEnd/>
                <a:tailEnd/>
              </a:ln>
            </p:spPr>
            <p:txBody>
              <a:bodyPr wrap="none" anchor="ctr"/>
              <a:lstStyle/>
              <a:p>
                <a:endParaRPr lang="en-US"/>
              </a:p>
            </p:txBody>
          </p:sp>
        </p:grpSp>
        <p:sp>
          <p:nvSpPr>
            <p:cNvPr id="20495" name="Text Box 76"/>
            <p:cNvSpPr txBox="1">
              <a:spLocks noChangeArrowheads="1"/>
            </p:cNvSpPr>
            <p:nvPr/>
          </p:nvSpPr>
          <p:spPr bwMode="auto">
            <a:xfrm>
              <a:off x="3920" y="2444"/>
              <a:ext cx="314"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5.8</a:t>
              </a:r>
            </a:p>
          </p:txBody>
        </p:sp>
        <p:sp>
          <p:nvSpPr>
            <p:cNvPr id="20496" name="Text Box 77"/>
            <p:cNvSpPr txBox="1">
              <a:spLocks noChangeArrowheads="1"/>
            </p:cNvSpPr>
            <p:nvPr/>
          </p:nvSpPr>
          <p:spPr bwMode="auto">
            <a:xfrm>
              <a:off x="4472" y="2592"/>
              <a:ext cx="313"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3.4</a:t>
              </a:r>
            </a:p>
          </p:txBody>
        </p:sp>
        <p:sp>
          <p:nvSpPr>
            <p:cNvPr id="20497" name="Text Box 78"/>
            <p:cNvSpPr txBox="1">
              <a:spLocks noChangeArrowheads="1"/>
            </p:cNvSpPr>
            <p:nvPr/>
          </p:nvSpPr>
          <p:spPr bwMode="auto">
            <a:xfrm>
              <a:off x="3282" y="2952"/>
              <a:ext cx="314"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9.2</a:t>
              </a:r>
            </a:p>
          </p:txBody>
        </p:sp>
        <p:sp>
          <p:nvSpPr>
            <p:cNvPr id="20498" name="Text Box 79"/>
            <p:cNvSpPr txBox="1">
              <a:spLocks noChangeArrowheads="1"/>
            </p:cNvSpPr>
            <p:nvPr/>
          </p:nvSpPr>
          <p:spPr bwMode="auto">
            <a:xfrm>
              <a:off x="2891" y="2832"/>
              <a:ext cx="350"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11.5</a:t>
              </a:r>
            </a:p>
          </p:txBody>
        </p:sp>
        <p:sp>
          <p:nvSpPr>
            <p:cNvPr id="20499" name="Text Box 80"/>
            <p:cNvSpPr txBox="1">
              <a:spLocks noChangeArrowheads="1"/>
            </p:cNvSpPr>
            <p:nvPr/>
          </p:nvSpPr>
          <p:spPr bwMode="auto">
            <a:xfrm>
              <a:off x="3160" y="2580"/>
              <a:ext cx="362"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10.1</a:t>
              </a:r>
            </a:p>
          </p:txBody>
        </p:sp>
        <p:sp>
          <p:nvSpPr>
            <p:cNvPr id="20500" name="Line 81"/>
            <p:cNvSpPr>
              <a:spLocks noChangeShapeType="1"/>
            </p:cNvSpPr>
            <p:nvPr/>
          </p:nvSpPr>
          <p:spPr bwMode="auto">
            <a:xfrm>
              <a:off x="4472" y="2632"/>
              <a:ext cx="64" cy="216"/>
            </a:xfrm>
            <a:prstGeom prst="line">
              <a:avLst/>
            </a:prstGeom>
            <a:noFill/>
            <a:ln w="9525">
              <a:solidFill>
                <a:schemeClr val="tx1"/>
              </a:solidFill>
              <a:round/>
              <a:headEnd/>
              <a:tailEnd/>
            </a:ln>
          </p:spPr>
          <p:txBody>
            <a:bodyPr wrap="none" anchor="ctr"/>
            <a:lstStyle/>
            <a:p>
              <a:endParaRPr lang="en-US"/>
            </a:p>
          </p:txBody>
        </p:sp>
        <p:sp>
          <p:nvSpPr>
            <p:cNvPr id="20501" name="Line 82"/>
            <p:cNvSpPr>
              <a:spLocks noChangeShapeType="1"/>
            </p:cNvSpPr>
            <p:nvPr/>
          </p:nvSpPr>
          <p:spPr bwMode="auto">
            <a:xfrm flipH="1" flipV="1">
              <a:off x="3904" y="2584"/>
              <a:ext cx="568" cy="288"/>
            </a:xfrm>
            <a:prstGeom prst="line">
              <a:avLst/>
            </a:prstGeom>
            <a:noFill/>
            <a:ln w="9525">
              <a:solidFill>
                <a:schemeClr val="tx1"/>
              </a:solidFill>
              <a:round/>
              <a:headEnd/>
              <a:tailEnd/>
            </a:ln>
          </p:spPr>
          <p:txBody>
            <a:bodyPr wrap="none" anchor="ctr"/>
            <a:lstStyle/>
            <a:p>
              <a:endParaRPr lang="en-US"/>
            </a:p>
          </p:txBody>
        </p:sp>
        <p:sp>
          <p:nvSpPr>
            <p:cNvPr id="20502" name="Line 83"/>
            <p:cNvSpPr>
              <a:spLocks noChangeShapeType="1"/>
            </p:cNvSpPr>
            <p:nvPr/>
          </p:nvSpPr>
          <p:spPr bwMode="auto">
            <a:xfrm flipH="1" flipV="1">
              <a:off x="3272" y="2560"/>
              <a:ext cx="1176" cy="368"/>
            </a:xfrm>
            <a:prstGeom prst="line">
              <a:avLst/>
            </a:prstGeom>
            <a:noFill/>
            <a:ln w="9525">
              <a:solidFill>
                <a:schemeClr val="tx1"/>
              </a:solidFill>
              <a:round/>
              <a:headEnd/>
              <a:tailEnd/>
            </a:ln>
          </p:spPr>
          <p:txBody>
            <a:bodyPr wrap="none" anchor="ctr"/>
            <a:lstStyle/>
            <a:p>
              <a:endParaRPr lang="en-US"/>
            </a:p>
          </p:txBody>
        </p:sp>
        <p:sp>
          <p:nvSpPr>
            <p:cNvPr id="20503" name="Line 84"/>
            <p:cNvSpPr>
              <a:spLocks noChangeShapeType="1"/>
            </p:cNvSpPr>
            <p:nvPr/>
          </p:nvSpPr>
          <p:spPr bwMode="auto">
            <a:xfrm flipH="1" flipV="1">
              <a:off x="2936" y="2848"/>
              <a:ext cx="1512" cy="104"/>
            </a:xfrm>
            <a:prstGeom prst="line">
              <a:avLst/>
            </a:prstGeom>
            <a:noFill/>
            <a:ln w="9525">
              <a:solidFill>
                <a:schemeClr val="tx1"/>
              </a:solidFill>
              <a:round/>
              <a:headEnd/>
              <a:tailEnd/>
            </a:ln>
          </p:spPr>
          <p:txBody>
            <a:bodyPr wrap="none" anchor="ctr"/>
            <a:lstStyle/>
            <a:p>
              <a:endParaRPr lang="en-US"/>
            </a:p>
          </p:txBody>
        </p:sp>
        <p:sp>
          <p:nvSpPr>
            <p:cNvPr id="20504" name="Line 85"/>
            <p:cNvSpPr>
              <a:spLocks noChangeShapeType="1"/>
            </p:cNvSpPr>
            <p:nvPr/>
          </p:nvSpPr>
          <p:spPr bwMode="auto">
            <a:xfrm flipV="1">
              <a:off x="3320" y="2976"/>
              <a:ext cx="1120" cy="168"/>
            </a:xfrm>
            <a:prstGeom prst="line">
              <a:avLst/>
            </a:prstGeom>
            <a:noFill/>
            <a:ln w="9525">
              <a:solidFill>
                <a:schemeClr val="tx1"/>
              </a:solidFill>
              <a:round/>
              <a:headEnd/>
              <a:tailEnd/>
            </a:ln>
          </p:spPr>
          <p:txBody>
            <a:bodyPr wrap="none" anchor="ctr"/>
            <a:lstStyle/>
            <a:p>
              <a:endParaRPr lang="en-US"/>
            </a:p>
          </p:txBody>
        </p:sp>
        <p:sp>
          <p:nvSpPr>
            <p:cNvPr id="20505" name="Line 86"/>
            <p:cNvSpPr>
              <a:spLocks noChangeShapeType="1"/>
            </p:cNvSpPr>
            <p:nvPr/>
          </p:nvSpPr>
          <p:spPr bwMode="auto">
            <a:xfrm flipV="1">
              <a:off x="3728" y="3024"/>
              <a:ext cx="728" cy="208"/>
            </a:xfrm>
            <a:prstGeom prst="line">
              <a:avLst/>
            </a:prstGeom>
            <a:noFill/>
            <a:ln w="9525">
              <a:solidFill>
                <a:schemeClr val="tx1"/>
              </a:solidFill>
              <a:round/>
              <a:headEnd/>
              <a:tailEnd/>
            </a:ln>
          </p:spPr>
          <p:txBody>
            <a:bodyPr wrap="none" anchor="ctr"/>
            <a:lstStyle/>
            <a:p>
              <a:endParaRPr lang="en-US"/>
            </a:p>
          </p:txBody>
        </p:sp>
        <p:sp>
          <p:nvSpPr>
            <p:cNvPr id="20506" name="Line 87"/>
            <p:cNvSpPr>
              <a:spLocks noChangeShapeType="1"/>
            </p:cNvSpPr>
            <p:nvPr/>
          </p:nvSpPr>
          <p:spPr bwMode="auto">
            <a:xfrm flipV="1">
              <a:off x="4328" y="3080"/>
              <a:ext cx="176" cy="104"/>
            </a:xfrm>
            <a:prstGeom prst="line">
              <a:avLst/>
            </a:prstGeom>
            <a:noFill/>
            <a:ln w="9525">
              <a:solidFill>
                <a:schemeClr val="tx1"/>
              </a:solidFill>
              <a:round/>
              <a:headEnd/>
              <a:tailEnd/>
            </a:ln>
          </p:spPr>
          <p:txBody>
            <a:bodyPr wrap="none" anchor="ctr"/>
            <a:lstStyle/>
            <a:p>
              <a:endParaRPr lang="en-US"/>
            </a:p>
          </p:txBody>
        </p:sp>
        <p:sp>
          <p:nvSpPr>
            <p:cNvPr id="20507" name="Text Box 88"/>
            <p:cNvSpPr txBox="1">
              <a:spLocks noChangeArrowheads="1"/>
            </p:cNvSpPr>
            <p:nvPr/>
          </p:nvSpPr>
          <p:spPr bwMode="auto">
            <a:xfrm>
              <a:off x="3768" y="3176"/>
              <a:ext cx="289"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7.1</a:t>
              </a:r>
            </a:p>
          </p:txBody>
        </p:sp>
        <p:sp>
          <p:nvSpPr>
            <p:cNvPr id="20508" name="Text Box 89"/>
            <p:cNvSpPr txBox="1">
              <a:spLocks noChangeArrowheads="1"/>
            </p:cNvSpPr>
            <p:nvPr/>
          </p:nvSpPr>
          <p:spPr bwMode="auto">
            <a:xfrm>
              <a:off x="4384" y="3080"/>
              <a:ext cx="307" cy="224"/>
            </a:xfrm>
            <a:prstGeom prst="rect">
              <a:avLst/>
            </a:prstGeom>
            <a:noFill/>
            <a:ln w="9525">
              <a:noFill/>
              <a:miter lim="800000"/>
              <a:headEnd/>
              <a:tailEnd/>
            </a:ln>
          </p:spPr>
          <p:txBody>
            <a:bodyPr wrap="none">
              <a:spAutoFit/>
            </a:bodyPr>
            <a:lstStyle/>
            <a:p>
              <a:pPr>
                <a:lnSpc>
                  <a:spcPct val="100000"/>
                </a:lnSpc>
              </a:pPr>
              <a:r>
                <a:rPr lang="en-US" sz="1500" dirty="0">
                  <a:ea typeface="ＭＳ Ｐゴシック" pitchFamily="34" charset="-128"/>
                </a:rPr>
                <a:t>3.5</a:t>
              </a:r>
            </a:p>
          </p:txBody>
        </p:sp>
      </p:grpSp>
      <p:sp>
        <p:nvSpPr>
          <p:cNvPr id="87" name="Title 86"/>
          <p:cNvSpPr>
            <a:spLocks noGrp="1"/>
          </p:cNvSpPr>
          <p:nvPr>
            <p:ph type="title"/>
          </p:nvPr>
        </p:nvSpPr>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0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6010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099" grpId="0" build="p" autoUpdateAnimBg="0"/>
      <p:bldP spid="260102" grpId="0" build="p" autoUpdateAnimBg="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11"/>
          <p:cNvSpPr txBox="1">
            <a:spLocks noChangeArrowheads="1"/>
          </p:cNvSpPr>
          <p:nvPr/>
        </p:nvSpPr>
        <p:spPr bwMode="auto">
          <a:xfrm>
            <a:off x="1105920" y="1752600"/>
            <a:ext cx="1129312" cy="360755"/>
          </a:xfrm>
          <a:prstGeom prst="rect">
            <a:avLst/>
          </a:prstGeom>
          <a:noFill/>
          <a:ln w="9525">
            <a:noFill/>
            <a:miter lim="800000"/>
            <a:headEnd/>
            <a:tailEnd/>
          </a:ln>
        </p:spPr>
        <p:txBody>
          <a:bodyPr wrap="square" lIns="82945" tIns="41473" rIns="82945" bIns="41473">
            <a:spAutoFit/>
          </a:bodyPr>
          <a:lstStyle/>
          <a:p>
            <a:r>
              <a:rPr lang="en-US" dirty="0"/>
              <a:t>A*, step 1</a:t>
            </a:r>
          </a:p>
        </p:txBody>
      </p:sp>
      <p:grpSp>
        <p:nvGrpSpPr>
          <p:cNvPr id="2" name="Group 70"/>
          <p:cNvGrpSpPr>
            <a:grpSpLocks/>
          </p:cNvGrpSpPr>
          <p:nvPr/>
        </p:nvGrpSpPr>
        <p:grpSpPr bwMode="auto">
          <a:xfrm>
            <a:off x="3432960" y="1828801"/>
            <a:ext cx="2269440" cy="1828799"/>
            <a:chOff x="2384" y="544"/>
            <a:chExt cx="1576" cy="884"/>
          </a:xfrm>
        </p:grpSpPr>
        <p:grpSp>
          <p:nvGrpSpPr>
            <p:cNvPr id="3" name="Group 13"/>
            <p:cNvGrpSpPr>
              <a:grpSpLocks/>
            </p:cNvGrpSpPr>
            <p:nvPr/>
          </p:nvGrpSpPr>
          <p:grpSpPr bwMode="auto">
            <a:xfrm>
              <a:off x="3080" y="544"/>
              <a:ext cx="240" cy="242"/>
              <a:chOff x="2968" y="456"/>
              <a:chExt cx="240" cy="242"/>
            </a:xfrm>
          </p:grpSpPr>
          <p:sp>
            <p:nvSpPr>
              <p:cNvPr id="22544" name="Text Box 14"/>
              <p:cNvSpPr txBox="1">
                <a:spLocks noChangeArrowheads="1"/>
              </p:cNvSpPr>
              <p:nvPr/>
            </p:nvSpPr>
            <p:spPr bwMode="auto">
              <a:xfrm>
                <a:off x="2982" y="463"/>
                <a:ext cx="208"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S</a:t>
                </a:r>
              </a:p>
            </p:txBody>
          </p:sp>
          <p:sp>
            <p:nvSpPr>
              <p:cNvPr id="22545" name="Oval 15"/>
              <p:cNvSpPr>
                <a:spLocks noChangeArrowheads="1"/>
              </p:cNvSpPr>
              <p:nvPr/>
            </p:nvSpPr>
            <p:spPr bwMode="auto">
              <a:xfrm>
                <a:off x="2968" y="456"/>
                <a:ext cx="240" cy="240"/>
              </a:xfrm>
              <a:prstGeom prst="ellipse">
                <a:avLst/>
              </a:prstGeom>
              <a:noFill/>
              <a:ln w="9525">
                <a:solidFill>
                  <a:schemeClr val="tx1"/>
                </a:solidFill>
                <a:round/>
                <a:headEnd/>
                <a:tailEnd/>
              </a:ln>
            </p:spPr>
            <p:txBody>
              <a:bodyPr wrap="none" anchor="ctr"/>
              <a:lstStyle/>
              <a:p>
                <a:endParaRPr lang="en-US"/>
              </a:p>
            </p:txBody>
          </p:sp>
        </p:grpSp>
        <p:grpSp>
          <p:nvGrpSpPr>
            <p:cNvPr id="4" name="Group 16"/>
            <p:cNvGrpSpPr>
              <a:grpSpLocks/>
            </p:cNvGrpSpPr>
            <p:nvPr/>
          </p:nvGrpSpPr>
          <p:grpSpPr bwMode="auto">
            <a:xfrm>
              <a:off x="2688" y="1184"/>
              <a:ext cx="240" cy="244"/>
              <a:chOff x="3648" y="816"/>
              <a:chExt cx="240" cy="244"/>
            </a:xfrm>
          </p:grpSpPr>
          <p:sp>
            <p:nvSpPr>
              <p:cNvPr id="22542" name="Text Box 17"/>
              <p:cNvSpPr txBox="1">
                <a:spLocks noChangeArrowheads="1"/>
              </p:cNvSpPr>
              <p:nvPr/>
            </p:nvSpPr>
            <p:spPr bwMode="auto">
              <a:xfrm>
                <a:off x="3664" y="825"/>
                <a:ext cx="224"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A</a:t>
                </a:r>
              </a:p>
            </p:txBody>
          </p:sp>
          <p:sp>
            <p:nvSpPr>
              <p:cNvPr id="22543" name="Oval 18"/>
              <p:cNvSpPr>
                <a:spLocks noChangeArrowheads="1"/>
              </p:cNvSpPr>
              <p:nvPr/>
            </p:nvSpPr>
            <p:spPr bwMode="auto">
              <a:xfrm>
                <a:off x="3648" y="816"/>
                <a:ext cx="240" cy="240"/>
              </a:xfrm>
              <a:prstGeom prst="ellipse">
                <a:avLst/>
              </a:prstGeom>
              <a:noFill/>
              <a:ln w="9525">
                <a:solidFill>
                  <a:schemeClr val="tx1"/>
                </a:solidFill>
                <a:round/>
                <a:headEnd/>
                <a:tailEnd/>
              </a:ln>
            </p:spPr>
            <p:txBody>
              <a:bodyPr wrap="none" anchor="ctr"/>
              <a:lstStyle/>
              <a:p>
                <a:endParaRPr lang="en-US"/>
              </a:p>
            </p:txBody>
          </p:sp>
        </p:grpSp>
        <p:grpSp>
          <p:nvGrpSpPr>
            <p:cNvPr id="5" name="Group 19"/>
            <p:cNvGrpSpPr>
              <a:grpSpLocks/>
            </p:cNvGrpSpPr>
            <p:nvPr/>
          </p:nvGrpSpPr>
          <p:grpSpPr bwMode="auto">
            <a:xfrm>
              <a:off x="3512" y="1184"/>
              <a:ext cx="241" cy="240"/>
              <a:chOff x="3936" y="904"/>
              <a:chExt cx="241" cy="240"/>
            </a:xfrm>
          </p:grpSpPr>
          <p:sp>
            <p:nvSpPr>
              <p:cNvPr id="22540" name="Text Box 20"/>
              <p:cNvSpPr txBox="1">
                <a:spLocks noChangeArrowheads="1"/>
              </p:cNvSpPr>
              <p:nvPr/>
            </p:nvSpPr>
            <p:spPr bwMode="auto">
              <a:xfrm>
                <a:off x="3942" y="907"/>
                <a:ext cx="235"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D</a:t>
                </a:r>
              </a:p>
            </p:txBody>
          </p:sp>
          <p:sp>
            <p:nvSpPr>
              <p:cNvPr id="22541" name="Oval 21"/>
              <p:cNvSpPr>
                <a:spLocks noChangeArrowheads="1"/>
              </p:cNvSpPr>
              <p:nvPr/>
            </p:nvSpPr>
            <p:spPr bwMode="auto">
              <a:xfrm>
                <a:off x="3936" y="904"/>
                <a:ext cx="240" cy="240"/>
              </a:xfrm>
              <a:prstGeom prst="ellipse">
                <a:avLst/>
              </a:prstGeom>
              <a:noFill/>
              <a:ln w="9525">
                <a:solidFill>
                  <a:schemeClr val="tx1"/>
                </a:solidFill>
                <a:round/>
                <a:headEnd/>
                <a:tailEnd/>
              </a:ln>
            </p:spPr>
            <p:txBody>
              <a:bodyPr wrap="none" anchor="ctr"/>
              <a:lstStyle/>
              <a:p>
                <a:endParaRPr lang="en-US"/>
              </a:p>
            </p:txBody>
          </p:sp>
        </p:grpSp>
        <p:sp>
          <p:nvSpPr>
            <p:cNvPr id="22536" name="Line 37"/>
            <p:cNvSpPr>
              <a:spLocks noChangeShapeType="1"/>
            </p:cNvSpPr>
            <p:nvPr/>
          </p:nvSpPr>
          <p:spPr bwMode="auto">
            <a:xfrm flipH="1">
              <a:off x="2808" y="800"/>
              <a:ext cx="352" cy="360"/>
            </a:xfrm>
            <a:prstGeom prst="line">
              <a:avLst/>
            </a:prstGeom>
            <a:noFill/>
            <a:ln w="9525">
              <a:solidFill>
                <a:schemeClr val="tx1"/>
              </a:solidFill>
              <a:round/>
              <a:headEnd/>
              <a:tailEnd/>
            </a:ln>
          </p:spPr>
          <p:txBody>
            <a:bodyPr wrap="none" anchor="ctr"/>
            <a:lstStyle/>
            <a:p>
              <a:endParaRPr lang="en-US"/>
            </a:p>
          </p:txBody>
        </p:sp>
        <p:sp>
          <p:nvSpPr>
            <p:cNvPr id="22537" name="Line 38"/>
            <p:cNvSpPr>
              <a:spLocks noChangeShapeType="1"/>
            </p:cNvSpPr>
            <p:nvPr/>
          </p:nvSpPr>
          <p:spPr bwMode="auto">
            <a:xfrm>
              <a:off x="3240" y="800"/>
              <a:ext cx="392" cy="360"/>
            </a:xfrm>
            <a:prstGeom prst="line">
              <a:avLst/>
            </a:prstGeom>
            <a:noFill/>
            <a:ln w="9525">
              <a:solidFill>
                <a:schemeClr val="tx1"/>
              </a:solidFill>
              <a:round/>
              <a:headEnd/>
              <a:tailEnd/>
            </a:ln>
          </p:spPr>
          <p:txBody>
            <a:bodyPr wrap="none" anchor="ctr"/>
            <a:lstStyle/>
            <a:p>
              <a:endParaRPr lang="en-US"/>
            </a:p>
          </p:txBody>
        </p:sp>
        <p:sp>
          <p:nvSpPr>
            <p:cNvPr id="22538" name="Text Box 60"/>
            <p:cNvSpPr txBox="1">
              <a:spLocks noChangeArrowheads="1"/>
            </p:cNvSpPr>
            <p:nvPr/>
          </p:nvSpPr>
          <p:spPr bwMode="auto">
            <a:xfrm>
              <a:off x="2384" y="844"/>
              <a:ext cx="624"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3+10.1</a:t>
              </a:r>
            </a:p>
          </p:txBody>
        </p:sp>
        <p:sp>
          <p:nvSpPr>
            <p:cNvPr id="22539" name="Text Box 61"/>
            <p:cNvSpPr txBox="1">
              <a:spLocks noChangeArrowheads="1"/>
            </p:cNvSpPr>
            <p:nvPr/>
          </p:nvSpPr>
          <p:spPr bwMode="auto">
            <a:xfrm>
              <a:off x="3400" y="844"/>
              <a:ext cx="560"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4+9.2</a:t>
              </a:r>
            </a:p>
          </p:txBody>
        </p:sp>
      </p:grpSp>
      <p:sp>
        <p:nvSpPr>
          <p:cNvPr id="18" name="Title 17"/>
          <p:cNvSpPr>
            <a:spLocks noGrp="1"/>
          </p:cNvSpPr>
          <p:nvPr>
            <p:ph type="title"/>
          </p:nvPr>
        </p:nvSpPr>
        <p:spPr/>
        <p:txBody>
          <a:bodyPr/>
          <a:lstStyle/>
          <a:p>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5045760" y="553018"/>
            <a:ext cx="3456000" cy="466609"/>
          </a:xfrm>
        </p:spPr>
        <p:txBody>
          <a:bodyPr lIns="82945" tIns="41473" rIns="82945" bIns="41473">
            <a:normAutofit fontScale="90000"/>
          </a:bodyPr>
          <a:lstStyle/>
          <a:p>
            <a:pPr algn="r"/>
            <a:r>
              <a:rPr lang="en-US" sz="2900" dirty="0">
                <a:solidFill>
                  <a:srgbClr val="FF1C23"/>
                </a:solidFill>
              </a:rPr>
              <a:t>The A* procedure</a:t>
            </a:r>
            <a:r>
              <a:rPr lang="en-US" sz="1600" dirty="0">
                <a:solidFill>
                  <a:srgbClr val="FF1C23"/>
                </a:solidFill>
              </a:rPr>
              <a:t> (7)</a:t>
            </a:r>
            <a:endParaRPr lang="en-US" sz="2900" dirty="0"/>
          </a:p>
        </p:txBody>
      </p:sp>
      <p:sp>
        <p:nvSpPr>
          <p:cNvPr id="23555" name="Text Box 7"/>
          <p:cNvSpPr txBox="1">
            <a:spLocks noChangeArrowheads="1"/>
          </p:cNvSpPr>
          <p:nvPr/>
        </p:nvSpPr>
        <p:spPr bwMode="auto">
          <a:xfrm>
            <a:off x="1105920" y="1676400"/>
            <a:ext cx="1158166" cy="360755"/>
          </a:xfrm>
          <a:prstGeom prst="rect">
            <a:avLst/>
          </a:prstGeom>
          <a:noFill/>
          <a:ln w="9525">
            <a:noFill/>
            <a:miter lim="800000"/>
            <a:headEnd/>
            <a:tailEnd/>
          </a:ln>
        </p:spPr>
        <p:txBody>
          <a:bodyPr wrap="square" lIns="82945" tIns="41473" rIns="82945" bIns="41473">
            <a:spAutoFit/>
          </a:bodyPr>
          <a:lstStyle/>
          <a:p>
            <a:r>
              <a:rPr lang="en-US" dirty="0"/>
              <a:t>A*, step 2</a:t>
            </a:r>
          </a:p>
        </p:txBody>
      </p:sp>
      <p:grpSp>
        <p:nvGrpSpPr>
          <p:cNvPr id="2" name="Group 66"/>
          <p:cNvGrpSpPr>
            <a:grpSpLocks/>
          </p:cNvGrpSpPr>
          <p:nvPr/>
        </p:nvGrpSpPr>
        <p:grpSpPr bwMode="auto">
          <a:xfrm>
            <a:off x="2764800" y="1905000"/>
            <a:ext cx="2714400" cy="3276600"/>
            <a:chOff x="1920" y="544"/>
            <a:chExt cx="1885" cy="1520"/>
          </a:xfrm>
        </p:grpSpPr>
        <p:grpSp>
          <p:nvGrpSpPr>
            <p:cNvPr id="3" name="Group 9"/>
            <p:cNvGrpSpPr>
              <a:grpSpLocks/>
            </p:cNvGrpSpPr>
            <p:nvPr/>
          </p:nvGrpSpPr>
          <p:grpSpPr bwMode="auto">
            <a:xfrm>
              <a:off x="3080" y="544"/>
              <a:ext cx="240" cy="242"/>
              <a:chOff x="2968" y="456"/>
              <a:chExt cx="240" cy="242"/>
            </a:xfrm>
          </p:grpSpPr>
          <p:sp>
            <p:nvSpPr>
              <p:cNvPr id="23578" name="Text Box 10"/>
              <p:cNvSpPr txBox="1">
                <a:spLocks noChangeArrowheads="1"/>
              </p:cNvSpPr>
              <p:nvPr/>
            </p:nvSpPr>
            <p:spPr bwMode="auto">
              <a:xfrm>
                <a:off x="2982" y="463"/>
                <a:ext cx="208"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S</a:t>
                </a:r>
              </a:p>
            </p:txBody>
          </p:sp>
          <p:sp>
            <p:nvSpPr>
              <p:cNvPr id="23579" name="Oval 11"/>
              <p:cNvSpPr>
                <a:spLocks noChangeArrowheads="1"/>
              </p:cNvSpPr>
              <p:nvPr/>
            </p:nvSpPr>
            <p:spPr bwMode="auto">
              <a:xfrm>
                <a:off x="2968" y="456"/>
                <a:ext cx="240" cy="240"/>
              </a:xfrm>
              <a:prstGeom prst="ellipse">
                <a:avLst/>
              </a:prstGeom>
              <a:noFill/>
              <a:ln w="9525">
                <a:solidFill>
                  <a:schemeClr val="tx1"/>
                </a:solidFill>
                <a:round/>
                <a:headEnd/>
                <a:tailEnd/>
              </a:ln>
            </p:spPr>
            <p:txBody>
              <a:bodyPr wrap="none" anchor="ctr"/>
              <a:lstStyle/>
              <a:p>
                <a:endParaRPr lang="en-US"/>
              </a:p>
            </p:txBody>
          </p:sp>
        </p:grpSp>
        <p:grpSp>
          <p:nvGrpSpPr>
            <p:cNvPr id="4" name="Group 12"/>
            <p:cNvGrpSpPr>
              <a:grpSpLocks/>
            </p:cNvGrpSpPr>
            <p:nvPr/>
          </p:nvGrpSpPr>
          <p:grpSpPr bwMode="auto">
            <a:xfrm>
              <a:off x="2688" y="1184"/>
              <a:ext cx="240" cy="244"/>
              <a:chOff x="3648" y="816"/>
              <a:chExt cx="240" cy="244"/>
            </a:xfrm>
          </p:grpSpPr>
          <p:sp>
            <p:nvSpPr>
              <p:cNvPr id="23576" name="Text Box 13"/>
              <p:cNvSpPr txBox="1">
                <a:spLocks noChangeArrowheads="1"/>
              </p:cNvSpPr>
              <p:nvPr/>
            </p:nvSpPr>
            <p:spPr bwMode="auto">
              <a:xfrm>
                <a:off x="3664" y="825"/>
                <a:ext cx="224"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A</a:t>
                </a:r>
              </a:p>
            </p:txBody>
          </p:sp>
          <p:sp>
            <p:nvSpPr>
              <p:cNvPr id="23577" name="Oval 14"/>
              <p:cNvSpPr>
                <a:spLocks noChangeArrowheads="1"/>
              </p:cNvSpPr>
              <p:nvPr/>
            </p:nvSpPr>
            <p:spPr bwMode="auto">
              <a:xfrm>
                <a:off x="3648" y="816"/>
                <a:ext cx="240" cy="240"/>
              </a:xfrm>
              <a:prstGeom prst="ellipse">
                <a:avLst/>
              </a:prstGeom>
              <a:noFill/>
              <a:ln w="9525">
                <a:solidFill>
                  <a:schemeClr val="tx1"/>
                </a:solidFill>
                <a:round/>
                <a:headEnd/>
                <a:tailEnd/>
              </a:ln>
            </p:spPr>
            <p:txBody>
              <a:bodyPr wrap="none" anchor="ctr"/>
              <a:lstStyle/>
              <a:p>
                <a:endParaRPr lang="en-US"/>
              </a:p>
            </p:txBody>
          </p:sp>
        </p:grpSp>
        <p:grpSp>
          <p:nvGrpSpPr>
            <p:cNvPr id="5" name="Group 15"/>
            <p:cNvGrpSpPr>
              <a:grpSpLocks/>
            </p:cNvGrpSpPr>
            <p:nvPr/>
          </p:nvGrpSpPr>
          <p:grpSpPr bwMode="auto">
            <a:xfrm>
              <a:off x="3512" y="1184"/>
              <a:ext cx="241" cy="240"/>
              <a:chOff x="3936" y="904"/>
              <a:chExt cx="241" cy="240"/>
            </a:xfrm>
          </p:grpSpPr>
          <p:sp>
            <p:nvSpPr>
              <p:cNvPr id="23574" name="Text Box 16"/>
              <p:cNvSpPr txBox="1">
                <a:spLocks noChangeArrowheads="1"/>
              </p:cNvSpPr>
              <p:nvPr/>
            </p:nvSpPr>
            <p:spPr bwMode="auto">
              <a:xfrm>
                <a:off x="3942" y="907"/>
                <a:ext cx="235"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D</a:t>
                </a:r>
              </a:p>
            </p:txBody>
          </p:sp>
          <p:sp>
            <p:nvSpPr>
              <p:cNvPr id="23575" name="Oval 17"/>
              <p:cNvSpPr>
                <a:spLocks noChangeArrowheads="1"/>
              </p:cNvSpPr>
              <p:nvPr/>
            </p:nvSpPr>
            <p:spPr bwMode="auto">
              <a:xfrm>
                <a:off x="3936" y="904"/>
                <a:ext cx="240" cy="240"/>
              </a:xfrm>
              <a:prstGeom prst="ellipse">
                <a:avLst/>
              </a:prstGeom>
              <a:noFill/>
              <a:ln w="9525">
                <a:solidFill>
                  <a:schemeClr val="tx1"/>
                </a:solidFill>
                <a:round/>
                <a:headEnd/>
                <a:tailEnd/>
              </a:ln>
            </p:spPr>
            <p:txBody>
              <a:bodyPr wrap="none" anchor="ctr"/>
              <a:lstStyle/>
              <a:p>
                <a:endParaRPr lang="en-US"/>
              </a:p>
            </p:txBody>
          </p:sp>
        </p:grpSp>
        <p:grpSp>
          <p:nvGrpSpPr>
            <p:cNvPr id="6" name="Group 18"/>
            <p:cNvGrpSpPr>
              <a:grpSpLocks/>
            </p:cNvGrpSpPr>
            <p:nvPr/>
          </p:nvGrpSpPr>
          <p:grpSpPr bwMode="auto">
            <a:xfrm>
              <a:off x="2288" y="1824"/>
              <a:ext cx="242" cy="240"/>
              <a:chOff x="3916" y="1291"/>
              <a:chExt cx="242" cy="240"/>
            </a:xfrm>
          </p:grpSpPr>
          <p:sp>
            <p:nvSpPr>
              <p:cNvPr id="23572" name="Text Box 19"/>
              <p:cNvSpPr txBox="1">
                <a:spLocks noChangeArrowheads="1"/>
              </p:cNvSpPr>
              <p:nvPr/>
            </p:nvSpPr>
            <p:spPr bwMode="auto">
              <a:xfrm>
                <a:off x="3936" y="1296"/>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B</a:t>
                </a:r>
              </a:p>
            </p:txBody>
          </p:sp>
          <p:sp>
            <p:nvSpPr>
              <p:cNvPr id="23573" name="Oval 20"/>
              <p:cNvSpPr>
                <a:spLocks noChangeArrowheads="1"/>
              </p:cNvSpPr>
              <p:nvPr/>
            </p:nvSpPr>
            <p:spPr bwMode="auto">
              <a:xfrm>
                <a:off x="3916" y="1291"/>
                <a:ext cx="240" cy="240"/>
              </a:xfrm>
              <a:prstGeom prst="ellipse">
                <a:avLst/>
              </a:prstGeom>
              <a:noFill/>
              <a:ln w="9525">
                <a:solidFill>
                  <a:schemeClr val="tx1"/>
                </a:solidFill>
                <a:round/>
                <a:headEnd/>
                <a:tailEnd/>
              </a:ln>
            </p:spPr>
            <p:txBody>
              <a:bodyPr wrap="none" anchor="ctr"/>
              <a:lstStyle/>
              <a:p>
                <a:endParaRPr lang="en-US"/>
              </a:p>
            </p:txBody>
          </p:sp>
        </p:grpSp>
        <p:sp>
          <p:nvSpPr>
            <p:cNvPr id="23561" name="Line 33"/>
            <p:cNvSpPr>
              <a:spLocks noChangeShapeType="1"/>
            </p:cNvSpPr>
            <p:nvPr/>
          </p:nvSpPr>
          <p:spPr bwMode="auto">
            <a:xfrm flipH="1">
              <a:off x="2808" y="800"/>
              <a:ext cx="352" cy="360"/>
            </a:xfrm>
            <a:prstGeom prst="line">
              <a:avLst/>
            </a:prstGeom>
            <a:noFill/>
            <a:ln w="9525">
              <a:solidFill>
                <a:schemeClr val="tx1"/>
              </a:solidFill>
              <a:round/>
              <a:headEnd/>
              <a:tailEnd/>
            </a:ln>
          </p:spPr>
          <p:txBody>
            <a:bodyPr wrap="none" anchor="ctr"/>
            <a:lstStyle/>
            <a:p>
              <a:endParaRPr lang="en-US"/>
            </a:p>
          </p:txBody>
        </p:sp>
        <p:sp>
          <p:nvSpPr>
            <p:cNvPr id="23562" name="Line 34"/>
            <p:cNvSpPr>
              <a:spLocks noChangeShapeType="1"/>
            </p:cNvSpPr>
            <p:nvPr/>
          </p:nvSpPr>
          <p:spPr bwMode="auto">
            <a:xfrm>
              <a:off x="3240" y="800"/>
              <a:ext cx="392" cy="360"/>
            </a:xfrm>
            <a:prstGeom prst="line">
              <a:avLst/>
            </a:prstGeom>
            <a:noFill/>
            <a:ln w="9525">
              <a:solidFill>
                <a:schemeClr val="tx1"/>
              </a:solidFill>
              <a:round/>
              <a:headEnd/>
              <a:tailEnd/>
            </a:ln>
          </p:spPr>
          <p:txBody>
            <a:bodyPr wrap="none" anchor="ctr"/>
            <a:lstStyle/>
            <a:p>
              <a:endParaRPr lang="en-US"/>
            </a:p>
          </p:txBody>
        </p:sp>
        <p:sp>
          <p:nvSpPr>
            <p:cNvPr id="23563" name="Line 35"/>
            <p:cNvSpPr>
              <a:spLocks noChangeShapeType="1"/>
            </p:cNvSpPr>
            <p:nvPr/>
          </p:nvSpPr>
          <p:spPr bwMode="auto">
            <a:xfrm flipH="1">
              <a:off x="2408" y="1440"/>
              <a:ext cx="352" cy="360"/>
            </a:xfrm>
            <a:prstGeom prst="line">
              <a:avLst/>
            </a:prstGeom>
            <a:noFill/>
            <a:ln w="9525">
              <a:solidFill>
                <a:schemeClr val="tx1"/>
              </a:solidFill>
              <a:round/>
              <a:headEnd/>
              <a:tailEnd/>
            </a:ln>
          </p:spPr>
          <p:txBody>
            <a:bodyPr wrap="none" anchor="ctr"/>
            <a:lstStyle/>
            <a:p>
              <a:endParaRPr lang="en-US"/>
            </a:p>
          </p:txBody>
        </p:sp>
        <p:grpSp>
          <p:nvGrpSpPr>
            <p:cNvPr id="7" name="Group 37"/>
            <p:cNvGrpSpPr>
              <a:grpSpLocks/>
            </p:cNvGrpSpPr>
            <p:nvPr/>
          </p:nvGrpSpPr>
          <p:grpSpPr bwMode="auto">
            <a:xfrm>
              <a:off x="2696" y="1824"/>
              <a:ext cx="241" cy="240"/>
              <a:chOff x="3936" y="904"/>
              <a:chExt cx="241" cy="240"/>
            </a:xfrm>
          </p:grpSpPr>
          <p:sp>
            <p:nvSpPr>
              <p:cNvPr id="23570" name="Text Box 38"/>
              <p:cNvSpPr txBox="1">
                <a:spLocks noChangeArrowheads="1"/>
              </p:cNvSpPr>
              <p:nvPr/>
            </p:nvSpPr>
            <p:spPr bwMode="auto">
              <a:xfrm>
                <a:off x="3942" y="907"/>
                <a:ext cx="235"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D</a:t>
                </a:r>
              </a:p>
            </p:txBody>
          </p:sp>
          <p:sp>
            <p:nvSpPr>
              <p:cNvPr id="23571" name="Oval 39"/>
              <p:cNvSpPr>
                <a:spLocks noChangeArrowheads="1"/>
              </p:cNvSpPr>
              <p:nvPr/>
            </p:nvSpPr>
            <p:spPr bwMode="auto">
              <a:xfrm>
                <a:off x="3936" y="904"/>
                <a:ext cx="240" cy="240"/>
              </a:xfrm>
              <a:prstGeom prst="ellipse">
                <a:avLst/>
              </a:prstGeom>
              <a:noFill/>
              <a:ln w="9525">
                <a:solidFill>
                  <a:schemeClr val="tx1"/>
                </a:solidFill>
                <a:round/>
                <a:headEnd/>
                <a:tailEnd/>
              </a:ln>
            </p:spPr>
            <p:txBody>
              <a:bodyPr wrap="none" anchor="ctr"/>
              <a:lstStyle/>
              <a:p>
                <a:endParaRPr lang="en-US"/>
              </a:p>
            </p:txBody>
          </p:sp>
        </p:grpSp>
        <p:sp>
          <p:nvSpPr>
            <p:cNvPr id="23565" name="Line 40"/>
            <p:cNvSpPr>
              <a:spLocks noChangeShapeType="1"/>
            </p:cNvSpPr>
            <p:nvPr/>
          </p:nvSpPr>
          <p:spPr bwMode="auto">
            <a:xfrm>
              <a:off x="2816" y="1440"/>
              <a:ext cx="0" cy="360"/>
            </a:xfrm>
            <a:prstGeom prst="line">
              <a:avLst/>
            </a:prstGeom>
            <a:noFill/>
            <a:ln w="9525">
              <a:solidFill>
                <a:schemeClr val="tx1"/>
              </a:solidFill>
              <a:round/>
              <a:headEnd/>
              <a:tailEnd/>
            </a:ln>
          </p:spPr>
          <p:txBody>
            <a:bodyPr wrap="none" anchor="ctr"/>
            <a:lstStyle/>
            <a:p>
              <a:endParaRPr lang="en-US"/>
            </a:p>
          </p:txBody>
        </p:sp>
        <p:sp>
          <p:nvSpPr>
            <p:cNvPr id="23566" name="Text Box 56"/>
            <p:cNvSpPr txBox="1">
              <a:spLocks noChangeArrowheads="1"/>
            </p:cNvSpPr>
            <p:nvPr/>
          </p:nvSpPr>
          <p:spPr bwMode="auto">
            <a:xfrm>
              <a:off x="2619" y="84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13.1</a:t>
              </a:r>
            </a:p>
          </p:txBody>
        </p:sp>
        <p:sp>
          <p:nvSpPr>
            <p:cNvPr id="23567" name="Text Box 57"/>
            <p:cNvSpPr txBox="1">
              <a:spLocks noChangeArrowheads="1"/>
            </p:cNvSpPr>
            <p:nvPr/>
          </p:nvSpPr>
          <p:spPr bwMode="auto">
            <a:xfrm>
              <a:off x="3424" y="84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13.2</a:t>
              </a:r>
            </a:p>
          </p:txBody>
        </p:sp>
        <p:sp>
          <p:nvSpPr>
            <p:cNvPr id="23568" name="Text Box 58"/>
            <p:cNvSpPr txBox="1">
              <a:spLocks noChangeArrowheads="1"/>
            </p:cNvSpPr>
            <p:nvPr/>
          </p:nvSpPr>
          <p:spPr bwMode="auto">
            <a:xfrm>
              <a:off x="1920" y="1484"/>
              <a:ext cx="688"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3+4+5.8</a:t>
              </a:r>
            </a:p>
          </p:txBody>
        </p:sp>
        <p:sp>
          <p:nvSpPr>
            <p:cNvPr id="23569" name="Text Box 59"/>
            <p:cNvSpPr txBox="1">
              <a:spLocks noChangeArrowheads="1"/>
            </p:cNvSpPr>
            <p:nvPr/>
          </p:nvSpPr>
          <p:spPr bwMode="auto">
            <a:xfrm>
              <a:off x="2768" y="1488"/>
              <a:ext cx="688"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3+5+9.2</a:t>
              </a:r>
            </a:p>
          </p:txBody>
        </p:sp>
      </p:gr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9"/>
          <p:cNvSpPr txBox="1">
            <a:spLocks noChangeArrowheads="1"/>
          </p:cNvSpPr>
          <p:nvPr/>
        </p:nvSpPr>
        <p:spPr bwMode="auto">
          <a:xfrm>
            <a:off x="1105920" y="1752600"/>
            <a:ext cx="1156563" cy="360755"/>
          </a:xfrm>
          <a:prstGeom prst="rect">
            <a:avLst/>
          </a:prstGeom>
          <a:noFill/>
          <a:ln w="9525">
            <a:noFill/>
            <a:miter lim="800000"/>
            <a:headEnd/>
            <a:tailEnd/>
          </a:ln>
        </p:spPr>
        <p:txBody>
          <a:bodyPr wrap="square" lIns="82945" tIns="41473" rIns="82945" bIns="41473">
            <a:spAutoFit/>
          </a:bodyPr>
          <a:lstStyle/>
          <a:p>
            <a:r>
              <a:rPr lang="en-US" dirty="0"/>
              <a:t>A*, step 3</a:t>
            </a:r>
          </a:p>
        </p:txBody>
      </p:sp>
      <p:grpSp>
        <p:nvGrpSpPr>
          <p:cNvPr id="2" name="Group 68"/>
          <p:cNvGrpSpPr>
            <a:grpSpLocks/>
          </p:cNvGrpSpPr>
          <p:nvPr/>
        </p:nvGrpSpPr>
        <p:grpSpPr bwMode="auto">
          <a:xfrm>
            <a:off x="1935360" y="2057400"/>
            <a:ext cx="3543840" cy="4191000"/>
            <a:chOff x="1344" y="544"/>
            <a:chExt cx="2461" cy="2160"/>
          </a:xfrm>
        </p:grpSpPr>
        <p:grpSp>
          <p:nvGrpSpPr>
            <p:cNvPr id="3" name="Group 11"/>
            <p:cNvGrpSpPr>
              <a:grpSpLocks/>
            </p:cNvGrpSpPr>
            <p:nvPr/>
          </p:nvGrpSpPr>
          <p:grpSpPr bwMode="auto">
            <a:xfrm>
              <a:off x="3080" y="544"/>
              <a:ext cx="240" cy="242"/>
              <a:chOff x="2968" y="456"/>
              <a:chExt cx="240" cy="242"/>
            </a:xfrm>
          </p:grpSpPr>
          <p:sp>
            <p:nvSpPr>
              <p:cNvPr id="24612" name="Text Box 12"/>
              <p:cNvSpPr txBox="1">
                <a:spLocks noChangeArrowheads="1"/>
              </p:cNvSpPr>
              <p:nvPr/>
            </p:nvSpPr>
            <p:spPr bwMode="auto">
              <a:xfrm>
                <a:off x="2982" y="463"/>
                <a:ext cx="208"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S</a:t>
                </a:r>
              </a:p>
            </p:txBody>
          </p:sp>
          <p:sp>
            <p:nvSpPr>
              <p:cNvPr id="24613" name="Oval 13"/>
              <p:cNvSpPr>
                <a:spLocks noChangeArrowheads="1"/>
              </p:cNvSpPr>
              <p:nvPr/>
            </p:nvSpPr>
            <p:spPr bwMode="auto">
              <a:xfrm>
                <a:off x="2968" y="456"/>
                <a:ext cx="240" cy="240"/>
              </a:xfrm>
              <a:prstGeom prst="ellipse">
                <a:avLst/>
              </a:prstGeom>
              <a:noFill/>
              <a:ln w="9525">
                <a:solidFill>
                  <a:schemeClr val="tx1"/>
                </a:solidFill>
                <a:round/>
                <a:headEnd/>
                <a:tailEnd/>
              </a:ln>
            </p:spPr>
            <p:txBody>
              <a:bodyPr wrap="none" anchor="ctr"/>
              <a:lstStyle/>
              <a:p>
                <a:endParaRPr lang="en-US"/>
              </a:p>
            </p:txBody>
          </p:sp>
        </p:grpSp>
        <p:grpSp>
          <p:nvGrpSpPr>
            <p:cNvPr id="4" name="Group 14"/>
            <p:cNvGrpSpPr>
              <a:grpSpLocks/>
            </p:cNvGrpSpPr>
            <p:nvPr/>
          </p:nvGrpSpPr>
          <p:grpSpPr bwMode="auto">
            <a:xfrm>
              <a:off x="2688" y="1184"/>
              <a:ext cx="240" cy="244"/>
              <a:chOff x="3648" y="816"/>
              <a:chExt cx="240" cy="244"/>
            </a:xfrm>
          </p:grpSpPr>
          <p:sp>
            <p:nvSpPr>
              <p:cNvPr id="24610" name="Text Box 15"/>
              <p:cNvSpPr txBox="1">
                <a:spLocks noChangeArrowheads="1"/>
              </p:cNvSpPr>
              <p:nvPr/>
            </p:nvSpPr>
            <p:spPr bwMode="auto">
              <a:xfrm>
                <a:off x="3664" y="825"/>
                <a:ext cx="224"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A</a:t>
                </a:r>
              </a:p>
            </p:txBody>
          </p:sp>
          <p:sp>
            <p:nvSpPr>
              <p:cNvPr id="24611" name="Oval 16"/>
              <p:cNvSpPr>
                <a:spLocks noChangeArrowheads="1"/>
              </p:cNvSpPr>
              <p:nvPr/>
            </p:nvSpPr>
            <p:spPr bwMode="auto">
              <a:xfrm>
                <a:off x="3648" y="816"/>
                <a:ext cx="240" cy="240"/>
              </a:xfrm>
              <a:prstGeom prst="ellipse">
                <a:avLst/>
              </a:prstGeom>
              <a:noFill/>
              <a:ln w="9525">
                <a:solidFill>
                  <a:schemeClr val="tx1"/>
                </a:solidFill>
                <a:round/>
                <a:headEnd/>
                <a:tailEnd/>
              </a:ln>
            </p:spPr>
            <p:txBody>
              <a:bodyPr wrap="none" anchor="ctr"/>
              <a:lstStyle/>
              <a:p>
                <a:endParaRPr lang="en-US"/>
              </a:p>
            </p:txBody>
          </p:sp>
        </p:grpSp>
        <p:grpSp>
          <p:nvGrpSpPr>
            <p:cNvPr id="5" name="Group 17"/>
            <p:cNvGrpSpPr>
              <a:grpSpLocks/>
            </p:cNvGrpSpPr>
            <p:nvPr/>
          </p:nvGrpSpPr>
          <p:grpSpPr bwMode="auto">
            <a:xfrm>
              <a:off x="3512" y="1184"/>
              <a:ext cx="241" cy="240"/>
              <a:chOff x="3936" y="904"/>
              <a:chExt cx="241" cy="240"/>
            </a:xfrm>
          </p:grpSpPr>
          <p:sp>
            <p:nvSpPr>
              <p:cNvPr id="24608" name="Text Box 18"/>
              <p:cNvSpPr txBox="1">
                <a:spLocks noChangeArrowheads="1"/>
              </p:cNvSpPr>
              <p:nvPr/>
            </p:nvSpPr>
            <p:spPr bwMode="auto">
              <a:xfrm>
                <a:off x="3942" y="907"/>
                <a:ext cx="235"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D</a:t>
                </a:r>
              </a:p>
            </p:txBody>
          </p:sp>
          <p:sp>
            <p:nvSpPr>
              <p:cNvPr id="24609" name="Oval 19"/>
              <p:cNvSpPr>
                <a:spLocks noChangeArrowheads="1"/>
              </p:cNvSpPr>
              <p:nvPr/>
            </p:nvSpPr>
            <p:spPr bwMode="auto">
              <a:xfrm>
                <a:off x="3936" y="904"/>
                <a:ext cx="240" cy="240"/>
              </a:xfrm>
              <a:prstGeom prst="ellipse">
                <a:avLst/>
              </a:prstGeom>
              <a:noFill/>
              <a:ln w="9525">
                <a:solidFill>
                  <a:schemeClr val="tx1"/>
                </a:solidFill>
                <a:round/>
                <a:headEnd/>
                <a:tailEnd/>
              </a:ln>
            </p:spPr>
            <p:txBody>
              <a:bodyPr wrap="none" anchor="ctr"/>
              <a:lstStyle/>
              <a:p>
                <a:endParaRPr lang="en-US"/>
              </a:p>
            </p:txBody>
          </p:sp>
        </p:grpSp>
        <p:grpSp>
          <p:nvGrpSpPr>
            <p:cNvPr id="6" name="Group 20"/>
            <p:cNvGrpSpPr>
              <a:grpSpLocks/>
            </p:cNvGrpSpPr>
            <p:nvPr/>
          </p:nvGrpSpPr>
          <p:grpSpPr bwMode="auto">
            <a:xfrm>
              <a:off x="2288" y="1824"/>
              <a:ext cx="242" cy="240"/>
              <a:chOff x="3916" y="1291"/>
              <a:chExt cx="242" cy="240"/>
            </a:xfrm>
          </p:grpSpPr>
          <p:sp>
            <p:nvSpPr>
              <p:cNvPr id="24606" name="Text Box 21"/>
              <p:cNvSpPr txBox="1">
                <a:spLocks noChangeArrowheads="1"/>
              </p:cNvSpPr>
              <p:nvPr/>
            </p:nvSpPr>
            <p:spPr bwMode="auto">
              <a:xfrm>
                <a:off x="3936" y="1296"/>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B</a:t>
                </a:r>
              </a:p>
            </p:txBody>
          </p:sp>
          <p:sp>
            <p:nvSpPr>
              <p:cNvPr id="24607" name="Oval 22"/>
              <p:cNvSpPr>
                <a:spLocks noChangeArrowheads="1"/>
              </p:cNvSpPr>
              <p:nvPr/>
            </p:nvSpPr>
            <p:spPr bwMode="auto">
              <a:xfrm>
                <a:off x="3916" y="1291"/>
                <a:ext cx="240" cy="240"/>
              </a:xfrm>
              <a:prstGeom prst="ellipse">
                <a:avLst/>
              </a:prstGeom>
              <a:noFill/>
              <a:ln w="9525">
                <a:solidFill>
                  <a:schemeClr val="tx1"/>
                </a:solidFill>
                <a:round/>
                <a:headEnd/>
                <a:tailEnd/>
              </a:ln>
            </p:spPr>
            <p:txBody>
              <a:bodyPr wrap="none" anchor="ctr"/>
              <a:lstStyle/>
              <a:p>
                <a:endParaRPr lang="en-US"/>
              </a:p>
            </p:txBody>
          </p:sp>
        </p:grpSp>
        <p:grpSp>
          <p:nvGrpSpPr>
            <p:cNvPr id="7" name="Group 23"/>
            <p:cNvGrpSpPr>
              <a:grpSpLocks/>
            </p:cNvGrpSpPr>
            <p:nvPr/>
          </p:nvGrpSpPr>
          <p:grpSpPr bwMode="auto">
            <a:xfrm>
              <a:off x="1880" y="2464"/>
              <a:ext cx="240" cy="240"/>
              <a:chOff x="3976" y="1728"/>
              <a:chExt cx="240" cy="240"/>
            </a:xfrm>
          </p:grpSpPr>
          <p:sp>
            <p:nvSpPr>
              <p:cNvPr id="24604" name="Text Box 24"/>
              <p:cNvSpPr txBox="1">
                <a:spLocks noChangeArrowheads="1"/>
              </p:cNvSpPr>
              <p:nvPr/>
            </p:nvSpPr>
            <p:spPr bwMode="auto">
              <a:xfrm>
                <a:off x="3982" y="1731"/>
                <a:ext cx="220"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C</a:t>
                </a:r>
              </a:p>
            </p:txBody>
          </p:sp>
          <p:sp>
            <p:nvSpPr>
              <p:cNvPr id="24605" name="Oval 25"/>
              <p:cNvSpPr>
                <a:spLocks noChangeArrowheads="1"/>
              </p:cNvSpPr>
              <p:nvPr/>
            </p:nvSpPr>
            <p:spPr bwMode="auto">
              <a:xfrm>
                <a:off x="3976" y="1728"/>
                <a:ext cx="240" cy="240"/>
              </a:xfrm>
              <a:prstGeom prst="ellipse">
                <a:avLst/>
              </a:prstGeom>
              <a:noFill/>
              <a:ln w="9525">
                <a:solidFill>
                  <a:schemeClr val="tx1"/>
                </a:solidFill>
                <a:round/>
                <a:headEnd/>
                <a:tailEnd/>
              </a:ln>
            </p:spPr>
            <p:txBody>
              <a:bodyPr wrap="none" anchor="ctr"/>
              <a:lstStyle/>
              <a:p>
                <a:endParaRPr lang="en-US"/>
              </a:p>
            </p:txBody>
          </p:sp>
        </p:grpSp>
        <p:sp>
          <p:nvSpPr>
            <p:cNvPr id="24586" name="Line 35"/>
            <p:cNvSpPr>
              <a:spLocks noChangeShapeType="1"/>
            </p:cNvSpPr>
            <p:nvPr/>
          </p:nvSpPr>
          <p:spPr bwMode="auto">
            <a:xfrm flipH="1">
              <a:off x="2808" y="800"/>
              <a:ext cx="352" cy="360"/>
            </a:xfrm>
            <a:prstGeom prst="line">
              <a:avLst/>
            </a:prstGeom>
            <a:noFill/>
            <a:ln w="9525">
              <a:solidFill>
                <a:schemeClr val="tx1"/>
              </a:solidFill>
              <a:round/>
              <a:headEnd/>
              <a:tailEnd/>
            </a:ln>
          </p:spPr>
          <p:txBody>
            <a:bodyPr wrap="none" anchor="ctr"/>
            <a:lstStyle/>
            <a:p>
              <a:endParaRPr lang="en-US"/>
            </a:p>
          </p:txBody>
        </p:sp>
        <p:sp>
          <p:nvSpPr>
            <p:cNvPr id="24587" name="Line 36"/>
            <p:cNvSpPr>
              <a:spLocks noChangeShapeType="1"/>
            </p:cNvSpPr>
            <p:nvPr/>
          </p:nvSpPr>
          <p:spPr bwMode="auto">
            <a:xfrm>
              <a:off x="3240" y="800"/>
              <a:ext cx="392" cy="360"/>
            </a:xfrm>
            <a:prstGeom prst="line">
              <a:avLst/>
            </a:prstGeom>
            <a:noFill/>
            <a:ln w="9525">
              <a:solidFill>
                <a:schemeClr val="tx1"/>
              </a:solidFill>
              <a:round/>
              <a:headEnd/>
              <a:tailEnd/>
            </a:ln>
          </p:spPr>
          <p:txBody>
            <a:bodyPr wrap="none" anchor="ctr"/>
            <a:lstStyle/>
            <a:p>
              <a:endParaRPr lang="en-US"/>
            </a:p>
          </p:txBody>
        </p:sp>
        <p:sp>
          <p:nvSpPr>
            <p:cNvPr id="24588" name="Line 37"/>
            <p:cNvSpPr>
              <a:spLocks noChangeShapeType="1"/>
            </p:cNvSpPr>
            <p:nvPr/>
          </p:nvSpPr>
          <p:spPr bwMode="auto">
            <a:xfrm flipH="1">
              <a:off x="2408" y="1440"/>
              <a:ext cx="352" cy="360"/>
            </a:xfrm>
            <a:prstGeom prst="line">
              <a:avLst/>
            </a:prstGeom>
            <a:noFill/>
            <a:ln w="9525">
              <a:solidFill>
                <a:schemeClr val="tx1"/>
              </a:solidFill>
              <a:round/>
              <a:headEnd/>
              <a:tailEnd/>
            </a:ln>
          </p:spPr>
          <p:txBody>
            <a:bodyPr wrap="none" anchor="ctr"/>
            <a:lstStyle/>
            <a:p>
              <a:endParaRPr lang="en-US"/>
            </a:p>
          </p:txBody>
        </p:sp>
        <p:grpSp>
          <p:nvGrpSpPr>
            <p:cNvPr id="8" name="Group 39"/>
            <p:cNvGrpSpPr>
              <a:grpSpLocks/>
            </p:cNvGrpSpPr>
            <p:nvPr/>
          </p:nvGrpSpPr>
          <p:grpSpPr bwMode="auto">
            <a:xfrm>
              <a:off x="2696" y="1824"/>
              <a:ext cx="241" cy="240"/>
              <a:chOff x="3936" y="904"/>
              <a:chExt cx="241" cy="240"/>
            </a:xfrm>
          </p:grpSpPr>
          <p:sp>
            <p:nvSpPr>
              <p:cNvPr id="24602" name="Text Box 40"/>
              <p:cNvSpPr txBox="1">
                <a:spLocks noChangeArrowheads="1"/>
              </p:cNvSpPr>
              <p:nvPr/>
            </p:nvSpPr>
            <p:spPr bwMode="auto">
              <a:xfrm>
                <a:off x="3942" y="907"/>
                <a:ext cx="235"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D</a:t>
                </a:r>
              </a:p>
            </p:txBody>
          </p:sp>
          <p:sp>
            <p:nvSpPr>
              <p:cNvPr id="24603" name="Oval 41"/>
              <p:cNvSpPr>
                <a:spLocks noChangeArrowheads="1"/>
              </p:cNvSpPr>
              <p:nvPr/>
            </p:nvSpPr>
            <p:spPr bwMode="auto">
              <a:xfrm>
                <a:off x="3936" y="904"/>
                <a:ext cx="240" cy="240"/>
              </a:xfrm>
              <a:prstGeom prst="ellipse">
                <a:avLst/>
              </a:prstGeom>
              <a:noFill/>
              <a:ln w="9525">
                <a:solidFill>
                  <a:schemeClr val="tx1"/>
                </a:solidFill>
                <a:round/>
                <a:headEnd/>
                <a:tailEnd/>
              </a:ln>
            </p:spPr>
            <p:txBody>
              <a:bodyPr wrap="none" anchor="ctr"/>
              <a:lstStyle/>
              <a:p>
                <a:endParaRPr lang="en-US"/>
              </a:p>
            </p:txBody>
          </p:sp>
        </p:grpSp>
        <p:sp>
          <p:nvSpPr>
            <p:cNvPr id="24590" name="Line 42"/>
            <p:cNvSpPr>
              <a:spLocks noChangeShapeType="1"/>
            </p:cNvSpPr>
            <p:nvPr/>
          </p:nvSpPr>
          <p:spPr bwMode="auto">
            <a:xfrm>
              <a:off x="2816" y="1440"/>
              <a:ext cx="0" cy="360"/>
            </a:xfrm>
            <a:prstGeom prst="line">
              <a:avLst/>
            </a:prstGeom>
            <a:noFill/>
            <a:ln w="9525">
              <a:solidFill>
                <a:schemeClr val="tx1"/>
              </a:solidFill>
              <a:round/>
              <a:headEnd/>
              <a:tailEnd/>
            </a:ln>
          </p:spPr>
          <p:txBody>
            <a:bodyPr wrap="none" anchor="ctr"/>
            <a:lstStyle/>
            <a:p>
              <a:endParaRPr lang="en-US"/>
            </a:p>
          </p:txBody>
        </p:sp>
        <p:grpSp>
          <p:nvGrpSpPr>
            <p:cNvPr id="9" name="Group 47"/>
            <p:cNvGrpSpPr>
              <a:grpSpLocks/>
            </p:cNvGrpSpPr>
            <p:nvPr/>
          </p:nvGrpSpPr>
          <p:grpSpPr bwMode="auto">
            <a:xfrm>
              <a:off x="2288" y="2464"/>
              <a:ext cx="240" cy="240"/>
              <a:chOff x="3952" y="2072"/>
              <a:chExt cx="240" cy="240"/>
            </a:xfrm>
          </p:grpSpPr>
          <p:sp>
            <p:nvSpPr>
              <p:cNvPr id="24600" name="Text Box 48"/>
              <p:cNvSpPr txBox="1">
                <a:spLocks noChangeArrowheads="1"/>
              </p:cNvSpPr>
              <p:nvPr/>
            </p:nvSpPr>
            <p:spPr bwMode="auto">
              <a:xfrm>
                <a:off x="3964" y="2077"/>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E</a:t>
                </a:r>
              </a:p>
            </p:txBody>
          </p:sp>
          <p:sp>
            <p:nvSpPr>
              <p:cNvPr id="24601" name="Oval 49"/>
              <p:cNvSpPr>
                <a:spLocks noChangeArrowheads="1"/>
              </p:cNvSpPr>
              <p:nvPr/>
            </p:nvSpPr>
            <p:spPr bwMode="auto">
              <a:xfrm>
                <a:off x="3952" y="2072"/>
                <a:ext cx="240" cy="240"/>
              </a:xfrm>
              <a:prstGeom prst="ellipse">
                <a:avLst/>
              </a:prstGeom>
              <a:noFill/>
              <a:ln w="9525">
                <a:solidFill>
                  <a:schemeClr val="tx1"/>
                </a:solidFill>
                <a:round/>
                <a:headEnd/>
                <a:tailEnd/>
              </a:ln>
            </p:spPr>
            <p:txBody>
              <a:bodyPr wrap="none" anchor="ctr"/>
              <a:lstStyle/>
              <a:p>
                <a:endParaRPr lang="en-US"/>
              </a:p>
            </p:txBody>
          </p:sp>
        </p:grpSp>
        <p:sp>
          <p:nvSpPr>
            <p:cNvPr id="24592" name="Line 50"/>
            <p:cNvSpPr>
              <a:spLocks noChangeShapeType="1"/>
            </p:cNvSpPr>
            <p:nvPr/>
          </p:nvSpPr>
          <p:spPr bwMode="auto">
            <a:xfrm flipH="1">
              <a:off x="2000" y="2080"/>
              <a:ext cx="352" cy="360"/>
            </a:xfrm>
            <a:prstGeom prst="line">
              <a:avLst/>
            </a:prstGeom>
            <a:noFill/>
            <a:ln w="9525">
              <a:solidFill>
                <a:schemeClr val="tx1"/>
              </a:solidFill>
              <a:round/>
              <a:headEnd/>
              <a:tailEnd/>
            </a:ln>
          </p:spPr>
          <p:txBody>
            <a:bodyPr wrap="none" anchor="ctr"/>
            <a:lstStyle/>
            <a:p>
              <a:endParaRPr lang="en-US"/>
            </a:p>
          </p:txBody>
        </p:sp>
        <p:sp>
          <p:nvSpPr>
            <p:cNvPr id="24593" name="Line 51"/>
            <p:cNvSpPr>
              <a:spLocks noChangeShapeType="1"/>
            </p:cNvSpPr>
            <p:nvPr/>
          </p:nvSpPr>
          <p:spPr bwMode="auto">
            <a:xfrm>
              <a:off x="2408" y="2080"/>
              <a:ext cx="0" cy="360"/>
            </a:xfrm>
            <a:prstGeom prst="line">
              <a:avLst/>
            </a:prstGeom>
            <a:noFill/>
            <a:ln w="9525">
              <a:solidFill>
                <a:schemeClr val="tx1"/>
              </a:solidFill>
              <a:round/>
              <a:headEnd/>
              <a:tailEnd/>
            </a:ln>
          </p:spPr>
          <p:txBody>
            <a:bodyPr wrap="none" anchor="ctr"/>
            <a:lstStyle/>
            <a:p>
              <a:endParaRPr lang="en-US"/>
            </a:p>
          </p:txBody>
        </p:sp>
        <p:sp>
          <p:nvSpPr>
            <p:cNvPr id="24594" name="Text Box 58"/>
            <p:cNvSpPr txBox="1">
              <a:spLocks noChangeArrowheads="1"/>
            </p:cNvSpPr>
            <p:nvPr/>
          </p:nvSpPr>
          <p:spPr bwMode="auto">
            <a:xfrm>
              <a:off x="2619" y="84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13.1</a:t>
              </a:r>
            </a:p>
          </p:txBody>
        </p:sp>
        <p:sp>
          <p:nvSpPr>
            <p:cNvPr id="24595" name="Text Box 59"/>
            <p:cNvSpPr txBox="1">
              <a:spLocks noChangeArrowheads="1"/>
            </p:cNvSpPr>
            <p:nvPr/>
          </p:nvSpPr>
          <p:spPr bwMode="auto">
            <a:xfrm>
              <a:off x="3424" y="84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13.2</a:t>
              </a:r>
            </a:p>
          </p:txBody>
        </p:sp>
        <p:sp>
          <p:nvSpPr>
            <p:cNvPr id="24596" name="Text Box 60"/>
            <p:cNvSpPr txBox="1">
              <a:spLocks noChangeArrowheads="1"/>
            </p:cNvSpPr>
            <p:nvPr/>
          </p:nvSpPr>
          <p:spPr bwMode="auto">
            <a:xfrm>
              <a:off x="2227" y="148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12.8</a:t>
              </a:r>
            </a:p>
          </p:txBody>
        </p:sp>
        <p:sp>
          <p:nvSpPr>
            <p:cNvPr id="24597" name="Text Box 61"/>
            <p:cNvSpPr txBox="1">
              <a:spLocks noChangeArrowheads="1"/>
            </p:cNvSpPr>
            <p:nvPr/>
          </p:nvSpPr>
          <p:spPr bwMode="auto">
            <a:xfrm>
              <a:off x="2768" y="1488"/>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17.2</a:t>
              </a:r>
            </a:p>
          </p:txBody>
        </p:sp>
        <p:sp>
          <p:nvSpPr>
            <p:cNvPr id="24598" name="Text Box 63"/>
            <p:cNvSpPr txBox="1">
              <a:spLocks noChangeArrowheads="1"/>
            </p:cNvSpPr>
            <p:nvPr/>
          </p:nvSpPr>
          <p:spPr bwMode="auto">
            <a:xfrm>
              <a:off x="1344" y="2124"/>
              <a:ext cx="86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3+4+4+3.4</a:t>
              </a:r>
            </a:p>
          </p:txBody>
        </p:sp>
        <p:sp>
          <p:nvSpPr>
            <p:cNvPr id="24599" name="Text Box 64"/>
            <p:cNvSpPr txBox="1">
              <a:spLocks noChangeArrowheads="1"/>
            </p:cNvSpPr>
            <p:nvPr/>
          </p:nvSpPr>
          <p:spPr bwMode="auto">
            <a:xfrm>
              <a:off x="2376" y="2128"/>
              <a:ext cx="840"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3+4+5+7.1</a:t>
              </a:r>
            </a:p>
          </p:txBody>
        </p:sp>
      </p:grpSp>
      <p:sp>
        <p:nvSpPr>
          <p:cNvPr id="38" name="Title 37"/>
          <p:cNvSpPr>
            <a:spLocks noGrp="1"/>
          </p:cNvSpPr>
          <p:nvPr>
            <p:ph type="title"/>
          </p:nvPr>
        </p:nvSpPr>
        <p:spPr/>
        <p:txBody>
          <a:bodyPr/>
          <a:lstStyle/>
          <a:p>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9"/>
          <p:cNvSpPr txBox="1">
            <a:spLocks noChangeArrowheads="1"/>
          </p:cNvSpPr>
          <p:nvPr/>
        </p:nvSpPr>
        <p:spPr bwMode="auto">
          <a:xfrm>
            <a:off x="1105920" y="1676400"/>
            <a:ext cx="1159769" cy="360755"/>
          </a:xfrm>
          <a:prstGeom prst="rect">
            <a:avLst/>
          </a:prstGeom>
          <a:noFill/>
          <a:ln w="9525">
            <a:noFill/>
            <a:miter lim="800000"/>
            <a:headEnd/>
            <a:tailEnd/>
          </a:ln>
        </p:spPr>
        <p:txBody>
          <a:bodyPr wrap="square" lIns="82945" tIns="41473" rIns="82945" bIns="41473">
            <a:spAutoFit/>
          </a:bodyPr>
          <a:lstStyle/>
          <a:p>
            <a:r>
              <a:rPr lang="en-US" dirty="0"/>
              <a:t>A*, step 4</a:t>
            </a:r>
          </a:p>
        </p:txBody>
      </p:sp>
      <p:grpSp>
        <p:nvGrpSpPr>
          <p:cNvPr id="2" name="Group 68"/>
          <p:cNvGrpSpPr>
            <a:grpSpLocks/>
          </p:cNvGrpSpPr>
          <p:nvPr/>
        </p:nvGrpSpPr>
        <p:grpSpPr bwMode="auto">
          <a:xfrm>
            <a:off x="2626560" y="1828800"/>
            <a:ext cx="4078080" cy="3733800"/>
            <a:chOff x="1824" y="544"/>
            <a:chExt cx="2832" cy="2160"/>
          </a:xfrm>
        </p:grpSpPr>
        <p:grpSp>
          <p:nvGrpSpPr>
            <p:cNvPr id="3" name="Group 11"/>
            <p:cNvGrpSpPr>
              <a:grpSpLocks/>
            </p:cNvGrpSpPr>
            <p:nvPr/>
          </p:nvGrpSpPr>
          <p:grpSpPr bwMode="auto">
            <a:xfrm>
              <a:off x="3080" y="544"/>
              <a:ext cx="240" cy="242"/>
              <a:chOff x="2968" y="456"/>
              <a:chExt cx="240" cy="242"/>
            </a:xfrm>
          </p:grpSpPr>
          <p:sp>
            <p:nvSpPr>
              <p:cNvPr id="25646" name="Text Box 12"/>
              <p:cNvSpPr txBox="1">
                <a:spLocks noChangeArrowheads="1"/>
              </p:cNvSpPr>
              <p:nvPr/>
            </p:nvSpPr>
            <p:spPr bwMode="auto">
              <a:xfrm>
                <a:off x="2982" y="463"/>
                <a:ext cx="208"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S</a:t>
                </a:r>
              </a:p>
            </p:txBody>
          </p:sp>
          <p:sp>
            <p:nvSpPr>
              <p:cNvPr id="25647" name="Oval 13"/>
              <p:cNvSpPr>
                <a:spLocks noChangeArrowheads="1"/>
              </p:cNvSpPr>
              <p:nvPr/>
            </p:nvSpPr>
            <p:spPr bwMode="auto">
              <a:xfrm>
                <a:off x="2968" y="456"/>
                <a:ext cx="240" cy="240"/>
              </a:xfrm>
              <a:prstGeom prst="ellipse">
                <a:avLst/>
              </a:prstGeom>
              <a:noFill/>
              <a:ln w="9525">
                <a:solidFill>
                  <a:schemeClr val="tx1"/>
                </a:solidFill>
                <a:round/>
                <a:headEnd/>
                <a:tailEnd/>
              </a:ln>
            </p:spPr>
            <p:txBody>
              <a:bodyPr wrap="none" anchor="ctr"/>
              <a:lstStyle/>
              <a:p>
                <a:endParaRPr lang="en-US"/>
              </a:p>
            </p:txBody>
          </p:sp>
        </p:grpSp>
        <p:grpSp>
          <p:nvGrpSpPr>
            <p:cNvPr id="4" name="Group 14"/>
            <p:cNvGrpSpPr>
              <a:grpSpLocks/>
            </p:cNvGrpSpPr>
            <p:nvPr/>
          </p:nvGrpSpPr>
          <p:grpSpPr bwMode="auto">
            <a:xfrm>
              <a:off x="2688" y="1184"/>
              <a:ext cx="240" cy="244"/>
              <a:chOff x="3648" y="816"/>
              <a:chExt cx="240" cy="244"/>
            </a:xfrm>
          </p:grpSpPr>
          <p:sp>
            <p:nvSpPr>
              <p:cNvPr id="25644" name="Text Box 15"/>
              <p:cNvSpPr txBox="1">
                <a:spLocks noChangeArrowheads="1"/>
              </p:cNvSpPr>
              <p:nvPr/>
            </p:nvSpPr>
            <p:spPr bwMode="auto">
              <a:xfrm>
                <a:off x="3664" y="825"/>
                <a:ext cx="224"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A</a:t>
                </a:r>
              </a:p>
            </p:txBody>
          </p:sp>
          <p:sp>
            <p:nvSpPr>
              <p:cNvPr id="25645" name="Oval 16"/>
              <p:cNvSpPr>
                <a:spLocks noChangeArrowheads="1"/>
              </p:cNvSpPr>
              <p:nvPr/>
            </p:nvSpPr>
            <p:spPr bwMode="auto">
              <a:xfrm>
                <a:off x="3648" y="816"/>
                <a:ext cx="240" cy="240"/>
              </a:xfrm>
              <a:prstGeom prst="ellipse">
                <a:avLst/>
              </a:prstGeom>
              <a:noFill/>
              <a:ln w="9525">
                <a:solidFill>
                  <a:schemeClr val="tx1"/>
                </a:solidFill>
                <a:round/>
                <a:headEnd/>
                <a:tailEnd/>
              </a:ln>
            </p:spPr>
            <p:txBody>
              <a:bodyPr wrap="none" anchor="ctr"/>
              <a:lstStyle/>
              <a:p>
                <a:endParaRPr lang="en-US"/>
              </a:p>
            </p:txBody>
          </p:sp>
        </p:grpSp>
        <p:grpSp>
          <p:nvGrpSpPr>
            <p:cNvPr id="5" name="Group 17"/>
            <p:cNvGrpSpPr>
              <a:grpSpLocks/>
            </p:cNvGrpSpPr>
            <p:nvPr/>
          </p:nvGrpSpPr>
          <p:grpSpPr bwMode="auto">
            <a:xfrm>
              <a:off x="3512" y="1184"/>
              <a:ext cx="241" cy="240"/>
              <a:chOff x="3936" y="904"/>
              <a:chExt cx="241" cy="240"/>
            </a:xfrm>
          </p:grpSpPr>
          <p:sp>
            <p:nvSpPr>
              <p:cNvPr id="25642" name="Text Box 18"/>
              <p:cNvSpPr txBox="1">
                <a:spLocks noChangeArrowheads="1"/>
              </p:cNvSpPr>
              <p:nvPr/>
            </p:nvSpPr>
            <p:spPr bwMode="auto">
              <a:xfrm>
                <a:off x="3942" y="907"/>
                <a:ext cx="235"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D</a:t>
                </a:r>
              </a:p>
            </p:txBody>
          </p:sp>
          <p:sp>
            <p:nvSpPr>
              <p:cNvPr id="25643" name="Oval 19"/>
              <p:cNvSpPr>
                <a:spLocks noChangeArrowheads="1"/>
              </p:cNvSpPr>
              <p:nvPr/>
            </p:nvSpPr>
            <p:spPr bwMode="auto">
              <a:xfrm>
                <a:off x="3936" y="904"/>
                <a:ext cx="240" cy="240"/>
              </a:xfrm>
              <a:prstGeom prst="ellipse">
                <a:avLst/>
              </a:prstGeom>
              <a:noFill/>
              <a:ln w="9525">
                <a:solidFill>
                  <a:schemeClr val="tx1"/>
                </a:solidFill>
                <a:round/>
                <a:headEnd/>
                <a:tailEnd/>
              </a:ln>
            </p:spPr>
            <p:txBody>
              <a:bodyPr wrap="none" anchor="ctr"/>
              <a:lstStyle/>
              <a:p>
                <a:endParaRPr lang="en-US"/>
              </a:p>
            </p:txBody>
          </p:sp>
        </p:grpSp>
        <p:grpSp>
          <p:nvGrpSpPr>
            <p:cNvPr id="6" name="Group 20"/>
            <p:cNvGrpSpPr>
              <a:grpSpLocks/>
            </p:cNvGrpSpPr>
            <p:nvPr/>
          </p:nvGrpSpPr>
          <p:grpSpPr bwMode="auto">
            <a:xfrm>
              <a:off x="2288" y="1824"/>
              <a:ext cx="242" cy="240"/>
              <a:chOff x="3916" y="1291"/>
              <a:chExt cx="242" cy="240"/>
            </a:xfrm>
          </p:grpSpPr>
          <p:sp>
            <p:nvSpPr>
              <p:cNvPr id="25640" name="Text Box 21"/>
              <p:cNvSpPr txBox="1">
                <a:spLocks noChangeArrowheads="1"/>
              </p:cNvSpPr>
              <p:nvPr/>
            </p:nvSpPr>
            <p:spPr bwMode="auto">
              <a:xfrm>
                <a:off x="3936" y="1296"/>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B</a:t>
                </a:r>
              </a:p>
            </p:txBody>
          </p:sp>
          <p:sp>
            <p:nvSpPr>
              <p:cNvPr id="25641" name="Oval 22"/>
              <p:cNvSpPr>
                <a:spLocks noChangeArrowheads="1"/>
              </p:cNvSpPr>
              <p:nvPr/>
            </p:nvSpPr>
            <p:spPr bwMode="auto">
              <a:xfrm>
                <a:off x="3916" y="1291"/>
                <a:ext cx="240" cy="240"/>
              </a:xfrm>
              <a:prstGeom prst="ellipse">
                <a:avLst/>
              </a:prstGeom>
              <a:noFill/>
              <a:ln w="9525">
                <a:solidFill>
                  <a:schemeClr val="tx1"/>
                </a:solidFill>
                <a:round/>
                <a:headEnd/>
                <a:tailEnd/>
              </a:ln>
            </p:spPr>
            <p:txBody>
              <a:bodyPr wrap="none" anchor="ctr"/>
              <a:lstStyle/>
              <a:p>
                <a:endParaRPr lang="en-US"/>
              </a:p>
            </p:txBody>
          </p:sp>
        </p:grpSp>
        <p:grpSp>
          <p:nvGrpSpPr>
            <p:cNvPr id="7" name="Group 23"/>
            <p:cNvGrpSpPr>
              <a:grpSpLocks/>
            </p:cNvGrpSpPr>
            <p:nvPr/>
          </p:nvGrpSpPr>
          <p:grpSpPr bwMode="auto">
            <a:xfrm>
              <a:off x="1880" y="2464"/>
              <a:ext cx="240" cy="240"/>
              <a:chOff x="3976" y="1728"/>
              <a:chExt cx="240" cy="240"/>
            </a:xfrm>
          </p:grpSpPr>
          <p:sp>
            <p:nvSpPr>
              <p:cNvPr id="25638" name="Text Box 24"/>
              <p:cNvSpPr txBox="1">
                <a:spLocks noChangeArrowheads="1"/>
              </p:cNvSpPr>
              <p:nvPr/>
            </p:nvSpPr>
            <p:spPr bwMode="auto">
              <a:xfrm>
                <a:off x="3982" y="1731"/>
                <a:ext cx="220"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C</a:t>
                </a:r>
              </a:p>
            </p:txBody>
          </p:sp>
          <p:sp>
            <p:nvSpPr>
              <p:cNvPr id="25639" name="Oval 25"/>
              <p:cNvSpPr>
                <a:spLocks noChangeArrowheads="1"/>
              </p:cNvSpPr>
              <p:nvPr/>
            </p:nvSpPr>
            <p:spPr bwMode="auto">
              <a:xfrm>
                <a:off x="3976" y="1728"/>
                <a:ext cx="240" cy="240"/>
              </a:xfrm>
              <a:prstGeom prst="ellipse">
                <a:avLst/>
              </a:prstGeom>
              <a:noFill/>
              <a:ln w="9525">
                <a:solidFill>
                  <a:schemeClr val="tx1"/>
                </a:solidFill>
                <a:round/>
                <a:headEnd/>
                <a:tailEnd/>
              </a:ln>
            </p:spPr>
            <p:txBody>
              <a:bodyPr wrap="none" anchor="ctr"/>
              <a:lstStyle/>
              <a:p>
                <a:endParaRPr lang="en-US"/>
              </a:p>
            </p:txBody>
          </p:sp>
        </p:grpSp>
        <p:grpSp>
          <p:nvGrpSpPr>
            <p:cNvPr id="8" name="Group 26"/>
            <p:cNvGrpSpPr>
              <a:grpSpLocks/>
            </p:cNvGrpSpPr>
            <p:nvPr/>
          </p:nvGrpSpPr>
          <p:grpSpPr bwMode="auto">
            <a:xfrm>
              <a:off x="3520" y="2464"/>
              <a:ext cx="240" cy="240"/>
              <a:chOff x="3952" y="2072"/>
              <a:chExt cx="240" cy="240"/>
            </a:xfrm>
          </p:grpSpPr>
          <p:sp>
            <p:nvSpPr>
              <p:cNvPr id="25636" name="Text Box 27"/>
              <p:cNvSpPr txBox="1">
                <a:spLocks noChangeArrowheads="1"/>
              </p:cNvSpPr>
              <p:nvPr/>
            </p:nvSpPr>
            <p:spPr bwMode="auto">
              <a:xfrm>
                <a:off x="3964" y="2077"/>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E</a:t>
                </a:r>
              </a:p>
            </p:txBody>
          </p:sp>
          <p:sp>
            <p:nvSpPr>
              <p:cNvPr id="25637" name="Oval 28"/>
              <p:cNvSpPr>
                <a:spLocks noChangeArrowheads="1"/>
              </p:cNvSpPr>
              <p:nvPr/>
            </p:nvSpPr>
            <p:spPr bwMode="auto">
              <a:xfrm>
                <a:off x="3952" y="2072"/>
                <a:ext cx="240" cy="240"/>
              </a:xfrm>
              <a:prstGeom prst="ellipse">
                <a:avLst/>
              </a:prstGeom>
              <a:noFill/>
              <a:ln w="9525">
                <a:solidFill>
                  <a:schemeClr val="tx1"/>
                </a:solidFill>
                <a:round/>
                <a:headEnd/>
                <a:tailEnd/>
              </a:ln>
            </p:spPr>
            <p:txBody>
              <a:bodyPr wrap="none" anchor="ctr"/>
              <a:lstStyle/>
              <a:p>
                <a:endParaRPr lang="en-US"/>
              </a:p>
            </p:txBody>
          </p:sp>
        </p:grpSp>
        <p:sp>
          <p:nvSpPr>
            <p:cNvPr id="25611" name="Line 35"/>
            <p:cNvSpPr>
              <a:spLocks noChangeShapeType="1"/>
            </p:cNvSpPr>
            <p:nvPr/>
          </p:nvSpPr>
          <p:spPr bwMode="auto">
            <a:xfrm flipH="1">
              <a:off x="2808" y="800"/>
              <a:ext cx="352" cy="360"/>
            </a:xfrm>
            <a:prstGeom prst="line">
              <a:avLst/>
            </a:prstGeom>
            <a:noFill/>
            <a:ln w="9525">
              <a:solidFill>
                <a:schemeClr val="tx1"/>
              </a:solidFill>
              <a:round/>
              <a:headEnd/>
              <a:tailEnd/>
            </a:ln>
          </p:spPr>
          <p:txBody>
            <a:bodyPr wrap="none" anchor="ctr"/>
            <a:lstStyle/>
            <a:p>
              <a:endParaRPr lang="en-US"/>
            </a:p>
          </p:txBody>
        </p:sp>
        <p:sp>
          <p:nvSpPr>
            <p:cNvPr id="25612" name="Line 36"/>
            <p:cNvSpPr>
              <a:spLocks noChangeShapeType="1"/>
            </p:cNvSpPr>
            <p:nvPr/>
          </p:nvSpPr>
          <p:spPr bwMode="auto">
            <a:xfrm>
              <a:off x="3240" y="800"/>
              <a:ext cx="392" cy="360"/>
            </a:xfrm>
            <a:prstGeom prst="line">
              <a:avLst/>
            </a:prstGeom>
            <a:noFill/>
            <a:ln w="9525">
              <a:solidFill>
                <a:schemeClr val="tx1"/>
              </a:solidFill>
              <a:round/>
              <a:headEnd/>
              <a:tailEnd/>
            </a:ln>
          </p:spPr>
          <p:txBody>
            <a:bodyPr wrap="none" anchor="ctr"/>
            <a:lstStyle/>
            <a:p>
              <a:endParaRPr lang="en-US"/>
            </a:p>
          </p:txBody>
        </p:sp>
        <p:sp>
          <p:nvSpPr>
            <p:cNvPr id="25613" name="Line 37"/>
            <p:cNvSpPr>
              <a:spLocks noChangeShapeType="1"/>
            </p:cNvSpPr>
            <p:nvPr/>
          </p:nvSpPr>
          <p:spPr bwMode="auto">
            <a:xfrm flipH="1">
              <a:off x="2408" y="1440"/>
              <a:ext cx="352" cy="360"/>
            </a:xfrm>
            <a:prstGeom prst="line">
              <a:avLst/>
            </a:prstGeom>
            <a:noFill/>
            <a:ln w="9525">
              <a:solidFill>
                <a:schemeClr val="tx1"/>
              </a:solidFill>
              <a:round/>
              <a:headEnd/>
              <a:tailEnd/>
            </a:ln>
          </p:spPr>
          <p:txBody>
            <a:bodyPr wrap="none" anchor="ctr"/>
            <a:lstStyle/>
            <a:p>
              <a:endParaRPr lang="en-US"/>
            </a:p>
          </p:txBody>
        </p:sp>
        <p:sp>
          <p:nvSpPr>
            <p:cNvPr id="25614" name="Line 38"/>
            <p:cNvSpPr>
              <a:spLocks noChangeShapeType="1"/>
            </p:cNvSpPr>
            <p:nvPr/>
          </p:nvSpPr>
          <p:spPr bwMode="auto">
            <a:xfrm>
              <a:off x="3704" y="1440"/>
              <a:ext cx="392" cy="360"/>
            </a:xfrm>
            <a:prstGeom prst="line">
              <a:avLst/>
            </a:prstGeom>
            <a:noFill/>
            <a:ln w="9525">
              <a:solidFill>
                <a:schemeClr val="tx1"/>
              </a:solidFill>
              <a:round/>
              <a:headEnd/>
              <a:tailEnd/>
            </a:ln>
          </p:spPr>
          <p:txBody>
            <a:bodyPr wrap="none" anchor="ctr"/>
            <a:lstStyle/>
            <a:p>
              <a:endParaRPr lang="en-US"/>
            </a:p>
          </p:txBody>
        </p:sp>
        <p:grpSp>
          <p:nvGrpSpPr>
            <p:cNvPr id="9" name="Group 39"/>
            <p:cNvGrpSpPr>
              <a:grpSpLocks/>
            </p:cNvGrpSpPr>
            <p:nvPr/>
          </p:nvGrpSpPr>
          <p:grpSpPr bwMode="auto">
            <a:xfrm>
              <a:off x="2696" y="1824"/>
              <a:ext cx="241" cy="240"/>
              <a:chOff x="3936" y="904"/>
              <a:chExt cx="241" cy="240"/>
            </a:xfrm>
          </p:grpSpPr>
          <p:sp>
            <p:nvSpPr>
              <p:cNvPr id="25634" name="Text Box 40"/>
              <p:cNvSpPr txBox="1">
                <a:spLocks noChangeArrowheads="1"/>
              </p:cNvSpPr>
              <p:nvPr/>
            </p:nvSpPr>
            <p:spPr bwMode="auto">
              <a:xfrm>
                <a:off x="3942" y="907"/>
                <a:ext cx="235"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D</a:t>
                </a:r>
              </a:p>
            </p:txBody>
          </p:sp>
          <p:sp>
            <p:nvSpPr>
              <p:cNvPr id="25635" name="Oval 41"/>
              <p:cNvSpPr>
                <a:spLocks noChangeArrowheads="1"/>
              </p:cNvSpPr>
              <p:nvPr/>
            </p:nvSpPr>
            <p:spPr bwMode="auto">
              <a:xfrm>
                <a:off x="3936" y="904"/>
                <a:ext cx="240" cy="240"/>
              </a:xfrm>
              <a:prstGeom prst="ellipse">
                <a:avLst/>
              </a:prstGeom>
              <a:noFill/>
              <a:ln w="9525">
                <a:solidFill>
                  <a:schemeClr val="tx1"/>
                </a:solidFill>
                <a:round/>
                <a:headEnd/>
                <a:tailEnd/>
              </a:ln>
            </p:spPr>
            <p:txBody>
              <a:bodyPr wrap="none" anchor="ctr"/>
              <a:lstStyle/>
              <a:p>
                <a:endParaRPr lang="en-US"/>
              </a:p>
            </p:txBody>
          </p:sp>
        </p:grpSp>
        <p:sp>
          <p:nvSpPr>
            <p:cNvPr id="25616" name="Line 42"/>
            <p:cNvSpPr>
              <a:spLocks noChangeShapeType="1"/>
            </p:cNvSpPr>
            <p:nvPr/>
          </p:nvSpPr>
          <p:spPr bwMode="auto">
            <a:xfrm>
              <a:off x="2816" y="1440"/>
              <a:ext cx="0" cy="360"/>
            </a:xfrm>
            <a:prstGeom prst="line">
              <a:avLst/>
            </a:prstGeom>
            <a:noFill/>
            <a:ln w="9525">
              <a:solidFill>
                <a:schemeClr val="tx1"/>
              </a:solidFill>
              <a:round/>
              <a:headEnd/>
              <a:tailEnd/>
            </a:ln>
          </p:spPr>
          <p:txBody>
            <a:bodyPr wrap="none" anchor="ctr"/>
            <a:lstStyle/>
            <a:p>
              <a:endParaRPr lang="en-US"/>
            </a:p>
          </p:txBody>
        </p:sp>
        <p:sp>
          <p:nvSpPr>
            <p:cNvPr id="25617" name="Line 43"/>
            <p:cNvSpPr>
              <a:spLocks noChangeShapeType="1"/>
            </p:cNvSpPr>
            <p:nvPr/>
          </p:nvSpPr>
          <p:spPr bwMode="auto">
            <a:xfrm>
              <a:off x="3632" y="1440"/>
              <a:ext cx="8" cy="992"/>
            </a:xfrm>
            <a:prstGeom prst="line">
              <a:avLst/>
            </a:prstGeom>
            <a:noFill/>
            <a:ln w="9525">
              <a:solidFill>
                <a:schemeClr val="tx1"/>
              </a:solidFill>
              <a:round/>
              <a:headEnd/>
              <a:tailEnd/>
            </a:ln>
          </p:spPr>
          <p:txBody>
            <a:bodyPr wrap="none" anchor="ctr"/>
            <a:lstStyle/>
            <a:p>
              <a:endParaRPr lang="en-US"/>
            </a:p>
          </p:txBody>
        </p:sp>
        <p:grpSp>
          <p:nvGrpSpPr>
            <p:cNvPr id="10" name="Group 44"/>
            <p:cNvGrpSpPr>
              <a:grpSpLocks/>
            </p:cNvGrpSpPr>
            <p:nvPr/>
          </p:nvGrpSpPr>
          <p:grpSpPr bwMode="auto">
            <a:xfrm>
              <a:off x="3976" y="1824"/>
              <a:ext cx="240" cy="244"/>
              <a:chOff x="3648" y="816"/>
              <a:chExt cx="240" cy="244"/>
            </a:xfrm>
          </p:grpSpPr>
          <p:sp>
            <p:nvSpPr>
              <p:cNvPr id="25632" name="Text Box 45"/>
              <p:cNvSpPr txBox="1">
                <a:spLocks noChangeArrowheads="1"/>
              </p:cNvSpPr>
              <p:nvPr/>
            </p:nvSpPr>
            <p:spPr bwMode="auto">
              <a:xfrm>
                <a:off x="3664" y="825"/>
                <a:ext cx="224"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A</a:t>
                </a:r>
              </a:p>
            </p:txBody>
          </p:sp>
          <p:sp>
            <p:nvSpPr>
              <p:cNvPr id="25633" name="Oval 46"/>
              <p:cNvSpPr>
                <a:spLocks noChangeArrowheads="1"/>
              </p:cNvSpPr>
              <p:nvPr/>
            </p:nvSpPr>
            <p:spPr bwMode="auto">
              <a:xfrm>
                <a:off x="3648" y="816"/>
                <a:ext cx="240" cy="240"/>
              </a:xfrm>
              <a:prstGeom prst="ellipse">
                <a:avLst/>
              </a:prstGeom>
              <a:noFill/>
              <a:ln w="9525">
                <a:solidFill>
                  <a:schemeClr val="tx1"/>
                </a:solidFill>
                <a:round/>
                <a:headEnd/>
                <a:tailEnd/>
              </a:ln>
            </p:spPr>
            <p:txBody>
              <a:bodyPr wrap="none" anchor="ctr"/>
              <a:lstStyle/>
              <a:p>
                <a:endParaRPr lang="en-US"/>
              </a:p>
            </p:txBody>
          </p:sp>
        </p:grpSp>
        <p:grpSp>
          <p:nvGrpSpPr>
            <p:cNvPr id="11" name="Group 47"/>
            <p:cNvGrpSpPr>
              <a:grpSpLocks/>
            </p:cNvGrpSpPr>
            <p:nvPr/>
          </p:nvGrpSpPr>
          <p:grpSpPr bwMode="auto">
            <a:xfrm>
              <a:off x="2288" y="2464"/>
              <a:ext cx="240" cy="240"/>
              <a:chOff x="3952" y="2072"/>
              <a:chExt cx="240" cy="240"/>
            </a:xfrm>
          </p:grpSpPr>
          <p:sp>
            <p:nvSpPr>
              <p:cNvPr id="25630" name="Text Box 48"/>
              <p:cNvSpPr txBox="1">
                <a:spLocks noChangeArrowheads="1"/>
              </p:cNvSpPr>
              <p:nvPr/>
            </p:nvSpPr>
            <p:spPr bwMode="auto">
              <a:xfrm>
                <a:off x="3964" y="2077"/>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E</a:t>
                </a:r>
              </a:p>
            </p:txBody>
          </p:sp>
          <p:sp>
            <p:nvSpPr>
              <p:cNvPr id="25631" name="Oval 49"/>
              <p:cNvSpPr>
                <a:spLocks noChangeArrowheads="1"/>
              </p:cNvSpPr>
              <p:nvPr/>
            </p:nvSpPr>
            <p:spPr bwMode="auto">
              <a:xfrm>
                <a:off x="3952" y="2072"/>
                <a:ext cx="240" cy="240"/>
              </a:xfrm>
              <a:prstGeom prst="ellipse">
                <a:avLst/>
              </a:prstGeom>
              <a:noFill/>
              <a:ln w="9525">
                <a:solidFill>
                  <a:schemeClr val="tx1"/>
                </a:solidFill>
                <a:round/>
                <a:headEnd/>
                <a:tailEnd/>
              </a:ln>
            </p:spPr>
            <p:txBody>
              <a:bodyPr wrap="none" anchor="ctr"/>
              <a:lstStyle/>
              <a:p>
                <a:endParaRPr lang="en-US"/>
              </a:p>
            </p:txBody>
          </p:sp>
        </p:grpSp>
        <p:sp>
          <p:nvSpPr>
            <p:cNvPr id="25620" name="Line 50"/>
            <p:cNvSpPr>
              <a:spLocks noChangeShapeType="1"/>
            </p:cNvSpPr>
            <p:nvPr/>
          </p:nvSpPr>
          <p:spPr bwMode="auto">
            <a:xfrm flipH="1">
              <a:off x="2000" y="2080"/>
              <a:ext cx="352" cy="360"/>
            </a:xfrm>
            <a:prstGeom prst="line">
              <a:avLst/>
            </a:prstGeom>
            <a:noFill/>
            <a:ln w="9525">
              <a:solidFill>
                <a:schemeClr val="tx1"/>
              </a:solidFill>
              <a:round/>
              <a:headEnd/>
              <a:tailEnd/>
            </a:ln>
          </p:spPr>
          <p:txBody>
            <a:bodyPr wrap="none" anchor="ctr"/>
            <a:lstStyle/>
            <a:p>
              <a:endParaRPr lang="en-US"/>
            </a:p>
          </p:txBody>
        </p:sp>
        <p:sp>
          <p:nvSpPr>
            <p:cNvPr id="25621" name="Line 51"/>
            <p:cNvSpPr>
              <a:spLocks noChangeShapeType="1"/>
            </p:cNvSpPr>
            <p:nvPr/>
          </p:nvSpPr>
          <p:spPr bwMode="auto">
            <a:xfrm>
              <a:off x="2408" y="2080"/>
              <a:ext cx="0" cy="360"/>
            </a:xfrm>
            <a:prstGeom prst="line">
              <a:avLst/>
            </a:prstGeom>
            <a:noFill/>
            <a:ln w="9525">
              <a:solidFill>
                <a:schemeClr val="tx1"/>
              </a:solidFill>
              <a:round/>
              <a:headEnd/>
              <a:tailEnd/>
            </a:ln>
          </p:spPr>
          <p:txBody>
            <a:bodyPr wrap="none" anchor="ctr"/>
            <a:lstStyle/>
            <a:p>
              <a:endParaRPr lang="en-US"/>
            </a:p>
          </p:txBody>
        </p:sp>
        <p:sp>
          <p:nvSpPr>
            <p:cNvPr id="25622" name="Text Box 58"/>
            <p:cNvSpPr txBox="1">
              <a:spLocks noChangeArrowheads="1"/>
            </p:cNvSpPr>
            <p:nvPr/>
          </p:nvSpPr>
          <p:spPr bwMode="auto">
            <a:xfrm>
              <a:off x="2619" y="84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13.1</a:t>
              </a:r>
            </a:p>
          </p:txBody>
        </p:sp>
        <p:sp>
          <p:nvSpPr>
            <p:cNvPr id="25623" name="Text Box 59"/>
            <p:cNvSpPr txBox="1">
              <a:spLocks noChangeArrowheads="1"/>
            </p:cNvSpPr>
            <p:nvPr/>
          </p:nvSpPr>
          <p:spPr bwMode="auto">
            <a:xfrm>
              <a:off x="3424" y="84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13.2</a:t>
              </a:r>
            </a:p>
          </p:txBody>
        </p:sp>
        <p:sp>
          <p:nvSpPr>
            <p:cNvPr id="25624" name="Text Box 60"/>
            <p:cNvSpPr txBox="1">
              <a:spLocks noChangeArrowheads="1"/>
            </p:cNvSpPr>
            <p:nvPr/>
          </p:nvSpPr>
          <p:spPr bwMode="auto">
            <a:xfrm>
              <a:off x="2227" y="148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12.8</a:t>
              </a:r>
            </a:p>
          </p:txBody>
        </p:sp>
        <p:sp>
          <p:nvSpPr>
            <p:cNvPr id="25625" name="Text Box 61"/>
            <p:cNvSpPr txBox="1">
              <a:spLocks noChangeArrowheads="1"/>
            </p:cNvSpPr>
            <p:nvPr/>
          </p:nvSpPr>
          <p:spPr bwMode="auto">
            <a:xfrm>
              <a:off x="2768" y="1488"/>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17.2</a:t>
              </a:r>
            </a:p>
          </p:txBody>
        </p:sp>
        <p:sp>
          <p:nvSpPr>
            <p:cNvPr id="25626" name="Text Box 62"/>
            <p:cNvSpPr txBox="1">
              <a:spLocks noChangeArrowheads="1"/>
            </p:cNvSpPr>
            <p:nvPr/>
          </p:nvSpPr>
          <p:spPr bwMode="auto">
            <a:xfrm>
              <a:off x="3872" y="1488"/>
              <a:ext cx="784"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4+5+10.1</a:t>
              </a:r>
            </a:p>
          </p:txBody>
        </p:sp>
        <p:sp>
          <p:nvSpPr>
            <p:cNvPr id="25627" name="Text Box 63"/>
            <p:cNvSpPr txBox="1">
              <a:spLocks noChangeArrowheads="1"/>
            </p:cNvSpPr>
            <p:nvPr/>
          </p:nvSpPr>
          <p:spPr bwMode="auto">
            <a:xfrm>
              <a:off x="1824" y="212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14.4</a:t>
              </a:r>
            </a:p>
          </p:txBody>
        </p:sp>
        <p:sp>
          <p:nvSpPr>
            <p:cNvPr id="25628" name="Text Box 64"/>
            <p:cNvSpPr txBox="1">
              <a:spLocks noChangeArrowheads="1"/>
            </p:cNvSpPr>
            <p:nvPr/>
          </p:nvSpPr>
          <p:spPr bwMode="auto">
            <a:xfrm>
              <a:off x="2376" y="2128"/>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19.1</a:t>
              </a:r>
            </a:p>
          </p:txBody>
        </p:sp>
        <p:sp>
          <p:nvSpPr>
            <p:cNvPr id="25629" name="Text Box 65"/>
            <p:cNvSpPr txBox="1">
              <a:spLocks noChangeArrowheads="1"/>
            </p:cNvSpPr>
            <p:nvPr/>
          </p:nvSpPr>
          <p:spPr bwMode="auto">
            <a:xfrm>
              <a:off x="3600" y="2128"/>
              <a:ext cx="672"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4+2+7.1</a:t>
              </a:r>
            </a:p>
          </p:txBody>
        </p:sp>
      </p:grpSp>
      <p:sp>
        <p:nvSpPr>
          <p:cNvPr id="48" name="Title 47"/>
          <p:cNvSpPr>
            <a:spLocks noGrp="1"/>
          </p:cNvSpPr>
          <p:nvPr>
            <p:ph type="title"/>
          </p:nvPr>
        </p:nvSpPr>
        <p:spPr/>
        <p:txBody>
          <a:bodyPr/>
          <a:lstStyle/>
          <a:p>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12"/>
          <p:cNvSpPr txBox="1">
            <a:spLocks noChangeArrowheads="1"/>
          </p:cNvSpPr>
          <p:nvPr/>
        </p:nvSpPr>
        <p:spPr bwMode="auto">
          <a:xfrm>
            <a:off x="1105920" y="1676400"/>
            <a:ext cx="1151754" cy="360755"/>
          </a:xfrm>
          <a:prstGeom prst="rect">
            <a:avLst/>
          </a:prstGeom>
          <a:noFill/>
          <a:ln w="9525">
            <a:noFill/>
            <a:miter lim="800000"/>
            <a:headEnd/>
            <a:tailEnd/>
          </a:ln>
        </p:spPr>
        <p:txBody>
          <a:bodyPr wrap="square" lIns="82945" tIns="41473" rIns="82945" bIns="41473">
            <a:spAutoFit/>
          </a:bodyPr>
          <a:lstStyle/>
          <a:p>
            <a:r>
              <a:rPr lang="en-US" dirty="0"/>
              <a:t>A*, step 5</a:t>
            </a:r>
          </a:p>
        </p:txBody>
      </p:sp>
      <p:grpSp>
        <p:nvGrpSpPr>
          <p:cNvPr id="2" name="Group 71"/>
          <p:cNvGrpSpPr>
            <a:grpSpLocks/>
          </p:cNvGrpSpPr>
          <p:nvPr/>
        </p:nvGrpSpPr>
        <p:grpSpPr bwMode="auto">
          <a:xfrm>
            <a:off x="2626560" y="2133600"/>
            <a:ext cx="4147200" cy="3429000"/>
            <a:chOff x="1824" y="544"/>
            <a:chExt cx="2880" cy="2806"/>
          </a:xfrm>
        </p:grpSpPr>
        <p:grpSp>
          <p:nvGrpSpPr>
            <p:cNvPr id="3" name="Group 14"/>
            <p:cNvGrpSpPr>
              <a:grpSpLocks/>
            </p:cNvGrpSpPr>
            <p:nvPr/>
          </p:nvGrpSpPr>
          <p:grpSpPr bwMode="auto">
            <a:xfrm>
              <a:off x="3080" y="544"/>
              <a:ext cx="240" cy="242"/>
              <a:chOff x="2968" y="456"/>
              <a:chExt cx="240" cy="242"/>
            </a:xfrm>
          </p:grpSpPr>
          <p:sp>
            <p:nvSpPr>
              <p:cNvPr id="26680" name="Text Box 15"/>
              <p:cNvSpPr txBox="1">
                <a:spLocks noChangeArrowheads="1"/>
              </p:cNvSpPr>
              <p:nvPr/>
            </p:nvSpPr>
            <p:spPr bwMode="auto">
              <a:xfrm>
                <a:off x="2982" y="463"/>
                <a:ext cx="208"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S</a:t>
                </a:r>
              </a:p>
            </p:txBody>
          </p:sp>
          <p:sp>
            <p:nvSpPr>
              <p:cNvPr id="26681" name="Oval 16"/>
              <p:cNvSpPr>
                <a:spLocks noChangeArrowheads="1"/>
              </p:cNvSpPr>
              <p:nvPr/>
            </p:nvSpPr>
            <p:spPr bwMode="auto">
              <a:xfrm>
                <a:off x="2968" y="456"/>
                <a:ext cx="240" cy="240"/>
              </a:xfrm>
              <a:prstGeom prst="ellipse">
                <a:avLst/>
              </a:prstGeom>
              <a:noFill/>
              <a:ln w="9525">
                <a:solidFill>
                  <a:schemeClr val="tx1"/>
                </a:solidFill>
                <a:round/>
                <a:headEnd/>
                <a:tailEnd/>
              </a:ln>
            </p:spPr>
            <p:txBody>
              <a:bodyPr wrap="none" anchor="ctr"/>
              <a:lstStyle/>
              <a:p>
                <a:endParaRPr lang="en-US"/>
              </a:p>
            </p:txBody>
          </p:sp>
        </p:grpSp>
        <p:grpSp>
          <p:nvGrpSpPr>
            <p:cNvPr id="4" name="Group 17"/>
            <p:cNvGrpSpPr>
              <a:grpSpLocks/>
            </p:cNvGrpSpPr>
            <p:nvPr/>
          </p:nvGrpSpPr>
          <p:grpSpPr bwMode="auto">
            <a:xfrm>
              <a:off x="2688" y="1184"/>
              <a:ext cx="240" cy="244"/>
              <a:chOff x="3648" y="816"/>
              <a:chExt cx="240" cy="244"/>
            </a:xfrm>
          </p:grpSpPr>
          <p:sp>
            <p:nvSpPr>
              <p:cNvPr id="26678" name="Text Box 18"/>
              <p:cNvSpPr txBox="1">
                <a:spLocks noChangeArrowheads="1"/>
              </p:cNvSpPr>
              <p:nvPr/>
            </p:nvSpPr>
            <p:spPr bwMode="auto">
              <a:xfrm>
                <a:off x="3664" y="825"/>
                <a:ext cx="224"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A</a:t>
                </a:r>
              </a:p>
            </p:txBody>
          </p:sp>
          <p:sp>
            <p:nvSpPr>
              <p:cNvPr id="26679" name="Oval 19"/>
              <p:cNvSpPr>
                <a:spLocks noChangeArrowheads="1"/>
              </p:cNvSpPr>
              <p:nvPr/>
            </p:nvSpPr>
            <p:spPr bwMode="auto">
              <a:xfrm>
                <a:off x="3648" y="816"/>
                <a:ext cx="240" cy="240"/>
              </a:xfrm>
              <a:prstGeom prst="ellipse">
                <a:avLst/>
              </a:prstGeom>
              <a:noFill/>
              <a:ln w="9525">
                <a:solidFill>
                  <a:schemeClr val="tx1"/>
                </a:solidFill>
                <a:round/>
                <a:headEnd/>
                <a:tailEnd/>
              </a:ln>
            </p:spPr>
            <p:txBody>
              <a:bodyPr wrap="none" anchor="ctr"/>
              <a:lstStyle/>
              <a:p>
                <a:endParaRPr lang="en-US"/>
              </a:p>
            </p:txBody>
          </p:sp>
        </p:grpSp>
        <p:grpSp>
          <p:nvGrpSpPr>
            <p:cNvPr id="5" name="Group 20"/>
            <p:cNvGrpSpPr>
              <a:grpSpLocks/>
            </p:cNvGrpSpPr>
            <p:nvPr/>
          </p:nvGrpSpPr>
          <p:grpSpPr bwMode="auto">
            <a:xfrm>
              <a:off x="3512" y="1184"/>
              <a:ext cx="241" cy="240"/>
              <a:chOff x="3936" y="904"/>
              <a:chExt cx="241" cy="240"/>
            </a:xfrm>
          </p:grpSpPr>
          <p:sp>
            <p:nvSpPr>
              <p:cNvPr id="26676" name="Text Box 21"/>
              <p:cNvSpPr txBox="1">
                <a:spLocks noChangeArrowheads="1"/>
              </p:cNvSpPr>
              <p:nvPr/>
            </p:nvSpPr>
            <p:spPr bwMode="auto">
              <a:xfrm>
                <a:off x="3942" y="907"/>
                <a:ext cx="235"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D</a:t>
                </a:r>
              </a:p>
            </p:txBody>
          </p:sp>
          <p:sp>
            <p:nvSpPr>
              <p:cNvPr id="26677" name="Oval 22"/>
              <p:cNvSpPr>
                <a:spLocks noChangeArrowheads="1"/>
              </p:cNvSpPr>
              <p:nvPr/>
            </p:nvSpPr>
            <p:spPr bwMode="auto">
              <a:xfrm>
                <a:off x="3936" y="904"/>
                <a:ext cx="240" cy="240"/>
              </a:xfrm>
              <a:prstGeom prst="ellipse">
                <a:avLst/>
              </a:prstGeom>
              <a:noFill/>
              <a:ln w="9525">
                <a:solidFill>
                  <a:schemeClr val="tx1"/>
                </a:solidFill>
                <a:round/>
                <a:headEnd/>
                <a:tailEnd/>
              </a:ln>
            </p:spPr>
            <p:txBody>
              <a:bodyPr wrap="none" anchor="ctr"/>
              <a:lstStyle/>
              <a:p>
                <a:endParaRPr lang="en-US"/>
              </a:p>
            </p:txBody>
          </p:sp>
        </p:grpSp>
        <p:grpSp>
          <p:nvGrpSpPr>
            <p:cNvPr id="6" name="Group 23"/>
            <p:cNvGrpSpPr>
              <a:grpSpLocks/>
            </p:cNvGrpSpPr>
            <p:nvPr/>
          </p:nvGrpSpPr>
          <p:grpSpPr bwMode="auto">
            <a:xfrm>
              <a:off x="2288" y="1824"/>
              <a:ext cx="242" cy="240"/>
              <a:chOff x="3916" y="1291"/>
              <a:chExt cx="242" cy="240"/>
            </a:xfrm>
          </p:grpSpPr>
          <p:sp>
            <p:nvSpPr>
              <p:cNvPr id="26674" name="Text Box 24"/>
              <p:cNvSpPr txBox="1">
                <a:spLocks noChangeArrowheads="1"/>
              </p:cNvSpPr>
              <p:nvPr/>
            </p:nvSpPr>
            <p:spPr bwMode="auto">
              <a:xfrm>
                <a:off x="3936" y="1296"/>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B</a:t>
                </a:r>
              </a:p>
            </p:txBody>
          </p:sp>
          <p:sp>
            <p:nvSpPr>
              <p:cNvPr id="26675" name="Oval 25"/>
              <p:cNvSpPr>
                <a:spLocks noChangeArrowheads="1"/>
              </p:cNvSpPr>
              <p:nvPr/>
            </p:nvSpPr>
            <p:spPr bwMode="auto">
              <a:xfrm>
                <a:off x="3916" y="1291"/>
                <a:ext cx="240" cy="240"/>
              </a:xfrm>
              <a:prstGeom prst="ellipse">
                <a:avLst/>
              </a:prstGeom>
              <a:noFill/>
              <a:ln w="9525">
                <a:solidFill>
                  <a:schemeClr val="tx1"/>
                </a:solidFill>
                <a:round/>
                <a:headEnd/>
                <a:tailEnd/>
              </a:ln>
            </p:spPr>
            <p:txBody>
              <a:bodyPr wrap="none" anchor="ctr"/>
              <a:lstStyle/>
              <a:p>
                <a:endParaRPr lang="en-US"/>
              </a:p>
            </p:txBody>
          </p:sp>
        </p:grpSp>
        <p:grpSp>
          <p:nvGrpSpPr>
            <p:cNvPr id="7" name="Group 26"/>
            <p:cNvGrpSpPr>
              <a:grpSpLocks/>
            </p:cNvGrpSpPr>
            <p:nvPr/>
          </p:nvGrpSpPr>
          <p:grpSpPr bwMode="auto">
            <a:xfrm>
              <a:off x="1880" y="2464"/>
              <a:ext cx="240" cy="240"/>
              <a:chOff x="3976" y="1728"/>
              <a:chExt cx="240" cy="240"/>
            </a:xfrm>
          </p:grpSpPr>
          <p:sp>
            <p:nvSpPr>
              <p:cNvPr id="26672" name="Text Box 27"/>
              <p:cNvSpPr txBox="1">
                <a:spLocks noChangeArrowheads="1"/>
              </p:cNvSpPr>
              <p:nvPr/>
            </p:nvSpPr>
            <p:spPr bwMode="auto">
              <a:xfrm>
                <a:off x="3982" y="1731"/>
                <a:ext cx="220"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C</a:t>
                </a:r>
              </a:p>
            </p:txBody>
          </p:sp>
          <p:sp>
            <p:nvSpPr>
              <p:cNvPr id="26673" name="Oval 28"/>
              <p:cNvSpPr>
                <a:spLocks noChangeArrowheads="1"/>
              </p:cNvSpPr>
              <p:nvPr/>
            </p:nvSpPr>
            <p:spPr bwMode="auto">
              <a:xfrm>
                <a:off x="3976" y="1728"/>
                <a:ext cx="240" cy="240"/>
              </a:xfrm>
              <a:prstGeom prst="ellipse">
                <a:avLst/>
              </a:prstGeom>
              <a:noFill/>
              <a:ln w="9525">
                <a:solidFill>
                  <a:schemeClr val="tx1"/>
                </a:solidFill>
                <a:round/>
                <a:headEnd/>
                <a:tailEnd/>
              </a:ln>
            </p:spPr>
            <p:txBody>
              <a:bodyPr wrap="none" anchor="ctr"/>
              <a:lstStyle/>
              <a:p>
                <a:endParaRPr lang="en-US"/>
              </a:p>
            </p:txBody>
          </p:sp>
        </p:grpSp>
        <p:grpSp>
          <p:nvGrpSpPr>
            <p:cNvPr id="8" name="Group 29"/>
            <p:cNvGrpSpPr>
              <a:grpSpLocks/>
            </p:cNvGrpSpPr>
            <p:nvPr/>
          </p:nvGrpSpPr>
          <p:grpSpPr bwMode="auto">
            <a:xfrm>
              <a:off x="3520" y="2464"/>
              <a:ext cx="240" cy="240"/>
              <a:chOff x="3952" y="2072"/>
              <a:chExt cx="240" cy="240"/>
            </a:xfrm>
          </p:grpSpPr>
          <p:sp>
            <p:nvSpPr>
              <p:cNvPr id="26670" name="Text Box 30"/>
              <p:cNvSpPr txBox="1">
                <a:spLocks noChangeArrowheads="1"/>
              </p:cNvSpPr>
              <p:nvPr/>
            </p:nvSpPr>
            <p:spPr bwMode="auto">
              <a:xfrm>
                <a:off x="3964" y="2077"/>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E</a:t>
                </a:r>
              </a:p>
            </p:txBody>
          </p:sp>
          <p:sp>
            <p:nvSpPr>
              <p:cNvPr id="26671" name="Oval 31"/>
              <p:cNvSpPr>
                <a:spLocks noChangeArrowheads="1"/>
              </p:cNvSpPr>
              <p:nvPr/>
            </p:nvSpPr>
            <p:spPr bwMode="auto">
              <a:xfrm>
                <a:off x="3952" y="2072"/>
                <a:ext cx="240" cy="240"/>
              </a:xfrm>
              <a:prstGeom prst="ellipse">
                <a:avLst/>
              </a:prstGeom>
              <a:noFill/>
              <a:ln w="9525">
                <a:solidFill>
                  <a:schemeClr val="tx1"/>
                </a:solidFill>
                <a:round/>
                <a:headEnd/>
                <a:tailEnd/>
              </a:ln>
            </p:spPr>
            <p:txBody>
              <a:bodyPr wrap="none" anchor="ctr"/>
              <a:lstStyle/>
              <a:p>
                <a:endParaRPr lang="en-US"/>
              </a:p>
            </p:txBody>
          </p:sp>
        </p:grpSp>
        <p:grpSp>
          <p:nvGrpSpPr>
            <p:cNvPr id="9" name="Group 32"/>
            <p:cNvGrpSpPr>
              <a:grpSpLocks/>
            </p:cNvGrpSpPr>
            <p:nvPr/>
          </p:nvGrpSpPr>
          <p:grpSpPr bwMode="auto">
            <a:xfrm>
              <a:off x="3944" y="3104"/>
              <a:ext cx="240" cy="246"/>
              <a:chOff x="3970" y="2437"/>
              <a:chExt cx="240" cy="246"/>
            </a:xfrm>
          </p:grpSpPr>
          <p:sp>
            <p:nvSpPr>
              <p:cNvPr id="26668" name="Text Box 33"/>
              <p:cNvSpPr txBox="1">
                <a:spLocks noChangeArrowheads="1"/>
              </p:cNvSpPr>
              <p:nvPr/>
            </p:nvSpPr>
            <p:spPr bwMode="auto">
              <a:xfrm>
                <a:off x="3984" y="2448"/>
                <a:ext cx="214"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F</a:t>
                </a:r>
              </a:p>
            </p:txBody>
          </p:sp>
          <p:sp>
            <p:nvSpPr>
              <p:cNvPr id="26669" name="Oval 34"/>
              <p:cNvSpPr>
                <a:spLocks noChangeArrowheads="1"/>
              </p:cNvSpPr>
              <p:nvPr/>
            </p:nvSpPr>
            <p:spPr bwMode="auto">
              <a:xfrm>
                <a:off x="3970" y="2437"/>
                <a:ext cx="240" cy="240"/>
              </a:xfrm>
              <a:prstGeom prst="ellipse">
                <a:avLst/>
              </a:prstGeom>
              <a:noFill/>
              <a:ln w="9525">
                <a:solidFill>
                  <a:schemeClr val="tx1"/>
                </a:solidFill>
                <a:round/>
                <a:headEnd/>
                <a:tailEnd/>
              </a:ln>
            </p:spPr>
            <p:txBody>
              <a:bodyPr wrap="none" anchor="ctr"/>
              <a:lstStyle/>
              <a:p>
                <a:endParaRPr lang="en-US"/>
              </a:p>
            </p:txBody>
          </p:sp>
        </p:grpSp>
        <p:sp>
          <p:nvSpPr>
            <p:cNvPr id="26636" name="Line 38"/>
            <p:cNvSpPr>
              <a:spLocks noChangeShapeType="1"/>
            </p:cNvSpPr>
            <p:nvPr/>
          </p:nvSpPr>
          <p:spPr bwMode="auto">
            <a:xfrm flipH="1">
              <a:off x="2808" y="800"/>
              <a:ext cx="352" cy="360"/>
            </a:xfrm>
            <a:prstGeom prst="line">
              <a:avLst/>
            </a:prstGeom>
            <a:noFill/>
            <a:ln w="9525">
              <a:solidFill>
                <a:schemeClr val="tx1"/>
              </a:solidFill>
              <a:round/>
              <a:headEnd/>
              <a:tailEnd/>
            </a:ln>
          </p:spPr>
          <p:txBody>
            <a:bodyPr wrap="none" anchor="ctr"/>
            <a:lstStyle/>
            <a:p>
              <a:endParaRPr lang="en-US"/>
            </a:p>
          </p:txBody>
        </p:sp>
        <p:sp>
          <p:nvSpPr>
            <p:cNvPr id="26637" name="Line 39"/>
            <p:cNvSpPr>
              <a:spLocks noChangeShapeType="1"/>
            </p:cNvSpPr>
            <p:nvPr/>
          </p:nvSpPr>
          <p:spPr bwMode="auto">
            <a:xfrm>
              <a:off x="3240" y="800"/>
              <a:ext cx="392" cy="360"/>
            </a:xfrm>
            <a:prstGeom prst="line">
              <a:avLst/>
            </a:prstGeom>
            <a:noFill/>
            <a:ln w="9525">
              <a:solidFill>
                <a:schemeClr val="tx1"/>
              </a:solidFill>
              <a:round/>
              <a:headEnd/>
              <a:tailEnd/>
            </a:ln>
          </p:spPr>
          <p:txBody>
            <a:bodyPr wrap="none" anchor="ctr"/>
            <a:lstStyle/>
            <a:p>
              <a:endParaRPr lang="en-US"/>
            </a:p>
          </p:txBody>
        </p:sp>
        <p:sp>
          <p:nvSpPr>
            <p:cNvPr id="26638" name="Line 40"/>
            <p:cNvSpPr>
              <a:spLocks noChangeShapeType="1"/>
            </p:cNvSpPr>
            <p:nvPr/>
          </p:nvSpPr>
          <p:spPr bwMode="auto">
            <a:xfrm flipH="1">
              <a:off x="2408" y="1440"/>
              <a:ext cx="352" cy="360"/>
            </a:xfrm>
            <a:prstGeom prst="line">
              <a:avLst/>
            </a:prstGeom>
            <a:noFill/>
            <a:ln w="9525">
              <a:solidFill>
                <a:schemeClr val="tx1"/>
              </a:solidFill>
              <a:round/>
              <a:headEnd/>
              <a:tailEnd/>
            </a:ln>
          </p:spPr>
          <p:txBody>
            <a:bodyPr wrap="none" anchor="ctr"/>
            <a:lstStyle/>
            <a:p>
              <a:endParaRPr lang="en-US"/>
            </a:p>
          </p:txBody>
        </p:sp>
        <p:sp>
          <p:nvSpPr>
            <p:cNvPr id="26639" name="Line 41"/>
            <p:cNvSpPr>
              <a:spLocks noChangeShapeType="1"/>
            </p:cNvSpPr>
            <p:nvPr/>
          </p:nvSpPr>
          <p:spPr bwMode="auto">
            <a:xfrm>
              <a:off x="3704" y="1440"/>
              <a:ext cx="392" cy="360"/>
            </a:xfrm>
            <a:prstGeom prst="line">
              <a:avLst/>
            </a:prstGeom>
            <a:noFill/>
            <a:ln w="9525">
              <a:solidFill>
                <a:schemeClr val="tx1"/>
              </a:solidFill>
              <a:round/>
              <a:headEnd/>
              <a:tailEnd/>
            </a:ln>
          </p:spPr>
          <p:txBody>
            <a:bodyPr wrap="none" anchor="ctr"/>
            <a:lstStyle/>
            <a:p>
              <a:endParaRPr lang="en-US"/>
            </a:p>
          </p:txBody>
        </p:sp>
        <p:grpSp>
          <p:nvGrpSpPr>
            <p:cNvPr id="10" name="Group 42"/>
            <p:cNvGrpSpPr>
              <a:grpSpLocks/>
            </p:cNvGrpSpPr>
            <p:nvPr/>
          </p:nvGrpSpPr>
          <p:grpSpPr bwMode="auto">
            <a:xfrm>
              <a:off x="2696" y="1824"/>
              <a:ext cx="241" cy="240"/>
              <a:chOff x="3936" y="904"/>
              <a:chExt cx="241" cy="240"/>
            </a:xfrm>
          </p:grpSpPr>
          <p:sp>
            <p:nvSpPr>
              <p:cNvPr id="26666" name="Text Box 43"/>
              <p:cNvSpPr txBox="1">
                <a:spLocks noChangeArrowheads="1"/>
              </p:cNvSpPr>
              <p:nvPr/>
            </p:nvSpPr>
            <p:spPr bwMode="auto">
              <a:xfrm>
                <a:off x="3942" y="907"/>
                <a:ext cx="235"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D</a:t>
                </a:r>
              </a:p>
            </p:txBody>
          </p:sp>
          <p:sp>
            <p:nvSpPr>
              <p:cNvPr id="26667" name="Oval 44"/>
              <p:cNvSpPr>
                <a:spLocks noChangeArrowheads="1"/>
              </p:cNvSpPr>
              <p:nvPr/>
            </p:nvSpPr>
            <p:spPr bwMode="auto">
              <a:xfrm>
                <a:off x="3936" y="904"/>
                <a:ext cx="240" cy="240"/>
              </a:xfrm>
              <a:prstGeom prst="ellipse">
                <a:avLst/>
              </a:prstGeom>
              <a:noFill/>
              <a:ln w="9525">
                <a:solidFill>
                  <a:schemeClr val="tx1"/>
                </a:solidFill>
                <a:round/>
                <a:headEnd/>
                <a:tailEnd/>
              </a:ln>
            </p:spPr>
            <p:txBody>
              <a:bodyPr wrap="none" anchor="ctr"/>
              <a:lstStyle/>
              <a:p>
                <a:endParaRPr lang="en-US"/>
              </a:p>
            </p:txBody>
          </p:sp>
        </p:grpSp>
        <p:sp>
          <p:nvSpPr>
            <p:cNvPr id="26641" name="Line 45"/>
            <p:cNvSpPr>
              <a:spLocks noChangeShapeType="1"/>
            </p:cNvSpPr>
            <p:nvPr/>
          </p:nvSpPr>
          <p:spPr bwMode="auto">
            <a:xfrm>
              <a:off x="2816" y="1440"/>
              <a:ext cx="0" cy="360"/>
            </a:xfrm>
            <a:prstGeom prst="line">
              <a:avLst/>
            </a:prstGeom>
            <a:noFill/>
            <a:ln w="9525">
              <a:solidFill>
                <a:schemeClr val="tx1"/>
              </a:solidFill>
              <a:round/>
              <a:headEnd/>
              <a:tailEnd/>
            </a:ln>
          </p:spPr>
          <p:txBody>
            <a:bodyPr wrap="none" anchor="ctr"/>
            <a:lstStyle/>
            <a:p>
              <a:endParaRPr lang="en-US"/>
            </a:p>
          </p:txBody>
        </p:sp>
        <p:sp>
          <p:nvSpPr>
            <p:cNvPr id="26642" name="Line 46"/>
            <p:cNvSpPr>
              <a:spLocks noChangeShapeType="1"/>
            </p:cNvSpPr>
            <p:nvPr/>
          </p:nvSpPr>
          <p:spPr bwMode="auto">
            <a:xfrm>
              <a:off x="3632" y="1440"/>
              <a:ext cx="8" cy="992"/>
            </a:xfrm>
            <a:prstGeom prst="line">
              <a:avLst/>
            </a:prstGeom>
            <a:noFill/>
            <a:ln w="9525">
              <a:solidFill>
                <a:schemeClr val="tx1"/>
              </a:solidFill>
              <a:round/>
              <a:headEnd/>
              <a:tailEnd/>
            </a:ln>
          </p:spPr>
          <p:txBody>
            <a:bodyPr wrap="none" anchor="ctr"/>
            <a:lstStyle/>
            <a:p>
              <a:endParaRPr lang="en-US"/>
            </a:p>
          </p:txBody>
        </p:sp>
        <p:grpSp>
          <p:nvGrpSpPr>
            <p:cNvPr id="11" name="Group 47"/>
            <p:cNvGrpSpPr>
              <a:grpSpLocks/>
            </p:cNvGrpSpPr>
            <p:nvPr/>
          </p:nvGrpSpPr>
          <p:grpSpPr bwMode="auto">
            <a:xfrm>
              <a:off x="3976" y="1824"/>
              <a:ext cx="240" cy="244"/>
              <a:chOff x="3648" y="816"/>
              <a:chExt cx="240" cy="244"/>
            </a:xfrm>
          </p:grpSpPr>
          <p:sp>
            <p:nvSpPr>
              <p:cNvPr id="26664" name="Text Box 48"/>
              <p:cNvSpPr txBox="1">
                <a:spLocks noChangeArrowheads="1"/>
              </p:cNvSpPr>
              <p:nvPr/>
            </p:nvSpPr>
            <p:spPr bwMode="auto">
              <a:xfrm>
                <a:off x="3664" y="825"/>
                <a:ext cx="224"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A</a:t>
                </a:r>
              </a:p>
            </p:txBody>
          </p:sp>
          <p:sp>
            <p:nvSpPr>
              <p:cNvPr id="26665" name="Oval 49"/>
              <p:cNvSpPr>
                <a:spLocks noChangeArrowheads="1"/>
              </p:cNvSpPr>
              <p:nvPr/>
            </p:nvSpPr>
            <p:spPr bwMode="auto">
              <a:xfrm>
                <a:off x="3648" y="816"/>
                <a:ext cx="240" cy="240"/>
              </a:xfrm>
              <a:prstGeom prst="ellipse">
                <a:avLst/>
              </a:prstGeom>
              <a:noFill/>
              <a:ln w="9525">
                <a:solidFill>
                  <a:schemeClr val="tx1"/>
                </a:solidFill>
                <a:round/>
                <a:headEnd/>
                <a:tailEnd/>
              </a:ln>
            </p:spPr>
            <p:txBody>
              <a:bodyPr wrap="none" anchor="ctr"/>
              <a:lstStyle/>
              <a:p>
                <a:endParaRPr lang="en-US"/>
              </a:p>
            </p:txBody>
          </p:sp>
        </p:grpSp>
        <p:grpSp>
          <p:nvGrpSpPr>
            <p:cNvPr id="12" name="Group 50"/>
            <p:cNvGrpSpPr>
              <a:grpSpLocks/>
            </p:cNvGrpSpPr>
            <p:nvPr/>
          </p:nvGrpSpPr>
          <p:grpSpPr bwMode="auto">
            <a:xfrm>
              <a:off x="2288" y="2464"/>
              <a:ext cx="240" cy="240"/>
              <a:chOff x="3952" y="2072"/>
              <a:chExt cx="240" cy="240"/>
            </a:xfrm>
          </p:grpSpPr>
          <p:sp>
            <p:nvSpPr>
              <p:cNvPr id="26662" name="Text Box 51"/>
              <p:cNvSpPr txBox="1">
                <a:spLocks noChangeArrowheads="1"/>
              </p:cNvSpPr>
              <p:nvPr/>
            </p:nvSpPr>
            <p:spPr bwMode="auto">
              <a:xfrm>
                <a:off x="3964" y="2077"/>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E</a:t>
                </a:r>
              </a:p>
            </p:txBody>
          </p:sp>
          <p:sp>
            <p:nvSpPr>
              <p:cNvPr id="26663" name="Oval 52"/>
              <p:cNvSpPr>
                <a:spLocks noChangeArrowheads="1"/>
              </p:cNvSpPr>
              <p:nvPr/>
            </p:nvSpPr>
            <p:spPr bwMode="auto">
              <a:xfrm>
                <a:off x="3952" y="2072"/>
                <a:ext cx="240" cy="240"/>
              </a:xfrm>
              <a:prstGeom prst="ellipse">
                <a:avLst/>
              </a:prstGeom>
              <a:noFill/>
              <a:ln w="9525">
                <a:solidFill>
                  <a:schemeClr val="tx1"/>
                </a:solidFill>
                <a:round/>
                <a:headEnd/>
                <a:tailEnd/>
              </a:ln>
            </p:spPr>
            <p:txBody>
              <a:bodyPr wrap="none" anchor="ctr"/>
              <a:lstStyle/>
              <a:p>
                <a:endParaRPr lang="en-US"/>
              </a:p>
            </p:txBody>
          </p:sp>
        </p:grpSp>
        <p:sp>
          <p:nvSpPr>
            <p:cNvPr id="26645" name="Line 53"/>
            <p:cNvSpPr>
              <a:spLocks noChangeShapeType="1"/>
            </p:cNvSpPr>
            <p:nvPr/>
          </p:nvSpPr>
          <p:spPr bwMode="auto">
            <a:xfrm flipH="1">
              <a:off x="2000" y="2080"/>
              <a:ext cx="352" cy="360"/>
            </a:xfrm>
            <a:prstGeom prst="line">
              <a:avLst/>
            </a:prstGeom>
            <a:noFill/>
            <a:ln w="9525">
              <a:solidFill>
                <a:schemeClr val="tx1"/>
              </a:solidFill>
              <a:round/>
              <a:headEnd/>
              <a:tailEnd/>
            </a:ln>
          </p:spPr>
          <p:txBody>
            <a:bodyPr wrap="none" anchor="ctr"/>
            <a:lstStyle/>
            <a:p>
              <a:endParaRPr lang="en-US"/>
            </a:p>
          </p:txBody>
        </p:sp>
        <p:sp>
          <p:nvSpPr>
            <p:cNvPr id="26646" name="Line 54"/>
            <p:cNvSpPr>
              <a:spLocks noChangeShapeType="1"/>
            </p:cNvSpPr>
            <p:nvPr/>
          </p:nvSpPr>
          <p:spPr bwMode="auto">
            <a:xfrm>
              <a:off x="2408" y="2080"/>
              <a:ext cx="0" cy="360"/>
            </a:xfrm>
            <a:prstGeom prst="line">
              <a:avLst/>
            </a:prstGeom>
            <a:noFill/>
            <a:ln w="9525">
              <a:solidFill>
                <a:schemeClr val="tx1"/>
              </a:solidFill>
              <a:round/>
              <a:headEnd/>
              <a:tailEnd/>
            </a:ln>
          </p:spPr>
          <p:txBody>
            <a:bodyPr wrap="none" anchor="ctr"/>
            <a:lstStyle/>
            <a:p>
              <a:endParaRPr lang="en-US"/>
            </a:p>
          </p:txBody>
        </p:sp>
        <p:grpSp>
          <p:nvGrpSpPr>
            <p:cNvPr id="13" name="Group 55"/>
            <p:cNvGrpSpPr>
              <a:grpSpLocks/>
            </p:cNvGrpSpPr>
            <p:nvPr/>
          </p:nvGrpSpPr>
          <p:grpSpPr bwMode="auto">
            <a:xfrm>
              <a:off x="3128" y="3104"/>
              <a:ext cx="242" cy="240"/>
              <a:chOff x="3916" y="1291"/>
              <a:chExt cx="242" cy="240"/>
            </a:xfrm>
          </p:grpSpPr>
          <p:sp>
            <p:nvSpPr>
              <p:cNvPr id="26660" name="Text Box 56"/>
              <p:cNvSpPr txBox="1">
                <a:spLocks noChangeArrowheads="1"/>
              </p:cNvSpPr>
              <p:nvPr/>
            </p:nvSpPr>
            <p:spPr bwMode="auto">
              <a:xfrm>
                <a:off x="3936" y="1296"/>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B</a:t>
                </a:r>
              </a:p>
            </p:txBody>
          </p:sp>
          <p:sp>
            <p:nvSpPr>
              <p:cNvPr id="26661" name="Oval 57"/>
              <p:cNvSpPr>
                <a:spLocks noChangeArrowheads="1"/>
              </p:cNvSpPr>
              <p:nvPr/>
            </p:nvSpPr>
            <p:spPr bwMode="auto">
              <a:xfrm>
                <a:off x="3916" y="1291"/>
                <a:ext cx="240" cy="240"/>
              </a:xfrm>
              <a:prstGeom prst="ellipse">
                <a:avLst/>
              </a:prstGeom>
              <a:noFill/>
              <a:ln w="9525">
                <a:solidFill>
                  <a:schemeClr val="tx1"/>
                </a:solidFill>
                <a:round/>
                <a:headEnd/>
                <a:tailEnd/>
              </a:ln>
            </p:spPr>
            <p:txBody>
              <a:bodyPr wrap="none" anchor="ctr"/>
              <a:lstStyle/>
              <a:p>
                <a:endParaRPr lang="en-US"/>
              </a:p>
            </p:txBody>
          </p:sp>
        </p:grpSp>
        <p:sp>
          <p:nvSpPr>
            <p:cNvPr id="26648" name="Line 58"/>
            <p:cNvSpPr>
              <a:spLocks noChangeShapeType="1"/>
            </p:cNvSpPr>
            <p:nvPr/>
          </p:nvSpPr>
          <p:spPr bwMode="auto">
            <a:xfrm flipH="1">
              <a:off x="3248" y="2720"/>
              <a:ext cx="352" cy="360"/>
            </a:xfrm>
            <a:prstGeom prst="line">
              <a:avLst/>
            </a:prstGeom>
            <a:noFill/>
            <a:ln w="9525">
              <a:solidFill>
                <a:schemeClr val="tx1"/>
              </a:solidFill>
              <a:round/>
              <a:headEnd/>
              <a:tailEnd/>
            </a:ln>
          </p:spPr>
          <p:txBody>
            <a:bodyPr wrap="none" anchor="ctr"/>
            <a:lstStyle/>
            <a:p>
              <a:endParaRPr lang="en-US"/>
            </a:p>
          </p:txBody>
        </p:sp>
        <p:sp>
          <p:nvSpPr>
            <p:cNvPr id="26649" name="Line 59"/>
            <p:cNvSpPr>
              <a:spLocks noChangeShapeType="1"/>
            </p:cNvSpPr>
            <p:nvPr/>
          </p:nvSpPr>
          <p:spPr bwMode="auto">
            <a:xfrm>
              <a:off x="3680" y="2720"/>
              <a:ext cx="392" cy="360"/>
            </a:xfrm>
            <a:prstGeom prst="line">
              <a:avLst/>
            </a:prstGeom>
            <a:noFill/>
            <a:ln w="9525">
              <a:solidFill>
                <a:schemeClr val="tx1"/>
              </a:solidFill>
              <a:round/>
              <a:headEnd/>
              <a:tailEnd/>
            </a:ln>
          </p:spPr>
          <p:txBody>
            <a:bodyPr wrap="none" anchor="ctr"/>
            <a:lstStyle/>
            <a:p>
              <a:endParaRPr lang="en-US"/>
            </a:p>
          </p:txBody>
        </p:sp>
        <p:sp>
          <p:nvSpPr>
            <p:cNvPr id="26650" name="Text Box 61"/>
            <p:cNvSpPr txBox="1">
              <a:spLocks noChangeArrowheads="1"/>
            </p:cNvSpPr>
            <p:nvPr/>
          </p:nvSpPr>
          <p:spPr bwMode="auto">
            <a:xfrm>
              <a:off x="2619" y="84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13.1</a:t>
              </a:r>
            </a:p>
          </p:txBody>
        </p:sp>
        <p:sp>
          <p:nvSpPr>
            <p:cNvPr id="26651" name="Text Box 62"/>
            <p:cNvSpPr txBox="1">
              <a:spLocks noChangeArrowheads="1"/>
            </p:cNvSpPr>
            <p:nvPr/>
          </p:nvSpPr>
          <p:spPr bwMode="auto">
            <a:xfrm>
              <a:off x="3424" y="84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13.2</a:t>
              </a:r>
            </a:p>
          </p:txBody>
        </p:sp>
        <p:sp>
          <p:nvSpPr>
            <p:cNvPr id="26652" name="Text Box 63"/>
            <p:cNvSpPr txBox="1">
              <a:spLocks noChangeArrowheads="1"/>
            </p:cNvSpPr>
            <p:nvPr/>
          </p:nvSpPr>
          <p:spPr bwMode="auto">
            <a:xfrm>
              <a:off x="2227" y="148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12.8</a:t>
              </a:r>
            </a:p>
          </p:txBody>
        </p:sp>
        <p:sp>
          <p:nvSpPr>
            <p:cNvPr id="26653" name="Text Box 64"/>
            <p:cNvSpPr txBox="1">
              <a:spLocks noChangeArrowheads="1"/>
            </p:cNvSpPr>
            <p:nvPr/>
          </p:nvSpPr>
          <p:spPr bwMode="auto">
            <a:xfrm>
              <a:off x="2768" y="1488"/>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17.2</a:t>
              </a:r>
            </a:p>
          </p:txBody>
        </p:sp>
        <p:sp>
          <p:nvSpPr>
            <p:cNvPr id="26654" name="Text Box 65"/>
            <p:cNvSpPr txBox="1">
              <a:spLocks noChangeArrowheads="1"/>
            </p:cNvSpPr>
            <p:nvPr/>
          </p:nvSpPr>
          <p:spPr bwMode="auto">
            <a:xfrm>
              <a:off x="3872" y="1488"/>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19.1</a:t>
              </a:r>
            </a:p>
          </p:txBody>
        </p:sp>
        <p:sp>
          <p:nvSpPr>
            <p:cNvPr id="26655" name="Text Box 66"/>
            <p:cNvSpPr txBox="1">
              <a:spLocks noChangeArrowheads="1"/>
            </p:cNvSpPr>
            <p:nvPr/>
          </p:nvSpPr>
          <p:spPr bwMode="auto">
            <a:xfrm>
              <a:off x="1824" y="2124"/>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14.4</a:t>
              </a:r>
            </a:p>
          </p:txBody>
        </p:sp>
        <p:sp>
          <p:nvSpPr>
            <p:cNvPr id="26656" name="Text Box 67"/>
            <p:cNvSpPr txBox="1">
              <a:spLocks noChangeArrowheads="1"/>
            </p:cNvSpPr>
            <p:nvPr/>
          </p:nvSpPr>
          <p:spPr bwMode="auto">
            <a:xfrm>
              <a:off x="2376" y="2128"/>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19.1</a:t>
              </a:r>
            </a:p>
          </p:txBody>
        </p:sp>
        <p:sp>
          <p:nvSpPr>
            <p:cNvPr id="26657" name="Text Box 68"/>
            <p:cNvSpPr txBox="1">
              <a:spLocks noChangeArrowheads="1"/>
            </p:cNvSpPr>
            <p:nvPr/>
          </p:nvSpPr>
          <p:spPr bwMode="auto">
            <a:xfrm>
              <a:off x="3600" y="2128"/>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13.1</a:t>
              </a:r>
            </a:p>
          </p:txBody>
        </p:sp>
        <p:sp>
          <p:nvSpPr>
            <p:cNvPr id="26658" name="Text Box 69"/>
            <p:cNvSpPr txBox="1">
              <a:spLocks noChangeArrowheads="1"/>
            </p:cNvSpPr>
            <p:nvPr/>
          </p:nvSpPr>
          <p:spPr bwMode="auto">
            <a:xfrm>
              <a:off x="2592" y="2768"/>
              <a:ext cx="848"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4+2+5+5.8</a:t>
              </a:r>
            </a:p>
          </p:txBody>
        </p:sp>
        <p:sp>
          <p:nvSpPr>
            <p:cNvPr id="26659" name="Text Box 70"/>
            <p:cNvSpPr txBox="1">
              <a:spLocks noChangeArrowheads="1"/>
            </p:cNvSpPr>
            <p:nvPr/>
          </p:nvSpPr>
          <p:spPr bwMode="auto">
            <a:xfrm>
              <a:off x="3835" y="2768"/>
              <a:ext cx="869"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4+2+4+3.5</a:t>
              </a:r>
            </a:p>
          </p:txBody>
        </p:sp>
      </p:gr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14"/>
          <p:cNvSpPr txBox="1">
            <a:spLocks noChangeArrowheads="1"/>
          </p:cNvSpPr>
          <p:nvPr/>
        </p:nvSpPr>
        <p:spPr bwMode="auto">
          <a:xfrm>
            <a:off x="1105920" y="1600200"/>
            <a:ext cx="1159769" cy="360755"/>
          </a:xfrm>
          <a:prstGeom prst="rect">
            <a:avLst/>
          </a:prstGeom>
          <a:noFill/>
          <a:ln w="9525">
            <a:noFill/>
            <a:miter lim="800000"/>
            <a:headEnd/>
            <a:tailEnd/>
          </a:ln>
        </p:spPr>
        <p:txBody>
          <a:bodyPr wrap="square" lIns="82945" tIns="41473" rIns="82945" bIns="41473">
            <a:spAutoFit/>
          </a:bodyPr>
          <a:lstStyle/>
          <a:p>
            <a:r>
              <a:rPr lang="en-US" dirty="0"/>
              <a:t>A*, step 6</a:t>
            </a:r>
          </a:p>
        </p:txBody>
      </p:sp>
      <p:grpSp>
        <p:nvGrpSpPr>
          <p:cNvPr id="2" name="Group 15"/>
          <p:cNvGrpSpPr>
            <a:grpSpLocks/>
          </p:cNvGrpSpPr>
          <p:nvPr/>
        </p:nvGrpSpPr>
        <p:grpSpPr bwMode="auto">
          <a:xfrm>
            <a:off x="2626560" y="1752600"/>
            <a:ext cx="3497760" cy="4343400"/>
            <a:chOff x="2392" y="432"/>
            <a:chExt cx="2429" cy="3440"/>
          </a:xfrm>
        </p:grpSpPr>
        <p:grpSp>
          <p:nvGrpSpPr>
            <p:cNvPr id="3" name="Group 16"/>
            <p:cNvGrpSpPr>
              <a:grpSpLocks/>
            </p:cNvGrpSpPr>
            <p:nvPr/>
          </p:nvGrpSpPr>
          <p:grpSpPr bwMode="auto">
            <a:xfrm>
              <a:off x="3648" y="432"/>
              <a:ext cx="240" cy="242"/>
              <a:chOff x="2968" y="456"/>
              <a:chExt cx="240" cy="242"/>
            </a:xfrm>
          </p:grpSpPr>
          <p:sp>
            <p:nvSpPr>
              <p:cNvPr id="27708" name="Text Box 17"/>
              <p:cNvSpPr txBox="1">
                <a:spLocks noChangeArrowheads="1"/>
              </p:cNvSpPr>
              <p:nvPr/>
            </p:nvSpPr>
            <p:spPr bwMode="auto">
              <a:xfrm>
                <a:off x="2982" y="463"/>
                <a:ext cx="208"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S</a:t>
                </a:r>
              </a:p>
            </p:txBody>
          </p:sp>
          <p:sp>
            <p:nvSpPr>
              <p:cNvPr id="27709" name="Oval 18"/>
              <p:cNvSpPr>
                <a:spLocks noChangeArrowheads="1"/>
              </p:cNvSpPr>
              <p:nvPr/>
            </p:nvSpPr>
            <p:spPr bwMode="auto">
              <a:xfrm>
                <a:off x="2968" y="456"/>
                <a:ext cx="240" cy="240"/>
              </a:xfrm>
              <a:prstGeom prst="ellipse">
                <a:avLst/>
              </a:prstGeom>
              <a:noFill/>
              <a:ln w="9525">
                <a:solidFill>
                  <a:schemeClr val="tx1"/>
                </a:solidFill>
                <a:round/>
                <a:headEnd/>
                <a:tailEnd/>
              </a:ln>
            </p:spPr>
            <p:txBody>
              <a:bodyPr wrap="none" anchor="ctr"/>
              <a:lstStyle/>
              <a:p>
                <a:endParaRPr lang="en-US"/>
              </a:p>
            </p:txBody>
          </p:sp>
        </p:grpSp>
        <p:grpSp>
          <p:nvGrpSpPr>
            <p:cNvPr id="4" name="Group 19"/>
            <p:cNvGrpSpPr>
              <a:grpSpLocks/>
            </p:cNvGrpSpPr>
            <p:nvPr/>
          </p:nvGrpSpPr>
          <p:grpSpPr bwMode="auto">
            <a:xfrm>
              <a:off x="3256" y="1072"/>
              <a:ext cx="240" cy="244"/>
              <a:chOff x="3648" y="816"/>
              <a:chExt cx="240" cy="244"/>
            </a:xfrm>
          </p:grpSpPr>
          <p:sp>
            <p:nvSpPr>
              <p:cNvPr id="27706" name="Text Box 20"/>
              <p:cNvSpPr txBox="1">
                <a:spLocks noChangeArrowheads="1"/>
              </p:cNvSpPr>
              <p:nvPr/>
            </p:nvSpPr>
            <p:spPr bwMode="auto">
              <a:xfrm>
                <a:off x="3664" y="825"/>
                <a:ext cx="224"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A</a:t>
                </a:r>
              </a:p>
            </p:txBody>
          </p:sp>
          <p:sp>
            <p:nvSpPr>
              <p:cNvPr id="27707" name="Oval 21"/>
              <p:cNvSpPr>
                <a:spLocks noChangeArrowheads="1"/>
              </p:cNvSpPr>
              <p:nvPr/>
            </p:nvSpPr>
            <p:spPr bwMode="auto">
              <a:xfrm>
                <a:off x="3648" y="816"/>
                <a:ext cx="240" cy="240"/>
              </a:xfrm>
              <a:prstGeom prst="ellipse">
                <a:avLst/>
              </a:prstGeom>
              <a:noFill/>
              <a:ln w="9525">
                <a:solidFill>
                  <a:schemeClr val="tx1"/>
                </a:solidFill>
                <a:round/>
                <a:headEnd/>
                <a:tailEnd/>
              </a:ln>
            </p:spPr>
            <p:txBody>
              <a:bodyPr wrap="none" anchor="ctr"/>
              <a:lstStyle/>
              <a:p>
                <a:endParaRPr lang="en-US"/>
              </a:p>
            </p:txBody>
          </p:sp>
        </p:grpSp>
        <p:grpSp>
          <p:nvGrpSpPr>
            <p:cNvPr id="5" name="Group 22"/>
            <p:cNvGrpSpPr>
              <a:grpSpLocks/>
            </p:cNvGrpSpPr>
            <p:nvPr/>
          </p:nvGrpSpPr>
          <p:grpSpPr bwMode="auto">
            <a:xfrm>
              <a:off x="4080" y="1072"/>
              <a:ext cx="241" cy="240"/>
              <a:chOff x="3936" y="904"/>
              <a:chExt cx="241" cy="240"/>
            </a:xfrm>
          </p:grpSpPr>
          <p:sp>
            <p:nvSpPr>
              <p:cNvPr id="27704" name="Text Box 23"/>
              <p:cNvSpPr txBox="1">
                <a:spLocks noChangeArrowheads="1"/>
              </p:cNvSpPr>
              <p:nvPr/>
            </p:nvSpPr>
            <p:spPr bwMode="auto">
              <a:xfrm>
                <a:off x="3942" y="907"/>
                <a:ext cx="235"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D</a:t>
                </a:r>
              </a:p>
            </p:txBody>
          </p:sp>
          <p:sp>
            <p:nvSpPr>
              <p:cNvPr id="27705" name="Oval 24"/>
              <p:cNvSpPr>
                <a:spLocks noChangeArrowheads="1"/>
              </p:cNvSpPr>
              <p:nvPr/>
            </p:nvSpPr>
            <p:spPr bwMode="auto">
              <a:xfrm>
                <a:off x="3936" y="904"/>
                <a:ext cx="240" cy="240"/>
              </a:xfrm>
              <a:prstGeom prst="ellipse">
                <a:avLst/>
              </a:prstGeom>
              <a:noFill/>
              <a:ln w="9525">
                <a:solidFill>
                  <a:schemeClr val="tx1"/>
                </a:solidFill>
                <a:round/>
                <a:headEnd/>
                <a:tailEnd/>
              </a:ln>
            </p:spPr>
            <p:txBody>
              <a:bodyPr wrap="none" anchor="ctr"/>
              <a:lstStyle/>
              <a:p>
                <a:endParaRPr lang="en-US"/>
              </a:p>
            </p:txBody>
          </p:sp>
        </p:grpSp>
        <p:grpSp>
          <p:nvGrpSpPr>
            <p:cNvPr id="6" name="Group 25"/>
            <p:cNvGrpSpPr>
              <a:grpSpLocks/>
            </p:cNvGrpSpPr>
            <p:nvPr/>
          </p:nvGrpSpPr>
          <p:grpSpPr bwMode="auto">
            <a:xfrm>
              <a:off x="2856" y="1712"/>
              <a:ext cx="242" cy="240"/>
              <a:chOff x="3916" y="1291"/>
              <a:chExt cx="242" cy="240"/>
            </a:xfrm>
          </p:grpSpPr>
          <p:sp>
            <p:nvSpPr>
              <p:cNvPr id="27702" name="Text Box 26"/>
              <p:cNvSpPr txBox="1">
                <a:spLocks noChangeArrowheads="1"/>
              </p:cNvSpPr>
              <p:nvPr/>
            </p:nvSpPr>
            <p:spPr bwMode="auto">
              <a:xfrm>
                <a:off x="3936" y="1296"/>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B</a:t>
                </a:r>
              </a:p>
            </p:txBody>
          </p:sp>
          <p:sp>
            <p:nvSpPr>
              <p:cNvPr id="27703" name="Oval 27"/>
              <p:cNvSpPr>
                <a:spLocks noChangeArrowheads="1"/>
              </p:cNvSpPr>
              <p:nvPr/>
            </p:nvSpPr>
            <p:spPr bwMode="auto">
              <a:xfrm>
                <a:off x="3916" y="1291"/>
                <a:ext cx="240" cy="240"/>
              </a:xfrm>
              <a:prstGeom prst="ellipse">
                <a:avLst/>
              </a:prstGeom>
              <a:noFill/>
              <a:ln w="9525">
                <a:solidFill>
                  <a:schemeClr val="tx1"/>
                </a:solidFill>
                <a:round/>
                <a:headEnd/>
                <a:tailEnd/>
              </a:ln>
            </p:spPr>
            <p:txBody>
              <a:bodyPr wrap="none" anchor="ctr"/>
              <a:lstStyle/>
              <a:p>
                <a:endParaRPr lang="en-US"/>
              </a:p>
            </p:txBody>
          </p:sp>
        </p:grpSp>
        <p:grpSp>
          <p:nvGrpSpPr>
            <p:cNvPr id="7" name="Group 28"/>
            <p:cNvGrpSpPr>
              <a:grpSpLocks/>
            </p:cNvGrpSpPr>
            <p:nvPr/>
          </p:nvGrpSpPr>
          <p:grpSpPr bwMode="auto">
            <a:xfrm>
              <a:off x="2448" y="2352"/>
              <a:ext cx="240" cy="240"/>
              <a:chOff x="3976" y="1728"/>
              <a:chExt cx="240" cy="240"/>
            </a:xfrm>
          </p:grpSpPr>
          <p:sp>
            <p:nvSpPr>
              <p:cNvPr id="27700" name="Text Box 29"/>
              <p:cNvSpPr txBox="1">
                <a:spLocks noChangeArrowheads="1"/>
              </p:cNvSpPr>
              <p:nvPr/>
            </p:nvSpPr>
            <p:spPr bwMode="auto">
              <a:xfrm>
                <a:off x="3982" y="1731"/>
                <a:ext cx="220"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C</a:t>
                </a:r>
              </a:p>
            </p:txBody>
          </p:sp>
          <p:sp>
            <p:nvSpPr>
              <p:cNvPr id="27701" name="Oval 30"/>
              <p:cNvSpPr>
                <a:spLocks noChangeArrowheads="1"/>
              </p:cNvSpPr>
              <p:nvPr/>
            </p:nvSpPr>
            <p:spPr bwMode="auto">
              <a:xfrm>
                <a:off x="3976" y="1728"/>
                <a:ext cx="240" cy="240"/>
              </a:xfrm>
              <a:prstGeom prst="ellipse">
                <a:avLst/>
              </a:prstGeom>
              <a:noFill/>
              <a:ln w="9525">
                <a:solidFill>
                  <a:schemeClr val="tx1"/>
                </a:solidFill>
                <a:round/>
                <a:headEnd/>
                <a:tailEnd/>
              </a:ln>
            </p:spPr>
            <p:txBody>
              <a:bodyPr wrap="none" anchor="ctr"/>
              <a:lstStyle/>
              <a:p>
                <a:endParaRPr lang="en-US"/>
              </a:p>
            </p:txBody>
          </p:sp>
        </p:grpSp>
        <p:grpSp>
          <p:nvGrpSpPr>
            <p:cNvPr id="8" name="Group 31"/>
            <p:cNvGrpSpPr>
              <a:grpSpLocks/>
            </p:cNvGrpSpPr>
            <p:nvPr/>
          </p:nvGrpSpPr>
          <p:grpSpPr bwMode="auto">
            <a:xfrm>
              <a:off x="4088" y="2352"/>
              <a:ext cx="240" cy="240"/>
              <a:chOff x="3952" y="2072"/>
              <a:chExt cx="240" cy="240"/>
            </a:xfrm>
          </p:grpSpPr>
          <p:sp>
            <p:nvSpPr>
              <p:cNvPr id="27698" name="Text Box 32"/>
              <p:cNvSpPr txBox="1">
                <a:spLocks noChangeArrowheads="1"/>
              </p:cNvSpPr>
              <p:nvPr/>
            </p:nvSpPr>
            <p:spPr bwMode="auto">
              <a:xfrm>
                <a:off x="3964" y="2077"/>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E</a:t>
                </a:r>
              </a:p>
            </p:txBody>
          </p:sp>
          <p:sp>
            <p:nvSpPr>
              <p:cNvPr id="27699" name="Oval 33"/>
              <p:cNvSpPr>
                <a:spLocks noChangeArrowheads="1"/>
              </p:cNvSpPr>
              <p:nvPr/>
            </p:nvSpPr>
            <p:spPr bwMode="auto">
              <a:xfrm>
                <a:off x="3952" y="2072"/>
                <a:ext cx="240" cy="240"/>
              </a:xfrm>
              <a:prstGeom prst="ellipse">
                <a:avLst/>
              </a:prstGeom>
              <a:noFill/>
              <a:ln w="9525">
                <a:solidFill>
                  <a:schemeClr val="tx1"/>
                </a:solidFill>
                <a:round/>
                <a:headEnd/>
                <a:tailEnd/>
              </a:ln>
            </p:spPr>
            <p:txBody>
              <a:bodyPr wrap="none" anchor="ctr"/>
              <a:lstStyle/>
              <a:p>
                <a:endParaRPr lang="en-US"/>
              </a:p>
            </p:txBody>
          </p:sp>
        </p:grpSp>
        <p:grpSp>
          <p:nvGrpSpPr>
            <p:cNvPr id="9" name="Group 34"/>
            <p:cNvGrpSpPr>
              <a:grpSpLocks/>
            </p:cNvGrpSpPr>
            <p:nvPr/>
          </p:nvGrpSpPr>
          <p:grpSpPr bwMode="auto">
            <a:xfrm>
              <a:off x="4512" y="2992"/>
              <a:ext cx="240" cy="246"/>
              <a:chOff x="3970" y="2437"/>
              <a:chExt cx="240" cy="246"/>
            </a:xfrm>
          </p:grpSpPr>
          <p:sp>
            <p:nvSpPr>
              <p:cNvPr id="27696" name="Text Box 35"/>
              <p:cNvSpPr txBox="1">
                <a:spLocks noChangeArrowheads="1"/>
              </p:cNvSpPr>
              <p:nvPr/>
            </p:nvSpPr>
            <p:spPr bwMode="auto">
              <a:xfrm>
                <a:off x="3984" y="2448"/>
                <a:ext cx="214"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F</a:t>
                </a:r>
              </a:p>
            </p:txBody>
          </p:sp>
          <p:sp>
            <p:nvSpPr>
              <p:cNvPr id="27697" name="Oval 36"/>
              <p:cNvSpPr>
                <a:spLocks noChangeArrowheads="1"/>
              </p:cNvSpPr>
              <p:nvPr/>
            </p:nvSpPr>
            <p:spPr bwMode="auto">
              <a:xfrm>
                <a:off x="3970" y="2437"/>
                <a:ext cx="240" cy="240"/>
              </a:xfrm>
              <a:prstGeom prst="ellipse">
                <a:avLst/>
              </a:prstGeom>
              <a:noFill/>
              <a:ln w="9525">
                <a:solidFill>
                  <a:schemeClr val="tx1"/>
                </a:solidFill>
                <a:round/>
                <a:headEnd/>
                <a:tailEnd/>
              </a:ln>
            </p:spPr>
            <p:txBody>
              <a:bodyPr wrap="none" anchor="ctr"/>
              <a:lstStyle/>
              <a:p>
                <a:endParaRPr lang="en-US"/>
              </a:p>
            </p:txBody>
          </p:sp>
        </p:grpSp>
        <p:grpSp>
          <p:nvGrpSpPr>
            <p:cNvPr id="10" name="Group 37"/>
            <p:cNvGrpSpPr>
              <a:grpSpLocks/>
            </p:cNvGrpSpPr>
            <p:nvPr/>
          </p:nvGrpSpPr>
          <p:grpSpPr bwMode="auto">
            <a:xfrm>
              <a:off x="4512" y="3632"/>
              <a:ext cx="244" cy="240"/>
              <a:chOff x="3732" y="2923"/>
              <a:chExt cx="244" cy="240"/>
            </a:xfrm>
          </p:grpSpPr>
          <p:sp>
            <p:nvSpPr>
              <p:cNvPr id="27694" name="Text Box 38"/>
              <p:cNvSpPr txBox="1">
                <a:spLocks noChangeArrowheads="1"/>
              </p:cNvSpPr>
              <p:nvPr/>
            </p:nvSpPr>
            <p:spPr bwMode="auto">
              <a:xfrm>
                <a:off x="3744" y="2928"/>
                <a:ext cx="23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G</a:t>
                </a:r>
              </a:p>
            </p:txBody>
          </p:sp>
          <p:sp>
            <p:nvSpPr>
              <p:cNvPr id="27695" name="Oval 39"/>
              <p:cNvSpPr>
                <a:spLocks noChangeArrowheads="1"/>
              </p:cNvSpPr>
              <p:nvPr/>
            </p:nvSpPr>
            <p:spPr bwMode="auto">
              <a:xfrm>
                <a:off x="3732" y="2923"/>
                <a:ext cx="240" cy="240"/>
              </a:xfrm>
              <a:prstGeom prst="ellipse">
                <a:avLst/>
              </a:prstGeom>
              <a:noFill/>
              <a:ln w="9525">
                <a:solidFill>
                  <a:schemeClr val="tx1"/>
                </a:solidFill>
                <a:round/>
                <a:headEnd/>
                <a:tailEnd/>
              </a:ln>
            </p:spPr>
            <p:txBody>
              <a:bodyPr wrap="none" anchor="ctr"/>
              <a:lstStyle/>
              <a:p>
                <a:endParaRPr lang="en-US"/>
              </a:p>
            </p:txBody>
          </p:sp>
        </p:grpSp>
        <p:sp>
          <p:nvSpPr>
            <p:cNvPr id="27661" name="Line 40"/>
            <p:cNvSpPr>
              <a:spLocks noChangeShapeType="1"/>
            </p:cNvSpPr>
            <p:nvPr/>
          </p:nvSpPr>
          <p:spPr bwMode="auto">
            <a:xfrm flipH="1">
              <a:off x="3376" y="688"/>
              <a:ext cx="352" cy="360"/>
            </a:xfrm>
            <a:prstGeom prst="line">
              <a:avLst/>
            </a:prstGeom>
            <a:noFill/>
            <a:ln w="9525">
              <a:solidFill>
                <a:schemeClr val="tx1"/>
              </a:solidFill>
              <a:round/>
              <a:headEnd/>
              <a:tailEnd/>
            </a:ln>
          </p:spPr>
          <p:txBody>
            <a:bodyPr wrap="none" anchor="ctr"/>
            <a:lstStyle/>
            <a:p>
              <a:endParaRPr lang="en-US"/>
            </a:p>
          </p:txBody>
        </p:sp>
        <p:sp>
          <p:nvSpPr>
            <p:cNvPr id="27662" name="Line 41"/>
            <p:cNvSpPr>
              <a:spLocks noChangeShapeType="1"/>
            </p:cNvSpPr>
            <p:nvPr/>
          </p:nvSpPr>
          <p:spPr bwMode="auto">
            <a:xfrm>
              <a:off x="3808" y="688"/>
              <a:ext cx="392" cy="360"/>
            </a:xfrm>
            <a:prstGeom prst="line">
              <a:avLst/>
            </a:prstGeom>
            <a:noFill/>
            <a:ln w="9525">
              <a:solidFill>
                <a:schemeClr val="tx1"/>
              </a:solidFill>
              <a:round/>
              <a:headEnd/>
              <a:tailEnd/>
            </a:ln>
          </p:spPr>
          <p:txBody>
            <a:bodyPr wrap="none" anchor="ctr"/>
            <a:lstStyle/>
            <a:p>
              <a:endParaRPr lang="en-US"/>
            </a:p>
          </p:txBody>
        </p:sp>
        <p:sp>
          <p:nvSpPr>
            <p:cNvPr id="27663" name="Line 42"/>
            <p:cNvSpPr>
              <a:spLocks noChangeShapeType="1"/>
            </p:cNvSpPr>
            <p:nvPr/>
          </p:nvSpPr>
          <p:spPr bwMode="auto">
            <a:xfrm flipH="1">
              <a:off x="2976" y="1328"/>
              <a:ext cx="352" cy="360"/>
            </a:xfrm>
            <a:prstGeom prst="line">
              <a:avLst/>
            </a:prstGeom>
            <a:noFill/>
            <a:ln w="9525">
              <a:solidFill>
                <a:schemeClr val="tx1"/>
              </a:solidFill>
              <a:round/>
              <a:headEnd/>
              <a:tailEnd/>
            </a:ln>
          </p:spPr>
          <p:txBody>
            <a:bodyPr wrap="none" anchor="ctr"/>
            <a:lstStyle/>
            <a:p>
              <a:endParaRPr lang="en-US"/>
            </a:p>
          </p:txBody>
        </p:sp>
        <p:sp>
          <p:nvSpPr>
            <p:cNvPr id="27664" name="Line 43"/>
            <p:cNvSpPr>
              <a:spLocks noChangeShapeType="1"/>
            </p:cNvSpPr>
            <p:nvPr/>
          </p:nvSpPr>
          <p:spPr bwMode="auto">
            <a:xfrm>
              <a:off x="4272" y="1328"/>
              <a:ext cx="392" cy="360"/>
            </a:xfrm>
            <a:prstGeom prst="line">
              <a:avLst/>
            </a:prstGeom>
            <a:noFill/>
            <a:ln w="9525">
              <a:solidFill>
                <a:schemeClr val="tx1"/>
              </a:solidFill>
              <a:round/>
              <a:headEnd/>
              <a:tailEnd/>
            </a:ln>
          </p:spPr>
          <p:txBody>
            <a:bodyPr wrap="none" anchor="ctr"/>
            <a:lstStyle/>
            <a:p>
              <a:endParaRPr lang="en-US"/>
            </a:p>
          </p:txBody>
        </p:sp>
        <p:grpSp>
          <p:nvGrpSpPr>
            <p:cNvPr id="11" name="Group 44"/>
            <p:cNvGrpSpPr>
              <a:grpSpLocks/>
            </p:cNvGrpSpPr>
            <p:nvPr/>
          </p:nvGrpSpPr>
          <p:grpSpPr bwMode="auto">
            <a:xfrm>
              <a:off x="3264" y="1712"/>
              <a:ext cx="241" cy="240"/>
              <a:chOff x="3936" y="904"/>
              <a:chExt cx="241" cy="240"/>
            </a:xfrm>
          </p:grpSpPr>
          <p:sp>
            <p:nvSpPr>
              <p:cNvPr id="27692" name="Text Box 45"/>
              <p:cNvSpPr txBox="1">
                <a:spLocks noChangeArrowheads="1"/>
              </p:cNvSpPr>
              <p:nvPr/>
            </p:nvSpPr>
            <p:spPr bwMode="auto">
              <a:xfrm>
                <a:off x="3942" y="907"/>
                <a:ext cx="235"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D</a:t>
                </a:r>
              </a:p>
            </p:txBody>
          </p:sp>
          <p:sp>
            <p:nvSpPr>
              <p:cNvPr id="27693" name="Oval 46"/>
              <p:cNvSpPr>
                <a:spLocks noChangeArrowheads="1"/>
              </p:cNvSpPr>
              <p:nvPr/>
            </p:nvSpPr>
            <p:spPr bwMode="auto">
              <a:xfrm>
                <a:off x="3936" y="904"/>
                <a:ext cx="240" cy="240"/>
              </a:xfrm>
              <a:prstGeom prst="ellipse">
                <a:avLst/>
              </a:prstGeom>
              <a:noFill/>
              <a:ln w="9525">
                <a:solidFill>
                  <a:schemeClr val="tx1"/>
                </a:solidFill>
                <a:round/>
                <a:headEnd/>
                <a:tailEnd/>
              </a:ln>
            </p:spPr>
            <p:txBody>
              <a:bodyPr wrap="none" anchor="ctr"/>
              <a:lstStyle/>
              <a:p>
                <a:endParaRPr lang="en-US"/>
              </a:p>
            </p:txBody>
          </p:sp>
        </p:grpSp>
        <p:sp>
          <p:nvSpPr>
            <p:cNvPr id="27666" name="Line 47"/>
            <p:cNvSpPr>
              <a:spLocks noChangeShapeType="1"/>
            </p:cNvSpPr>
            <p:nvPr/>
          </p:nvSpPr>
          <p:spPr bwMode="auto">
            <a:xfrm>
              <a:off x="3384" y="1328"/>
              <a:ext cx="0" cy="360"/>
            </a:xfrm>
            <a:prstGeom prst="line">
              <a:avLst/>
            </a:prstGeom>
            <a:noFill/>
            <a:ln w="9525">
              <a:solidFill>
                <a:schemeClr val="tx1"/>
              </a:solidFill>
              <a:round/>
              <a:headEnd/>
              <a:tailEnd/>
            </a:ln>
          </p:spPr>
          <p:txBody>
            <a:bodyPr wrap="none" anchor="ctr"/>
            <a:lstStyle/>
            <a:p>
              <a:endParaRPr lang="en-US"/>
            </a:p>
          </p:txBody>
        </p:sp>
        <p:sp>
          <p:nvSpPr>
            <p:cNvPr id="27667" name="Line 48"/>
            <p:cNvSpPr>
              <a:spLocks noChangeShapeType="1"/>
            </p:cNvSpPr>
            <p:nvPr/>
          </p:nvSpPr>
          <p:spPr bwMode="auto">
            <a:xfrm>
              <a:off x="4200" y="1328"/>
              <a:ext cx="8" cy="992"/>
            </a:xfrm>
            <a:prstGeom prst="line">
              <a:avLst/>
            </a:prstGeom>
            <a:noFill/>
            <a:ln w="9525">
              <a:solidFill>
                <a:schemeClr val="tx1"/>
              </a:solidFill>
              <a:round/>
              <a:headEnd/>
              <a:tailEnd/>
            </a:ln>
          </p:spPr>
          <p:txBody>
            <a:bodyPr wrap="none" anchor="ctr"/>
            <a:lstStyle/>
            <a:p>
              <a:endParaRPr lang="en-US"/>
            </a:p>
          </p:txBody>
        </p:sp>
        <p:grpSp>
          <p:nvGrpSpPr>
            <p:cNvPr id="12" name="Group 49"/>
            <p:cNvGrpSpPr>
              <a:grpSpLocks/>
            </p:cNvGrpSpPr>
            <p:nvPr/>
          </p:nvGrpSpPr>
          <p:grpSpPr bwMode="auto">
            <a:xfrm>
              <a:off x="4544" y="1712"/>
              <a:ext cx="240" cy="244"/>
              <a:chOff x="3648" y="816"/>
              <a:chExt cx="240" cy="244"/>
            </a:xfrm>
          </p:grpSpPr>
          <p:sp>
            <p:nvSpPr>
              <p:cNvPr id="27690" name="Text Box 50"/>
              <p:cNvSpPr txBox="1">
                <a:spLocks noChangeArrowheads="1"/>
              </p:cNvSpPr>
              <p:nvPr/>
            </p:nvSpPr>
            <p:spPr bwMode="auto">
              <a:xfrm>
                <a:off x="3664" y="825"/>
                <a:ext cx="224"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A</a:t>
                </a:r>
              </a:p>
            </p:txBody>
          </p:sp>
          <p:sp>
            <p:nvSpPr>
              <p:cNvPr id="27691" name="Oval 51"/>
              <p:cNvSpPr>
                <a:spLocks noChangeArrowheads="1"/>
              </p:cNvSpPr>
              <p:nvPr/>
            </p:nvSpPr>
            <p:spPr bwMode="auto">
              <a:xfrm>
                <a:off x="3648" y="816"/>
                <a:ext cx="240" cy="240"/>
              </a:xfrm>
              <a:prstGeom prst="ellipse">
                <a:avLst/>
              </a:prstGeom>
              <a:noFill/>
              <a:ln w="9525">
                <a:solidFill>
                  <a:schemeClr val="tx1"/>
                </a:solidFill>
                <a:round/>
                <a:headEnd/>
                <a:tailEnd/>
              </a:ln>
            </p:spPr>
            <p:txBody>
              <a:bodyPr wrap="none" anchor="ctr"/>
              <a:lstStyle/>
              <a:p>
                <a:endParaRPr lang="en-US"/>
              </a:p>
            </p:txBody>
          </p:sp>
        </p:grpSp>
        <p:grpSp>
          <p:nvGrpSpPr>
            <p:cNvPr id="13" name="Group 52"/>
            <p:cNvGrpSpPr>
              <a:grpSpLocks/>
            </p:cNvGrpSpPr>
            <p:nvPr/>
          </p:nvGrpSpPr>
          <p:grpSpPr bwMode="auto">
            <a:xfrm>
              <a:off x="2856" y="2352"/>
              <a:ext cx="240" cy="240"/>
              <a:chOff x="3952" y="2072"/>
              <a:chExt cx="240" cy="240"/>
            </a:xfrm>
          </p:grpSpPr>
          <p:sp>
            <p:nvSpPr>
              <p:cNvPr id="27688" name="Text Box 53"/>
              <p:cNvSpPr txBox="1">
                <a:spLocks noChangeArrowheads="1"/>
              </p:cNvSpPr>
              <p:nvPr/>
            </p:nvSpPr>
            <p:spPr bwMode="auto">
              <a:xfrm>
                <a:off x="3964" y="2077"/>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E</a:t>
                </a:r>
              </a:p>
            </p:txBody>
          </p:sp>
          <p:sp>
            <p:nvSpPr>
              <p:cNvPr id="27689" name="Oval 54"/>
              <p:cNvSpPr>
                <a:spLocks noChangeArrowheads="1"/>
              </p:cNvSpPr>
              <p:nvPr/>
            </p:nvSpPr>
            <p:spPr bwMode="auto">
              <a:xfrm>
                <a:off x="3952" y="2072"/>
                <a:ext cx="240" cy="240"/>
              </a:xfrm>
              <a:prstGeom prst="ellipse">
                <a:avLst/>
              </a:prstGeom>
              <a:noFill/>
              <a:ln w="9525">
                <a:solidFill>
                  <a:schemeClr val="tx1"/>
                </a:solidFill>
                <a:round/>
                <a:headEnd/>
                <a:tailEnd/>
              </a:ln>
            </p:spPr>
            <p:txBody>
              <a:bodyPr wrap="none" anchor="ctr"/>
              <a:lstStyle/>
              <a:p>
                <a:endParaRPr lang="en-US"/>
              </a:p>
            </p:txBody>
          </p:sp>
        </p:grpSp>
        <p:sp>
          <p:nvSpPr>
            <p:cNvPr id="27670" name="Line 55"/>
            <p:cNvSpPr>
              <a:spLocks noChangeShapeType="1"/>
            </p:cNvSpPr>
            <p:nvPr/>
          </p:nvSpPr>
          <p:spPr bwMode="auto">
            <a:xfrm flipH="1">
              <a:off x="2568" y="1968"/>
              <a:ext cx="352" cy="360"/>
            </a:xfrm>
            <a:prstGeom prst="line">
              <a:avLst/>
            </a:prstGeom>
            <a:noFill/>
            <a:ln w="9525">
              <a:solidFill>
                <a:schemeClr val="tx1"/>
              </a:solidFill>
              <a:round/>
              <a:headEnd/>
              <a:tailEnd/>
            </a:ln>
          </p:spPr>
          <p:txBody>
            <a:bodyPr wrap="none" anchor="ctr"/>
            <a:lstStyle/>
            <a:p>
              <a:endParaRPr lang="en-US"/>
            </a:p>
          </p:txBody>
        </p:sp>
        <p:sp>
          <p:nvSpPr>
            <p:cNvPr id="27671" name="Line 56"/>
            <p:cNvSpPr>
              <a:spLocks noChangeShapeType="1"/>
            </p:cNvSpPr>
            <p:nvPr/>
          </p:nvSpPr>
          <p:spPr bwMode="auto">
            <a:xfrm>
              <a:off x="2976" y="1968"/>
              <a:ext cx="0" cy="360"/>
            </a:xfrm>
            <a:prstGeom prst="line">
              <a:avLst/>
            </a:prstGeom>
            <a:noFill/>
            <a:ln w="9525">
              <a:solidFill>
                <a:schemeClr val="tx1"/>
              </a:solidFill>
              <a:round/>
              <a:headEnd/>
              <a:tailEnd/>
            </a:ln>
          </p:spPr>
          <p:txBody>
            <a:bodyPr wrap="none" anchor="ctr"/>
            <a:lstStyle/>
            <a:p>
              <a:endParaRPr lang="en-US"/>
            </a:p>
          </p:txBody>
        </p:sp>
        <p:grpSp>
          <p:nvGrpSpPr>
            <p:cNvPr id="14" name="Group 57"/>
            <p:cNvGrpSpPr>
              <a:grpSpLocks/>
            </p:cNvGrpSpPr>
            <p:nvPr/>
          </p:nvGrpSpPr>
          <p:grpSpPr bwMode="auto">
            <a:xfrm>
              <a:off x="3696" y="2992"/>
              <a:ext cx="242" cy="240"/>
              <a:chOff x="3916" y="1291"/>
              <a:chExt cx="242" cy="240"/>
            </a:xfrm>
          </p:grpSpPr>
          <p:sp>
            <p:nvSpPr>
              <p:cNvPr id="27686" name="Text Box 58"/>
              <p:cNvSpPr txBox="1">
                <a:spLocks noChangeArrowheads="1"/>
              </p:cNvSpPr>
              <p:nvPr/>
            </p:nvSpPr>
            <p:spPr bwMode="auto">
              <a:xfrm>
                <a:off x="3936" y="1296"/>
                <a:ext cx="222" cy="235"/>
              </a:xfrm>
              <a:prstGeom prst="rect">
                <a:avLst/>
              </a:prstGeom>
              <a:noFill/>
              <a:ln w="9525">
                <a:noFill/>
                <a:miter lim="800000"/>
                <a:headEnd/>
                <a:tailEnd/>
              </a:ln>
            </p:spPr>
            <p:txBody>
              <a:bodyPr wrap="none">
                <a:spAutoFit/>
              </a:bodyPr>
              <a:lstStyle/>
              <a:p>
                <a:pPr algn="ctr">
                  <a:lnSpc>
                    <a:spcPct val="100000"/>
                  </a:lnSpc>
                </a:pPr>
                <a:r>
                  <a:rPr lang="en-US" sz="1600" dirty="0">
                    <a:ea typeface="ＭＳ Ｐゴシック" pitchFamily="34" charset="-128"/>
                  </a:rPr>
                  <a:t>B</a:t>
                </a:r>
              </a:p>
            </p:txBody>
          </p:sp>
          <p:sp>
            <p:nvSpPr>
              <p:cNvPr id="27687" name="Oval 59"/>
              <p:cNvSpPr>
                <a:spLocks noChangeArrowheads="1"/>
              </p:cNvSpPr>
              <p:nvPr/>
            </p:nvSpPr>
            <p:spPr bwMode="auto">
              <a:xfrm>
                <a:off x="3916" y="1291"/>
                <a:ext cx="240" cy="240"/>
              </a:xfrm>
              <a:prstGeom prst="ellipse">
                <a:avLst/>
              </a:prstGeom>
              <a:noFill/>
              <a:ln w="9525">
                <a:solidFill>
                  <a:schemeClr val="tx1"/>
                </a:solidFill>
                <a:round/>
                <a:headEnd/>
                <a:tailEnd/>
              </a:ln>
            </p:spPr>
            <p:txBody>
              <a:bodyPr wrap="none" anchor="ctr"/>
              <a:lstStyle/>
              <a:p>
                <a:endParaRPr lang="en-US"/>
              </a:p>
            </p:txBody>
          </p:sp>
        </p:grpSp>
        <p:sp>
          <p:nvSpPr>
            <p:cNvPr id="27673" name="Line 60"/>
            <p:cNvSpPr>
              <a:spLocks noChangeShapeType="1"/>
            </p:cNvSpPr>
            <p:nvPr/>
          </p:nvSpPr>
          <p:spPr bwMode="auto">
            <a:xfrm flipH="1">
              <a:off x="3816" y="2608"/>
              <a:ext cx="352" cy="360"/>
            </a:xfrm>
            <a:prstGeom prst="line">
              <a:avLst/>
            </a:prstGeom>
            <a:noFill/>
            <a:ln w="9525">
              <a:solidFill>
                <a:schemeClr val="tx1"/>
              </a:solidFill>
              <a:round/>
              <a:headEnd/>
              <a:tailEnd/>
            </a:ln>
          </p:spPr>
          <p:txBody>
            <a:bodyPr wrap="none" anchor="ctr"/>
            <a:lstStyle/>
            <a:p>
              <a:endParaRPr lang="en-US"/>
            </a:p>
          </p:txBody>
        </p:sp>
        <p:sp>
          <p:nvSpPr>
            <p:cNvPr id="27674" name="Line 61"/>
            <p:cNvSpPr>
              <a:spLocks noChangeShapeType="1"/>
            </p:cNvSpPr>
            <p:nvPr/>
          </p:nvSpPr>
          <p:spPr bwMode="auto">
            <a:xfrm>
              <a:off x="4248" y="2608"/>
              <a:ext cx="392" cy="360"/>
            </a:xfrm>
            <a:prstGeom prst="line">
              <a:avLst/>
            </a:prstGeom>
            <a:noFill/>
            <a:ln w="9525">
              <a:solidFill>
                <a:schemeClr val="tx1"/>
              </a:solidFill>
              <a:round/>
              <a:headEnd/>
              <a:tailEnd/>
            </a:ln>
          </p:spPr>
          <p:txBody>
            <a:bodyPr wrap="none" anchor="ctr"/>
            <a:lstStyle/>
            <a:p>
              <a:endParaRPr lang="en-US"/>
            </a:p>
          </p:txBody>
        </p:sp>
        <p:sp>
          <p:nvSpPr>
            <p:cNvPr id="27675" name="Line 62"/>
            <p:cNvSpPr>
              <a:spLocks noChangeShapeType="1"/>
            </p:cNvSpPr>
            <p:nvPr/>
          </p:nvSpPr>
          <p:spPr bwMode="auto">
            <a:xfrm>
              <a:off x="4632" y="3248"/>
              <a:ext cx="0" cy="360"/>
            </a:xfrm>
            <a:prstGeom prst="line">
              <a:avLst/>
            </a:prstGeom>
            <a:noFill/>
            <a:ln w="9525">
              <a:solidFill>
                <a:schemeClr val="tx1"/>
              </a:solidFill>
              <a:round/>
              <a:headEnd/>
              <a:tailEnd/>
            </a:ln>
          </p:spPr>
          <p:txBody>
            <a:bodyPr wrap="none" anchor="ctr"/>
            <a:lstStyle/>
            <a:p>
              <a:endParaRPr lang="en-US"/>
            </a:p>
          </p:txBody>
        </p:sp>
        <p:sp>
          <p:nvSpPr>
            <p:cNvPr id="27676" name="Text Box 63"/>
            <p:cNvSpPr txBox="1">
              <a:spLocks noChangeArrowheads="1"/>
            </p:cNvSpPr>
            <p:nvPr/>
          </p:nvSpPr>
          <p:spPr bwMode="auto">
            <a:xfrm>
              <a:off x="3187" y="732"/>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13.1</a:t>
              </a:r>
            </a:p>
          </p:txBody>
        </p:sp>
        <p:sp>
          <p:nvSpPr>
            <p:cNvPr id="27677" name="Text Box 64"/>
            <p:cNvSpPr txBox="1">
              <a:spLocks noChangeArrowheads="1"/>
            </p:cNvSpPr>
            <p:nvPr/>
          </p:nvSpPr>
          <p:spPr bwMode="auto">
            <a:xfrm>
              <a:off x="3992" y="732"/>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13.2</a:t>
              </a:r>
            </a:p>
          </p:txBody>
        </p:sp>
        <p:sp>
          <p:nvSpPr>
            <p:cNvPr id="27678" name="Text Box 65"/>
            <p:cNvSpPr txBox="1">
              <a:spLocks noChangeArrowheads="1"/>
            </p:cNvSpPr>
            <p:nvPr/>
          </p:nvSpPr>
          <p:spPr bwMode="auto">
            <a:xfrm>
              <a:off x="2795" y="1372"/>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12.8</a:t>
              </a:r>
            </a:p>
          </p:txBody>
        </p:sp>
        <p:sp>
          <p:nvSpPr>
            <p:cNvPr id="27679" name="Text Box 66"/>
            <p:cNvSpPr txBox="1">
              <a:spLocks noChangeArrowheads="1"/>
            </p:cNvSpPr>
            <p:nvPr/>
          </p:nvSpPr>
          <p:spPr bwMode="auto">
            <a:xfrm>
              <a:off x="3336" y="1376"/>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17.2</a:t>
              </a:r>
            </a:p>
          </p:txBody>
        </p:sp>
        <p:sp>
          <p:nvSpPr>
            <p:cNvPr id="27680" name="Text Box 67"/>
            <p:cNvSpPr txBox="1">
              <a:spLocks noChangeArrowheads="1"/>
            </p:cNvSpPr>
            <p:nvPr/>
          </p:nvSpPr>
          <p:spPr bwMode="auto">
            <a:xfrm>
              <a:off x="4440" y="1376"/>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19.1</a:t>
              </a:r>
            </a:p>
          </p:txBody>
        </p:sp>
        <p:sp>
          <p:nvSpPr>
            <p:cNvPr id="27681" name="Text Box 68"/>
            <p:cNvSpPr txBox="1">
              <a:spLocks noChangeArrowheads="1"/>
            </p:cNvSpPr>
            <p:nvPr/>
          </p:nvSpPr>
          <p:spPr bwMode="auto">
            <a:xfrm>
              <a:off x="2392" y="2012"/>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14.4</a:t>
              </a:r>
            </a:p>
          </p:txBody>
        </p:sp>
        <p:sp>
          <p:nvSpPr>
            <p:cNvPr id="27682" name="Text Box 69"/>
            <p:cNvSpPr txBox="1">
              <a:spLocks noChangeArrowheads="1"/>
            </p:cNvSpPr>
            <p:nvPr/>
          </p:nvSpPr>
          <p:spPr bwMode="auto">
            <a:xfrm>
              <a:off x="2944" y="2016"/>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19.1</a:t>
              </a:r>
            </a:p>
          </p:txBody>
        </p:sp>
        <p:sp>
          <p:nvSpPr>
            <p:cNvPr id="27683" name="Text Box 70"/>
            <p:cNvSpPr txBox="1">
              <a:spLocks noChangeArrowheads="1"/>
            </p:cNvSpPr>
            <p:nvPr/>
          </p:nvSpPr>
          <p:spPr bwMode="auto">
            <a:xfrm>
              <a:off x="4168" y="2016"/>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13.1</a:t>
              </a:r>
            </a:p>
          </p:txBody>
        </p:sp>
        <p:sp>
          <p:nvSpPr>
            <p:cNvPr id="27684" name="Text Box 71"/>
            <p:cNvSpPr txBox="1">
              <a:spLocks noChangeArrowheads="1"/>
            </p:cNvSpPr>
            <p:nvPr/>
          </p:nvSpPr>
          <p:spPr bwMode="auto">
            <a:xfrm>
              <a:off x="3627" y="2656"/>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16.8</a:t>
              </a:r>
            </a:p>
          </p:txBody>
        </p:sp>
        <p:sp>
          <p:nvSpPr>
            <p:cNvPr id="27685" name="Text Box 72"/>
            <p:cNvSpPr txBox="1">
              <a:spLocks noChangeArrowheads="1"/>
            </p:cNvSpPr>
            <p:nvPr/>
          </p:nvSpPr>
          <p:spPr bwMode="auto">
            <a:xfrm>
              <a:off x="4403" y="2656"/>
              <a:ext cx="381" cy="224"/>
            </a:xfrm>
            <a:prstGeom prst="rect">
              <a:avLst/>
            </a:prstGeom>
            <a:noFill/>
            <a:ln w="9525">
              <a:noFill/>
              <a:miter lim="800000"/>
              <a:headEnd/>
              <a:tailEnd/>
            </a:ln>
          </p:spPr>
          <p:txBody>
            <a:bodyPr>
              <a:spAutoFit/>
            </a:bodyPr>
            <a:lstStyle/>
            <a:p>
              <a:pPr algn="ctr">
                <a:lnSpc>
                  <a:spcPct val="100000"/>
                </a:lnSpc>
              </a:pPr>
              <a:r>
                <a:rPr lang="en-US" sz="1500" dirty="0">
                  <a:ea typeface="ＭＳ Ｐゴシック" pitchFamily="34" charset="-128"/>
                </a:rPr>
                <a:t>13.5</a:t>
              </a:r>
            </a:p>
          </p:txBody>
        </p:sp>
      </p:grpSp>
      <p:sp>
        <p:nvSpPr>
          <p:cNvPr id="62" name="Title 61"/>
          <p:cNvSpPr>
            <a:spLocks noGrp="1"/>
          </p:cNvSpPr>
          <p:nvPr>
            <p:ph type="title"/>
          </p:nvPr>
        </p:nvSpPr>
        <p:spPr/>
        <p:txBody>
          <a:bodyPr/>
          <a:lstStyle/>
          <a:p>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25" name="Rectangle 13"/>
          <p:cNvSpPr>
            <a:spLocks noGrp="1" noRot="1" noChangeArrowheads="1"/>
          </p:cNvSpPr>
          <p:nvPr>
            <p:ph type="body" idx="1"/>
          </p:nvPr>
        </p:nvSpPr>
        <p:spPr>
          <a:xfrm>
            <a:off x="0" y="1600200"/>
            <a:ext cx="8540750" cy="1905000"/>
          </a:xfrm>
        </p:spPr>
        <p:txBody>
          <a:bodyPr>
            <a:normAutofit/>
          </a:bodyPr>
          <a:lstStyle/>
          <a:p>
            <a:pPr eaLnBrk="1" hangingPunct="1">
              <a:buFont typeface="Wingdings" pitchFamily="2" charset="2"/>
              <a:buChar char="§"/>
              <a:defRPr/>
            </a:pPr>
            <a:r>
              <a:rPr lang="en-US" sz="2400" dirty="0"/>
              <a:t>Considers the cost (&gt; 0) for switching from one branch to another in the search</a:t>
            </a:r>
          </a:p>
          <a:p>
            <a:pPr eaLnBrk="1" hangingPunct="1">
              <a:buFont typeface="Wingdings" pitchFamily="2" charset="2"/>
              <a:buChar char="§"/>
              <a:defRPr/>
            </a:pPr>
            <a:r>
              <a:rPr lang="en-US" sz="2400" dirty="0"/>
              <a:t>Example: path finding in real life</a:t>
            </a:r>
          </a:p>
        </p:txBody>
      </p:sp>
      <p:sp>
        <p:nvSpPr>
          <p:cNvPr id="19459" name="Oval 2"/>
          <p:cNvSpPr>
            <a:spLocks noChangeArrowheads="1"/>
          </p:cNvSpPr>
          <p:nvPr/>
        </p:nvSpPr>
        <p:spPr bwMode="auto">
          <a:xfrm>
            <a:off x="1187450" y="5084763"/>
            <a:ext cx="360363" cy="360362"/>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460" name="Oval 3"/>
          <p:cNvSpPr>
            <a:spLocks noChangeArrowheads="1"/>
          </p:cNvSpPr>
          <p:nvPr/>
        </p:nvSpPr>
        <p:spPr bwMode="auto">
          <a:xfrm>
            <a:off x="1116013" y="4652963"/>
            <a:ext cx="360362" cy="360362"/>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461" name="Oval 4"/>
          <p:cNvSpPr>
            <a:spLocks noChangeArrowheads="1"/>
          </p:cNvSpPr>
          <p:nvPr/>
        </p:nvSpPr>
        <p:spPr bwMode="auto">
          <a:xfrm>
            <a:off x="1547813" y="4724400"/>
            <a:ext cx="360362" cy="360363"/>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462" name="Oval 5"/>
          <p:cNvSpPr>
            <a:spLocks noChangeArrowheads="1"/>
          </p:cNvSpPr>
          <p:nvPr/>
        </p:nvSpPr>
        <p:spPr bwMode="auto">
          <a:xfrm>
            <a:off x="1547813" y="4292600"/>
            <a:ext cx="360362" cy="360363"/>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463" name="Oval 6"/>
          <p:cNvSpPr>
            <a:spLocks noChangeArrowheads="1"/>
          </p:cNvSpPr>
          <p:nvPr/>
        </p:nvSpPr>
        <p:spPr bwMode="auto">
          <a:xfrm>
            <a:off x="8172450" y="6165850"/>
            <a:ext cx="360363" cy="360363"/>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464" name="Oval 7"/>
          <p:cNvSpPr>
            <a:spLocks noChangeArrowheads="1"/>
          </p:cNvSpPr>
          <p:nvPr/>
        </p:nvSpPr>
        <p:spPr bwMode="auto">
          <a:xfrm>
            <a:off x="8532813" y="5805488"/>
            <a:ext cx="360362" cy="360362"/>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465" name="Oval 8"/>
          <p:cNvSpPr>
            <a:spLocks noChangeArrowheads="1"/>
          </p:cNvSpPr>
          <p:nvPr/>
        </p:nvSpPr>
        <p:spPr bwMode="auto">
          <a:xfrm>
            <a:off x="8027988" y="5445125"/>
            <a:ext cx="360362" cy="360363"/>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466" name="Oval 9"/>
          <p:cNvSpPr>
            <a:spLocks noChangeArrowheads="1"/>
          </p:cNvSpPr>
          <p:nvPr/>
        </p:nvSpPr>
        <p:spPr bwMode="auto">
          <a:xfrm>
            <a:off x="8459788" y="5084763"/>
            <a:ext cx="360362" cy="360362"/>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467" name="Oval 10"/>
          <p:cNvSpPr>
            <a:spLocks noChangeArrowheads="1"/>
          </p:cNvSpPr>
          <p:nvPr/>
        </p:nvSpPr>
        <p:spPr bwMode="auto">
          <a:xfrm>
            <a:off x="8027988" y="4365625"/>
            <a:ext cx="360362" cy="360363"/>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468" name="Oval 11"/>
          <p:cNvSpPr>
            <a:spLocks noChangeArrowheads="1"/>
          </p:cNvSpPr>
          <p:nvPr/>
        </p:nvSpPr>
        <p:spPr bwMode="auto">
          <a:xfrm>
            <a:off x="8459788" y="3933825"/>
            <a:ext cx="360362" cy="360363"/>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469" name="Line 14"/>
          <p:cNvSpPr>
            <a:spLocks noChangeShapeType="1"/>
          </p:cNvSpPr>
          <p:nvPr/>
        </p:nvSpPr>
        <p:spPr bwMode="auto">
          <a:xfrm>
            <a:off x="1042988" y="3357563"/>
            <a:ext cx="6481762" cy="0"/>
          </a:xfrm>
          <a:prstGeom prst="line">
            <a:avLst/>
          </a:prstGeom>
          <a:noFill/>
          <a:ln w="9525">
            <a:solidFill>
              <a:schemeClr val="tx1"/>
            </a:solidFill>
            <a:round/>
            <a:headEnd/>
            <a:tailEnd/>
          </a:ln>
        </p:spPr>
        <p:txBody>
          <a:bodyPr wrap="none"/>
          <a:lstStyle/>
          <a:p>
            <a:endParaRPr lang="en-US"/>
          </a:p>
        </p:txBody>
      </p:sp>
      <p:sp>
        <p:nvSpPr>
          <p:cNvPr id="19470" name="Rectangle 15"/>
          <p:cNvSpPr>
            <a:spLocks noChangeArrowheads="1"/>
          </p:cNvSpPr>
          <p:nvPr/>
        </p:nvSpPr>
        <p:spPr bwMode="auto">
          <a:xfrm>
            <a:off x="4140200" y="3429000"/>
            <a:ext cx="347663" cy="371475"/>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A</a:t>
            </a:r>
          </a:p>
        </p:txBody>
      </p:sp>
      <p:sp>
        <p:nvSpPr>
          <p:cNvPr id="19471" name="Rectangle 16"/>
          <p:cNvSpPr>
            <a:spLocks noChangeArrowheads="1"/>
          </p:cNvSpPr>
          <p:nvPr/>
        </p:nvSpPr>
        <p:spPr bwMode="auto">
          <a:xfrm>
            <a:off x="5219700" y="3429000"/>
            <a:ext cx="347663" cy="371475"/>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C</a:t>
            </a:r>
          </a:p>
        </p:txBody>
      </p:sp>
      <p:sp>
        <p:nvSpPr>
          <p:cNvPr id="19472" name="Rectangle 17"/>
          <p:cNvSpPr>
            <a:spLocks noChangeArrowheads="1"/>
          </p:cNvSpPr>
          <p:nvPr/>
        </p:nvSpPr>
        <p:spPr bwMode="auto">
          <a:xfrm>
            <a:off x="3059113" y="3429000"/>
            <a:ext cx="330200" cy="371475"/>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B</a:t>
            </a:r>
          </a:p>
        </p:txBody>
      </p:sp>
      <p:sp>
        <p:nvSpPr>
          <p:cNvPr id="19473" name="Rectangle 18"/>
          <p:cNvSpPr>
            <a:spLocks noChangeArrowheads="1"/>
          </p:cNvSpPr>
          <p:nvPr/>
        </p:nvSpPr>
        <p:spPr bwMode="auto">
          <a:xfrm>
            <a:off x="1979613" y="3429000"/>
            <a:ext cx="347662" cy="371475"/>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D</a:t>
            </a:r>
          </a:p>
        </p:txBody>
      </p:sp>
      <p:sp>
        <p:nvSpPr>
          <p:cNvPr id="19474" name="Rectangle 19"/>
          <p:cNvSpPr>
            <a:spLocks noChangeArrowheads="1"/>
          </p:cNvSpPr>
          <p:nvPr/>
        </p:nvSpPr>
        <p:spPr bwMode="auto">
          <a:xfrm>
            <a:off x="971550" y="3429000"/>
            <a:ext cx="312738" cy="371475"/>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F</a:t>
            </a:r>
          </a:p>
        </p:txBody>
      </p:sp>
      <p:sp>
        <p:nvSpPr>
          <p:cNvPr id="19475" name="Rectangle 20"/>
          <p:cNvSpPr>
            <a:spLocks noChangeArrowheads="1"/>
          </p:cNvSpPr>
          <p:nvPr/>
        </p:nvSpPr>
        <p:spPr bwMode="auto">
          <a:xfrm>
            <a:off x="6227763" y="3429000"/>
            <a:ext cx="330200" cy="371475"/>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E</a:t>
            </a:r>
          </a:p>
        </p:txBody>
      </p:sp>
      <p:sp>
        <p:nvSpPr>
          <p:cNvPr id="19476" name="Rectangle 21"/>
          <p:cNvSpPr>
            <a:spLocks noChangeArrowheads="1"/>
          </p:cNvSpPr>
          <p:nvPr/>
        </p:nvSpPr>
        <p:spPr bwMode="auto">
          <a:xfrm>
            <a:off x="7164388" y="3429000"/>
            <a:ext cx="363537" cy="371475"/>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G</a:t>
            </a:r>
          </a:p>
        </p:txBody>
      </p:sp>
      <p:sp>
        <p:nvSpPr>
          <p:cNvPr id="19477" name="Rectangle 22"/>
          <p:cNvSpPr>
            <a:spLocks noChangeArrowheads="1"/>
          </p:cNvSpPr>
          <p:nvPr/>
        </p:nvSpPr>
        <p:spPr bwMode="auto">
          <a:xfrm>
            <a:off x="971550" y="2924175"/>
            <a:ext cx="504825" cy="371475"/>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400" b="1">
                <a:latin typeface="Times New Roman" charset="0"/>
                <a:cs typeface="Times New Roman (Hebrew)" charset="-79"/>
              </a:rPr>
              <a:t>11</a:t>
            </a:r>
          </a:p>
        </p:txBody>
      </p:sp>
      <p:sp>
        <p:nvSpPr>
          <p:cNvPr id="19478" name="Rectangle 23"/>
          <p:cNvSpPr>
            <a:spLocks noChangeArrowheads="1"/>
          </p:cNvSpPr>
          <p:nvPr/>
        </p:nvSpPr>
        <p:spPr bwMode="auto">
          <a:xfrm>
            <a:off x="1979613" y="2924175"/>
            <a:ext cx="279400" cy="371475"/>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4</a:t>
            </a:r>
          </a:p>
        </p:txBody>
      </p:sp>
      <p:sp>
        <p:nvSpPr>
          <p:cNvPr id="19479" name="Rectangle 24"/>
          <p:cNvSpPr>
            <a:spLocks noChangeArrowheads="1"/>
          </p:cNvSpPr>
          <p:nvPr/>
        </p:nvSpPr>
        <p:spPr bwMode="auto">
          <a:xfrm>
            <a:off x="3059113" y="2924175"/>
            <a:ext cx="279400" cy="371475"/>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1</a:t>
            </a:r>
          </a:p>
        </p:txBody>
      </p:sp>
      <p:sp>
        <p:nvSpPr>
          <p:cNvPr id="19480" name="Rectangle 25"/>
          <p:cNvSpPr>
            <a:spLocks noChangeArrowheads="1"/>
          </p:cNvSpPr>
          <p:nvPr/>
        </p:nvSpPr>
        <p:spPr bwMode="auto">
          <a:xfrm>
            <a:off x="5219700" y="2924175"/>
            <a:ext cx="347663" cy="371475"/>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400" b="1">
                <a:latin typeface="Times New Roman" charset="0"/>
                <a:cs typeface="Times New Roman (Hebrew)" charset="-79"/>
              </a:rPr>
              <a:t>2</a:t>
            </a:r>
          </a:p>
        </p:txBody>
      </p:sp>
      <p:sp>
        <p:nvSpPr>
          <p:cNvPr id="19481" name="Rectangle 26"/>
          <p:cNvSpPr>
            <a:spLocks noChangeArrowheads="1"/>
          </p:cNvSpPr>
          <p:nvPr/>
        </p:nvSpPr>
        <p:spPr bwMode="auto">
          <a:xfrm>
            <a:off x="7164388" y="2924175"/>
            <a:ext cx="576262" cy="371475"/>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400" b="1">
                <a:latin typeface="Times New Roman" charset="0"/>
                <a:cs typeface="Times New Roman (Hebrew)" charset="-79"/>
              </a:rPr>
              <a:t>16</a:t>
            </a:r>
          </a:p>
        </p:txBody>
      </p:sp>
      <p:sp>
        <p:nvSpPr>
          <p:cNvPr id="19482" name="Rectangle 27"/>
          <p:cNvSpPr>
            <a:spLocks noChangeArrowheads="1"/>
          </p:cNvSpPr>
          <p:nvPr/>
        </p:nvSpPr>
        <p:spPr bwMode="auto">
          <a:xfrm>
            <a:off x="6227763" y="2924175"/>
            <a:ext cx="279400" cy="371475"/>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7</a:t>
            </a:r>
          </a:p>
        </p:txBody>
      </p:sp>
      <p:sp>
        <p:nvSpPr>
          <p:cNvPr id="346140" name="Rectangle 28"/>
          <p:cNvSpPr>
            <a:spLocks noRot="1" noChangeArrowheads="1"/>
          </p:cNvSpPr>
          <p:nvPr/>
        </p:nvSpPr>
        <p:spPr bwMode="auto">
          <a:xfrm>
            <a:off x="0" y="3933825"/>
            <a:ext cx="9144000" cy="2735263"/>
          </a:xfrm>
          <a:prstGeom prst="rect">
            <a:avLst/>
          </a:prstGeom>
          <a:noFill/>
          <a:ln>
            <a:noFill/>
          </a:ln>
          <a:effectLst/>
        </p:spPr>
        <p:txBody>
          <a:bodyPr/>
          <a:lstStyle/>
          <a:p>
            <a:pPr marL="342900" indent="-342900">
              <a:spcBef>
                <a:spcPct val="20000"/>
              </a:spcBef>
              <a:buClr>
                <a:schemeClr val="hlink"/>
              </a:buClr>
              <a:buFont typeface="Wingdings" pitchFamily="2" charset="2"/>
              <a:buNone/>
              <a:defRPr/>
            </a:pPr>
            <a:r>
              <a:rPr lang="en-US" sz="2000">
                <a:effectLst>
                  <a:outerShdw blurRad="38100" dist="38100" dir="2700000" algn="tl">
                    <a:srgbClr val="4D4D4D"/>
                  </a:outerShdw>
                </a:effectLst>
              </a:rPr>
              <a:t>f(B) = 1 + 1 = 2		                   (A)                                   f(C) =  1 + 2 = 3</a:t>
            </a:r>
          </a:p>
          <a:p>
            <a:pPr marL="342900" indent="-342900">
              <a:spcBef>
                <a:spcPct val="20000"/>
              </a:spcBef>
              <a:buClr>
                <a:schemeClr val="hlink"/>
              </a:buClr>
              <a:buFont typeface="Wingdings" pitchFamily="2" charset="2"/>
              <a:buNone/>
              <a:defRPr/>
            </a:pPr>
            <a:r>
              <a:rPr lang="en-US" sz="2000">
                <a:effectLst>
                  <a:outerShdw blurRad="38100" dist="38100" dir="2700000" algn="tl">
                    <a:srgbClr val="4D4D4D"/>
                  </a:outerShdw>
                </a:effectLst>
              </a:rPr>
              <a:t>f(D) = 1 + 4 = 5	                (B)                                                   f(A) =  1 + 3 = 4</a:t>
            </a:r>
          </a:p>
          <a:p>
            <a:pPr marL="342900" indent="-342900">
              <a:spcBef>
                <a:spcPct val="20000"/>
              </a:spcBef>
              <a:buClr>
                <a:schemeClr val="hlink"/>
              </a:buClr>
              <a:buFont typeface="Wingdings" pitchFamily="2" charset="2"/>
              <a:buNone/>
              <a:defRPr/>
            </a:pPr>
            <a:r>
              <a:rPr lang="en-US" sz="2000">
                <a:effectLst>
                  <a:outerShdw blurRad="38100" dist="38100" dir="2700000" algn="tl">
                    <a:srgbClr val="4D4D4D"/>
                  </a:outerShdw>
                </a:effectLst>
              </a:rPr>
              <a:t>f(B) = 1 + 5 = 6                                  (A)                                   f(C) =  1 + 2 = 3</a:t>
            </a:r>
          </a:p>
          <a:p>
            <a:pPr marL="342900" indent="-342900">
              <a:spcBef>
                <a:spcPct val="20000"/>
              </a:spcBef>
              <a:buClr>
                <a:schemeClr val="hlink"/>
              </a:buClr>
              <a:buFont typeface="Wingdings" pitchFamily="2" charset="2"/>
              <a:buNone/>
              <a:defRPr/>
            </a:pPr>
            <a:r>
              <a:rPr lang="en-US" sz="2000">
                <a:effectLst>
                  <a:outerShdw blurRad="38100" dist="38100" dir="2700000" algn="tl">
                    <a:srgbClr val="4D4D4D"/>
                  </a:outerShdw>
                </a:effectLst>
              </a:rPr>
              <a:t>f(A) = 1 + 6 = 7	 		                      (C)                   f(E) =  1 + 7 = 8</a:t>
            </a:r>
          </a:p>
          <a:p>
            <a:pPr marL="342900" indent="-342900">
              <a:spcBef>
                <a:spcPct val="20000"/>
              </a:spcBef>
              <a:buClr>
                <a:schemeClr val="hlink"/>
              </a:buClr>
              <a:buFont typeface="Wingdings" pitchFamily="2" charset="2"/>
              <a:buNone/>
              <a:defRPr/>
            </a:pPr>
            <a:r>
              <a:rPr lang="en-US" sz="2000">
                <a:effectLst>
                  <a:outerShdw blurRad="38100" dist="38100" dir="2700000" algn="tl">
                    <a:srgbClr val="4D4D4D"/>
                  </a:outerShdw>
                </a:effectLst>
              </a:rPr>
              <a:t>f(B) = 1 + 5 = 6		                   (A)                                   f(C) =  1 + 8 = 9</a:t>
            </a:r>
          </a:p>
          <a:p>
            <a:pPr marL="342900" indent="-342900">
              <a:spcBef>
                <a:spcPct val="20000"/>
              </a:spcBef>
              <a:buClr>
                <a:schemeClr val="hlink"/>
              </a:buClr>
              <a:buFont typeface="Wingdings" pitchFamily="2" charset="2"/>
              <a:buNone/>
              <a:defRPr/>
            </a:pPr>
            <a:r>
              <a:rPr lang="en-US" sz="2000">
                <a:effectLst>
                  <a:outerShdw blurRad="38100" dist="38100" dir="2700000" algn="tl">
                    <a:srgbClr val="4D4D4D"/>
                  </a:outerShdw>
                </a:effectLst>
              </a:rPr>
              <a:t>f(D) = 1 + 4 = 5 		   (B)                                                   f(A) =  1 + 9 = 10</a:t>
            </a:r>
          </a:p>
          <a:p>
            <a:pPr marL="342900" indent="-342900">
              <a:spcBef>
                <a:spcPct val="20000"/>
              </a:spcBef>
              <a:buClr>
                <a:schemeClr val="hlink"/>
              </a:buClr>
              <a:buFont typeface="Wingdings" pitchFamily="2" charset="2"/>
              <a:buNone/>
              <a:defRPr/>
            </a:pPr>
            <a:r>
              <a:rPr lang="en-US" sz="2000">
                <a:effectLst>
                  <a:outerShdw blurRad="38100" dist="38100" dir="2700000" algn="tl">
                    <a:srgbClr val="4D4D4D"/>
                  </a:outerShdw>
                </a:effectLst>
              </a:rPr>
              <a:t>f(F)=1+11= 12   (D)                                                                   f(B) =  1 + 10 = 11</a:t>
            </a:r>
          </a:p>
          <a:p>
            <a:pPr marL="342900" indent="-342900">
              <a:spcBef>
                <a:spcPct val="20000"/>
              </a:spcBef>
              <a:buClr>
                <a:schemeClr val="hlink"/>
              </a:buClr>
              <a:buFont typeface="Wingdings" pitchFamily="2" charset="2"/>
              <a:buNone/>
              <a:defRPr/>
            </a:pPr>
            <a:endParaRPr lang="en-US" sz="2000">
              <a:effectLst>
                <a:outerShdw blurRad="38100" dist="38100" dir="2700000" algn="tl">
                  <a:srgbClr val="4D4D4D"/>
                </a:outerShdw>
              </a:effectLst>
            </a:endParaRPr>
          </a:p>
          <a:p>
            <a:pPr marL="342900" indent="-342900">
              <a:spcBef>
                <a:spcPct val="20000"/>
              </a:spcBef>
              <a:buClr>
                <a:schemeClr val="hlink"/>
              </a:buClr>
              <a:buFont typeface="Wingdings" pitchFamily="2" charset="2"/>
              <a:buNone/>
              <a:defRPr/>
            </a:pPr>
            <a:endParaRPr lang="en-US" sz="2000">
              <a:effectLst>
                <a:outerShdw blurRad="38100" dist="38100" dir="2700000" algn="tl">
                  <a:srgbClr val="4D4D4D"/>
                </a:outerShdw>
              </a:effectLst>
            </a:endParaRPr>
          </a:p>
        </p:txBody>
      </p:sp>
      <p:sp>
        <p:nvSpPr>
          <p:cNvPr id="19484" name="Line 29"/>
          <p:cNvSpPr>
            <a:spLocks noChangeShapeType="1"/>
          </p:cNvSpPr>
          <p:nvPr/>
        </p:nvSpPr>
        <p:spPr bwMode="auto">
          <a:xfrm>
            <a:off x="4572000" y="4149725"/>
            <a:ext cx="719138" cy="0"/>
          </a:xfrm>
          <a:prstGeom prst="line">
            <a:avLst/>
          </a:prstGeom>
          <a:noFill/>
          <a:ln w="9525">
            <a:solidFill>
              <a:schemeClr val="tx1"/>
            </a:solidFill>
            <a:round/>
            <a:headEnd/>
            <a:tailEnd type="triangle" w="med" len="med"/>
          </a:ln>
        </p:spPr>
        <p:txBody>
          <a:bodyPr wrap="none"/>
          <a:lstStyle/>
          <a:p>
            <a:endParaRPr lang="en-US"/>
          </a:p>
        </p:txBody>
      </p:sp>
      <p:sp>
        <p:nvSpPr>
          <p:cNvPr id="19485" name="Line 30"/>
          <p:cNvSpPr>
            <a:spLocks noChangeShapeType="1"/>
          </p:cNvSpPr>
          <p:nvPr/>
        </p:nvSpPr>
        <p:spPr bwMode="auto">
          <a:xfrm flipH="1">
            <a:off x="3276600" y="4149725"/>
            <a:ext cx="790575" cy="0"/>
          </a:xfrm>
          <a:prstGeom prst="line">
            <a:avLst/>
          </a:prstGeom>
          <a:noFill/>
          <a:ln w="9525">
            <a:solidFill>
              <a:schemeClr val="tx1"/>
            </a:solidFill>
            <a:round/>
            <a:headEnd/>
            <a:tailEnd type="triangle" w="med" len="med"/>
          </a:ln>
        </p:spPr>
        <p:txBody>
          <a:bodyPr wrap="none"/>
          <a:lstStyle/>
          <a:p>
            <a:endParaRPr lang="en-US"/>
          </a:p>
        </p:txBody>
      </p:sp>
      <p:sp>
        <p:nvSpPr>
          <p:cNvPr id="19486" name="Line 31"/>
          <p:cNvSpPr>
            <a:spLocks noChangeShapeType="1"/>
          </p:cNvSpPr>
          <p:nvPr/>
        </p:nvSpPr>
        <p:spPr bwMode="auto">
          <a:xfrm>
            <a:off x="3419475" y="4508500"/>
            <a:ext cx="720725" cy="0"/>
          </a:xfrm>
          <a:prstGeom prst="line">
            <a:avLst/>
          </a:prstGeom>
          <a:noFill/>
          <a:ln w="9525">
            <a:solidFill>
              <a:schemeClr val="tx1"/>
            </a:solidFill>
            <a:round/>
            <a:headEnd/>
            <a:tailEnd type="triangle" w="med" len="med"/>
          </a:ln>
        </p:spPr>
        <p:txBody>
          <a:bodyPr wrap="none"/>
          <a:lstStyle/>
          <a:p>
            <a:endParaRPr lang="en-US"/>
          </a:p>
        </p:txBody>
      </p:sp>
      <p:sp>
        <p:nvSpPr>
          <p:cNvPr id="19487" name="Line 32"/>
          <p:cNvSpPr>
            <a:spLocks noChangeShapeType="1"/>
          </p:cNvSpPr>
          <p:nvPr/>
        </p:nvSpPr>
        <p:spPr bwMode="auto">
          <a:xfrm flipH="1">
            <a:off x="2124075" y="4508500"/>
            <a:ext cx="790575" cy="0"/>
          </a:xfrm>
          <a:prstGeom prst="line">
            <a:avLst/>
          </a:prstGeom>
          <a:noFill/>
          <a:ln w="9525">
            <a:solidFill>
              <a:schemeClr val="tx1"/>
            </a:solidFill>
            <a:round/>
            <a:headEnd/>
            <a:tailEnd type="triangle" w="med" len="med"/>
          </a:ln>
        </p:spPr>
        <p:txBody>
          <a:bodyPr wrap="none"/>
          <a:lstStyle/>
          <a:p>
            <a:endParaRPr lang="en-US"/>
          </a:p>
        </p:txBody>
      </p:sp>
      <p:sp>
        <p:nvSpPr>
          <p:cNvPr id="19488" name="Line 33"/>
          <p:cNvSpPr>
            <a:spLocks noChangeShapeType="1"/>
          </p:cNvSpPr>
          <p:nvPr/>
        </p:nvSpPr>
        <p:spPr bwMode="auto">
          <a:xfrm flipH="1">
            <a:off x="3203575" y="4868863"/>
            <a:ext cx="790575" cy="0"/>
          </a:xfrm>
          <a:prstGeom prst="line">
            <a:avLst/>
          </a:prstGeom>
          <a:noFill/>
          <a:ln w="9525">
            <a:solidFill>
              <a:schemeClr val="tx1"/>
            </a:solidFill>
            <a:round/>
            <a:headEnd/>
            <a:tailEnd type="triangle" w="med" len="med"/>
          </a:ln>
        </p:spPr>
        <p:txBody>
          <a:bodyPr wrap="none"/>
          <a:lstStyle/>
          <a:p>
            <a:endParaRPr lang="en-US"/>
          </a:p>
        </p:txBody>
      </p:sp>
      <p:sp>
        <p:nvSpPr>
          <p:cNvPr id="19489" name="Line 34"/>
          <p:cNvSpPr>
            <a:spLocks noChangeShapeType="1"/>
          </p:cNvSpPr>
          <p:nvPr/>
        </p:nvSpPr>
        <p:spPr bwMode="auto">
          <a:xfrm>
            <a:off x="4572000" y="4941888"/>
            <a:ext cx="720725" cy="0"/>
          </a:xfrm>
          <a:prstGeom prst="line">
            <a:avLst/>
          </a:prstGeom>
          <a:noFill/>
          <a:ln w="9525">
            <a:solidFill>
              <a:schemeClr val="tx1"/>
            </a:solidFill>
            <a:round/>
            <a:headEnd/>
            <a:tailEnd type="triangle" w="med" len="med"/>
          </a:ln>
        </p:spPr>
        <p:txBody>
          <a:bodyPr wrap="none"/>
          <a:lstStyle/>
          <a:p>
            <a:endParaRPr lang="en-US"/>
          </a:p>
        </p:txBody>
      </p:sp>
      <p:sp>
        <p:nvSpPr>
          <p:cNvPr id="19490" name="Line 35"/>
          <p:cNvSpPr>
            <a:spLocks noChangeShapeType="1"/>
          </p:cNvSpPr>
          <p:nvPr/>
        </p:nvSpPr>
        <p:spPr bwMode="auto">
          <a:xfrm>
            <a:off x="5724525" y="5300663"/>
            <a:ext cx="720725" cy="0"/>
          </a:xfrm>
          <a:prstGeom prst="line">
            <a:avLst/>
          </a:prstGeom>
          <a:noFill/>
          <a:ln w="9525">
            <a:solidFill>
              <a:schemeClr val="tx1"/>
            </a:solidFill>
            <a:round/>
            <a:headEnd/>
            <a:tailEnd type="triangle" w="med" len="med"/>
          </a:ln>
        </p:spPr>
        <p:txBody>
          <a:bodyPr wrap="none"/>
          <a:lstStyle/>
          <a:p>
            <a:endParaRPr lang="en-US"/>
          </a:p>
        </p:txBody>
      </p:sp>
      <p:sp>
        <p:nvSpPr>
          <p:cNvPr id="19491" name="Line 36"/>
          <p:cNvSpPr>
            <a:spLocks noChangeShapeType="1"/>
          </p:cNvSpPr>
          <p:nvPr/>
        </p:nvSpPr>
        <p:spPr bwMode="auto">
          <a:xfrm flipH="1">
            <a:off x="4356100" y="5300663"/>
            <a:ext cx="790575" cy="0"/>
          </a:xfrm>
          <a:prstGeom prst="line">
            <a:avLst/>
          </a:prstGeom>
          <a:noFill/>
          <a:ln w="9525">
            <a:solidFill>
              <a:schemeClr val="tx1"/>
            </a:solidFill>
            <a:round/>
            <a:headEnd/>
            <a:tailEnd type="triangle" w="med" len="med"/>
          </a:ln>
        </p:spPr>
        <p:txBody>
          <a:bodyPr wrap="none"/>
          <a:lstStyle/>
          <a:p>
            <a:endParaRPr lang="en-US"/>
          </a:p>
        </p:txBody>
      </p:sp>
      <p:sp>
        <p:nvSpPr>
          <p:cNvPr id="19492" name="Line 37"/>
          <p:cNvSpPr>
            <a:spLocks noChangeShapeType="1"/>
          </p:cNvSpPr>
          <p:nvPr/>
        </p:nvSpPr>
        <p:spPr bwMode="auto">
          <a:xfrm flipH="1">
            <a:off x="3276600" y="5661025"/>
            <a:ext cx="790575" cy="0"/>
          </a:xfrm>
          <a:prstGeom prst="line">
            <a:avLst/>
          </a:prstGeom>
          <a:noFill/>
          <a:ln w="9525">
            <a:solidFill>
              <a:schemeClr val="tx1"/>
            </a:solidFill>
            <a:round/>
            <a:headEnd/>
            <a:tailEnd type="triangle" w="med" len="med"/>
          </a:ln>
        </p:spPr>
        <p:txBody>
          <a:bodyPr wrap="none"/>
          <a:lstStyle/>
          <a:p>
            <a:endParaRPr lang="en-US"/>
          </a:p>
        </p:txBody>
      </p:sp>
      <p:sp>
        <p:nvSpPr>
          <p:cNvPr id="19493" name="Line 38"/>
          <p:cNvSpPr>
            <a:spLocks noChangeShapeType="1"/>
          </p:cNvSpPr>
          <p:nvPr/>
        </p:nvSpPr>
        <p:spPr bwMode="auto">
          <a:xfrm flipH="1">
            <a:off x="2124075" y="6021388"/>
            <a:ext cx="790575" cy="0"/>
          </a:xfrm>
          <a:prstGeom prst="line">
            <a:avLst/>
          </a:prstGeom>
          <a:noFill/>
          <a:ln w="9525">
            <a:solidFill>
              <a:schemeClr val="tx1"/>
            </a:solidFill>
            <a:round/>
            <a:headEnd/>
            <a:tailEnd type="triangle" w="med" len="med"/>
          </a:ln>
        </p:spPr>
        <p:txBody>
          <a:bodyPr wrap="none"/>
          <a:lstStyle/>
          <a:p>
            <a:endParaRPr lang="en-US"/>
          </a:p>
        </p:txBody>
      </p:sp>
      <p:sp>
        <p:nvSpPr>
          <p:cNvPr id="19494" name="Line 39"/>
          <p:cNvSpPr>
            <a:spLocks noChangeShapeType="1"/>
          </p:cNvSpPr>
          <p:nvPr/>
        </p:nvSpPr>
        <p:spPr bwMode="auto">
          <a:xfrm>
            <a:off x="4572000" y="5661025"/>
            <a:ext cx="720725" cy="0"/>
          </a:xfrm>
          <a:prstGeom prst="line">
            <a:avLst/>
          </a:prstGeom>
          <a:noFill/>
          <a:ln w="9525">
            <a:solidFill>
              <a:schemeClr val="tx1"/>
            </a:solidFill>
            <a:round/>
            <a:headEnd/>
            <a:tailEnd type="triangle" w="med" len="med"/>
          </a:ln>
        </p:spPr>
        <p:txBody>
          <a:bodyPr wrap="none"/>
          <a:lstStyle/>
          <a:p>
            <a:endParaRPr lang="en-US"/>
          </a:p>
        </p:txBody>
      </p:sp>
      <p:sp>
        <p:nvSpPr>
          <p:cNvPr id="19495" name="Line 40"/>
          <p:cNvSpPr>
            <a:spLocks noChangeShapeType="1"/>
          </p:cNvSpPr>
          <p:nvPr/>
        </p:nvSpPr>
        <p:spPr bwMode="auto">
          <a:xfrm>
            <a:off x="3492500" y="6021388"/>
            <a:ext cx="720725" cy="0"/>
          </a:xfrm>
          <a:prstGeom prst="line">
            <a:avLst/>
          </a:prstGeom>
          <a:noFill/>
          <a:ln w="9525">
            <a:solidFill>
              <a:schemeClr val="tx1"/>
            </a:solidFill>
            <a:round/>
            <a:headEnd/>
            <a:tailEnd type="triangle" w="med" len="med"/>
          </a:ln>
        </p:spPr>
        <p:txBody>
          <a:bodyPr wrap="none"/>
          <a:lstStyle/>
          <a:p>
            <a:endParaRPr lang="en-US"/>
          </a:p>
        </p:txBody>
      </p:sp>
      <p:sp>
        <p:nvSpPr>
          <p:cNvPr id="19496" name="Line 41"/>
          <p:cNvSpPr>
            <a:spLocks noChangeShapeType="1"/>
          </p:cNvSpPr>
          <p:nvPr/>
        </p:nvSpPr>
        <p:spPr bwMode="auto">
          <a:xfrm>
            <a:off x="2268538" y="6597650"/>
            <a:ext cx="720725" cy="0"/>
          </a:xfrm>
          <a:prstGeom prst="line">
            <a:avLst/>
          </a:prstGeom>
          <a:noFill/>
          <a:ln w="9525">
            <a:solidFill>
              <a:schemeClr val="tx1"/>
            </a:solidFill>
            <a:round/>
            <a:headEnd/>
            <a:tailEnd type="triangle" w="med" len="med"/>
          </a:ln>
        </p:spPr>
        <p:txBody>
          <a:bodyPr wrap="none"/>
          <a:lstStyle/>
          <a:p>
            <a:endParaRPr lang="en-US"/>
          </a:p>
        </p:txBody>
      </p:sp>
      <p:sp>
        <p:nvSpPr>
          <p:cNvPr id="19497" name="Line 42"/>
          <p:cNvSpPr>
            <a:spLocks noChangeShapeType="1"/>
          </p:cNvSpPr>
          <p:nvPr/>
        </p:nvSpPr>
        <p:spPr bwMode="auto">
          <a:xfrm flipH="1">
            <a:off x="8316913" y="4221163"/>
            <a:ext cx="215900" cy="215900"/>
          </a:xfrm>
          <a:prstGeom prst="line">
            <a:avLst/>
          </a:prstGeom>
          <a:noFill/>
          <a:ln w="9525">
            <a:solidFill>
              <a:schemeClr val="tx1"/>
            </a:solidFill>
            <a:round/>
            <a:headEnd/>
            <a:tailEnd/>
          </a:ln>
        </p:spPr>
        <p:txBody>
          <a:bodyPr wrap="none"/>
          <a:lstStyle/>
          <a:p>
            <a:endParaRPr lang="en-US"/>
          </a:p>
        </p:txBody>
      </p:sp>
      <p:sp>
        <p:nvSpPr>
          <p:cNvPr id="19498" name="Line 43"/>
          <p:cNvSpPr>
            <a:spLocks noChangeShapeType="1"/>
          </p:cNvSpPr>
          <p:nvPr/>
        </p:nvSpPr>
        <p:spPr bwMode="auto">
          <a:xfrm flipH="1">
            <a:off x="8316913" y="5373688"/>
            <a:ext cx="215900" cy="142875"/>
          </a:xfrm>
          <a:prstGeom prst="line">
            <a:avLst/>
          </a:prstGeom>
          <a:noFill/>
          <a:ln w="9525">
            <a:solidFill>
              <a:schemeClr val="tx1"/>
            </a:solidFill>
            <a:round/>
            <a:headEnd/>
            <a:tailEnd/>
          </a:ln>
        </p:spPr>
        <p:txBody>
          <a:bodyPr wrap="none"/>
          <a:lstStyle/>
          <a:p>
            <a:endParaRPr lang="en-US"/>
          </a:p>
        </p:txBody>
      </p:sp>
      <p:sp>
        <p:nvSpPr>
          <p:cNvPr id="19499" name="Line 44"/>
          <p:cNvSpPr>
            <a:spLocks noChangeShapeType="1"/>
          </p:cNvSpPr>
          <p:nvPr/>
        </p:nvSpPr>
        <p:spPr bwMode="auto">
          <a:xfrm flipH="1">
            <a:off x="1403350" y="4581525"/>
            <a:ext cx="144463" cy="142875"/>
          </a:xfrm>
          <a:prstGeom prst="line">
            <a:avLst/>
          </a:prstGeom>
          <a:noFill/>
          <a:ln w="9525">
            <a:solidFill>
              <a:schemeClr val="tx1"/>
            </a:solidFill>
            <a:round/>
            <a:headEnd/>
            <a:tailEnd/>
          </a:ln>
        </p:spPr>
        <p:txBody>
          <a:bodyPr wrap="none"/>
          <a:lstStyle/>
          <a:p>
            <a:endParaRPr lang="en-US"/>
          </a:p>
        </p:txBody>
      </p:sp>
      <p:sp>
        <p:nvSpPr>
          <p:cNvPr id="19500" name="Line 45"/>
          <p:cNvSpPr>
            <a:spLocks noChangeShapeType="1"/>
          </p:cNvSpPr>
          <p:nvPr/>
        </p:nvSpPr>
        <p:spPr bwMode="auto">
          <a:xfrm flipH="1">
            <a:off x="1476375" y="5013325"/>
            <a:ext cx="142875" cy="144463"/>
          </a:xfrm>
          <a:prstGeom prst="line">
            <a:avLst/>
          </a:prstGeom>
          <a:noFill/>
          <a:ln w="9525">
            <a:solidFill>
              <a:schemeClr val="tx1"/>
            </a:solidFill>
            <a:round/>
            <a:headEnd/>
            <a:tailEnd/>
          </a:ln>
        </p:spPr>
        <p:txBody>
          <a:bodyPr wrap="none"/>
          <a:lstStyle/>
          <a:p>
            <a:endParaRPr lang="en-US"/>
          </a:p>
        </p:txBody>
      </p:sp>
      <p:sp>
        <p:nvSpPr>
          <p:cNvPr id="19501" name="Line 46"/>
          <p:cNvSpPr>
            <a:spLocks noChangeShapeType="1"/>
          </p:cNvSpPr>
          <p:nvPr/>
        </p:nvSpPr>
        <p:spPr bwMode="auto">
          <a:xfrm flipH="1">
            <a:off x="8459788" y="6092825"/>
            <a:ext cx="144462" cy="144463"/>
          </a:xfrm>
          <a:prstGeom prst="line">
            <a:avLst/>
          </a:prstGeom>
          <a:noFill/>
          <a:ln w="9525">
            <a:solidFill>
              <a:schemeClr val="tx1"/>
            </a:solidFill>
            <a:round/>
            <a:headEnd/>
            <a:tailEnd/>
          </a:ln>
        </p:spPr>
        <p:txBody>
          <a:bodyPr wrap="none"/>
          <a:lstStyle/>
          <a:p>
            <a:endParaRPr lang="en-US"/>
          </a:p>
        </p:txBody>
      </p:sp>
      <p:sp>
        <p:nvSpPr>
          <p:cNvPr id="19502" name="Line 47"/>
          <p:cNvSpPr>
            <a:spLocks noChangeShapeType="1"/>
          </p:cNvSpPr>
          <p:nvPr/>
        </p:nvSpPr>
        <p:spPr bwMode="auto">
          <a:xfrm flipH="1">
            <a:off x="1116013" y="6597650"/>
            <a:ext cx="790575" cy="0"/>
          </a:xfrm>
          <a:prstGeom prst="line">
            <a:avLst/>
          </a:prstGeom>
          <a:noFill/>
          <a:ln w="9525">
            <a:solidFill>
              <a:schemeClr val="tx1"/>
            </a:solidFill>
            <a:round/>
            <a:headEnd/>
            <a:tailEnd type="triangle" w="med" len="med"/>
          </a:ln>
        </p:spPr>
        <p:txBody>
          <a:bodyPr wrap="none"/>
          <a:lstStyle/>
          <a:p>
            <a:endParaRPr lang="en-US"/>
          </a:p>
        </p:txBody>
      </p:sp>
      <p:sp>
        <p:nvSpPr>
          <p:cNvPr id="19503" name="Line 50"/>
          <p:cNvSpPr>
            <a:spLocks noChangeShapeType="1"/>
          </p:cNvSpPr>
          <p:nvPr/>
        </p:nvSpPr>
        <p:spPr bwMode="auto">
          <a:xfrm>
            <a:off x="4284663" y="3357563"/>
            <a:ext cx="1079500" cy="0"/>
          </a:xfrm>
          <a:prstGeom prst="line">
            <a:avLst/>
          </a:prstGeom>
          <a:noFill/>
          <a:ln w="9525">
            <a:solidFill>
              <a:schemeClr val="tx1"/>
            </a:solidFill>
            <a:round/>
            <a:headEnd/>
            <a:tailEnd type="triangle" w="med" len="med"/>
          </a:ln>
        </p:spPr>
        <p:txBody>
          <a:bodyPr wrap="none"/>
          <a:lstStyle/>
          <a:p>
            <a:endParaRPr lang="en-US"/>
          </a:p>
        </p:txBody>
      </p:sp>
      <p:sp>
        <p:nvSpPr>
          <p:cNvPr id="19504" name="Line 51"/>
          <p:cNvSpPr>
            <a:spLocks noChangeShapeType="1"/>
          </p:cNvSpPr>
          <p:nvPr/>
        </p:nvSpPr>
        <p:spPr bwMode="auto">
          <a:xfrm>
            <a:off x="5435600" y="3357563"/>
            <a:ext cx="936625" cy="0"/>
          </a:xfrm>
          <a:prstGeom prst="line">
            <a:avLst/>
          </a:prstGeom>
          <a:noFill/>
          <a:ln w="9525">
            <a:solidFill>
              <a:schemeClr val="tx1"/>
            </a:solidFill>
            <a:round/>
            <a:headEnd/>
            <a:tailEnd type="triangle" w="med" len="med"/>
          </a:ln>
        </p:spPr>
        <p:txBody>
          <a:bodyPr wrap="none"/>
          <a:lstStyle/>
          <a:p>
            <a:endParaRPr lang="en-US"/>
          </a:p>
        </p:txBody>
      </p:sp>
      <p:sp>
        <p:nvSpPr>
          <p:cNvPr id="19505" name="Line 52"/>
          <p:cNvSpPr>
            <a:spLocks noChangeShapeType="1"/>
          </p:cNvSpPr>
          <p:nvPr/>
        </p:nvSpPr>
        <p:spPr bwMode="auto">
          <a:xfrm>
            <a:off x="6372225" y="3357563"/>
            <a:ext cx="1152525" cy="0"/>
          </a:xfrm>
          <a:prstGeom prst="line">
            <a:avLst/>
          </a:prstGeom>
          <a:noFill/>
          <a:ln w="9525">
            <a:solidFill>
              <a:schemeClr val="tx1"/>
            </a:solidFill>
            <a:round/>
            <a:headEnd/>
            <a:tailEnd type="triangle" w="med" len="med"/>
          </a:ln>
        </p:spPr>
        <p:txBody>
          <a:bodyPr wrap="none"/>
          <a:lstStyle/>
          <a:p>
            <a:endParaRPr lang="en-US"/>
          </a:p>
        </p:txBody>
      </p:sp>
      <p:sp>
        <p:nvSpPr>
          <p:cNvPr id="19506" name="Line 53"/>
          <p:cNvSpPr>
            <a:spLocks noChangeShapeType="1"/>
          </p:cNvSpPr>
          <p:nvPr/>
        </p:nvSpPr>
        <p:spPr bwMode="auto">
          <a:xfrm flipH="1">
            <a:off x="3203575" y="3357563"/>
            <a:ext cx="1152525" cy="0"/>
          </a:xfrm>
          <a:prstGeom prst="line">
            <a:avLst/>
          </a:prstGeom>
          <a:noFill/>
          <a:ln w="9525">
            <a:solidFill>
              <a:schemeClr val="tx1"/>
            </a:solidFill>
            <a:round/>
            <a:headEnd/>
            <a:tailEnd type="triangle" w="med" len="med"/>
          </a:ln>
        </p:spPr>
        <p:txBody>
          <a:bodyPr wrap="none"/>
          <a:lstStyle/>
          <a:p>
            <a:endParaRPr lang="en-US"/>
          </a:p>
        </p:txBody>
      </p:sp>
      <p:sp>
        <p:nvSpPr>
          <p:cNvPr id="19507" name="Line 54"/>
          <p:cNvSpPr>
            <a:spLocks noChangeShapeType="1"/>
          </p:cNvSpPr>
          <p:nvPr/>
        </p:nvSpPr>
        <p:spPr bwMode="auto">
          <a:xfrm flipH="1">
            <a:off x="2051050" y="3357563"/>
            <a:ext cx="1152525" cy="0"/>
          </a:xfrm>
          <a:prstGeom prst="line">
            <a:avLst/>
          </a:prstGeom>
          <a:noFill/>
          <a:ln w="9525">
            <a:solidFill>
              <a:schemeClr val="tx1"/>
            </a:solidFill>
            <a:round/>
            <a:headEnd/>
            <a:tailEnd type="triangle" w="med" len="med"/>
          </a:ln>
        </p:spPr>
        <p:txBody>
          <a:bodyPr wrap="none"/>
          <a:lstStyle/>
          <a:p>
            <a:endParaRPr lang="en-US"/>
          </a:p>
        </p:txBody>
      </p:sp>
      <p:sp>
        <p:nvSpPr>
          <p:cNvPr id="19508" name="Line 55"/>
          <p:cNvSpPr>
            <a:spLocks noChangeShapeType="1"/>
          </p:cNvSpPr>
          <p:nvPr/>
        </p:nvSpPr>
        <p:spPr bwMode="auto">
          <a:xfrm flipH="1">
            <a:off x="1042988" y="3357563"/>
            <a:ext cx="936625" cy="0"/>
          </a:xfrm>
          <a:prstGeom prst="line">
            <a:avLst/>
          </a:prstGeom>
          <a:noFill/>
          <a:ln w="9525">
            <a:solidFill>
              <a:schemeClr val="tx1"/>
            </a:solidFill>
            <a:round/>
            <a:headEnd/>
            <a:tailEnd type="triangle" w="med" len="med"/>
          </a:ln>
        </p:spPr>
        <p:txBody>
          <a:bodyPr wrap="none"/>
          <a:lstStyle/>
          <a:p>
            <a:endParaRPr lang="en-US"/>
          </a:p>
        </p:txBody>
      </p:sp>
      <p:sp>
        <p:nvSpPr>
          <p:cNvPr id="19509" name="Rectangle 12"/>
          <p:cNvSpPr>
            <a:spLocks noRot="1" noChangeArrowheads="1"/>
          </p:cNvSpPr>
          <p:nvPr/>
        </p:nvSpPr>
        <p:spPr bwMode="auto">
          <a:xfrm>
            <a:off x="323850" y="0"/>
            <a:ext cx="8510588" cy="1325563"/>
          </a:xfrm>
          <a:prstGeom prst="rect">
            <a:avLst/>
          </a:prstGeom>
          <a:noFill/>
          <a:ln w="9525">
            <a:noFill/>
            <a:miter lim="800000"/>
            <a:headEnd/>
            <a:tailEnd/>
          </a:ln>
        </p:spPr>
        <p:txBody>
          <a:bodyPr anchor="ctr"/>
          <a:lstStyle/>
          <a:p>
            <a:pPr algn="ctr"/>
            <a:r>
              <a:rPr lang="en-US" altLang="en-US" sz="4400">
                <a:solidFill>
                  <a:schemeClr val="tx2"/>
                </a:solidFill>
              </a:rPr>
              <a:t>Real Time A*</a:t>
            </a:r>
          </a:p>
        </p:txBody>
      </p:sp>
      <p:grpSp>
        <p:nvGrpSpPr>
          <p:cNvPr id="2" name="Group 109"/>
          <p:cNvGrpSpPr>
            <a:grpSpLocks/>
          </p:cNvGrpSpPr>
          <p:nvPr/>
        </p:nvGrpSpPr>
        <p:grpSpPr bwMode="auto">
          <a:xfrm>
            <a:off x="0" y="2924175"/>
            <a:ext cx="9144000" cy="3744913"/>
            <a:chOff x="0" y="1842"/>
            <a:chExt cx="5760" cy="2359"/>
          </a:xfrm>
        </p:grpSpPr>
        <p:sp>
          <p:nvSpPr>
            <p:cNvPr id="19518" name="Oval 2"/>
            <p:cNvSpPr>
              <a:spLocks noChangeArrowheads="1"/>
            </p:cNvSpPr>
            <p:nvPr/>
          </p:nvSpPr>
          <p:spPr bwMode="auto">
            <a:xfrm>
              <a:off x="748" y="3203"/>
              <a:ext cx="227" cy="227"/>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519" name="Oval 3"/>
            <p:cNvSpPr>
              <a:spLocks noChangeArrowheads="1"/>
            </p:cNvSpPr>
            <p:nvPr/>
          </p:nvSpPr>
          <p:spPr bwMode="auto">
            <a:xfrm>
              <a:off x="703" y="2931"/>
              <a:ext cx="227" cy="227"/>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520" name="Oval 4"/>
            <p:cNvSpPr>
              <a:spLocks noChangeArrowheads="1"/>
            </p:cNvSpPr>
            <p:nvPr/>
          </p:nvSpPr>
          <p:spPr bwMode="auto">
            <a:xfrm>
              <a:off x="975" y="2976"/>
              <a:ext cx="227" cy="227"/>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521" name="Oval 5"/>
            <p:cNvSpPr>
              <a:spLocks noChangeArrowheads="1"/>
            </p:cNvSpPr>
            <p:nvPr/>
          </p:nvSpPr>
          <p:spPr bwMode="auto">
            <a:xfrm>
              <a:off x="975" y="2704"/>
              <a:ext cx="227" cy="227"/>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522" name="Oval 6"/>
            <p:cNvSpPr>
              <a:spLocks noChangeArrowheads="1"/>
            </p:cNvSpPr>
            <p:nvPr/>
          </p:nvSpPr>
          <p:spPr bwMode="auto">
            <a:xfrm>
              <a:off x="5148" y="3884"/>
              <a:ext cx="227" cy="227"/>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523" name="Oval 7"/>
            <p:cNvSpPr>
              <a:spLocks noChangeArrowheads="1"/>
            </p:cNvSpPr>
            <p:nvPr/>
          </p:nvSpPr>
          <p:spPr bwMode="auto">
            <a:xfrm>
              <a:off x="5375" y="3657"/>
              <a:ext cx="227" cy="227"/>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524" name="Oval 8"/>
            <p:cNvSpPr>
              <a:spLocks noChangeArrowheads="1"/>
            </p:cNvSpPr>
            <p:nvPr/>
          </p:nvSpPr>
          <p:spPr bwMode="auto">
            <a:xfrm>
              <a:off x="5057" y="3430"/>
              <a:ext cx="227" cy="227"/>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525" name="Oval 9"/>
            <p:cNvSpPr>
              <a:spLocks noChangeArrowheads="1"/>
            </p:cNvSpPr>
            <p:nvPr/>
          </p:nvSpPr>
          <p:spPr bwMode="auto">
            <a:xfrm>
              <a:off x="5329" y="3203"/>
              <a:ext cx="227" cy="227"/>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526" name="Oval 10"/>
            <p:cNvSpPr>
              <a:spLocks noChangeArrowheads="1"/>
            </p:cNvSpPr>
            <p:nvPr/>
          </p:nvSpPr>
          <p:spPr bwMode="auto">
            <a:xfrm>
              <a:off x="5057" y="2750"/>
              <a:ext cx="227" cy="227"/>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527" name="Oval 11"/>
            <p:cNvSpPr>
              <a:spLocks noChangeArrowheads="1"/>
            </p:cNvSpPr>
            <p:nvPr/>
          </p:nvSpPr>
          <p:spPr bwMode="auto">
            <a:xfrm>
              <a:off x="5329" y="2478"/>
              <a:ext cx="227" cy="227"/>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19528" name="Line 14"/>
            <p:cNvSpPr>
              <a:spLocks noChangeShapeType="1"/>
            </p:cNvSpPr>
            <p:nvPr/>
          </p:nvSpPr>
          <p:spPr bwMode="auto">
            <a:xfrm>
              <a:off x="657" y="2115"/>
              <a:ext cx="4083" cy="0"/>
            </a:xfrm>
            <a:prstGeom prst="line">
              <a:avLst/>
            </a:prstGeom>
            <a:noFill/>
            <a:ln w="9525">
              <a:solidFill>
                <a:schemeClr val="tx1"/>
              </a:solidFill>
              <a:round/>
              <a:headEnd/>
              <a:tailEnd/>
            </a:ln>
          </p:spPr>
          <p:txBody>
            <a:bodyPr wrap="none"/>
            <a:lstStyle/>
            <a:p>
              <a:endParaRPr lang="en-US"/>
            </a:p>
          </p:txBody>
        </p:sp>
        <p:sp>
          <p:nvSpPr>
            <p:cNvPr id="19529" name="Rectangle 15"/>
            <p:cNvSpPr>
              <a:spLocks noChangeArrowheads="1"/>
            </p:cNvSpPr>
            <p:nvPr/>
          </p:nvSpPr>
          <p:spPr bwMode="auto">
            <a:xfrm>
              <a:off x="2608" y="2160"/>
              <a:ext cx="219" cy="234"/>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A</a:t>
              </a:r>
            </a:p>
          </p:txBody>
        </p:sp>
        <p:sp>
          <p:nvSpPr>
            <p:cNvPr id="19530" name="Rectangle 16"/>
            <p:cNvSpPr>
              <a:spLocks noChangeArrowheads="1"/>
            </p:cNvSpPr>
            <p:nvPr/>
          </p:nvSpPr>
          <p:spPr bwMode="auto">
            <a:xfrm>
              <a:off x="3288" y="2160"/>
              <a:ext cx="219" cy="234"/>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C</a:t>
              </a:r>
            </a:p>
          </p:txBody>
        </p:sp>
        <p:sp>
          <p:nvSpPr>
            <p:cNvPr id="19531" name="Rectangle 17"/>
            <p:cNvSpPr>
              <a:spLocks noChangeArrowheads="1"/>
            </p:cNvSpPr>
            <p:nvPr/>
          </p:nvSpPr>
          <p:spPr bwMode="auto">
            <a:xfrm>
              <a:off x="1927" y="2160"/>
              <a:ext cx="208" cy="234"/>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B</a:t>
              </a:r>
            </a:p>
          </p:txBody>
        </p:sp>
        <p:sp>
          <p:nvSpPr>
            <p:cNvPr id="19532" name="Rectangle 18"/>
            <p:cNvSpPr>
              <a:spLocks noChangeArrowheads="1"/>
            </p:cNvSpPr>
            <p:nvPr/>
          </p:nvSpPr>
          <p:spPr bwMode="auto">
            <a:xfrm>
              <a:off x="1247" y="2160"/>
              <a:ext cx="219" cy="234"/>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D</a:t>
              </a:r>
            </a:p>
          </p:txBody>
        </p:sp>
        <p:sp>
          <p:nvSpPr>
            <p:cNvPr id="19533" name="Rectangle 19"/>
            <p:cNvSpPr>
              <a:spLocks noChangeArrowheads="1"/>
            </p:cNvSpPr>
            <p:nvPr/>
          </p:nvSpPr>
          <p:spPr bwMode="auto">
            <a:xfrm>
              <a:off x="612" y="2160"/>
              <a:ext cx="197" cy="234"/>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F</a:t>
              </a:r>
            </a:p>
          </p:txBody>
        </p:sp>
        <p:sp>
          <p:nvSpPr>
            <p:cNvPr id="19534" name="Rectangle 20"/>
            <p:cNvSpPr>
              <a:spLocks noChangeArrowheads="1"/>
            </p:cNvSpPr>
            <p:nvPr/>
          </p:nvSpPr>
          <p:spPr bwMode="auto">
            <a:xfrm>
              <a:off x="3923" y="2160"/>
              <a:ext cx="208" cy="234"/>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E</a:t>
              </a:r>
            </a:p>
          </p:txBody>
        </p:sp>
        <p:sp>
          <p:nvSpPr>
            <p:cNvPr id="19535" name="Rectangle 21"/>
            <p:cNvSpPr>
              <a:spLocks noChangeArrowheads="1"/>
            </p:cNvSpPr>
            <p:nvPr/>
          </p:nvSpPr>
          <p:spPr bwMode="auto">
            <a:xfrm>
              <a:off x="4513" y="2160"/>
              <a:ext cx="229" cy="234"/>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G</a:t>
              </a:r>
            </a:p>
          </p:txBody>
        </p:sp>
        <p:sp>
          <p:nvSpPr>
            <p:cNvPr id="19536" name="Rectangle 22"/>
            <p:cNvSpPr>
              <a:spLocks noChangeArrowheads="1"/>
            </p:cNvSpPr>
            <p:nvPr/>
          </p:nvSpPr>
          <p:spPr bwMode="auto">
            <a:xfrm>
              <a:off x="612" y="1842"/>
              <a:ext cx="318" cy="234"/>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400" b="1">
                  <a:latin typeface="Times New Roman" charset="0"/>
                  <a:cs typeface="Times New Roman (Hebrew)" charset="-79"/>
                </a:rPr>
                <a:t>11</a:t>
              </a:r>
            </a:p>
          </p:txBody>
        </p:sp>
        <p:sp>
          <p:nvSpPr>
            <p:cNvPr id="19537" name="Rectangle 23"/>
            <p:cNvSpPr>
              <a:spLocks noChangeArrowheads="1"/>
            </p:cNvSpPr>
            <p:nvPr/>
          </p:nvSpPr>
          <p:spPr bwMode="auto">
            <a:xfrm>
              <a:off x="1247" y="1842"/>
              <a:ext cx="176" cy="234"/>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4</a:t>
              </a:r>
            </a:p>
          </p:txBody>
        </p:sp>
        <p:sp>
          <p:nvSpPr>
            <p:cNvPr id="19538" name="Rectangle 24"/>
            <p:cNvSpPr>
              <a:spLocks noChangeArrowheads="1"/>
            </p:cNvSpPr>
            <p:nvPr/>
          </p:nvSpPr>
          <p:spPr bwMode="auto">
            <a:xfrm>
              <a:off x="1927" y="1842"/>
              <a:ext cx="176" cy="234"/>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1</a:t>
              </a:r>
            </a:p>
          </p:txBody>
        </p:sp>
        <p:sp>
          <p:nvSpPr>
            <p:cNvPr id="19539" name="Rectangle 25"/>
            <p:cNvSpPr>
              <a:spLocks noChangeArrowheads="1"/>
            </p:cNvSpPr>
            <p:nvPr/>
          </p:nvSpPr>
          <p:spPr bwMode="auto">
            <a:xfrm>
              <a:off x="3288" y="1842"/>
              <a:ext cx="219" cy="234"/>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400" b="1">
                  <a:latin typeface="Times New Roman" charset="0"/>
                  <a:cs typeface="Times New Roman (Hebrew)" charset="-79"/>
                </a:rPr>
                <a:t>2</a:t>
              </a:r>
            </a:p>
          </p:txBody>
        </p:sp>
        <p:sp>
          <p:nvSpPr>
            <p:cNvPr id="19540" name="Rectangle 26"/>
            <p:cNvSpPr>
              <a:spLocks noChangeArrowheads="1"/>
            </p:cNvSpPr>
            <p:nvPr/>
          </p:nvSpPr>
          <p:spPr bwMode="auto">
            <a:xfrm>
              <a:off x="4513" y="1842"/>
              <a:ext cx="363" cy="234"/>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400" b="1">
                  <a:latin typeface="Times New Roman" charset="0"/>
                  <a:cs typeface="Times New Roman (Hebrew)" charset="-79"/>
                </a:rPr>
                <a:t>16</a:t>
              </a:r>
            </a:p>
          </p:txBody>
        </p:sp>
        <p:sp>
          <p:nvSpPr>
            <p:cNvPr id="19541" name="Rectangle 27"/>
            <p:cNvSpPr>
              <a:spLocks noChangeArrowheads="1"/>
            </p:cNvSpPr>
            <p:nvPr/>
          </p:nvSpPr>
          <p:spPr bwMode="auto">
            <a:xfrm>
              <a:off x="3923" y="1842"/>
              <a:ext cx="176" cy="234"/>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400" b="1">
                  <a:latin typeface="Times New Roman" charset="0"/>
                  <a:cs typeface="Times New Roman (Hebrew)" charset="-79"/>
                </a:rPr>
                <a:t>7</a:t>
              </a:r>
            </a:p>
          </p:txBody>
        </p:sp>
        <p:sp>
          <p:nvSpPr>
            <p:cNvPr id="3" name="Rectangle 28"/>
            <p:cNvSpPr>
              <a:spLocks noRot="1" noChangeArrowheads="1"/>
            </p:cNvSpPr>
            <p:nvPr/>
          </p:nvSpPr>
          <p:spPr bwMode="auto">
            <a:xfrm>
              <a:off x="0" y="2478"/>
              <a:ext cx="5760" cy="1723"/>
            </a:xfrm>
            <a:prstGeom prst="rect">
              <a:avLst/>
            </a:prstGeom>
            <a:noFill/>
            <a:ln>
              <a:noFill/>
            </a:ln>
            <a:effectLst/>
          </p:spPr>
          <p:txBody>
            <a:bodyPr/>
            <a:lstStyle/>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f(B) = 1 + 1 = 2		                   (A)                                   f(C) =  1 + 2 = 3</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f(D) = 1 + 4 = 5	                (B)                                                   f(A) =  1 + 3 = 4</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f(B) = 1 + 5 = 6                                  (A)                                   f(C) =  1 + 2 = 3</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f(A) = 1 + 6 = 7	 		                      (C)                   f(E) =  1 + 7 = 8</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f(B) = 1 + 5 = 6		                   (A)                                   f(C) =  1 + 8 = 9</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f(D) = 1 + 4 = 5 		   (B)                                                   f(A) =  1 + 9 = 10</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f(F)=1+11= 12   (D)                                                                   f(B) =  1 + 10 = 11</a:t>
              </a:r>
            </a:p>
            <a:p>
              <a:pPr marL="342900" indent="-342900">
                <a:spcBef>
                  <a:spcPct val="20000"/>
                </a:spcBef>
                <a:buClr>
                  <a:schemeClr val="hlink"/>
                </a:buClr>
                <a:buFont typeface="Wingdings" pitchFamily="2" charset="2"/>
                <a:buNone/>
                <a:defRPr/>
              </a:pPr>
              <a:endParaRPr lang="en-US" sz="2000" dirty="0">
                <a:effectLst>
                  <a:outerShdw blurRad="38100" dist="38100" dir="2700000" algn="tl">
                    <a:srgbClr val="4D4D4D"/>
                  </a:outerShdw>
                </a:effectLst>
              </a:endParaRPr>
            </a:p>
            <a:p>
              <a:pPr marL="342900" indent="-342900">
                <a:spcBef>
                  <a:spcPct val="20000"/>
                </a:spcBef>
                <a:buClr>
                  <a:schemeClr val="hlink"/>
                </a:buClr>
                <a:buFont typeface="Wingdings" pitchFamily="2" charset="2"/>
                <a:buNone/>
                <a:defRPr/>
              </a:pPr>
              <a:endParaRPr lang="en-US" sz="2000" dirty="0">
                <a:effectLst>
                  <a:outerShdw blurRad="38100" dist="38100" dir="2700000" algn="tl">
                    <a:srgbClr val="4D4D4D"/>
                  </a:outerShdw>
                </a:effectLst>
              </a:endParaRPr>
            </a:p>
          </p:txBody>
        </p:sp>
        <p:sp>
          <p:nvSpPr>
            <p:cNvPr id="19543" name="Line 29"/>
            <p:cNvSpPr>
              <a:spLocks noChangeShapeType="1"/>
            </p:cNvSpPr>
            <p:nvPr/>
          </p:nvSpPr>
          <p:spPr bwMode="auto">
            <a:xfrm>
              <a:off x="2880" y="2614"/>
              <a:ext cx="453" cy="0"/>
            </a:xfrm>
            <a:prstGeom prst="line">
              <a:avLst/>
            </a:prstGeom>
            <a:noFill/>
            <a:ln w="9525">
              <a:solidFill>
                <a:schemeClr val="tx1"/>
              </a:solidFill>
              <a:round/>
              <a:headEnd/>
              <a:tailEnd type="triangle" w="med" len="med"/>
            </a:ln>
          </p:spPr>
          <p:txBody>
            <a:bodyPr wrap="none"/>
            <a:lstStyle/>
            <a:p>
              <a:endParaRPr lang="en-US"/>
            </a:p>
          </p:txBody>
        </p:sp>
        <p:sp>
          <p:nvSpPr>
            <p:cNvPr id="19544" name="Line 30"/>
            <p:cNvSpPr>
              <a:spLocks noChangeShapeType="1"/>
            </p:cNvSpPr>
            <p:nvPr/>
          </p:nvSpPr>
          <p:spPr bwMode="auto">
            <a:xfrm flipH="1">
              <a:off x="2064" y="2614"/>
              <a:ext cx="498" cy="0"/>
            </a:xfrm>
            <a:prstGeom prst="line">
              <a:avLst/>
            </a:prstGeom>
            <a:noFill/>
            <a:ln w="9525">
              <a:solidFill>
                <a:schemeClr val="tx1"/>
              </a:solidFill>
              <a:round/>
              <a:headEnd/>
              <a:tailEnd type="triangle" w="med" len="med"/>
            </a:ln>
          </p:spPr>
          <p:txBody>
            <a:bodyPr wrap="none"/>
            <a:lstStyle/>
            <a:p>
              <a:endParaRPr lang="en-US"/>
            </a:p>
          </p:txBody>
        </p:sp>
        <p:sp>
          <p:nvSpPr>
            <p:cNvPr id="19545" name="Line 31"/>
            <p:cNvSpPr>
              <a:spLocks noChangeShapeType="1"/>
            </p:cNvSpPr>
            <p:nvPr/>
          </p:nvSpPr>
          <p:spPr bwMode="auto">
            <a:xfrm>
              <a:off x="2154" y="2840"/>
              <a:ext cx="454" cy="0"/>
            </a:xfrm>
            <a:prstGeom prst="line">
              <a:avLst/>
            </a:prstGeom>
            <a:noFill/>
            <a:ln w="9525">
              <a:solidFill>
                <a:schemeClr val="tx1"/>
              </a:solidFill>
              <a:round/>
              <a:headEnd/>
              <a:tailEnd type="triangle" w="med" len="med"/>
            </a:ln>
          </p:spPr>
          <p:txBody>
            <a:bodyPr wrap="none"/>
            <a:lstStyle/>
            <a:p>
              <a:endParaRPr lang="en-US"/>
            </a:p>
          </p:txBody>
        </p:sp>
        <p:sp>
          <p:nvSpPr>
            <p:cNvPr id="19546" name="Line 32"/>
            <p:cNvSpPr>
              <a:spLocks noChangeShapeType="1"/>
            </p:cNvSpPr>
            <p:nvPr/>
          </p:nvSpPr>
          <p:spPr bwMode="auto">
            <a:xfrm flipH="1">
              <a:off x="1338" y="2840"/>
              <a:ext cx="498" cy="0"/>
            </a:xfrm>
            <a:prstGeom prst="line">
              <a:avLst/>
            </a:prstGeom>
            <a:noFill/>
            <a:ln w="9525">
              <a:solidFill>
                <a:schemeClr val="tx1"/>
              </a:solidFill>
              <a:round/>
              <a:headEnd/>
              <a:tailEnd type="triangle" w="med" len="med"/>
            </a:ln>
          </p:spPr>
          <p:txBody>
            <a:bodyPr wrap="none"/>
            <a:lstStyle/>
            <a:p>
              <a:endParaRPr lang="en-US"/>
            </a:p>
          </p:txBody>
        </p:sp>
        <p:sp>
          <p:nvSpPr>
            <p:cNvPr id="19547" name="Line 33"/>
            <p:cNvSpPr>
              <a:spLocks noChangeShapeType="1"/>
            </p:cNvSpPr>
            <p:nvPr/>
          </p:nvSpPr>
          <p:spPr bwMode="auto">
            <a:xfrm flipH="1">
              <a:off x="2018" y="3067"/>
              <a:ext cx="498" cy="0"/>
            </a:xfrm>
            <a:prstGeom prst="line">
              <a:avLst/>
            </a:prstGeom>
            <a:noFill/>
            <a:ln w="9525">
              <a:solidFill>
                <a:schemeClr val="tx1"/>
              </a:solidFill>
              <a:round/>
              <a:headEnd/>
              <a:tailEnd type="triangle" w="med" len="med"/>
            </a:ln>
          </p:spPr>
          <p:txBody>
            <a:bodyPr wrap="none"/>
            <a:lstStyle/>
            <a:p>
              <a:endParaRPr lang="en-US"/>
            </a:p>
          </p:txBody>
        </p:sp>
        <p:sp>
          <p:nvSpPr>
            <p:cNvPr id="19548" name="Line 34"/>
            <p:cNvSpPr>
              <a:spLocks noChangeShapeType="1"/>
            </p:cNvSpPr>
            <p:nvPr/>
          </p:nvSpPr>
          <p:spPr bwMode="auto">
            <a:xfrm>
              <a:off x="2880" y="3113"/>
              <a:ext cx="454" cy="0"/>
            </a:xfrm>
            <a:prstGeom prst="line">
              <a:avLst/>
            </a:prstGeom>
            <a:noFill/>
            <a:ln w="9525">
              <a:solidFill>
                <a:schemeClr val="tx1"/>
              </a:solidFill>
              <a:round/>
              <a:headEnd/>
              <a:tailEnd type="triangle" w="med" len="med"/>
            </a:ln>
          </p:spPr>
          <p:txBody>
            <a:bodyPr wrap="none"/>
            <a:lstStyle/>
            <a:p>
              <a:endParaRPr lang="en-US"/>
            </a:p>
          </p:txBody>
        </p:sp>
        <p:sp>
          <p:nvSpPr>
            <p:cNvPr id="19549" name="Line 35"/>
            <p:cNvSpPr>
              <a:spLocks noChangeShapeType="1"/>
            </p:cNvSpPr>
            <p:nvPr/>
          </p:nvSpPr>
          <p:spPr bwMode="auto">
            <a:xfrm>
              <a:off x="3606" y="3339"/>
              <a:ext cx="454" cy="0"/>
            </a:xfrm>
            <a:prstGeom prst="line">
              <a:avLst/>
            </a:prstGeom>
            <a:noFill/>
            <a:ln w="9525">
              <a:solidFill>
                <a:schemeClr val="tx1"/>
              </a:solidFill>
              <a:round/>
              <a:headEnd/>
              <a:tailEnd type="triangle" w="med" len="med"/>
            </a:ln>
          </p:spPr>
          <p:txBody>
            <a:bodyPr wrap="none"/>
            <a:lstStyle/>
            <a:p>
              <a:endParaRPr lang="en-US"/>
            </a:p>
          </p:txBody>
        </p:sp>
        <p:sp>
          <p:nvSpPr>
            <p:cNvPr id="19550" name="Line 36"/>
            <p:cNvSpPr>
              <a:spLocks noChangeShapeType="1"/>
            </p:cNvSpPr>
            <p:nvPr/>
          </p:nvSpPr>
          <p:spPr bwMode="auto">
            <a:xfrm flipH="1">
              <a:off x="2744" y="3339"/>
              <a:ext cx="498" cy="0"/>
            </a:xfrm>
            <a:prstGeom prst="line">
              <a:avLst/>
            </a:prstGeom>
            <a:noFill/>
            <a:ln w="9525">
              <a:solidFill>
                <a:schemeClr val="tx1"/>
              </a:solidFill>
              <a:round/>
              <a:headEnd/>
              <a:tailEnd type="triangle" w="med" len="med"/>
            </a:ln>
          </p:spPr>
          <p:txBody>
            <a:bodyPr wrap="none"/>
            <a:lstStyle/>
            <a:p>
              <a:endParaRPr lang="en-US"/>
            </a:p>
          </p:txBody>
        </p:sp>
        <p:sp>
          <p:nvSpPr>
            <p:cNvPr id="19551" name="Line 37"/>
            <p:cNvSpPr>
              <a:spLocks noChangeShapeType="1"/>
            </p:cNvSpPr>
            <p:nvPr/>
          </p:nvSpPr>
          <p:spPr bwMode="auto">
            <a:xfrm flipH="1">
              <a:off x="2064" y="3566"/>
              <a:ext cx="498" cy="0"/>
            </a:xfrm>
            <a:prstGeom prst="line">
              <a:avLst/>
            </a:prstGeom>
            <a:noFill/>
            <a:ln w="9525">
              <a:solidFill>
                <a:schemeClr val="tx1"/>
              </a:solidFill>
              <a:round/>
              <a:headEnd/>
              <a:tailEnd type="triangle" w="med" len="med"/>
            </a:ln>
          </p:spPr>
          <p:txBody>
            <a:bodyPr wrap="none"/>
            <a:lstStyle/>
            <a:p>
              <a:endParaRPr lang="en-US"/>
            </a:p>
          </p:txBody>
        </p:sp>
        <p:sp>
          <p:nvSpPr>
            <p:cNvPr id="19552" name="Line 38"/>
            <p:cNvSpPr>
              <a:spLocks noChangeShapeType="1"/>
            </p:cNvSpPr>
            <p:nvPr/>
          </p:nvSpPr>
          <p:spPr bwMode="auto">
            <a:xfrm flipH="1">
              <a:off x="1338" y="3793"/>
              <a:ext cx="498" cy="0"/>
            </a:xfrm>
            <a:prstGeom prst="line">
              <a:avLst/>
            </a:prstGeom>
            <a:noFill/>
            <a:ln w="9525">
              <a:solidFill>
                <a:schemeClr val="tx1"/>
              </a:solidFill>
              <a:round/>
              <a:headEnd/>
              <a:tailEnd type="triangle" w="med" len="med"/>
            </a:ln>
          </p:spPr>
          <p:txBody>
            <a:bodyPr wrap="none"/>
            <a:lstStyle/>
            <a:p>
              <a:endParaRPr lang="en-US"/>
            </a:p>
          </p:txBody>
        </p:sp>
        <p:sp>
          <p:nvSpPr>
            <p:cNvPr id="19553" name="Line 39"/>
            <p:cNvSpPr>
              <a:spLocks noChangeShapeType="1"/>
            </p:cNvSpPr>
            <p:nvPr/>
          </p:nvSpPr>
          <p:spPr bwMode="auto">
            <a:xfrm>
              <a:off x="2880" y="3566"/>
              <a:ext cx="454" cy="0"/>
            </a:xfrm>
            <a:prstGeom prst="line">
              <a:avLst/>
            </a:prstGeom>
            <a:noFill/>
            <a:ln w="9525">
              <a:solidFill>
                <a:schemeClr val="tx1"/>
              </a:solidFill>
              <a:round/>
              <a:headEnd/>
              <a:tailEnd type="triangle" w="med" len="med"/>
            </a:ln>
          </p:spPr>
          <p:txBody>
            <a:bodyPr wrap="none"/>
            <a:lstStyle/>
            <a:p>
              <a:endParaRPr lang="en-US"/>
            </a:p>
          </p:txBody>
        </p:sp>
        <p:sp>
          <p:nvSpPr>
            <p:cNvPr id="19554" name="Line 40"/>
            <p:cNvSpPr>
              <a:spLocks noChangeShapeType="1"/>
            </p:cNvSpPr>
            <p:nvPr/>
          </p:nvSpPr>
          <p:spPr bwMode="auto">
            <a:xfrm>
              <a:off x="2200" y="3793"/>
              <a:ext cx="454" cy="0"/>
            </a:xfrm>
            <a:prstGeom prst="line">
              <a:avLst/>
            </a:prstGeom>
            <a:noFill/>
            <a:ln w="9525">
              <a:solidFill>
                <a:schemeClr val="tx1"/>
              </a:solidFill>
              <a:round/>
              <a:headEnd/>
              <a:tailEnd type="triangle" w="med" len="med"/>
            </a:ln>
          </p:spPr>
          <p:txBody>
            <a:bodyPr wrap="none"/>
            <a:lstStyle/>
            <a:p>
              <a:endParaRPr lang="en-US"/>
            </a:p>
          </p:txBody>
        </p:sp>
        <p:sp>
          <p:nvSpPr>
            <p:cNvPr id="19555" name="Line 41"/>
            <p:cNvSpPr>
              <a:spLocks noChangeShapeType="1"/>
            </p:cNvSpPr>
            <p:nvPr/>
          </p:nvSpPr>
          <p:spPr bwMode="auto">
            <a:xfrm>
              <a:off x="1429" y="4156"/>
              <a:ext cx="454" cy="0"/>
            </a:xfrm>
            <a:prstGeom prst="line">
              <a:avLst/>
            </a:prstGeom>
            <a:noFill/>
            <a:ln w="9525">
              <a:solidFill>
                <a:schemeClr val="tx1"/>
              </a:solidFill>
              <a:round/>
              <a:headEnd/>
              <a:tailEnd type="triangle" w="med" len="med"/>
            </a:ln>
          </p:spPr>
          <p:txBody>
            <a:bodyPr wrap="none"/>
            <a:lstStyle/>
            <a:p>
              <a:endParaRPr lang="en-US"/>
            </a:p>
          </p:txBody>
        </p:sp>
        <p:sp>
          <p:nvSpPr>
            <p:cNvPr id="19556" name="Line 42"/>
            <p:cNvSpPr>
              <a:spLocks noChangeShapeType="1"/>
            </p:cNvSpPr>
            <p:nvPr/>
          </p:nvSpPr>
          <p:spPr bwMode="auto">
            <a:xfrm flipH="1">
              <a:off x="5239" y="2659"/>
              <a:ext cx="136" cy="136"/>
            </a:xfrm>
            <a:prstGeom prst="line">
              <a:avLst/>
            </a:prstGeom>
            <a:noFill/>
            <a:ln w="9525">
              <a:solidFill>
                <a:schemeClr val="tx1"/>
              </a:solidFill>
              <a:round/>
              <a:headEnd/>
              <a:tailEnd/>
            </a:ln>
          </p:spPr>
          <p:txBody>
            <a:bodyPr wrap="none"/>
            <a:lstStyle/>
            <a:p>
              <a:endParaRPr lang="en-US"/>
            </a:p>
          </p:txBody>
        </p:sp>
        <p:sp>
          <p:nvSpPr>
            <p:cNvPr id="19557" name="Line 43"/>
            <p:cNvSpPr>
              <a:spLocks noChangeShapeType="1"/>
            </p:cNvSpPr>
            <p:nvPr/>
          </p:nvSpPr>
          <p:spPr bwMode="auto">
            <a:xfrm flipH="1">
              <a:off x="5239" y="3385"/>
              <a:ext cx="136" cy="90"/>
            </a:xfrm>
            <a:prstGeom prst="line">
              <a:avLst/>
            </a:prstGeom>
            <a:noFill/>
            <a:ln w="9525">
              <a:solidFill>
                <a:schemeClr val="tx1"/>
              </a:solidFill>
              <a:round/>
              <a:headEnd/>
              <a:tailEnd/>
            </a:ln>
          </p:spPr>
          <p:txBody>
            <a:bodyPr wrap="none"/>
            <a:lstStyle/>
            <a:p>
              <a:endParaRPr lang="en-US"/>
            </a:p>
          </p:txBody>
        </p:sp>
        <p:sp>
          <p:nvSpPr>
            <p:cNvPr id="19558" name="Line 44"/>
            <p:cNvSpPr>
              <a:spLocks noChangeShapeType="1"/>
            </p:cNvSpPr>
            <p:nvPr/>
          </p:nvSpPr>
          <p:spPr bwMode="auto">
            <a:xfrm flipH="1">
              <a:off x="884" y="2886"/>
              <a:ext cx="91" cy="90"/>
            </a:xfrm>
            <a:prstGeom prst="line">
              <a:avLst/>
            </a:prstGeom>
            <a:noFill/>
            <a:ln w="9525">
              <a:solidFill>
                <a:schemeClr val="tx1"/>
              </a:solidFill>
              <a:round/>
              <a:headEnd/>
              <a:tailEnd/>
            </a:ln>
          </p:spPr>
          <p:txBody>
            <a:bodyPr wrap="none"/>
            <a:lstStyle/>
            <a:p>
              <a:endParaRPr lang="en-US"/>
            </a:p>
          </p:txBody>
        </p:sp>
        <p:sp>
          <p:nvSpPr>
            <p:cNvPr id="19559" name="Line 45"/>
            <p:cNvSpPr>
              <a:spLocks noChangeShapeType="1"/>
            </p:cNvSpPr>
            <p:nvPr/>
          </p:nvSpPr>
          <p:spPr bwMode="auto">
            <a:xfrm flipH="1">
              <a:off x="930" y="3158"/>
              <a:ext cx="90" cy="91"/>
            </a:xfrm>
            <a:prstGeom prst="line">
              <a:avLst/>
            </a:prstGeom>
            <a:noFill/>
            <a:ln w="9525">
              <a:solidFill>
                <a:schemeClr val="tx1"/>
              </a:solidFill>
              <a:round/>
              <a:headEnd/>
              <a:tailEnd/>
            </a:ln>
          </p:spPr>
          <p:txBody>
            <a:bodyPr wrap="none"/>
            <a:lstStyle/>
            <a:p>
              <a:endParaRPr lang="en-US"/>
            </a:p>
          </p:txBody>
        </p:sp>
        <p:sp>
          <p:nvSpPr>
            <p:cNvPr id="19560" name="Line 46"/>
            <p:cNvSpPr>
              <a:spLocks noChangeShapeType="1"/>
            </p:cNvSpPr>
            <p:nvPr/>
          </p:nvSpPr>
          <p:spPr bwMode="auto">
            <a:xfrm flipH="1">
              <a:off x="5329" y="3838"/>
              <a:ext cx="91" cy="91"/>
            </a:xfrm>
            <a:prstGeom prst="line">
              <a:avLst/>
            </a:prstGeom>
            <a:noFill/>
            <a:ln w="9525">
              <a:solidFill>
                <a:schemeClr val="tx1"/>
              </a:solidFill>
              <a:round/>
              <a:headEnd/>
              <a:tailEnd/>
            </a:ln>
          </p:spPr>
          <p:txBody>
            <a:bodyPr wrap="none"/>
            <a:lstStyle/>
            <a:p>
              <a:endParaRPr lang="en-US"/>
            </a:p>
          </p:txBody>
        </p:sp>
        <p:sp>
          <p:nvSpPr>
            <p:cNvPr id="19561" name="Line 47"/>
            <p:cNvSpPr>
              <a:spLocks noChangeShapeType="1"/>
            </p:cNvSpPr>
            <p:nvPr/>
          </p:nvSpPr>
          <p:spPr bwMode="auto">
            <a:xfrm flipH="1">
              <a:off x="703" y="4156"/>
              <a:ext cx="498" cy="0"/>
            </a:xfrm>
            <a:prstGeom prst="line">
              <a:avLst/>
            </a:prstGeom>
            <a:noFill/>
            <a:ln w="9525">
              <a:solidFill>
                <a:schemeClr val="tx1"/>
              </a:solidFill>
              <a:round/>
              <a:headEnd/>
              <a:tailEnd type="triangle" w="med" len="med"/>
            </a:ln>
          </p:spPr>
          <p:txBody>
            <a:bodyPr wrap="none"/>
            <a:lstStyle/>
            <a:p>
              <a:endParaRPr lang="en-US"/>
            </a:p>
          </p:txBody>
        </p:sp>
      </p:grpSp>
      <p:sp>
        <p:nvSpPr>
          <p:cNvPr id="19512" name="Line 103"/>
          <p:cNvSpPr>
            <a:spLocks noChangeShapeType="1"/>
          </p:cNvSpPr>
          <p:nvPr/>
        </p:nvSpPr>
        <p:spPr bwMode="auto">
          <a:xfrm>
            <a:off x="4284663" y="3357563"/>
            <a:ext cx="1079500" cy="0"/>
          </a:xfrm>
          <a:prstGeom prst="line">
            <a:avLst/>
          </a:prstGeom>
          <a:noFill/>
          <a:ln w="9525">
            <a:solidFill>
              <a:schemeClr val="tx1"/>
            </a:solidFill>
            <a:round/>
            <a:headEnd/>
            <a:tailEnd type="triangle" w="med" len="med"/>
          </a:ln>
        </p:spPr>
        <p:txBody>
          <a:bodyPr wrap="none"/>
          <a:lstStyle/>
          <a:p>
            <a:endParaRPr lang="en-US"/>
          </a:p>
        </p:txBody>
      </p:sp>
      <p:sp>
        <p:nvSpPr>
          <p:cNvPr id="19513" name="Line 104"/>
          <p:cNvSpPr>
            <a:spLocks noChangeShapeType="1"/>
          </p:cNvSpPr>
          <p:nvPr/>
        </p:nvSpPr>
        <p:spPr bwMode="auto">
          <a:xfrm>
            <a:off x="5435600" y="3357563"/>
            <a:ext cx="936625" cy="0"/>
          </a:xfrm>
          <a:prstGeom prst="line">
            <a:avLst/>
          </a:prstGeom>
          <a:noFill/>
          <a:ln w="9525">
            <a:solidFill>
              <a:schemeClr val="tx1"/>
            </a:solidFill>
            <a:round/>
            <a:headEnd/>
            <a:tailEnd type="triangle" w="med" len="med"/>
          </a:ln>
        </p:spPr>
        <p:txBody>
          <a:bodyPr wrap="none"/>
          <a:lstStyle/>
          <a:p>
            <a:endParaRPr lang="en-US"/>
          </a:p>
        </p:txBody>
      </p:sp>
      <p:sp>
        <p:nvSpPr>
          <p:cNvPr id="19514" name="Line 105"/>
          <p:cNvSpPr>
            <a:spLocks noChangeShapeType="1"/>
          </p:cNvSpPr>
          <p:nvPr/>
        </p:nvSpPr>
        <p:spPr bwMode="auto">
          <a:xfrm>
            <a:off x="6372225" y="3357563"/>
            <a:ext cx="1152525" cy="0"/>
          </a:xfrm>
          <a:prstGeom prst="line">
            <a:avLst/>
          </a:prstGeom>
          <a:noFill/>
          <a:ln w="9525">
            <a:solidFill>
              <a:schemeClr val="tx1"/>
            </a:solidFill>
            <a:round/>
            <a:headEnd/>
            <a:tailEnd type="triangle" w="med" len="med"/>
          </a:ln>
        </p:spPr>
        <p:txBody>
          <a:bodyPr wrap="none"/>
          <a:lstStyle/>
          <a:p>
            <a:endParaRPr lang="en-US"/>
          </a:p>
        </p:txBody>
      </p:sp>
      <p:sp>
        <p:nvSpPr>
          <p:cNvPr id="19515" name="Line 106"/>
          <p:cNvSpPr>
            <a:spLocks noChangeShapeType="1"/>
          </p:cNvSpPr>
          <p:nvPr/>
        </p:nvSpPr>
        <p:spPr bwMode="auto">
          <a:xfrm flipH="1">
            <a:off x="3203575" y="3357563"/>
            <a:ext cx="1152525" cy="0"/>
          </a:xfrm>
          <a:prstGeom prst="line">
            <a:avLst/>
          </a:prstGeom>
          <a:noFill/>
          <a:ln w="9525">
            <a:solidFill>
              <a:schemeClr val="tx1"/>
            </a:solidFill>
            <a:round/>
            <a:headEnd/>
            <a:tailEnd type="triangle" w="med" len="med"/>
          </a:ln>
        </p:spPr>
        <p:txBody>
          <a:bodyPr wrap="none"/>
          <a:lstStyle/>
          <a:p>
            <a:endParaRPr lang="en-US"/>
          </a:p>
        </p:txBody>
      </p:sp>
      <p:sp>
        <p:nvSpPr>
          <p:cNvPr id="19516" name="Line 107"/>
          <p:cNvSpPr>
            <a:spLocks noChangeShapeType="1"/>
          </p:cNvSpPr>
          <p:nvPr/>
        </p:nvSpPr>
        <p:spPr bwMode="auto">
          <a:xfrm flipH="1">
            <a:off x="2051050" y="3357563"/>
            <a:ext cx="1152525" cy="0"/>
          </a:xfrm>
          <a:prstGeom prst="line">
            <a:avLst/>
          </a:prstGeom>
          <a:noFill/>
          <a:ln w="9525">
            <a:solidFill>
              <a:schemeClr val="tx1"/>
            </a:solidFill>
            <a:round/>
            <a:headEnd/>
            <a:tailEnd type="triangle" w="med" len="med"/>
          </a:ln>
        </p:spPr>
        <p:txBody>
          <a:bodyPr wrap="none"/>
          <a:lstStyle/>
          <a:p>
            <a:endParaRPr lang="en-US"/>
          </a:p>
        </p:txBody>
      </p:sp>
      <p:sp>
        <p:nvSpPr>
          <p:cNvPr id="19517" name="Line 108"/>
          <p:cNvSpPr>
            <a:spLocks noChangeShapeType="1"/>
          </p:cNvSpPr>
          <p:nvPr/>
        </p:nvSpPr>
        <p:spPr bwMode="auto">
          <a:xfrm flipH="1">
            <a:off x="1042988" y="3357563"/>
            <a:ext cx="936625" cy="0"/>
          </a:xfrm>
          <a:prstGeom prst="line">
            <a:avLst/>
          </a:prstGeom>
          <a:noFill/>
          <a:ln w="9525">
            <a:solidFill>
              <a:schemeClr val="tx1"/>
            </a:solidFill>
            <a:round/>
            <a:headEnd/>
            <a:tailEnd type="triangle" w="med" len="med"/>
          </a:ln>
        </p:spPr>
        <p:txBody>
          <a:bodyPr wrap="none"/>
          <a:lstStyle/>
          <a:p>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a:xfrm>
            <a:off x="323850" y="115888"/>
            <a:ext cx="8510588" cy="896937"/>
          </a:xfrm>
        </p:spPr>
        <p:txBody>
          <a:bodyPr/>
          <a:lstStyle/>
          <a:p>
            <a:pPr eaLnBrk="1" hangingPunct="1"/>
            <a:r>
              <a:rPr lang="en-US" altLang="en-US">
                <a:effectLst/>
              </a:rPr>
              <a:t>Another Example</a:t>
            </a:r>
          </a:p>
        </p:txBody>
      </p:sp>
      <p:sp>
        <p:nvSpPr>
          <p:cNvPr id="20483" name="Oval 98"/>
          <p:cNvSpPr>
            <a:spLocks noChangeArrowheads="1"/>
          </p:cNvSpPr>
          <p:nvPr/>
        </p:nvSpPr>
        <p:spPr bwMode="auto">
          <a:xfrm>
            <a:off x="1908175" y="1628775"/>
            <a:ext cx="360363" cy="358775"/>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20484" name="Oval 99"/>
          <p:cNvSpPr>
            <a:spLocks noChangeArrowheads="1"/>
          </p:cNvSpPr>
          <p:nvPr/>
        </p:nvSpPr>
        <p:spPr bwMode="auto">
          <a:xfrm>
            <a:off x="1476375" y="3141663"/>
            <a:ext cx="360363" cy="360362"/>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20485" name="Oval 100"/>
          <p:cNvSpPr>
            <a:spLocks noChangeArrowheads="1"/>
          </p:cNvSpPr>
          <p:nvPr/>
        </p:nvSpPr>
        <p:spPr bwMode="auto">
          <a:xfrm>
            <a:off x="1908175" y="4149725"/>
            <a:ext cx="360363" cy="360363"/>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20486" name="Oval 101"/>
          <p:cNvSpPr>
            <a:spLocks noChangeArrowheads="1"/>
          </p:cNvSpPr>
          <p:nvPr/>
        </p:nvSpPr>
        <p:spPr bwMode="auto">
          <a:xfrm>
            <a:off x="1476375" y="5589588"/>
            <a:ext cx="360363" cy="360362"/>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20487" name="Line 102"/>
          <p:cNvSpPr>
            <a:spLocks noChangeShapeType="1"/>
          </p:cNvSpPr>
          <p:nvPr/>
        </p:nvSpPr>
        <p:spPr bwMode="auto">
          <a:xfrm flipH="1">
            <a:off x="1692275" y="1989138"/>
            <a:ext cx="358775" cy="1152525"/>
          </a:xfrm>
          <a:prstGeom prst="line">
            <a:avLst/>
          </a:prstGeom>
          <a:noFill/>
          <a:ln w="9525">
            <a:solidFill>
              <a:schemeClr val="tx1"/>
            </a:solidFill>
            <a:round/>
            <a:headEnd/>
            <a:tailEnd/>
          </a:ln>
        </p:spPr>
        <p:txBody>
          <a:bodyPr wrap="none"/>
          <a:lstStyle/>
          <a:p>
            <a:endParaRPr lang="en-US"/>
          </a:p>
        </p:txBody>
      </p:sp>
      <p:sp>
        <p:nvSpPr>
          <p:cNvPr id="20488" name="Line 103"/>
          <p:cNvSpPr>
            <a:spLocks noChangeShapeType="1"/>
          </p:cNvSpPr>
          <p:nvPr/>
        </p:nvSpPr>
        <p:spPr bwMode="auto">
          <a:xfrm flipH="1">
            <a:off x="1763713" y="4508500"/>
            <a:ext cx="287337" cy="1081088"/>
          </a:xfrm>
          <a:prstGeom prst="line">
            <a:avLst/>
          </a:prstGeom>
          <a:noFill/>
          <a:ln w="9525">
            <a:solidFill>
              <a:schemeClr val="tx1"/>
            </a:solidFill>
            <a:round/>
            <a:headEnd/>
            <a:tailEnd/>
          </a:ln>
        </p:spPr>
        <p:txBody>
          <a:bodyPr wrap="none"/>
          <a:lstStyle/>
          <a:p>
            <a:endParaRPr lang="en-US"/>
          </a:p>
        </p:txBody>
      </p:sp>
      <p:sp>
        <p:nvSpPr>
          <p:cNvPr id="319585" name="Rectangle 97"/>
          <p:cNvSpPr>
            <a:spLocks noRot="1" noChangeArrowheads="1"/>
          </p:cNvSpPr>
          <p:nvPr/>
        </p:nvSpPr>
        <p:spPr bwMode="auto">
          <a:xfrm>
            <a:off x="762000" y="1268413"/>
            <a:ext cx="2514600" cy="4895850"/>
          </a:xfrm>
          <a:prstGeom prst="rect">
            <a:avLst/>
          </a:prstGeom>
          <a:noFill/>
          <a:ln>
            <a:noFill/>
          </a:ln>
          <a:effectLst/>
        </p:spPr>
        <p:txBody>
          <a:bodyPr/>
          <a:lstStyle/>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Current State = S</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f(A) = 3 + 5 = 8                  </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f(B) = 2 + 4 = 6</a:t>
            </a:r>
          </a:p>
          <a:p>
            <a:pPr marL="342900" indent="-342900">
              <a:spcBef>
                <a:spcPct val="20000"/>
              </a:spcBef>
              <a:buClr>
                <a:schemeClr val="hlink"/>
              </a:buClr>
              <a:buFont typeface="Wingdings" pitchFamily="2" charset="2"/>
              <a:buNone/>
              <a:defRPr/>
            </a:pPr>
            <a:endParaRPr lang="en-US" sz="2000" dirty="0">
              <a:effectLst>
                <a:outerShdw blurRad="38100" dist="38100" dir="2700000" algn="tl">
                  <a:srgbClr val="4D4D4D"/>
                </a:outerShdw>
              </a:effectLst>
            </a:endParaRP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Current State = B</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f(S) = 2 + 8 = 10                                                                   f(A) = 4 + 5 = 9</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f(C) = 1 + 5 = 6</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f(E) = 4 + 2 = 6</a:t>
            </a:r>
          </a:p>
          <a:p>
            <a:pPr marL="342900" indent="-342900">
              <a:spcBef>
                <a:spcPct val="20000"/>
              </a:spcBef>
              <a:buClr>
                <a:schemeClr val="hlink"/>
              </a:buClr>
              <a:buFont typeface="Wingdings" pitchFamily="2" charset="2"/>
              <a:buNone/>
              <a:defRPr/>
            </a:pPr>
            <a:endParaRPr lang="en-US" sz="2000" dirty="0">
              <a:effectLst>
                <a:outerShdw blurRad="38100" dist="38100" dir="2700000" algn="tl">
                  <a:srgbClr val="4D4D4D"/>
                </a:outerShdw>
              </a:effectLst>
            </a:endParaRP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Current State = C</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f(H) = 2 + 4 = 6</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f(B) = 1 + 6 = 7</a:t>
            </a:r>
          </a:p>
        </p:txBody>
      </p:sp>
      <p:grpSp>
        <p:nvGrpSpPr>
          <p:cNvPr id="2" name="Group 974"/>
          <p:cNvGrpSpPr>
            <a:grpSpLocks/>
          </p:cNvGrpSpPr>
          <p:nvPr/>
        </p:nvGrpSpPr>
        <p:grpSpPr bwMode="auto">
          <a:xfrm>
            <a:off x="4211638" y="1600200"/>
            <a:ext cx="4287837" cy="4667250"/>
            <a:chOff x="2653" y="754"/>
            <a:chExt cx="2701" cy="3194"/>
          </a:xfrm>
        </p:grpSpPr>
        <p:sp>
          <p:nvSpPr>
            <p:cNvPr id="20491" name="Oval 40"/>
            <p:cNvSpPr>
              <a:spLocks noChangeArrowheads="1"/>
            </p:cNvSpPr>
            <p:nvPr/>
          </p:nvSpPr>
          <p:spPr bwMode="auto">
            <a:xfrm>
              <a:off x="3334" y="1389"/>
              <a:ext cx="360" cy="360"/>
            </a:xfrm>
            <a:prstGeom prst="ellipse">
              <a:avLst/>
            </a:prstGeom>
            <a:noFill/>
            <a:ln w="25400">
              <a:solidFill>
                <a:schemeClr val="tx1"/>
              </a:solidFill>
              <a:round/>
              <a:headEnd/>
              <a:tailEnd/>
            </a:ln>
          </p:spPr>
          <p:txBody>
            <a:bodyPr wrap="none" anchor="ctr"/>
            <a:lstStyle/>
            <a:p>
              <a:endParaRPr lang="en-US" altLang="en-US"/>
            </a:p>
          </p:txBody>
        </p:sp>
        <p:sp>
          <p:nvSpPr>
            <p:cNvPr id="20492" name="Rectangle 43"/>
            <p:cNvSpPr>
              <a:spLocks noChangeArrowheads="1"/>
            </p:cNvSpPr>
            <p:nvPr/>
          </p:nvSpPr>
          <p:spPr bwMode="auto">
            <a:xfrm>
              <a:off x="3379" y="1389"/>
              <a:ext cx="318" cy="336"/>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20493" name="Rectangle 44"/>
            <p:cNvSpPr>
              <a:spLocks noChangeArrowheads="1"/>
            </p:cNvSpPr>
            <p:nvPr/>
          </p:nvSpPr>
          <p:spPr bwMode="auto">
            <a:xfrm>
              <a:off x="4014" y="1435"/>
              <a:ext cx="288" cy="336"/>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3600" b="1">
                  <a:latin typeface="Times New Roman" charset="0"/>
                  <a:cs typeface="Times New Roman (Hebrew)" charset="-79"/>
                </a:rPr>
                <a:t>B</a:t>
              </a:r>
            </a:p>
          </p:txBody>
        </p:sp>
        <p:sp>
          <p:nvSpPr>
            <p:cNvPr id="20494" name="Oval 45"/>
            <p:cNvSpPr>
              <a:spLocks noChangeArrowheads="1"/>
            </p:cNvSpPr>
            <p:nvPr/>
          </p:nvSpPr>
          <p:spPr bwMode="auto">
            <a:xfrm>
              <a:off x="3515" y="2069"/>
              <a:ext cx="360" cy="360"/>
            </a:xfrm>
            <a:prstGeom prst="ellipse">
              <a:avLst/>
            </a:prstGeom>
            <a:noFill/>
            <a:ln w="25400">
              <a:solidFill>
                <a:schemeClr val="tx1"/>
              </a:solidFill>
              <a:round/>
              <a:headEnd/>
              <a:tailEnd/>
            </a:ln>
          </p:spPr>
          <p:txBody>
            <a:bodyPr wrap="none" anchor="ctr"/>
            <a:lstStyle/>
            <a:p>
              <a:endParaRPr lang="en-US" altLang="en-US"/>
            </a:p>
          </p:txBody>
        </p:sp>
        <p:sp>
          <p:nvSpPr>
            <p:cNvPr id="20495" name="Rectangle 46"/>
            <p:cNvSpPr>
              <a:spLocks noChangeArrowheads="1"/>
            </p:cNvSpPr>
            <p:nvPr/>
          </p:nvSpPr>
          <p:spPr bwMode="auto">
            <a:xfrm>
              <a:off x="3560" y="2069"/>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C</a:t>
              </a:r>
            </a:p>
          </p:txBody>
        </p:sp>
        <p:sp>
          <p:nvSpPr>
            <p:cNvPr id="20496" name="Oval 48"/>
            <p:cNvSpPr>
              <a:spLocks noChangeArrowheads="1"/>
            </p:cNvSpPr>
            <p:nvPr/>
          </p:nvSpPr>
          <p:spPr bwMode="auto">
            <a:xfrm>
              <a:off x="3742" y="754"/>
              <a:ext cx="360" cy="360"/>
            </a:xfrm>
            <a:prstGeom prst="ellipse">
              <a:avLst/>
            </a:prstGeom>
            <a:noFill/>
            <a:ln w="25400">
              <a:solidFill>
                <a:schemeClr val="tx1"/>
              </a:solidFill>
              <a:round/>
              <a:headEnd/>
              <a:tailEnd/>
            </a:ln>
          </p:spPr>
          <p:txBody>
            <a:bodyPr wrap="none" anchor="ctr"/>
            <a:lstStyle/>
            <a:p>
              <a:endParaRPr lang="en-US" altLang="en-US"/>
            </a:p>
          </p:txBody>
        </p:sp>
        <p:sp>
          <p:nvSpPr>
            <p:cNvPr id="20497" name="Rectangle 49"/>
            <p:cNvSpPr>
              <a:spLocks noChangeArrowheads="1"/>
            </p:cNvSpPr>
            <p:nvPr/>
          </p:nvSpPr>
          <p:spPr bwMode="auto">
            <a:xfrm>
              <a:off x="3787" y="754"/>
              <a:ext cx="240"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S</a:t>
              </a:r>
            </a:p>
          </p:txBody>
        </p:sp>
        <p:sp>
          <p:nvSpPr>
            <p:cNvPr id="20498" name="Oval 50"/>
            <p:cNvSpPr>
              <a:spLocks noChangeArrowheads="1"/>
            </p:cNvSpPr>
            <p:nvPr/>
          </p:nvSpPr>
          <p:spPr bwMode="auto">
            <a:xfrm>
              <a:off x="3969" y="1434"/>
              <a:ext cx="360" cy="360"/>
            </a:xfrm>
            <a:prstGeom prst="ellipse">
              <a:avLst/>
            </a:prstGeom>
            <a:noFill/>
            <a:ln w="25400">
              <a:solidFill>
                <a:schemeClr val="tx1"/>
              </a:solidFill>
              <a:round/>
              <a:headEnd/>
              <a:tailEnd/>
            </a:ln>
          </p:spPr>
          <p:txBody>
            <a:bodyPr wrap="none" anchor="ctr"/>
            <a:lstStyle/>
            <a:p>
              <a:endParaRPr lang="en-US" altLang="en-US"/>
            </a:p>
          </p:txBody>
        </p:sp>
        <p:sp>
          <p:nvSpPr>
            <p:cNvPr id="20499" name="Rectangle 51"/>
            <p:cNvSpPr>
              <a:spLocks noChangeArrowheads="1"/>
            </p:cNvSpPr>
            <p:nvPr/>
          </p:nvSpPr>
          <p:spPr bwMode="auto">
            <a:xfrm>
              <a:off x="4332" y="1389"/>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20500" name="Rectangle 52"/>
            <p:cNvSpPr>
              <a:spLocks noChangeArrowheads="1"/>
            </p:cNvSpPr>
            <p:nvPr/>
          </p:nvSpPr>
          <p:spPr bwMode="auto">
            <a:xfrm>
              <a:off x="2653" y="2886"/>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20501" name="Rectangle 54"/>
            <p:cNvSpPr>
              <a:spLocks noChangeArrowheads="1"/>
            </p:cNvSpPr>
            <p:nvPr/>
          </p:nvSpPr>
          <p:spPr bwMode="auto">
            <a:xfrm>
              <a:off x="4014" y="2841"/>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20502" name="Oval 55"/>
            <p:cNvSpPr>
              <a:spLocks noChangeArrowheads="1"/>
            </p:cNvSpPr>
            <p:nvPr/>
          </p:nvSpPr>
          <p:spPr bwMode="auto">
            <a:xfrm>
              <a:off x="3016" y="2841"/>
              <a:ext cx="360" cy="360"/>
            </a:xfrm>
            <a:prstGeom prst="ellipse">
              <a:avLst/>
            </a:prstGeom>
            <a:noFill/>
            <a:ln w="25400">
              <a:solidFill>
                <a:schemeClr val="tx1"/>
              </a:solidFill>
              <a:round/>
              <a:headEnd/>
              <a:tailEnd/>
            </a:ln>
          </p:spPr>
          <p:txBody>
            <a:bodyPr wrap="none" anchor="ctr"/>
            <a:lstStyle/>
            <a:p>
              <a:endParaRPr lang="en-US" altLang="en-US"/>
            </a:p>
          </p:txBody>
        </p:sp>
        <p:sp>
          <p:nvSpPr>
            <p:cNvPr id="20503" name="Rectangle 57"/>
            <p:cNvSpPr>
              <a:spLocks noChangeArrowheads="1"/>
            </p:cNvSpPr>
            <p:nvPr/>
          </p:nvSpPr>
          <p:spPr bwMode="auto">
            <a:xfrm>
              <a:off x="2971" y="1389"/>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20504" name="Rectangle 58"/>
            <p:cNvSpPr>
              <a:spLocks noChangeArrowheads="1"/>
            </p:cNvSpPr>
            <p:nvPr/>
          </p:nvSpPr>
          <p:spPr bwMode="auto">
            <a:xfrm>
              <a:off x="4059" y="1072"/>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0505" name="Rectangle 59"/>
            <p:cNvSpPr>
              <a:spLocks noChangeArrowheads="1"/>
            </p:cNvSpPr>
            <p:nvPr/>
          </p:nvSpPr>
          <p:spPr bwMode="auto">
            <a:xfrm>
              <a:off x="4604" y="2069"/>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0506" name="Oval 61"/>
            <p:cNvSpPr>
              <a:spLocks noChangeArrowheads="1"/>
            </p:cNvSpPr>
            <p:nvPr/>
          </p:nvSpPr>
          <p:spPr bwMode="auto">
            <a:xfrm>
              <a:off x="3969" y="2840"/>
              <a:ext cx="360" cy="360"/>
            </a:xfrm>
            <a:prstGeom prst="ellipse">
              <a:avLst/>
            </a:prstGeom>
            <a:noFill/>
            <a:ln w="25400">
              <a:solidFill>
                <a:schemeClr val="tx1"/>
              </a:solidFill>
              <a:round/>
              <a:headEnd/>
              <a:tailEnd/>
            </a:ln>
          </p:spPr>
          <p:txBody>
            <a:bodyPr wrap="none" anchor="ctr"/>
            <a:lstStyle/>
            <a:p>
              <a:endParaRPr lang="en-US" altLang="en-US"/>
            </a:p>
          </p:txBody>
        </p:sp>
        <p:sp>
          <p:nvSpPr>
            <p:cNvPr id="20507" name="Rectangle 62"/>
            <p:cNvSpPr>
              <a:spLocks noChangeArrowheads="1"/>
            </p:cNvSpPr>
            <p:nvPr/>
          </p:nvSpPr>
          <p:spPr bwMode="auto">
            <a:xfrm>
              <a:off x="3605" y="3612"/>
              <a:ext cx="304"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G</a:t>
              </a:r>
            </a:p>
          </p:txBody>
        </p:sp>
        <p:sp>
          <p:nvSpPr>
            <p:cNvPr id="20508" name="Oval 64"/>
            <p:cNvSpPr>
              <a:spLocks noChangeArrowheads="1"/>
            </p:cNvSpPr>
            <p:nvPr/>
          </p:nvSpPr>
          <p:spPr bwMode="auto">
            <a:xfrm>
              <a:off x="4241" y="2070"/>
              <a:ext cx="360" cy="360"/>
            </a:xfrm>
            <a:prstGeom prst="ellipse">
              <a:avLst/>
            </a:prstGeom>
            <a:noFill/>
            <a:ln w="25400">
              <a:solidFill>
                <a:schemeClr val="tx1"/>
              </a:solidFill>
              <a:round/>
              <a:headEnd/>
              <a:tailEnd/>
            </a:ln>
          </p:spPr>
          <p:txBody>
            <a:bodyPr wrap="none" anchor="ctr"/>
            <a:lstStyle/>
            <a:p>
              <a:endParaRPr lang="en-US" altLang="en-US"/>
            </a:p>
          </p:txBody>
        </p:sp>
        <p:sp>
          <p:nvSpPr>
            <p:cNvPr id="20509" name="Rectangle 65"/>
            <p:cNvSpPr>
              <a:spLocks noChangeArrowheads="1"/>
            </p:cNvSpPr>
            <p:nvPr/>
          </p:nvSpPr>
          <p:spPr bwMode="auto">
            <a:xfrm>
              <a:off x="5012" y="2886"/>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a:t>
              </a:r>
            </a:p>
          </p:txBody>
        </p:sp>
        <p:sp>
          <p:nvSpPr>
            <p:cNvPr id="20510" name="Rectangle 66"/>
            <p:cNvSpPr>
              <a:spLocks noChangeArrowheads="1"/>
            </p:cNvSpPr>
            <p:nvPr/>
          </p:nvSpPr>
          <p:spPr bwMode="auto">
            <a:xfrm>
              <a:off x="4286" y="2069"/>
              <a:ext cx="288" cy="336"/>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3600" b="1">
                  <a:latin typeface="Times New Roman" charset="0"/>
                  <a:cs typeface="Times New Roman (Hebrew)" charset="-79"/>
                </a:rPr>
                <a:t>E</a:t>
              </a:r>
            </a:p>
          </p:txBody>
        </p:sp>
        <p:sp>
          <p:nvSpPr>
            <p:cNvPr id="20511" name="Rectangle 68"/>
            <p:cNvSpPr>
              <a:spLocks noChangeArrowheads="1"/>
            </p:cNvSpPr>
            <p:nvPr/>
          </p:nvSpPr>
          <p:spPr bwMode="auto">
            <a:xfrm>
              <a:off x="3606" y="284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0512" name="Rectangle 72"/>
            <p:cNvSpPr>
              <a:spLocks noChangeArrowheads="1"/>
            </p:cNvSpPr>
            <p:nvPr/>
          </p:nvSpPr>
          <p:spPr bwMode="auto">
            <a:xfrm>
              <a:off x="3061" y="2886"/>
              <a:ext cx="288" cy="336"/>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3600" b="1">
                  <a:latin typeface="Times New Roman" charset="0"/>
                  <a:cs typeface="Times New Roman (Hebrew)" charset="-79"/>
                </a:rPr>
                <a:t>H</a:t>
              </a:r>
            </a:p>
          </p:txBody>
        </p:sp>
        <p:sp>
          <p:nvSpPr>
            <p:cNvPr id="20513" name="Oval 73"/>
            <p:cNvSpPr>
              <a:spLocks noChangeArrowheads="1"/>
            </p:cNvSpPr>
            <p:nvPr/>
          </p:nvSpPr>
          <p:spPr bwMode="auto">
            <a:xfrm>
              <a:off x="3560" y="3566"/>
              <a:ext cx="360" cy="360"/>
            </a:xfrm>
            <a:prstGeom prst="ellipse">
              <a:avLst/>
            </a:prstGeom>
            <a:noFill/>
            <a:ln w="25400">
              <a:solidFill>
                <a:schemeClr val="tx1"/>
              </a:solidFill>
              <a:round/>
              <a:headEnd/>
              <a:tailEnd/>
            </a:ln>
          </p:spPr>
          <p:txBody>
            <a:bodyPr wrap="none" anchor="ctr"/>
            <a:lstStyle/>
            <a:p>
              <a:endParaRPr lang="en-US" altLang="en-US"/>
            </a:p>
          </p:txBody>
        </p:sp>
        <p:sp>
          <p:nvSpPr>
            <p:cNvPr id="20514" name="Rectangle 75"/>
            <p:cNvSpPr>
              <a:spLocks noChangeArrowheads="1"/>
            </p:cNvSpPr>
            <p:nvPr/>
          </p:nvSpPr>
          <p:spPr bwMode="auto">
            <a:xfrm>
              <a:off x="3969" y="3612"/>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(0)</a:t>
              </a:r>
            </a:p>
          </p:txBody>
        </p:sp>
        <p:sp>
          <p:nvSpPr>
            <p:cNvPr id="20515" name="Rectangle 77"/>
            <p:cNvSpPr>
              <a:spLocks noChangeArrowheads="1"/>
            </p:cNvSpPr>
            <p:nvPr/>
          </p:nvSpPr>
          <p:spPr bwMode="auto">
            <a:xfrm>
              <a:off x="3470" y="1071"/>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3</a:t>
              </a:r>
            </a:p>
          </p:txBody>
        </p:sp>
        <p:sp>
          <p:nvSpPr>
            <p:cNvPr id="20516" name="Rectangle 78"/>
            <p:cNvSpPr>
              <a:spLocks noChangeArrowheads="1"/>
            </p:cNvSpPr>
            <p:nvPr/>
          </p:nvSpPr>
          <p:spPr bwMode="auto">
            <a:xfrm>
              <a:off x="3787" y="1298"/>
              <a:ext cx="192"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20517" name="Rectangle 79"/>
            <p:cNvSpPr>
              <a:spLocks noChangeArrowheads="1"/>
            </p:cNvSpPr>
            <p:nvPr/>
          </p:nvSpPr>
          <p:spPr bwMode="auto">
            <a:xfrm>
              <a:off x="4332" y="1706"/>
              <a:ext cx="181"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20518" name="Rectangle 80"/>
            <p:cNvSpPr>
              <a:spLocks noChangeArrowheads="1"/>
            </p:cNvSpPr>
            <p:nvPr/>
          </p:nvSpPr>
          <p:spPr bwMode="auto">
            <a:xfrm>
              <a:off x="3696" y="1706"/>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a:t>
              </a:r>
            </a:p>
          </p:txBody>
        </p:sp>
        <p:sp>
          <p:nvSpPr>
            <p:cNvPr id="20519" name="Rectangle 81"/>
            <p:cNvSpPr>
              <a:spLocks noChangeArrowheads="1"/>
            </p:cNvSpPr>
            <p:nvPr/>
          </p:nvSpPr>
          <p:spPr bwMode="auto">
            <a:xfrm>
              <a:off x="3152" y="2115"/>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20520" name="Oval 83"/>
            <p:cNvSpPr>
              <a:spLocks noChangeArrowheads="1"/>
            </p:cNvSpPr>
            <p:nvPr/>
          </p:nvSpPr>
          <p:spPr bwMode="auto">
            <a:xfrm>
              <a:off x="4649" y="2840"/>
              <a:ext cx="360" cy="360"/>
            </a:xfrm>
            <a:prstGeom prst="ellipse">
              <a:avLst/>
            </a:prstGeom>
            <a:noFill/>
            <a:ln w="25400">
              <a:solidFill>
                <a:schemeClr val="tx1"/>
              </a:solidFill>
              <a:round/>
              <a:headEnd/>
              <a:tailEnd/>
            </a:ln>
          </p:spPr>
          <p:txBody>
            <a:bodyPr wrap="none" anchor="ctr"/>
            <a:lstStyle/>
            <a:p>
              <a:endParaRPr lang="en-US" altLang="en-US"/>
            </a:p>
          </p:txBody>
        </p:sp>
        <p:sp>
          <p:nvSpPr>
            <p:cNvPr id="20521" name="Rectangle 84"/>
            <p:cNvSpPr>
              <a:spLocks noChangeArrowheads="1"/>
            </p:cNvSpPr>
            <p:nvPr/>
          </p:nvSpPr>
          <p:spPr bwMode="auto">
            <a:xfrm>
              <a:off x="4694" y="2840"/>
              <a:ext cx="256"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F</a:t>
              </a:r>
            </a:p>
          </p:txBody>
        </p:sp>
        <p:sp>
          <p:nvSpPr>
            <p:cNvPr id="20522" name="Rectangle 85"/>
            <p:cNvSpPr>
              <a:spLocks noChangeArrowheads="1"/>
            </p:cNvSpPr>
            <p:nvPr/>
          </p:nvSpPr>
          <p:spPr bwMode="auto">
            <a:xfrm>
              <a:off x="3243" y="2478"/>
              <a:ext cx="272"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0523" name="Rectangle 86"/>
            <p:cNvSpPr>
              <a:spLocks noChangeArrowheads="1"/>
            </p:cNvSpPr>
            <p:nvPr/>
          </p:nvSpPr>
          <p:spPr bwMode="auto">
            <a:xfrm>
              <a:off x="4649" y="2432"/>
              <a:ext cx="272"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1</a:t>
              </a:r>
            </a:p>
          </p:txBody>
        </p:sp>
        <p:sp>
          <p:nvSpPr>
            <p:cNvPr id="20524" name="Rectangle 87"/>
            <p:cNvSpPr>
              <a:spLocks noChangeArrowheads="1"/>
            </p:cNvSpPr>
            <p:nvPr/>
          </p:nvSpPr>
          <p:spPr bwMode="auto">
            <a:xfrm>
              <a:off x="4014" y="2478"/>
              <a:ext cx="272"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dirty="0">
                  <a:latin typeface="Times New Roman" charset="0"/>
                  <a:cs typeface="Times New Roman (Hebrew)" charset="-79"/>
                </a:rPr>
                <a:t>3</a:t>
              </a:r>
            </a:p>
          </p:txBody>
        </p:sp>
        <p:sp>
          <p:nvSpPr>
            <p:cNvPr id="20525" name="Rectangle 88"/>
            <p:cNvSpPr>
              <a:spLocks noChangeArrowheads="1"/>
            </p:cNvSpPr>
            <p:nvPr/>
          </p:nvSpPr>
          <p:spPr bwMode="auto">
            <a:xfrm>
              <a:off x="4014" y="3294"/>
              <a:ext cx="227"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0526" name="Line 1010"/>
            <p:cNvSpPr>
              <a:spLocks noChangeShapeType="1"/>
            </p:cNvSpPr>
            <p:nvPr/>
          </p:nvSpPr>
          <p:spPr bwMode="auto">
            <a:xfrm flipH="1">
              <a:off x="3606" y="1071"/>
              <a:ext cx="227" cy="318"/>
            </a:xfrm>
            <a:prstGeom prst="line">
              <a:avLst/>
            </a:prstGeom>
            <a:noFill/>
            <a:ln w="9525">
              <a:solidFill>
                <a:schemeClr val="tx1"/>
              </a:solidFill>
              <a:round/>
              <a:headEnd/>
              <a:tailEnd type="triangle" w="med" len="med"/>
            </a:ln>
          </p:spPr>
          <p:txBody>
            <a:bodyPr wrap="none"/>
            <a:lstStyle/>
            <a:p>
              <a:endParaRPr lang="en-US"/>
            </a:p>
          </p:txBody>
        </p:sp>
        <p:sp>
          <p:nvSpPr>
            <p:cNvPr id="20527" name="Line 1011"/>
            <p:cNvSpPr>
              <a:spLocks noChangeShapeType="1"/>
            </p:cNvSpPr>
            <p:nvPr/>
          </p:nvSpPr>
          <p:spPr bwMode="auto">
            <a:xfrm>
              <a:off x="3969" y="1117"/>
              <a:ext cx="136" cy="317"/>
            </a:xfrm>
            <a:prstGeom prst="line">
              <a:avLst/>
            </a:prstGeom>
            <a:noFill/>
            <a:ln w="9525">
              <a:solidFill>
                <a:schemeClr val="tx1"/>
              </a:solidFill>
              <a:round/>
              <a:headEnd/>
              <a:tailEnd type="triangle" w="med" len="med"/>
            </a:ln>
          </p:spPr>
          <p:txBody>
            <a:bodyPr wrap="none"/>
            <a:lstStyle/>
            <a:p>
              <a:endParaRPr lang="en-US"/>
            </a:p>
          </p:txBody>
        </p:sp>
        <p:sp>
          <p:nvSpPr>
            <p:cNvPr id="20528" name="Line 1012"/>
            <p:cNvSpPr>
              <a:spLocks noChangeShapeType="1"/>
            </p:cNvSpPr>
            <p:nvPr/>
          </p:nvSpPr>
          <p:spPr bwMode="auto">
            <a:xfrm>
              <a:off x="3696" y="1570"/>
              <a:ext cx="273" cy="0"/>
            </a:xfrm>
            <a:prstGeom prst="line">
              <a:avLst/>
            </a:prstGeom>
            <a:noFill/>
            <a:ln w="9525">
              <a:solidFill>
                <a:schemeClr val="tx1"/>
              </a:solidFill>
              <a:round/>
              <a:headEnd/>
              <a:tailEnd type="triangle" w="med" len="med"/>
            </a:ln>
          </p:spPr>
          <p:txBody>
            <a:bodyPr wrap="none"/>
            <a:lstStyle/>
            <a:p>
              <a:endParaRPr lang="en-US"/>
            </a:p>
          </p:txBody>
        </p:sp>
        <p:sp>
          <p:nvSpPr>
            <p:cNvPr id="20529" name="Line 1013"/>
            <p:cNvSpPr>
              <a:spLocks noChangeShapeType="1"/>
            </p:cNvSpPr>
            <p:nvPr/>
          </p:nvSpPr>
          <p:spPr bwMode="auto">
            <a:xfrm flipH="1">
              <a:off x="3833" y="1797"/>
              <a:ext cx="226" cy="318"/>
            </a:xfrm>
            <a:prstGeom prst="line">
              <a:avLst/>
            </a:prstGeom>
            <a:noFill/>
            <a:ln w="9525">
              <a:solidFill>
                <a:schemeClr val="tx1"/>
              </a:solidFill>
              <a:round/>
              <a:headEnd/>
              <a:tailEnd type="triangle" w="med" len="med"/>
            </a:ln>
          </p:spPr>
          <p:txBody>
            <a:bodyPr wrap="none"/>
            <a:lstStyle/>
            <a:p>
              <a:endParaRPr lang="en-US"/>
            </a:p>
          </p:txBody>
        </p:sp>
        <p:sp>
          <p:nvSpPr>
            <p:cNvPr id="20530" name="Line 1014"/>
            <p:cNvSpPr>
              <a:spLocks noChangeShapeType="1"/>
            </p:cNvSpPr>
            <p:nvPr/>
          </p:nvSpPr>
          <p:spPr bwMode="auto">
            <a:xfrm>
              <a:off x="4195" y="1797"/>
              <a:ext cx="137" cy="272"/>
            </a:xfrm>
            <a:prstGeom prst="line">
              <a:avLst/>
            </a:prstGeom>
            <a:noFill/>
            <a:ln w="9525">
              <a:solidFill>
                <a:schemeClr val="tx1"/>
              </a:solidFill>
              <a:round/>
              <a:headEnd/>
              <a:tailEnd type="triangle" w="med" len="med"/>
            </a:ln>
          </p:spPr>
          <p:txBody>
            <a:bodyPr wrap="none"/>
            <a:lstStyle/>
            <a:p>
              <a:endParaRPr lang="en-US"/>
            </a:p>
          </p:txBody>
        </p:sp>
        <p:sp>
          <p:nvSpPr>
            <p:cNvPr id="20531" name="Line 1015"/>
            <p:cNvSpPr>
              <a:spLocks noChangeShapeType="1"/>
            </p:cNvSpPr>
            <p:nvPr/>
          </p:nvSpPr>
          <p:spPr bwMode="auto">
            <a:xfrm flipH="1">
              <a:off x="4195" y="2432"/>
              <a:ext cx="182" cy="408"/>
            </a:xfrm>
            <a:prstGeom prst="line">
              <a:avLst/>
            </a:prstGeom>
            <a:noFill/>
            <a:ln w="9525">
              <a:solidFill>
                <a:schemeClr val="tx1"/>
              </a:solidFill>
              <a:round/>
              <a:headEnd/>
              <a:tailEnd type="triangle" w="med" len="med"/>
            </a:ln>
          </p:spPr>
          <p:txBody>
            <a:bodyPr wrap="none"/>
            <a:lstStyle/>
            <a:p>
              <a:endParaRPr lang="en-US"/>
            </a:p>
          </p:txBody>
        </p:sp>
        <p:sp>
          <p:nvSpPr>
            <p:cNvPr id="20532" name="Line 1016"/>
            <p:cNvSpPr>
              <a:spLocks noChangeShapeType="1"/>
            </p:cNvSpPr>
            <p:nvPr/>
          </p:nvSpPr>
          <p:spPr bwMode="auto">
            <a:xfrm flipH="1">
              <a:off x="3288" y="2387"/>
              <a:ext cx="318" cy="453"/>
            </a:xfrm>
            <a:prstGeom prst="line">
              <a:avLst/>
            </a:prstGeom>
            <a:noFill/>
            <a:ln w="9525">
              <a:solidFill>
                <a:schemeClr val="tx1"/>
              </a:solidFill>
              <a:round/>
              <a:headEnd/>
              <a:tailEnd type="triangle" w="med" len="med"/>
            </a:ln>
          </p:spPr>
          <p:txBody>
            <a:bodyPr wrap="none"/>
            <a:lstStyle/>
            <a:p>
              <a:endParaRPr lang="en-US"/>
            </a:p>
          </p:txBody>
        </p:sp>
        <p:sp>
          <p:nvSpPr>
            <p:cNvPr id="20533" name="Line 1017"/>
            <p:cNvSpPr>
              <a:spLocks noChangeShapeType="1"/>
            </p:cNvSpPr>
            <p:nvPr/>
          </p:nvSpPr>
          <p:spPr bwMode="auto">
            <a:xfrm>
              <a:off x="4468" y="2432"/>
              <a:ext cx="272" cy="408"/>
            </a:xfrm>
            <a:prstGeom prst="line">
              <a:avLst/>
            </a:prstGeom>
            <a:noFill/>
            <a:ln w="9525">
              <a:solidFill>
                <a:schemeClr val="tx1"/>
              </a:solidFill>
              <a:round/>
              <a:headEnd/>
              <a:tailEnd type="triangle" w="med" len="med"/>
            </a:ln>
          </p:spPr>
          <p:txBody>
            <a:bodyPr wrap="none"/>
            <a:lstStyle/>
            <a:p>
              <a:endParaRPr lang="en-US"/>
            </a:p>
          </p:txBody>
        </p:sp>
        <p:sp>
          <p:nvSpPr>
            <p:cNvPr id="20534" name="Line 1018"/>
            <p:cNvSpPr>
              <a:spLocks noChangeShapeType="1"/>
            </p:cNvSpPr>
            <p:nvPr/>
          </p:nvSpPr>
          <p:spPr bwMode="auto">
            <a:xfrm flipH="1">
              <a:off x="3833" y="3203"/>
              <a:ext cx="272" cy="408"/>
            </a:xfrm>
            <a:prstGeom prst="line">
              <a:avLst/>
            </a:prstGeom>
            <a:noFill/>
            <a:ln w="9525">
              <a:solidFill>
                <a:schemeClr val="tx1"/>
              </a:solidFill>
              <a:round/>
              <a:headEnd/>
              <a:tailEnd type="triangle" w="med" len="med"/>
            </a:ln>
          </p:spPr>
          <p:txBody>
            <a:bodyPr wrap="none"/>
            <a:lstStyle/>
            <a:p>
              <a:endParaRPr lang="en-US"/>
            </a:p>
          </p:txBody>
        </p:sp>
      </p:gr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Oval 50"/>
          <p:cNvSpPr>
            <a:spLocks noChangeArrowheads="1"/>
          </p:cNvSpPr>
          <p:nvPr/>
        </p:nvSpPr>
        <p:spPr bwMode="auto">
          <a:xfrm>
            <a:off x="1908175" y="3789363"/>
            <a:ext cx="360363" cy="360362"/>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21507" name="Oval 51"/>
          <p:cNvSpPr>
            <a:spLocks noChangeArrowheads="1"/>
          </p:cNvSpPr>
          <p:nvPr/>
        </p:nvSpPr>
        <p:spPr bwMode="auto">
          <a:xfrm>
            <a:off x="1476375" y="5589588"/>
            <a:ext cx="360363" cy="360362"/>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21508" name="Line 53"/>
          <p:cNvSpPr>
            <a:spLocks noChangeShapeType="1"/>
          </p:cNvSpPr>
          <p:nvPr/>
        </p:nvSpPr>
        <p:spPr bwMode="auto">
          <a:xfrm flipH="1">
            <a:off x="1619250" y="4149725"/>
            <a:ext cx="360363" cy="1439863"/>
          </a:xfrm>
          <a:prstGeom prst="line">
            <a:avLst/>
          </a:prstGeom>
          <a:noFill/>
          <a:ln w="9525">
            <a:solidFill>
              <a:schemeClr val="tx1"/>
            </a:solidFill>
            <a:round/>
            <a:headEnd/>
            <a:tailEnd/>
          </a:ln>
        </p:spPr>
        <p:txBody>
          <a:bodyPr wrap="none"/>
          <a:lstStyle/>
          <a:p>
            <a:endParaRPr lang="en-US"/>
          </a:p>
        </p:txBody>
      </p:sp>
      <p:sp>
        <p:nvSpPr>
          <p:cNvPr id="21509" name="Oval 55"/>
          <p:cNvSpPr>
            <a:spLocks noChangeArrowheads="1"/>
          </p:cNvSpPr>
          <p:nvPr/>
        </p:nvSpPr>
        <p:spPr bwMode="auto">
          <a:xfrm>
            <a:off x="1116013" y="4508500"/>
            <a:ext cx="360362" cy="360363"/>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21510" name="Oval 56"/>
          <p:cNvSpPr>
            <a:spLocks noChangeArrowheads="1"/>
          </p:cNvSpPr>
          <p:nvPr/>
        </p:nvSpPr>
        <p:spPr bwMode="auto">
          <a:xfrm>
            <a:off x="1042988" y="2708275"/>
            <a:ext cx="360362" cy="360363"/>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21511" name="Line 57"/>
          <p:cNvSpPr>
            <a:spLocks noChangeShapeType="1"/>
          </p:cNvSpPr>
          <p:nvPr/>
        </p:nvSpPr>
        <p:spPr bwMode="auto">
          <a:xfrm>
            <a:off x="1187450" y="3068638"/>
            <a:ext cx="144463" cy="1439862"/>
          </a:xfrm>
          <a:prstGeom prst="line">
            <a:avLst/>
          </a:prstGeom>
          <a:noFill/>
          <a:ln w="9525">
            <a:solidFill>
              <a:schemeClr val="tx1"/>
            </a:solidFill>
            <a:round/>
            <a:headEnd/>
            <a:tailEnd/>
          </a:ln>
        </p:spPr>
        <p:txBody>
          <a:bodyPr wrap="none"/>
          <a:lstStyle/>
          <a:p>
            <a:endParaRPr lang="en-US"/>
          </a:p>
        </p:txBody>
      </p:sp>
      <p:sp>
        <p:nvSpPr>
          <p:cNvPr id="348214" name="Rectangle 54"/>
          <p:cNvSpPr>
            <a:spLocks noRot="1" noChangeArrowheads="1"/>
          </p:cNvSpPr>
          <p:nvPr/>
        </p:nvSpPr>
        <p:spPr bwMode="auto">
          <a:xfrm>
            <a:off x="0" y="685800"/>
            <a:ext cx="3505200" cy="4267200"/>
          </a:xfrm>
          <a:prstGeom prst="rect">
            <a:avLst/>
          </a:prstGeom>
          <a:noFill/>
          <a:ln>
            <a:noFill/>
          </a:ln>
          <a:effectLst/>
        </p:spPr>
        <p:txBody>
          <a:bodyPr/>
          <a:lstStyle/>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Current State = H</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f(C) = 2 + 7 = 9                  </a:t>
            </a:r>
          </a:p>
          <a:p>
            <a:pPr marL="342900" indent="-342900">
              <a:spcBef>
                <a:spcPct val="20000"/>
              </a:spcBef>
              <a:buClr>
                <a:schemeClr val="hlink"/>
              </a:buClr>
              <a:buFont typeface="Wingdings" pitchFamily="2" charset="2"/>
              <a:buNone/>
              <a:defRPr/>
            </a:pPr>
            <a:endParaRPr lang="en-US" sz="2000" dirty="0">
              <a:effectLst>
                <a:outerShdw blurRad="38100" dist="38100" dir="2700000" algn="tl">
                  <a:srgbClr val="4D4D4D"/>
                </a:outerShdw>
              </a:effectLst>
            </a:endParaRP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Current State = C</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f(B) = 1 + 6 = 7</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f(H) = </a:t>
            </a:r>
            <a:r>
              <a:rPr lang="en-US" sz="2000" b="1" dirty="0">
                <a:effectLst>
                  <a:outerShdw blurRad="38100" dist="38100" dir="2700000" algn="tl">
                    <a:srgbClr val="4D4D4D"/>
                  </a:outerShdw>
                </a:effectLst>
                <a:sym typeface="Symbol" pitchFamily="18" charset="2"/>
              </a:rPr>
              <a:t></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Current State = B</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f(S) = 2 + 8 = 10</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f(A) = 4 + 5 = 9</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f(E) = 4 + 2 = 6</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f(C) = </a:t>
            </a:r>
            <a:r>
              <a:rPr lang="en-US" sz="2000" b="1" dirty="0">
                <a:effectLst>
                  <a:outerShdw blurRad="38100" dist="38100" dir="2700000" algn="tl">
                    <a:srgbClr val="4D4D4D"/>
                  </a:outerShdw>
                </a:effectLst>
                <a:sym typeface="Symbol" pitchFamily="18" charset="2"/>
              </a:rPr>
              <a:t></a:t>
            </a:r>
          </a:p>
          <a:p>
            <a:pPr marL="342900" indent="-342900">
              <a:spcBef>
                <a:spcPct val="20000"/>
              </a:spcBef>
              <a:buClr>
                <a:schemeClr val="hlink"/>
              </a:buClr>
              <a:buFont typeface="Wingdings" pitchFamily="2" charset="2"/>
              <a:buNone/>
              <a:defRPr/>
            </a:pPr>
            <a:endParaRPr lang="en-US" sz="2000" dirty="0">
              <a:effectLst>
                <a:outerShdw blurRad="38100" dist="38100" dir="2700000" algn="tl">
                  <a:srgbClr val="4D4D4D"/>
                </a:outerShdw>
              </a:effectLst>
            </a:endParaRP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Current State = E</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f(B) = 4 + 9 = 13</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f(D) = 3 + 2 = 5</a:t>
            </a:r>
          </a:p>
          <a:p>
            <a:pPr marL="342900" indent="-342900">
              <a:spcBef>
                <a:spcPct val="20000"/>
              </a:spcBef>
              <a:buClr>
                <a:schemeClr val="hlink"/>
              </a:buClr>
              <a:buFont typeface="Wingdings" pitchFamily="2" charset="2"/>
              <a:buNone/>
              <a:defRPr/>
            </a:pPr>
            <a:r>
              <a:rPr lang="en-US" sz="2000" dirty="0">
                <a:effectLst>
                  <a:outerShdw blurRad="38100" dist="38100" dir="2700000" algn="tl">
                    <a:srgbClr val="4D4D4D"/>
                  </a:outerShdw>
                </a:effectLst>
              </a:rPr>
              <a:t>	f(F) = 1 + 1 = 2</a:t>
            </a:r>
          </a:p>
        </p:txBody>
      </p:sp>
      <p:grpSp>
        <p:nvGrpSpPr>
          <p:cNvPr id="2" name="Group 400"/>
          <p:cNvGrpSpPr>
            <a:grpSpLocks/>
          </p:cNvGrpSpPr>
          <p:nvPr/>
        </p:nvGrpSpPr>
        <p:grpSpPr bwMode="auto">
          <a:xfrm>
            <a:off x="4211638" y="1676400"/>
            <a:ext cx="4287837" cy="4591050"/>
            <a:chOff x="2653" y="754"/>
            <a:chExt cx="2701" cy="3194"/>
          </a:xfrm>
        </p:grpSpPr>
        <p:sp>
          <p:nvSpPr>
            <p:cNvPr id="21515" name="Oval 40"/>
            <p:cNvSpPr>
              <a:spLocks noChangeArrowheads="1"/>
            </p:cNvSpPr>
            <p:nvPr/>
          </p:nvSpPr>
          <p:spPr bwMode="auto">
            <a:xfrm>
              <a:off x="3334" y="1389"/>
              <a:ext cx="360" cy="360"/>
            </a:xfrm>
            <a:prstGeom prst="ellipse">
              <a:avLst/>
            </a:prstGeom>
            <a:noFill/>
            <a:ln w="25400">
              <a:solidFill>
                <a:schemeClr val="tx1"/>
              </a:solidFill>
              <a:round/>
              <a:headEnd/>
              <a:tailEnd/>
            </a:ln>
          </p:spPr>
          <p:txBody>
            <a:bodyPr wrap="none" anchor="ctr"/>
            <a:lstStyle/>
            <a:p>
              <a:endParaRPr lang="en-US" altLang="en-US"/>
            </a:p>
          </p:txBody>
        </p:sp>
        <p:sp>
          <p:nvSpPr>
            <p:cNvPr id="21516" name="Rectangle 43"/>
            <p:cNvSpPr>
              <a:spLocks noChangeArrowheads="1"/>
            </p:cNvSpPr>
            <p:nvPr/>
          </p:nvSpPr>
          <p:spPr bwMode="auto">
            <a:xfrm>
              <a:off x="3379" y="1389"/>
              <a:ext cx="318" cy="336"/>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21517" name="Rectangle 44"/>
            <p:cNvSpPr>
              <a:spLocks noChangeArrowheads="1"/>
            </p:cNvSpPr>
            <p:nvPr/>
          </p:nvSpPr>
          <p:spPr bwMode="auto">
            <a:xfrm>
              <a:off x="4014" y="1435"/>
              <a:ext cx="288" cy="336"/>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3600" b="1">
                  <a:latin typeface="Times New Roman" charset="0"/>
                  <a:cs typeface="Times New Roman (Hebrew)" charset="-79"/>
                </a:rPr>
                <a:t>B</a:t>
              </a:r>
            </a:p>
          </p:txBody>
        </p:sp>
        <p:sp>
          <p:nvSpPr>
            <p:cNvPr id="21518" name="Oval 45"/>
            <p:cNvSpPr>
              <a:spLocks noChangeArrowheads="1"/>
            </p:cNvSpPr>
            <p:nvPr/>
          </p:nvSpPr>
          <p:spPr bwMode="auto">
            <a:xfrm>
              <a:off x="3515" y="2069"/>
              <a:ext cx="360" cy="360"/>
            </a:xfrm>
            <a:prstGeom prst="ellipse">
              <a:avLst/>
            </a:prstGeom>
            <a:noFill/>
            <a:ln w="25400">
              <a:solidFill>
                <a:schemeClr val="tx1"/>
              </a:solidFill>
              <a:round/>
              <a:headEnd/>
              <a:tailEnd/>
            </a:ln>
          </p:spPr>
          <p:txBody>
            <a:bodyPr wrap="none" anchor="ctr"/>
            <a:lstStyle/>
            <a:p>
              <a:endParaRPr lang="en-US" altLang="en-US"/>
            </a:p>
          </p:txBody>
        </p:sp>
        <p:sp>
          <p:nvSpPr>
            <p:cNvPr id="21519" name="Rectangle 46"/>
            <p:cNvSpPr>
              <a:spLocks noChangeArrowheads="1"/>
            </p:cNvSpPr>
            <p:nvPr/>
          </p:nvSpPr>
          <p:spPr bwMode="auto">
            <a:xfrm>
              <a:off x="3560" y="2069"/>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C</a:t>
              </a:r>
            </a:p>
          </p:txBody>
        </p:sp>
        <p:sp>
          <p:nvSpPr>
            <p:cNvPr id="21520" name="Oval 48"/>
            <p:cNvSpPr>
              <a:spLocks noChangeArrowheads="1"/>
            </p:cNvSpPr>
            <p:nvPr/>
          </p:nvSpPr>
          <p:spPr bwMode="auto">
            <a:xfrm>
              <a:off x="3742" y="754"/>
              <a:ext cx="360" cy="360"/>
            </a:xfrm>
            <a:prstGeom prst="ellipse">
              <a:avLst/>
            </a:prstGeom>
            <a:noFill/>
            <a:ln w="25400">
              <a:solidFill>
                <a:schemeClr val="tx1"/>
              </a:solidFill>
              <a:round/>
              <a:headEnd/>
              <a:tailEnd/>
            </a:ln>
          </p:spPr>
          <p:txBody>
            <a:bodyPr wrap="none" anchor="ctr"/>
            <a:lstStyle/>
            <a:p>
              <a:endParaRPr lang="en-US" altLang="en-US"/>
            </a:p>
          </p:txBody>
        </p:sp>
        <p:sp>
          <p:nvSpPr>
            <p:cNvPr id="21521" name="Rectangle 49"/>
            <p:cNvSpPr>
              <a:spLocks noChangeArrowheads="1"/>
            </p:cNvSpPr>
            <p:nvPr/>
          </p:nvSpPr>
          <p:spPr bwMode="auto">
            <a:xfrm>
              <a:off x="3787" y="754"/>
              <a:ext cx="240"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S</a:t>
              </a:r>
            </a:p>
          </p:txBody>
        </p:sp>
        <p:sp>
          <p:nvSpPr>
            <p:cNvPr id="21522" name="Oval 50"/>
            <p:cNvSpPr>
              <a:spLocks noChangeArrowheads="1"/>
            </p:cNvSpPr>
            <p:nvPr/>
          </p:nvSpPr>
          <p:spPr bwMode="auto">
            <a:xfrm>
              <a:off x="3969" y="1434"/>
              <a:ext cx="360" cy="360"/>
            </a:xfrm>
            <a:prstGeom prst="ellipse">
              <a:avLst/>
            </a:prstGeom>
            <a:noFill/>
            <a:ln w="25400">
              <a:solidFill>
                <a:schemeClr val="tx1"/>
              </a:solidFill>
              <a:round/>
              <a:headEnd/>
              <a:tailEnd/>
            </a:ln>
          </p:spPr>
          <p:txBody>
            <a:bodyPr wrap="none" anchor="ctr"/>
            <a:lstStyle/>
            <a:p>
              <a:endParaRPr lang="en-US" altLang="en-US"/>
            </a:p>
          </p:txBody>
        </p:sp>
        <p:sp>
          <p:nvSpPr>
            <p:cNvPr id="21523" name="Rectangle 51"/>
            <p:cNvSpPr>
              <a:spLocks noChangeArrowheads="1"/>
            </p:cNvSpPr>
            <p:nvPr/>
          </p:nvSpPr>
          <p:spPr bwMode="auto">
            <a:xfrm>
              <a:off x="4332" y="1389"/>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21524" name="Rectangle 52"/>
            <p:cNvSpPr>
              <a:spLocks noChangeArrowheads="1"/>
            </p:cNvSpPr>
            <p:nvPr/>
          </p:nvSpPr>
          <p:spPr bwMode="auto">
            <a:xfrm>
              <a:off x="2653" y="2886"/>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21525" name="Rectangle 54"/>
            <p:cNvSpPr>
              <a:spLocks noChangeArrowheads="1"/>
            </p:cNvSpPr>
            <p:nvPr/>
          </p:nvSpPr>
          <p:spPr bwMode="auto">
            <a:xfrm>
              <a:off x="4014" y="2841"/>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21526" name="Oval 55"/>
            <p:cNvSpPr>
              <a:spLocks noChangeArrowheads="1"/>
            </p:cNvSpPr>
            <p:nvPr/>
          </p:nvSpPr>
          <p:spPr bwMode="auto">
            <a:xfrm>
              <a:off x="3016" y="2841"/>
              <a:ext cx="360" cy="360"/>
            </a:xfrm>
            <a:prstGeom prst="ellipse">
              <a:avLst/>
            </a:prstGeom>
            <a:noFill/>
            <a:ln w="25400">
              <a:solidFill>
                <a:schemeClr val="tx1"/>
              </a:solidFill>
              <a:round/>
              <a:headEnd/>
              <a:tailEnd/>
            </a:ln>
          </p:spPr>
          <p:txBody>
            <a:bodyPr wrap="none" anchor="ctr"/>
            <a:lstStyle/>
            <a:p>
              <a:endParaRPr lang="en-US" altLang="en-US"/>
            </a:p>
          </p:txBody>
        </p:sp>
        <p:sp>
          <p:nvSpPr>
            <p:cNvPr id="21527" name="Rectangle 57"/>
            <p:cNvSpPr>
              <a:spLocks noChangeArrowheads="1"/>
            </p:cNvSpPr>
            <p:nvPr/>
          </p:nvSpPr>
          <p:spPr bwMode="auto">
            <a:xfrm>
              <a:off x="2971" y="1389"/>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21528" name="Rectangle 58"/>
            <p:cNvSpPr>
              <a:spLocks noChangeArrowheads="1"/>
            </p:cNvSpPr>
            <p:nvPr/>
          </p:nvSpPr>
          <p:spPr bwMode="auto">
            <a:xfrm>
              <a:off x="4059" y="1072"/>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1529" name="Rectangle 59"/>
            <p:cNvSpPr>
              <a:spLocks noChangeArrowheads="1"/>
            </p:cNvSpPr>
            <p:nvPr/>
          </p:nvSpPr>
          <p:spPr bwMode="auto">
            <a:xfrm>
              <a:off x="4604" y="2069"/>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1530" name="Oval 61"/>
            <p:cNvSpPr>
              <a:spLocks noChangeArrowheads="1"/>
            </p:cNvSpPr>
            <p:nvPr/>
          </p:nvSpPr>
          <p:spPr bwMode="auto">
            <a:xfrm>
              <a:off x="3969" y="2840"/>
              <a:ext cx="360" cy="360"/>
            </a:xfrm>
            <a:prstGeom prst="ellipse">
              <a:avLst/>
            </a:prstGeom>
            <a:noFill/>
            <a:ln w="25400">
              <a:solidFill>
                <a:schemeClr val="tx1"/>
              </a:solidFill>
              <a:round/>
              <a:headEnd/>
              <a:tailEnd/>
            </a:ln>
          </p:spPr>
          <p:txBody>
            <a:bodyPr wrap="none" anchor="ctr"/>
            <a:lstStyle/>
            <a:p>
              <a:endParaRPr lang="en-US" altLang="en-US"/>
            </a:p>
          </p:txBody>
        </p:sp>
        <p:sp>
          <p:nvSpPr>
            <p:cNvPr id="21531" name="Rectangle 62"/>
            <p:cNvSpPr>
              <a:spLocks noChangeArrowheads="1"/>
            </p:cNvSpPr>
            <p:nvPr/>
          </p:nvSpPr>
          <p:spPr bwMode="auto">
            <a:xfrm>
              <a:off x="3605" y="3612"/>
              <a:ext cx="304"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G</a:t>
              </a:r>
            </a:p>
          </p:txBody>
        </p:sp>
        <p:sp>
          <p:nvSpPr>
            <p:cNvPr id="21532" name="Oval 64"/>
            <p:cNvSpPr>
              <a:spLocks noChangeArrowheads="1"/>
            </p:cNvSpPr>
            <p:nvPr/>
          </p:nvSpPr>
          <p:spPr bwMode="auto">
            <a:xfrm>
              <a:off x="4241" y="2070"/>
              <a:ext cx="360" cy="360"/>
            </a:xfrm>
            <a:prstGeom prst="ellipse">
              <a:avLst/>
            </a:prstGeom>
            <a:noFill/>
            <a:ln w="25400">
              <a:solidFill>
                <a:schemeClr val="tx1"/>
              </a:solidFill>
              <a:round/>
              <a:headEnd/>
              <a:tailEnd/>
            </a:ln>
          </p:spPr>
          <p:txBody>
            <a:bodyPr wrap="none" anchor="ctr"/>
            <a:lstStyle/>
            <a:p>
              <a:endParaRPr lang="en-US" altLang="en-US"/>
            </a:p>
          </p:txBody>
        </p:sp>
        <p:sp>
          <p:nvSpPr>
            <p:cNvPr id="21533" name="Rectangle 65"/>
            <p:cNvSpPr>
              <a:spLocks noChangeArrowheads="1"/>
            </p:cNvSpPr>
            <p:nvPr/>
          </p:nvSpPr>
          <p:spPr bwMode="auto">
            <a:xfrm>
              <a:off x="5012" y="2886"/>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a:t>
              </a:r>
            </a:p>
          </p:txBody>
        </p:sp>
        <p:sp>
          <p:nvSpPr>
            <p:cNvPr id="21534" name="Rectangle 66"/>
            <p:cNvSpPr>
              <a:spLocks noChangeArrowheads="1"/>
            </p:cNvSpPr>
            <p:nvPr/>
          </p:nvSpPr>
          <p:spPr bwMode="auto">
            <a:xfrm>
              <a:off x="4286" y="2069"/>
              <a:ext cx="288" cy="336"/>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3600" b="1">
                  <a:latin typeface="Times New Roman" charset="0"/>
                  <a:cs typeface="Times New Roman (Hebrew)" charset="-79"/>
                </a:rPr>
                <a:t>E</a:t>
              </a:r>
            </a:p>
          </p:txBody>
        </p:sp>
        <p:sp>
          <p:nvSpPr>
            <p:cNvPr id="21535" name="Rectangle 68"/>
            <p:cNvSpPr>
              <a:spLocks noChangeArrowheads="1"/>
            </p:cNvSpPr>
            <p:nvPr/>
          </p:nvSpPr>
          <p:spPr bwMode="auto">
            <a:xfrm>
              <a:off x="3606" y="284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1536" name="Rectangle 72"/>
            <p:cNvSpPr>
              <a:spLocks noChangeArrowheads="1"/>
            </p:cNvSpPr>
            <p:nvPr/>
          </p:nvSpPr>
          <p:spPr bwMode="auto">
            <a:xfrm>
              <a:off x="3061" y="2886"/>
              <a:ext cx="288" cy="336"/>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3600" b="1">
                  <a:latin typeface="Times New Roman" charset="0"/>
                  <a:cs typeface="Times New Roman (Hebrew)" charset="-79"/>
                </a:rPr>
                <a:t>H</a:t>
              </a:r>
            </a:p>
          </p:txBody>
        </p:sp>
        <p:sp>
          <p:nvSpPr>
            <p:cNvPr id="21537" name="Oval 73"/>
            <p:cNvSpPr>
              <a:spLocks noChangeArrowheads="1"/>
            </p:cNvSpPr>
            <p:nvPr/>
          </p:nvSpPr>
          <p:spPr bwMode="auto">
            <a:xfrm>
              <a:off x="3560" y="3566"/>
              <a:ext cx="360" cy="360"/>
            </a:xfrm>
            <a:prstGeom prst="ellipse">
              <a:avLst/>
            </a:prstGeom>
            <a:noFill/>
            <a:ln w="25400">
              <a:solidFill>
                <a:schemeClr val="tx1"/>
              </a:solidFill>
              <a:round/>
              <a:headEnd/>
              <a:tailEnd/>
            </a:ln>
          </p:spPr>
          <p:txBody>
            <a:bodyPr wrap="none" anchor="ctr"/>
            <a:lstStyle/>
            <a:p>
              <a:endParaRPr lang="en-US" altLang="en-US"/>
            </a:p>
          </p:txBody>
        </p:sp>
        <p:sp>
          <p:nvSpPr>
            <p:cNvPr id="21538" name="Rectangle 75"/>
            <p:cNvSpPr>
              <a:spLocks noChangeArrowheads="1"/>
            </p:cNvSpPr>
            <p:nvPr/>
          </p:nvSpPr>
          <p:spPr bwMode="auto">
            <a:xfrm>
              <a:off x="3969" y="3612"/>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(0)</a:t>
              </a:r>
            </a:p>
          </p:txBody>
        </p:sp>
        <p:sp>
          <p:nvSpPr>
            <p:cNvPr id="21539" name="Rectangle 77"/>
            <p:cNvSpPr>
              <a:spLocks noChangeArrowheads="1"/>
            </p:cNvSpPr>
            <p:nvPr/>
          </p:nvSpPr>
          <p:spPr bwMode="auto">
            <a:xfrm>
              <a:off x="3470" y="1071"/>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3</a:t>
              </a:r>
            </a:p>
          </p:txBody>
        </p:sp>
        <p:sp>
          <p:nvSpPr>
            <p:cNvPr id="21540" name="Rectangle 78"/>
            <p:cNvSpPr>
              <a:spLocks noChangeArrowheads="1"/>
            </p:cNvSpPr>
            <p:nvPr/>
          </p:nvSpPr>
          <p:spPr bwMode="auto">
            <a:xfrm>
              <a:off x="3787" y="1298"/>
              <a:ext cx="192"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21541" name="Rectangle 79"/>
            <p:cNvSpPr>
              <a:spLocks noChangeArrowheads="1"/>
            </p:cNvSpPr>
            <p:nvPr/>
          </p:nvSpPr>
          <p:spPr bwMode="auto">
            <a:xfrm>
              <a:off x="4332" y="1706"/>
              <a:ext cx="181"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21542" name="Rectangle 80"/>
            <p:cNvSpPr>
              <a:spLocks noChangeArrowheads="1"/>
            </p:cNvSpPr>
            <p:nvPr/>
          </p:nvSpPr>
          <p:spPr bwMode="auto">
            <a:xfrm>
              <a:off x="3696" y="1706"/>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a:t>
              </a:r>
            </a:p>
          </p:txBody>
        </p:sp>
        <p:sp>
          <p:nvSpPr>
            <p:cNvPr id="21543" name="Rectangle 81"/>
            <p:cNvSpPr>
              <a:spLocks noChangeArrowheads="1"/>
            </p:cNvSpPr>
            <p:nvPr/>
          </p:nvSpPr>
          <p:spPr bwMode="auto">
            <a:xfrm>
              <a:off x="3152" y="2115"/>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21544" name="Oval 83"/>
            <p:cNvSpPr>
              <a:spLocks noChangeArrowheads="1"/>
            </p:cNvSpPr>
            <p:nvPr/>
          </p:nvSpPr>
          <p:spPr bwMode="auto">
            <a:xfrm>
              <a:off x="4649" y="2840"/>
              <a:ext cx="360" cy="360"/>
            </a:xfrm>
            <a:prstGeom prst="ellipse">
              <a:avLst/>
            </a:prstGeom>
            <a:noFill/>
            <a:ln w="25400">
              <a:solidFill>
                <a:schemeClr val="tx1"/>
              </a:solidFill>
              <a:round/>
              <a:headEnd/>
              <a:tailEnd/>
            </a:ln>
          </p:spPr>
          <p:txBody>
            <a:bodyPr wrap="none" anchor="ctr"/>
            <a:lstStyle/>
            <a:p>
              <a:endParaRPr lang="en-US" altLang="en-US"/>
            </a:p>
          </p:txBody>
        </p:sp>
        <p:sp>
          <p:nvSpPr>
            <p:cNvPr id="21545" name="Rectangle 84"/>
            <p:cNvSpPr>
              <a:spLocks noChangeArrowheads="1"/>
            </p:cNvSpPr>
            <p:nvPr/>
          </p:nvSpPr>
          <p:spPr bwMode="auto">
            <a:xfrm>
              <a:off x="4694" y="2840"/>
              <a:ext cx="256"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F</a:t>
              </a:r>
            </a:p>
          </p:txBody>
        </p:sp>
        <p:sp>
          <p:nvSpPr>
            <p:cNvPr id="21546" name="Rectangle 85"/>
            <p:cNvSpPr>
              <a:spLocks noChangeArrowheads="1"/>
            </p:cNvSpPr>
            <p:nvPr/>
          </p:nvSpPr>
          <p:spPr bwMode="auto">
            <a:xfrm>
              <a:off x="3243" y="2478"/>
              <a:ext cx="272"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1547" name="Rectangle 86"/>
            <p:cNvSpPr>
              <a:spLocks noChangeArrowheads="1"/>
            </p:cNvSpPr>
            <p:nvPr/>
          </p:nvSpPr>
          <p:spPr bwMode="auto">
            <a:xfrm>
              <a:off x="4649" y="2432"/>
              <a:ext cx="272"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1</a:t>
              </a:r>
            </a:p>
          </p:txBody>
        </p:sp>
        <p:sp>
          <p:nvSpPr>
            <p:cNvPr id="21548" name="Rectangle 87"/>
            <p:cNvSpPr>
              <a:spLocks noChangeArrowheads="1"/>
            </p:cNvSpPr>
            <p:nvPr/>
          </p:nvSpPr>
          <p:spPr bwMode="auto">
            <a:xfrm>
              <a:off x="4014" y="2478"/>
              <a:ext cx="272"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dirty="0">
                  <a:latin typeface="Times New Roman" charset="0"/>
                  <a:cs typeface="Times New Roman (Hebrew)" charset="-79"/>
                </a:rPr>
                <a:t>3</a:t>
              </a:r>
            </a:p>
          </p:txBody>
        </p:sp>
        <p:sp>
          <p:nvSpPr>
            <p:cNvPr id="21549" name="Rectangle 88"/>
            <p:cNvSpPr>
              <a:spLocks noChangeArrowheads="1"/>
            </p:cNvSpPr>
            <p:nvPr/>
          </p:nvSpPr>
          <p:spPr bwMode="auto">
            <a:xfrm>
              <a:off x="4014" y="3294"/>
              <a:ext cx="227"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1550" name="Line 436"/>
            <p:cNvSpPr>
              <a:spLocks noChangeShapeType="1"/>
            </p:cNvSpPr>
            <p:nvPr/>
          </p:nvSpPr>
          <p:spPr bwMode="auto">
            <a:xfrm flipH="1">
              <a:off x="3606" y="1071"/>
              <a:ext cx="227" cy="318"/>
            </a:xfrm>
            <a:prstGeom prst="line">
              <a:avLst/>
            </a:prstGeom>
            <a:noFill/>
            <a:ln w="9525">
              <a:solidFill>
                <a:schemeClr val="tx1"/>
              </a:solidFill>
              <a:round/>
              <a:headEnd/>
              <a:tailEnd type="triangle" w="med" len="med"/>
            </a:ln>
          </p:spPr>
          <p:txBody>
            <a:bodyPr wrap="none"/>
            <a:lstStyle/>
            <a:p>
              <a:endParaRPr lang="en-US"/>
            </a:p>
          </p:txBody>
        </p:sp>
        <p:sp>
          <p:nvSpPr>
            <p:cNvPr id="21551" name="Line 437"/>
            <p:cNvSpPr>
              <a:spLocks noChangeShapeType="1"/>
            </p:cNvSpPr>
            <p:nvPr/>
          </p:nvSpPr>
          <p:spPr bwMode="auto">
            <a:xfrm>
              <a:off x="3969" y="1117"/>
              <a:ext cx="136" cy="317"/>
            </a:xfrm>
            <a:prstGeom prst="line">
              <a:avLst/>
            </a:prstGeom>
            <a:noFill/>
            <a:ln w="9525">
              <a:solidFill>
                <a:schemeClr val="tx1"/>
              </a:solidFill>
              <a:round/>
              <a:headEnd/>
              <a:tailEnd type="triangle" w="med" len="med"/>
            </a:ln>
          </p:spPr>
          <p:txBody>
            <a:bodyPr wrap="none"/>
            <a:lstStyle/>
            <a:p>
              <a:endParaRPr lang="en-US"/>
            </a:p>
          </p:txBody>
        </p:sp>
        <p:sp>
          <p:nvSpPr>
            <p:cNvPr id="21552" name="Line 438"/>
            <p:cNvSpPr>
              <a:spLocks noChangeShapeType="1"/>
            </p:cNvSpPr>
            <p:nvPr/>
          </p:nvSpPr>
          <p:spPr bwMode="auto">
            <a:xfrm>
              <a:off x="3696" y="1570"/>
              <a:ext cx="273" cy="0"/>
            </a:xfrm>
            <a:prstGeom prst="line">
              <a:avLst/>
            </a:prstGeom>
            <a:noFill/>
            <a:ln w="9525">
              <a:solidFill>
                <a:schemeClr val="tx1"/>
              </a:solidFill>
              <a:round/>
              <a:headEnd/>
              <a:tailEnd type="triangle" w="med" len="med"/>
            </a:ln>
          </p:spPr>
          <p:txBody>
            <a:bodyPr wrap="none"/>
            <a:lstStyle/>
            <a:p>
              <a:endParaRPr lang="en-US"/>
            </a:p>
          </p:txBody>
        </p:sp>
        <p:sp>
          <p:nvSpPr>
            <p:cNvPr id="21553" name="Line 439"/>
            <p:cNvSpPr>
              <a:spLocks noChangeShapeType="1"/>
            </p:cNvSpPr>
            <p:nvPr/>
          </p:nvSpPr>
          <p:spPr bwMode="auto">
            <a:xfrm flipH="1">
              <a:off x="3833" y="1797"/>
              <a:ext cx="226" cy="318"/>
            </a:xfrm>
            <a:prstGeom prst="line">
              <a:avLst/>
            </a:prstGeom>
            <a:noFill/>
            <a:ln w="9525">
              <a:solidFill>
                <a:schemeClr val="tx1"/>
              </a:solidFill>
              <a:round/>
              <a:headEnd/>
              <a:tailEnd type="triangle" w="med" len="med"/>
            </a:ln>
          </p:spPr>
          <p:txBody>
            <a:bodyPr wrap="none"/>
            <a:lstStyle/>
            <a:p>
              <a:endParaRPr lang="en-US"/>
            </a:p>
          </p:txBody>
        </p:sp>
        <p:sp>
          <p:nvSpPr>
            <p:cNvPr id="21554" name="Line 440"/>
            <p:cNvSpPr>
              <a:spLocks noChangeShapeType="1"/>
            </p:cNvSpPr>
            <p:nvPr/>
          </p:nvSpPr>
          <p:spPr bwMode="auto">
            <a:xfrm>
              <a:off x="4195" y="1797"/>
              <a:ext cx="137" cy="272"/>
            </a:xfrm>
            <a:prstGeom prst="line">
              <a:avLst/>
            </a:prstGeom>
            <a:noFill/>
            <a:ln w="9525">
              <a:solidFill>
                <a:schemeClr val="tx1"/>
              </a:solidFill>
              <a:round/>
              <a:headEnd/>
              <a:tailEnd type="triangle" w="med" len="med"/>
            </a:ln>
          </p:spPr>
          <p:txBody>
            <a:bodyPr wrap="none"/>
            <a:lstStyle/>
            <a:p>
              <a:endParaRPr lang="en-US"/>
            </a:p>
          </p:txBody>
        </p:sp>
        <p:sp>
          <p:nvSpPr>
            <p:cNvPr id="21555" name="Line 441"/>
            <p:cNvSpPr>
              <a:spLocks noChangeShapeType="1"/>
            </p:cNvSpPr>
            <p:nvPr/>
          </p:nvSpPr>
          <p:spPr bwMode="auto">
            <a:xfrm flipH="1">
              <a:off x="4195" y="2432"/>
              <a:ext cx="182" cy="408"/>
            </a:xfrm>
            <a:prstGeom prst="line">
              <a:avLst/>
            </a:prstGeom>
            <a:noFill/>
            <a:ln w="9525">
              <a:solidFill>
                <a:schemeClr val="tx1"/>
              </a:solidFill>
              <a:round/>
              <a:headEnd/>
              <a:tailEnd type="triangle" w="med" len="med"/>
            </a:ln>
          </p:spPr>
          <p:txBody>
            <a:bodyPr wrap="none"/>
            <a:lstStyle/>
            <a:p>
              <a:endParaRPr lang="en-US"/>
            </a:p>
          </p:txBody>
        </p:sp>
        <p:sp>
          <p:nvSpPr>
            <p:cNvPr id="21556" name="Line 442"/>
            <p:cNvSpPr>
              <a:spLocks noChangeShapeType="1"/>
            </p:cNvSpPr>
            <p:nvPr/>
          </p:nvSpPr>
          <p:spPr bwMode="auto">
            <a:xfrm flipH="1">
              <a:off x="3288" y="2387"/>
              <a:ext cx="318" cy="453"/>
            </a:xfrm>
            <a:prstGeom prst="line">
              <a:avLst/>
            </a:prstGeom>
            <a:noFill/>
            <a:ln w="9525">
              <a:solidFill>
                <a:schemeClr val="tx1"/>
              </a:solidFill>
              <a:round/>
              <a:headEnd/>
              <a:tailEnd type="triangle" w="med" len="med"/>
            </a:ln>
          </p:spPr>
          <p:txBody>
            <a:bodyPr wrap="none"/>
            <a:lstStyle/>
            <a:p>
              <a:endParaRPr lang="en-US"/>
            </a:p>
          </p:txBody>
        </p:sp>
        <p:sp>
          <p:nvSpPr>
            <p:cNvPr id="21557" name="Line 443"/>
            <p:cNvSpPr>
              <a:spLocks noChangeShapeType="1"/>
            </p:cNvSpPr>
            <p:nvPr/>
          </p:nvSpPr>
          <p:spPr bwMode="auto">
            <a:xfrm>
              <a:off x="4468" y="2432"/>
              <a:ext cx="272" cy="408"/>
            </a:xfrm>
            <a:prstGeom prst="line">
              <a:avLst/>
            </a:prstGeom>
            <a:noFill/>
            <a:ln w="9525">
              <a:solidFill>
                <a:schemeClr val="tx1"/>
              </a:solidFill>
              <a:round/>
              <a:headEnd/>
              <a:tailEnd type="triangle" w="med" len="med"/>
            </a:ln>
          </p:spPr>
          <p:txBody>
            <a:bodyPr wrap="none"/>
            <a:lstStyle/>
            <a:p>
              <a:endParaRPr lang="en-US"/>
            </a:p>
          </p:txBody>
        </p:sp>
        <p:sp>
          <p:nvSpPr>
            <p:cNvPr id="21558" name="Line 444"/>
            <p:cNvSpPr>
              <a:spLocks noChangeShapeType="1"/>
            </p:cNvSpPr>
            <p:nvPr/>
          </p:nvSpPr>
          <p:spPr bwMode="auto">
            <a:xfrm flipH="1">
              <a:off x="3833" y="3203"/>
              <a:ext cx="272" cy="408"/>
            </a:xfrm>
            <a:prstGeom prst="line">
              <a:avLst/>
            </a:prstGeom>
            <a:noFill/>
            <a:ln w="9525">
              <a:solidFill>
                <a:schemeClr val="tx1"/>
              </a:solidFill>
              <a:round/>
              <a:headEnd/>
              <a:tailEnd type="triangle" w="med" len="med"/>
            </a:ln>
          </p:spPr>
          <p:txBody>
            <a:bodyPr wrap="none"/>
            <a:lstStyle/>
            <a:p>
              <a:endParaRPr lang="en-US"/>
            </a:p>
          </p:txBody>
        </p:sp>
      </p:grpSp>
      <p:sp>
        <p:nvSpPr>
          <p:cNvPr id="56" name="Rectangle 2"/>
          <p:cNvSpPr txBox="1">
            <a:spLocks noRot="1" noChangeArrowheads="1"/>
          </p:cNvSpPr>
          <p:nvPr/>
        </p:nvSpPr>
        <p:spPr bwMode="auto">
          <a:xfrm>
            <a:off x="323850" y="115888"/>
            <a:ext cx="8510588" cy="896937"/>
          </a:xfrm>
          <a:prstGeom prst="rect">
            <a:avLst/>
          </a:prstGeom>
          <a:noFill/>
          <a:ln>
            <a:noFill/>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9pPr>
          </a:lstStyle>
          <a:p>
            <a:pPr eaLnBrk="1" hangingPunct="1">
              <a:defRPr/>
            </a:pPr>
            <a:r>
              <a:rPr lang="en-US" altLang="en-US" kern="0">
                <a:effectLst/>
              </a:rPr>
              <a:t>Another Example</a:t>
            </a:r>
            <a:endParaRPr lang="en-US" altLang="en-US" kern="0" dirty="0">
              <a:effectLst/>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Oval 48"/>
          <p:cNvSpPr>
            <a:spLocks noChangeArrowheads="1"/>
          </p:cNvSpPr>
          <p:nvPr/>
        </p:nvSpPr>
        <p:spPr bwMode="auto">
          <a:xfrm>
            <a:off x="1979613" y="2852738"/>
            <a:ext cx="360362" cy="360362"/>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22531" name="Oval 49"/>
          <p:cNvSpPr>
            <a:spLocks noChangeArrowheads="1"/>
          </p:cNvSpPr>
          <p:nvPr/>
        </p:nvSpPr>
        <p:spPr bwMode="auto">
          <a:xfrm>
            <a:off x="1547813" y="4365625"/>
            <a:ext cx="360362" cy="360363"/>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22532" name="Line 50"/>
          <p:cNvSpPr>
            <a:spLocks noChangeShapeType="1"/>
          </p:cNvSpPr>
          <p:nvPr/>
        </p:nvSpPr>
        <p:spPr bwMode="auto">
          <a:xfrm flipH="1">
            <a:off x="1763713" y="3213100"/>
            <a:ext cx="360362" cy="1152525"/>
          </a:xfrm>
          <a:prstGeom prst="line">
            <a:avLst/>
          </a:prstGeom>
          <a:noFill/>
          <a:ln w="9525">
            <a:solidFill>
              <a:schemeClr val="tx1"/>
            </a:solidFill>
            <a:round/>
            <a:headEnd/>
            <a:tailEnd/>
          </a:ln>
        </p:spPr>
        <p:txBody>
          <a:bodyPr wrap="none"/>
          <a:lstStyle/>
          <a:p>
            <a:endParaRPr lang="en-US"/>
          </a:p>
        </p:txBody>
      </p:sp>
      <p:sp>
        <p:nvSpPr>
          <p:cNvPr id="22533" name="Rectangle 41"/>
          <p:cNvSpPr>
            <a:spLocks noChangeArrowheads="1"/>
          </p:cNvSpPr>
          <p:nvPr/>
        </p:nvSpPr>
        <p:spPr bwMode="auto">
          <a:xfrm>
            <a:off x="5003800" y="3357563"/>
            <a:ext cx="127000" cy="427037"/>
          </a:xfrm>
          <a:prstGeom prst="rect">
            <a:avLst/>
          </a:prstGeom>
          <a:noFill/>
          <a:ln w="9525">
            <a:noFill/>
            <a:miter lim="800000"/>
            <a:headEnd/>
            <a:tailEnd/>
          </a:ln>
        </p:spPr>
        <p:txBody>
          <a:bodyPr wrap="none" lIns="63500" tIns="25400" rIns="63500" bIns="25400">
            <a:spAutoFit/>
          </a:bodyPr>
          <a:lstStyle/>
          <a:p>
            <a:pPr eaLnBrk="0" hangingPunct="0">
              <a:lnSpc>
                <a:spcPct val="88000"/>
              </a:lnSpc>
            </a:pPr>
            <a:endParaRPr lang="es-MX" altLang="he-IL" sz="2800" b="1">
              <a:latin typeface="Times New Roman" charset="0"/>
              <a:cs typeface="Times New Roman (Hebrew)" charset="-79"/>
            </a:endParaRPr>
          </a:p>
        </p:txBody>
      </p:sp>
      <p:sp>
        <p:nvSpPr>
          <p:cNvPr id="22534" name="Oval 48"/>
          <p:cNvSpPr>
            <a:spLocks noChangeArrowheads="1"/>
          </p:cNvSpPr>
          <p:nvPr/>
        </p:nvSpPr>
        <p:spPr bwMode="auto">
          <a:xfrm>
            <a:off x="1979613" y="2852738"/>
            <a:ext cx="360362" cy="360362"/>
          </a:xfrm>
          <a:prstGeom prst="ellipse">
            <a:avLst/>
          </a:prstGeom>
          <a:solidFill>
            <a:schemeClr val="accent1"/>
          </a:solidFill>
          <a:ln w="9525">
            <a:solidFill>
              <a:schemeClr val="tx1"/>
            </a:solidFill>
            <a:round/>
            <a:headEnd/>
            <a:tailEnd/>
          </a:ln>
        </p:spPr>
        <p:txBody>
          <a:bodyPr wrap="none" anchor="ctr"/>
          <a:lstStyle/>
          <a:p>
            <a:endParaRPr lang="en-US" altLang="en-US"/>
          </a:p>
        </p:txBody>
      </p:sp>
      <p:sp>
        <p:nvSpPr>
          <p:cNvPr id="22535" name="Line 50"/>
          <p:cNvSpPr>
            <a:spLocks noChangeShapeType="1"/>
          </p:cNvSpPr>
          <p:nvPr/>
        </p:nvSpPr>
        <p:spPr bwMode="auto">
          <a:xfrm flipH="1">
            <a:off x="1763713" y="3213100"/>
            <a:ext cx="360362" cy="1152525"/>
          </a:xfrm>
          <a:prstGeom prst="line">
            <a:avLst/>
          </a:prstGeom>
          <a:noFill/>
          <a:ln w="9525">
            <a:solidFill>
              <a:schemeClr val="tx1"/>
            </a:solidFill>
            <a:round/>
            <a:headEnd/>
            <a:tailEnd/>
          </a:ln>
        </p:spPr>
        <p:txBody>
          <a:bodyPr wrap="none"/>
          <a:lstStyle/>
          <a:p>
            <a:endParaRPr lang="en-US"/>
          </a:p>
        </p:txBody>
      </p:sp>
      <p:sp>
        <p:nvSpPr>
          <p:cNvPr id="22536" name="Line 50"/>
          <p:cNvSpPr>
            <a:spLocks noChangeShapeType="1"/>
          </p:cNvSpPr>
          <p:nvPr/>
        </p:nvSpPr>
        <p:spPr bwMode="auto">
          <a:xfrm flipH="1">
            <a:off x="1763713" y="3213100"/>
            <a:ext cx="360362" cy="1152525"/>
          </a:xfrm>
          <a:prstGeom prst="line">
            <a:avLst/>
          </a:prstGeom>
          <a:noFill/>
          <a:ln w="9525">
            <a:solidFill>
              <a:schemeClr val="tx1"/>
            </a:solidFill>
            <a:round/>
            <a:headEnd/>
            <a:tailEnd/>
          </a:ln>
        </p:spPr>
        <p:txBody>
          <a:bodyPr wrap="none"/>
          <a:lstStyle/>
          <a:p>
            <a:endParaRPr lang="en-US"/>
          </a:p>
        </p:txBody>
      </p:sp>
      <p:grpSp>
        <p:nvGrpSpPr>
          <p:cNvPr id="2" name="Group 464"/>
          <p:cNvGrpSpPr>
            <a:grpSpLocks/>
          </p:cNvGrpSpPr>
          <p:nvPr/>
        </p:nvGrpSpPr>
        <p:grpSpPr bwMode="auto">
          <a:xfrm>
            <a:off x="4211638" y="1524000"/>
            <a:ext cx="4287837" cy="4743450"/>
            <a:chOff x="2653" y="754"/>
            <a:chExt cx="2701" cy="3194"/>
          </a:xfrm>
        </p:grpSpPr>
        <p:sp>
          <p:nvSpPr>
            <p:cNvPr id="22540" name="Oval 40"/>
            <p:cNvSpPr>
              <a:spLocks noChangeArrowheads="1"/>
            </p:cNvSpPr>
            <p:nvPr/>
          </p:nvSpPr>
          <p:spPr bwMode="auto">
            <a:xfrm>
              <a:off x="3334" y="1389"/>
              <a:ext cx="360" cy="360"/>
            </a:xfrm>
            <a:prstGeom prst="ellipse">
              <a:avLst/>
            </a:prstGeom>
            <a:noFill/>
            <a:ln w="25400">
              <a:solidFill>
                <a:schemeClr val="tx1"/>
              </a:solidFill>
              <a:round/>
              <a:headEnd/>
              <a:tailEnd/>
            </a:ln>
          </p:spPr>
          <p:txBody>
            <a:bodyPr wrap="none" anchor="ctr"/>
            <a:lstStyle/>
            <a:p>
              <a:endParaRPr lang="en-US" altLang="en-US"/>
            </a:p>
          </p:txBody>
        </p:sp>
        <p:sp>
          <p:nvSpPr>
            <p:cNvPr id="22541" name="Rectangle 43"/>
            <p:cNvSpPr>
              <a:spLocks noChangeArrowheads="1"/>
            </p:cNvSpPr>
            <p:nvPr/>
          </p:nvSpPr>
          <p:spPr bwMode="auto">
            <a:xfrm>
              <a:off x="3379" y="1389"/>
              <a:ext cx="318" cy="336"/>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22542" name="Rectangle 44"/>
            <p:cNvSpPr>
              <a:spLocks noChangeArrowheads="1"/>
            </p:cNvSpPr>
            <p:nvPr/>
          </p:nvSpPr>
          <p:spPr bwMode="auto">
            <a:xfrm>
              <a:off x="4014" y="1435"/>
              <a:ext cx="288" cy="336"/>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3600" b="1">
                  <a:latin typeface="Times New Roman" charset="0"/>
                  <a:cs typeface="Times New Roman (Hebrew)" charset="-79"/>
                </a:rPr>
                <a:t>B</a:t>
              </a:r>
            </a:p>
          </p:txBody>
        </p:sp>
        <p:sp>
          <p:nvSpPr>
            <p:cNvPr id="22543" name="Oval 45"/>
            <p:cNvSpPr>
              <a:spLocks noChangeArrowheads="1"/>
            </p:cNvSpPr>
            <p:nvPr/>
          </p:nvSpPr>
          <p:spPr bwMode="auto">
            <a:xfrm>
              <a:off x="3515" y="2069"/>
              <a:ext cx="360" cy="360"/>
            </a:xfrm>
            <a:prstGeom prst="ellipse">
              <a:avLst/>
            </a:prstGeom>
            <a:noFill/>
            <a:ln w="25400">
              <a:solidFill>
                <a:schemeClr val="tx1"/>
              </a:solidFill>
              <a:round/>
              <a:headEnd/>
              <a:tailEnd/>
            </a:ln>
          </p:spPr>
          <p:txBody>
            <a:bodyPr wrap="none" anchor="ctr"/>
            <a:lstStyle/>
            <a:p>
              <a:endParaRPr lang="en-US" altLang="en-US"/>
            </a:p>
          </p:txBody>
        </p:sp>
        <p:sp>
          <p:nvSpPr>
            <p:cNvPr id="22544" name="Rectangle 46"/>
            <p:cNvSpPr>
              <a:spLocks noChangeArrowheads="1"/>
            </p:cNvSpPr>
            <p:nvPr/>
          </p:nvSpPr>
          <p:spPr bwMode="auto">
            <a:xfrm>
              <a:off x="3560" y="2069"/>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C</a:t>
              </a:r>
            </a:p>
          </p:txBody>
        </p:sp>
        <p:sp>
          <p:nvSpPr>
            <p:cNvPr id="22545" name="Oval 48"/>
            <p:cNvSpPr>
              <a:spLocks noChangeArrowheads="1"/>
            </p:cNvSpPr>
            <p:nvPr/>
          </p:nvSpPr>
          <p:spPr bwMode="auto">
            <a:xfrm>
              <a:off x="3742" y="754"/>
              <a:ext cx="360" cy="360"/>
            </a:xfrm>
            <a:prstGeom prst="ellipse">
              <a:avLst/>
            </a:prstGeom>
            <a:noFill/>
            <a:ln w="25400">
              <a:solidFill>
                <a:schemeClr val="tx1"/>
              </a:solidFill>
              <a:round/>
              <a:headEnd/>
              <a:tailEnd/>
            </a:ln>
          </p:spPr>
          <p:txBody>
            <a:bodyPr wrap="none" anchor="ctr"/>
            <a:lstStyle/>
            <a:p>
              <a:endParaRPr lang="en-US" altLang="en-US"/>
            </a:p>
          </p:txBody>
        </p:sp>
        <p:sp>
          <p:nvSpPr>
            <p:cNvPr id="22546" name="Rectangle 49"/>
            <p:cNvSpPr>
              <a:spLocks noChangeArrowheads="1"/>
            </p:cNvSpPr>
            <p:nvPr/>
          </p:nvSpPr>
          <p:spPr bwMode="auto">
            <a:xfrm>
              <a:off x="3787" y="754"/>
              <a:ext cx="240"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S</a:t>
              </a:r>
            </a:p>
          </p:txBody>
        </p:sp>
        <p:sp>
          <p:nvSpPr>
            <p:cNvPr id="22547" name="Oval 50"/>
            <p:cNvSpPr>
              <a:spLocks noChangeArrowheads="1"/>
            </p:cNvSpPr>
            <p:nvPr/>
          </p:nvSpPr>
          <p:spPr bwMode="auto">
            <a:xfrm>
              <a:off x="3969" y="1434"/>
              <a:ext cx="360" cy="360"/>
            </a:xfrm>
            <a:prstGeom prst="ellipse">
              <a:avLst/>
            </a:prstGeom>
            <a:noFill/>
            <a:ln w="25400">
              <a:solidFill>
                <a:schemeClr val="tx1"/>
              </a:solidFill>
              <a:round/>
              <a:headEnd/>
              <a:tailEnd/>
            </a:ln>
          </p:spPr>
          <p:txBody>
            <a:bodyPr wrap="none" anchor="ctr"/>
            <a:lstStyle/>
            <a:p>
              <a:endParaRPr lang="en-US" altLang="en-US"/>
            </a:p>
          </p:txBody>
        </p:sp>
        <p:sp>
          <p:nvSpPr>
            <p:cNvPr id="22548" name="Rectangle 51"/>
            <p:cNvSpPr>
              <a:spLocks noChangeArrowheads="1"/>
            </p:cNvSpPr>
            <p:nvPr/>
          </p:nvSpPr>
          <p:spPr bwMode="auto">
            <a:xfrm>
              <a:off x="4332" y="1389"/>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22549" name="Rectangle 52"/>
            <p:cNvSpPr>
              <a:spLocks noChangeArrowheads="1"/>
            </p:cNvSpPr>
            <p:nvPr/>
          </p:nvSpPr>
          <p:spPr bwMode="auto">
            <a:xfrm>
              <a:off x="2653" y="2886"/>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22550" name="Rectangle 54"/>
            <p:cNvSpPr>
              <a:spLocks noChangeArrowheads="1"/>
            </p:cNvSpPr>
            <p:nvPr/>
          </p:nvSpPr>
          <p:spPr bwMode="auto">
            <a:xfrm>
              <a:off x="4014" y="2841"/>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22551" name="Oval 55"/>
            <p:cNvSpPr>
              <a:spLocks noChangeArrowheads="1"/>
            </p:cNvSpPr>
            <p:nvPr/>
          </p:nvSpPr>
          <p:spPr bwMode="auto">
            <a:xfrm>
              <a:off x="3016" y="2841"/>
              <a:ext cx="360" cy="360"/>
            </a:xfrm>
            <a:prstGeom prst="ellipse">
              <a:avLst/>
            </a:prstGeom>
            <a:noFill/>
            <a:ln w="25400">
              <a:solidFill>
                <a:schemeClr val="tx1"/>
              </a:solidFill>
              <a:round/>
              <a:headEnd/>
              <a:tailEnd/>
            </a:ln>
          </p:spPr>
          <p:txBody>
            <a:bodyPr wrap="none" anchor="ctr"/>
            <a:lstStyle/>
            <a:p>
              <a:endParaRPr lang="en-US" altLang="en-US"/>
            </a:p>
          </p:txBody>
        </p:sp>
        <p:sp>
          <p:nvSpPr>
            <p:cNvPr id="22552" name="Rectangle 57"/>
            <p:cNvSpPr>
              <a:spLocks noChangeArrowheads="1"/>
            </p:cNvSpPr>
            <p:nvPr/>
          </p:nvSpPr>
          <p:spPr bwMode="auto">
            <a:xfrm>
              <a:off x="2971" y="1389"/>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22553" name="Rectangle 58"/>
            <p:cNvSpPr>
              <a:spLocks noChangeArrowheads="1"/>
            </p:cNvSpPr>
            <p:nvPr/>
          </p:nvSpPr>
          <p:spPr bwMode="auto">
            <a:xfrm>
              <a:off x="4059" y="1072"/>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2554" name="Rectangle 59"/>
            <p:cNvSpPr>
              <a:spLocks noChangeArrowheads="1"/>
            </p:cNvSpPr>
            <p:nvPr/>
          </p:nvSpPr>
          <p:spPr bwMode="auto">
            <a:xfrm>
              <a:off x="4604" y="2069"/>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2555" name="Oval 61"/>
            <p:cNvSpPr>
              <a:spLocks noChangeArrowheads="1"/>
            </p:cNvSpPr>
            <p:nvPr/>
          </p:nvSpPr>
          <p:spPr bwMode="auto">
            <a:xfrm>
              <a:off x="3969" y="2840"/>
              <a:ext cx="360" cy="360"/>
            </a:xfrm>
            <a:prstGeom prst="ellipse">
              <a:avLst/>
            </a:prstGeom>
            <a:noFill/>
            <a:ln w="25400">
              <a:solidFill>
                <a:schemeClr val="tx1"/>
              </a:solidFill>
              <a:round/>
              <a:headEnd/>
              <a:tailEnd/>
            </a:ln>
          </p:spPr>
          <p:txBody>
            <a:bodyPr wrap="none" anchor="ctr"/>
            <a:lstStyle/>
            <a:p>
              <a:endParaRPr lang="en-US" altLang="en-US"/>
            </a:p>
          </p:txBody>
        </p:sp>
        <p:sp>
          <p:nvSpPr>
            <p:cNvPr id="22556" name="Rectangle 62"/>
            <p:cNvSpPr>
              <a:spLocks noChangeArrowheads="1"/>
            </p:cNvSpPr>
            <p:nvPr/>
          </p:nvSpPr>
          <p:spPr bwMode="auto">
            <a:xfrm>
              <a:off x="3605" y="3612"/>
              <a:ext cx="304"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G</a:t>
              </a:r>
            </a:p>
          </p:txBody>
        </p:sp>
        <p:sp>
          <p:nvSpPr>
            <p:cNvPr id="22557" name="Oval 64"/>
            <p:cNvSpPr>
              <a:spLocks noChangeArrowheads="1"/>
            </p:cNvSpPr>
            <p:nvPr/>
          </p:nvSpPr>
          <p:spPr bwMode="auto">
            <a:xfrm>
              <a:off x="4241" y="2070"/>
              <a:ext cx="360" cy="360"/>
            </a:xfrm>
            <a:prstGeom prst="ellipse">
              <a:avLst/>
            </a:prstGeom>
            <a:noFill/>
            <a:ln w="25400">
              <a:solidFill>
                <a:schemeClr val="tx1"/>
              </a:solidFill>
              <a:round/>
              <a:headEnd/>
              <a:tailEnd/>
            </a:ln>
          </p:spPr>
          <p:txBody>
            <a:bodyPr wrap="none" anchor="ctr"/>
            <a:lstStyle/>
            <a:p>
              <a:endParaRPr lang="en-US" altLang="en-US"/>
            </a:p>
          </p:txBody>
        </p:sp>
        <p:sp>
          <p:nvSpPr>
            <p:cNvPr id="22558" name="Rectangle 65"/>
            <p:cNvSpPr>
              <a:spLocks noChangeArrowheads="1"/>
            </p:cNvSpPr>
            <p:nvPr/>
          </p:nvSpPr>
          <p:spPr bwMode="auto">
            <a:xfrm>
              <a:off x="5012" y="2886"/>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a:t>
              </a:r>
            </a:p>
          </p:txBody>
        </p:sp>
        <p:sp>
          <p:nvSpPr>
            <p:cNvPr id="22559" name="Rectangle 66"/>
            <p:cNvSpPr>
              <a:spLocks noChangeArrowheads="1"/>
            </p:cNvSpPr>
            <p:nvPr/>
          </p:nvSpPr>
          <p:spPr bwMode="auto">
            <a:xfrm>
              <a:off x="4286" y="2069"/>
              <a:ext cx="288" cy="336"/>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3600" b="1">
                  <a:latin typeface="Times New Roman" charset="0"/>
                  <a:cs typeface="Times New Roman (Hebrew)" charset="-79"/>
                </a:rPr>
                <a:t>E</a:t>
              </a:r>
            </a:p>
          </p:txBody>
        </p:sp>
        <p:sp>
          <p:nvSpPr>
            <p:cNvPr id="22560" name="Rectangle 68"/>
            <p:cNvSpPr>
              <a:spLocks noChangeArrowheads="1"/>
            </p:cNvSpPr>
            <p:nvPr/>
          </p:nvSpPr>
          <p:spPr bwMode="auto">
            <a:xfrm>
              <a:off x="3606" y="284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2561" name="Rectangle 72"/>
            <p:cNvSpPr>
              <a:spLocks noChangeArrowheads="1"/>
            </p:cNvSpPr>
            <p:nvPr/>
          </p:nvSpPr>
          <p:spPr bwMode="auto">
            <a:xfrm>
              <a:off x="3061" y="2886"/>
              <a:ext cx="288" cy="336"/>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3600" b="1">
                  <a:latin typeface="Times New Roman" charset="0"/>
                  <a:cs typeface="Times New Roman (Hebrew)" charset="-79"/>
                </a:rPr>
                <a:t>H</a:t>
              </a:r>
            </a:p>
          </p:txBody>
        </p:sp>
        <p:sp>
          <p:nvSpPr>
            <p:cNvPr id="22562" name="Oval 73"/>
            <p:cNvSpPr>
              <a:spLocks noChangeArrowheads="1"/>
            </p:cNvSpPr>
            <p:nvPr/>
          </p:nvSpPr>
          <p:spPr bwMode="auto">
            <a:xfrm>
              <a:off x="3560" y="3566"/>
              <a:ext cx="360" cy="360"/>
            </a:xfrm>
            <a:prstGeom prst="ellipse">
              <a:avLst/>
            </a:prstGeom>
            <a:noFill/>
            <a:ln w="25400">
              <a:solidFill>
                <a:schemeClr val="tx1"/>
              </a:solidFill>
              <a:round/>
              <a:headEnd/>
              <a:tailEnd/>
            </a:ln>
          </p:spPr>
          <p:txBody>
            <a:bodyPr wrap="none" anchor="ctr"/>
            <a:lstStyle/>
            <a:p>
              <a:endParaRPr lang="en-US" altLang="en-US"/>
            </a:p>
          </p:txBody>
        </p:sp>
        <p:sp>
          <p:nvSpPr>
            <p:cNvPr id="22563" name="Rectangle 75"/>
            <p:cNvSpPr>
              <a:spLocks noChangeArrowheads="1"/>
            </p:cNvSpPr>
            <p:nvPr/>
          </p:nvSpPr>
          <p:spPr bwMode="auto">
            <a:xfrm>
              <a:off x="3969" y="3612"/>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(0)</a:t>
              </a:r>
            </a:p>
          </p:txBody>
        </p:sp>
        <p:sp>
          <p:nvSpPr>
            <p:cNvPr id="22564" name="Rectangle 77"/>
            <p:cNvSpPr>
              <a:spLocks noChangeArrowheads="1"/>
            </p:cNvSpPr>
            <p:nvPr/>
          </p:nvSpPr>
          <p:spPr bwMode="auto">
            <a:xfrm>
              <a:off x="3470" y="1071"/>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3</a:t>
              </a:r>
            </a:p>
          </p:txBody>
        </p:sp>
        <p:sp>
          <p:nvSpPr>
            <p:cNvPr id="22565" name="Rectangle 78"/>
            <p:cNvSpPr>
              <a:spLocks noChangeArrowheads="1"/>
            </p:cNvSpPr>
            <p:nvPr/>
          </p:nvSpPr>
          <p:spPr bwMode="auto">
            <a:xfrm>
              <a:off x="3787" y="1298"/>
              <a:ext cx="192"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22566" name="Rectangle 79"/>
            <p:cNvSpPr>
              <a:spLocks noChangeArrowheads="1"/>
            </p:cNvSpPr>
            <p:nvPr/>
          </p:nvSpPr>
          <p:spPr bwMode="auto">
            <a:xfrm>
              <a:off x="4332" y="1706"/>
              <a:ext cx="181"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22567" name="Rectangle 80"/>
            <p:cNvSpPr>
              <a:spLocks noChangeArrowheads="1"/>
            </p:cNvSpPr>
            <p:nvPr/>
          </p:nvSpPr>
          <p:spPr bwMode="auto">
            <a:xfrm>
              <a:off x="3696" y="1706"/>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a:t>
              </a:r>
            </a:p>
          </p:txBody>
        </p:sp>
        <p:sp>
          <p:nvSpPr>
            <p:cNvPr id="22568" name="Rectangle 81"/>
            <p:cNvSpPr>
              <a:spLocks noChangeArrowheads="1"/>
            </p:cNvSpPr>
            <p:nvPr/>
          </p:nvSpPr>
          <p:spPr bwMode="auto">
            <a:xfrm>
              <a:off x="3152" y="2115"/>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22569" name="Oval 83"/>
            <p:cNvSpPr>
              <a:spLocks noChangeArrowheads="1"/>
            </p:cNvSpPr>
            <p:nvPr/>
          </p:nvSpPr>
          <p:spPr bwMode="auto">
            <a:xfrm>
              <a:off x="4649" y="2840"/>
              <a:ext cx="360" cy="360"/>
            </a:xfrm>
            <a:prstGeom prst="ellipse">
              <a:avLst/>
            </a:prstGeom>
            <a:noFill/>
            <a:ln w="25400">
              <a:solidFill>
                <a:schemeClr val="tx1"/>
              </a:solidFill>
              <a:round/>
              <a:headEnd/>
              <a:tailEnd/>
            </a:ln>
          </p:spPr>
          <p:txBody>
            <a:bodyPr wrap="none" anchor="ctr"/>
            <a:lstStyle/>
            <a:p>
              <a:endParaRPr lang="en-US" altLang="en-US"/>
            </a:p>
          </p:txBody>
        </p:sp>
        <p:sp>
          <p:nvSpPr>
            <p:cNvPr id="22570" name="Rectangle 84"/>
            <p:cNvSpPr>
              <a:spLocks noChangeArrowheads="1"/>
            </p:cNvSpPr>
            <p:nvPr/>
          </p:nvSpPr>
          <p:spPr bwMode="auto">
            <a:xfrm>
              <a:off x="4694" y="2840"/>
              <a:ext cx="256"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F</a:t>
              </a:r>
            </a:p>
          </p:txBody>
        </p:sp>
        <p:sp>
          <p:nvSpPr>
            <p:cNvPr id="22571" name="Rectangle 85"/>
            <p:cNvSpPr>
              <a:spLocks noChangeArrowheads="1"/>
            </p:cNvSpPr>
            <p:nvPr/>
          </p:nvSpPr>
          <p:spPr bwMode="auto">
            <a:xfrm>
              <a:off x="3243" y="2478"/>
              <a:ext cx="272"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2572" name="Rectangle 86"/>
            <p:cNvSpPr>
              <a:spLocks noChangeArrowheads="1"/>
            </p:cNvSpPr>
            <p:nvPr/>
          </p:nvSpPr>
          <p:spPr bwMode="auto">
            <a:xfrm>
              <a:off x="4649" y="2432"/>
              <a:ext cx="272"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1</a:t>
              </a:r>
            </a:p>
          </p:txBody>
        </p:sp>
        <p:sp>
          <p:nvSpPr>
            <p:cNvPr id="22573" name="Rectangle 87"/>
            <p:cNvSpPr>
              <a:spLocks noChangeArrowheads="1"/>
            </p:cNvSpPr>
            <p:nvPr/>
          </p:nvSpPr>
          <p:spPr bwMode="auto">
            <a:xfrm>
              <a:off x="4014" y="2478"/>
              <a:ext cx="272"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3</a:t>
              </a:r>
            </a:p>
          </p:txBody>
        </p:sp>
        <p:sp>
          <p:nvSpPr>
            <p:cNvPr id="22574" name="Rectangle 88"/>
            <p:cNvSpPr>
              <a:spLocks noChangeArrowheads="1"/>
            </p:cNvSpPr>
            <p:nvPr/>
          </p:nvSpPr>
          <p:spPr bwMode="auto">
            <a:xfrm>
              <a:off x="4014" y="3294"/>
              <a:ext cx="227" cy="269"/>
            </a:xfrm>
            <a:prstGeom prst="rect">
              <a:avLst/>
            </a:prstGeom>
            <a:noFill/>
            <a:ln w="9525">
              <a:noFill/>
              <a:miter lim="800000"/>
              <a:headEnd/>
              <a:tailEnd/>
            </a:ln>
          </p:spPr>
          <p:txBody>
            <a:bodyPr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22575" name="Line 455"/>
            <p:cNvSpPr>
              <a:spLocks noChangeShapeType="1"/>
            </p:cNvSpPr>
            <p:nvPr/>
          </p:nvSpPr>
          <p:spPr bwMode="auto">
            <a:xfrm flipH="1">
              <a:off x="3606" y="1071"/>
              <a:ext cx="227" cy="318"/>
            </a:xfrm>
            <a:prstGeom prst="line">
              <a:avLst/>
            </a:prstGeom>
            <a:noFill/>
            <a:ln w="9525">
              <a:solidFill>
                <a:schemeClr val="tx1"/>
              </a:solidFill>
              <a:round/>
              <a:headEnd/>
              <a:tailEnd type="triangle" w="med" len="med"/>
            </a:ln>
          </p:spPr>
          <p:txBody>
            <a:bodyPr wrap="none"/>
            <a:lstStyle/>
            <a:p>
              <a:endParaRPr lang="en-US"/>
            </a:p>
          </p:txBody>
        </p:sp>
        <p:sp>
          <p:nvSpPr>
            <p:cNvPr id="22576" name="Line 456"/>
            <p:cNvSpPr>
              <a:spLocks noChangeShapeType="1"/>
            </p:cNvSpPr>
            <p:nvPr/>
          </p:nvSpPr>
          <p:spPr bwMode="auto">
            <a:xfrm>
              <a:off x="3969" y="1117"/>
              <a:ext cx="136" cy="317"/>
            </a:xfrm>
            <a:prstGeom prst="line">
              <a:avLst/>
            </a:prstGeom>
            <a:noFill/>
            <a:ln w="9525">
              <a:solidFill>
                <a:schemeClr val="tx1"/>
              </a:solidFill>
              <a:round/>
              <a:headEnd/>
              <a:tailEnd type="triangle" w="med" len="med"/>
            </a:ln>
          </p:spPr>
          <p:txBody>
            <a:bodyPr wrap="none"/>
            <a:lstStyle/>
            <a:p>
              <a:endParaRPr lang="en-US"/>
            </a:p>
          </p:txBody>
        </p:sp>
        <p:sp>
          <p:nvSpPr>
            <p:cNvPr id="22577" name="Line 457"/>
            <p:cNvSpPr>
              <a:spLocks noChangeShapeType="1"/>
            </p:cNvSpPr>
            <p:nvPr/>
          </p:nvSpPr>
          <p:spPr bwMode="auto">
            <a:xfrm>
              <a:off x="3696" y="1570"/>
              <a:ext cx="273" cy="0"/>
            </a:xfrm>
            <a:prstGeom prst="line">
              <a:avLst/>
            </a:prstGeom>
            <a:noFill/>
            <a:ln w="9525">
              <a:solidFill>
                <a:schemeClr val="tx1"/>
              </a:solidFill>
              <a:round/>
              <a:headEnd/>
              <a:tailEnd type="triangle" w="med" len="med"/>
            </a:ln>
          </p:spPr>
          <p:txBody>
            <a:bodyPr wrap="none"/>
            <a:lstStyle/>
            <a:p>
              <a:endParaRPr lang="en-US"/>
            </a:p>
          </p:txBody>
        </p:sp>
        <p:sp>
          <p:nvSpPr>
            <p:cNvPr id="22578" name="Line 458"/>
            <p:cNvSpPr>
              <a:spLocks noChangeShapeType="1"/>
            </p:cNvSpPr>
            <p:nvPr/>
          </p:nvSpPr>
          <p:spPr bwMode="auto">
            <a:xfrm flipH="1">
              <a:off x="3833" y="1797"/>
              <a:ext cx="226" cy="318"/>
            </a:xfrm>
            <a:prstGeom prst="line">
              <a:avLst/>
            </a:prstGeom>
            <a:noFill/>
            <a:ln w="9525">
              <a:solidFill>
                <a:schemeClr val="tx1"/>
              </a:solidFill>
              <a:round/>
              <a:headEnd/>
              <a:tailEnd type="triangle" w="med" len="med"/>
            </a:ln>
          </p:spPr>
          <p:txBody>
            <a:bodyPr wrap="none"/>
            <a:lstStyle/>
            <a:p>
              <a:endParaRPr lang="en-US"/>
            </a:p>
          </p:txBody>
        </p:sp>
        <p:sp>
          <p:nvSpPr>
            <p:cNvPr id="22579" name="Line 459"/>
            <p:cNvSpPr>
              <a:spLocks noChangeShapeType="1"/>
            </p:cNvSpPr>
            <p:nvPr/>
          </p:nvSpPr>
          <p:spPr bwMode="auto">
            <a:xfrm>
              <a:off x="4195" y="1797"/>
              <a:ext cx="137" cy="272"/>
            </a:xfrm>
            <a:prstGeom prst="line">
              <a:avLst/>
            </a:prstGeom>
            <a:noFill/>
            <a:ln w="9525">
              <a:solidFill>
                <a:schemeClr val="tx1"/>
              </a:solidFill>
              <a:round/>
              <a:headEnd/>
              <a:tailEnd type="triangle" w="med" len="med"/>
            </a:ln>
          </p:spPr>
          <p:txBody>
            <a:bodyPr wrap="none"/>
            <a:lstStyle/>
            <a:p>
              <a:endParaRPr lang="en-US"/>
            </a:p>
          </p:txBody>
        </p:sp>
        <p:sp>
          <p:nvSpPr>
            <p:cNvPr id="22580" name="Line 460"/>
            <p:cNvSpPr>
              <a:spLocks noChangeShapeType="1"/>
            </p:cNvSpPr>
            <p:nvPr/>
          </p:nvSpPr>
          <p:spPr bwMode="auto">
            <a:xfrm flipH="1">
              <a:off x="4195" y="2432"/>
              <a:ext cx="182" cy="408"/>
            </a:xfrm>
            <a:prstGeom prst="line">
              <a:avLst/>
            </a:prstGeom>
            <a:noFill/>
            <a:ln w="9525">
              <a:solidFill>
                <a:schemeClr val="tx1"/>
              </a:solidFill>
              <a:round/>
              <a:headEnd/>
              <a:tailEnd type="triangle" w="med" len="med"/>
            </a:ln>
          </p:spPr>
          <p:txBody>
            <a:bodyPr wrap="none"/>
            <a:lstStyle/>
            <a:p>
              <a:endParaRPr lang="en-US"/>
            </a:p>
          </p:txBody>
        </p:sp>
        <p:sp>
          <p:nvSpPr>
            <p:cNvPr id="22581" name="Line 461"/>
            <p:cNvSpPr>
              <a:spLocks noChangeShapeType="1"/>
            </p:cNvSpPr>
            <p:nvPr/>
          </p:nvSpPr>
          <p:spPr bwMode="auto">
            <a:xfrm flipH="1">
              <a:off x="3288" y="2387"/>
              <a:ext cx="318" cy="453"/>
            </a:xfrm>
            <a:prstGeom prst="line">
              <a:avLst/>
            </a:prstGeom>
            <a:noFill/>
            <a:ln w="9525">
              <a:solidFill>
                <a:schemeClr val="tx1"/>
              </a:solidFill>
              <a:round/>
              <a:headEnd/>
              <a:tailEnd type="triangle" w="med" len="med"/>
            </a:ln>
          </p:spPr>
          <p:txBody>
            <a:bodyPr wrap="none"/>
            <a:lstStyle/>
            <a:p>
              <a:endParaRPr lang="en-US"/>
            </a:p>
          </p:txBody>
        </p:sp>
        <p:sp>
          <p:nvSpPr>
            <p:cNvPr id="22582" name="Line 462"/>
            <p:cNvSpPr>
              <a:spLocks noChangeShapeType="1"/>
            </p:cNvSpPr>
            <p:nvPr/>
          </p:nvSpPr>
          <p:spPr bwMode="auto">
            <a:xfrm>
              <a:off x="4468" y="2432"/>
              <a:ext cx="272" cy="408"/>
            </a:xfrm>
            <a:prstGeom prst="line">
              <a:avLst/>
            </a:prstGeom>
            <a:noFill/>
            <a:ln w="9525">
              <a:solidFill>
                <a:schemeClr val="tx1"/>
              </a:solidFill>
              <a:round/>
              <a:headEnd/>
              <a:tailEnd type="triangle" w="med" len="med"/>
            </a:ln>
          </p:spPr>
          <p:txBody>
            <a:bodyPr wrap="none"/>
            <a:lstStyle/>
            <a:p>
              <a:endParaRPr lang="en-US"/>
            </a:p>
          </p:txBody>
        </p:sp>
        <p:sp>
          <p:nvSpPr>
            <p:cNvPr id="22583" name="Line 463"/>
            <p:cNvSpPr>
              <a:spLocks noChangeShapeType="1"/>
            </p:cNvSpPr>
            <p:nvPr/>
          </p:nvSpPr>
          <p:spPr bwMode="auto">
            <a:xfrm flipH="1">
              <a:off x="3833" y="3203"/>
              <a:ext cx="272" cy="408"/>
            </a:xfrm>
            <a:prstGeom prst="line">
              <a:avLst/>
            </a:prstGeom>
            <a:noFill/>
            <a:ln w="9525">
              <a:solidFill>
                <a:schemeClr val="tx1"/>
              </a:solidFill>
              <a:round/>
              <a:headEnd/>
              <a:tailEnd type="triangle" w="med" len="med"/>
            </a:ln>
          </p:spPr>
          <p:txBody>
            <a:bodyPr wrap="none"/>
            <a:lstStyle/>
            <a:p>
              <a:endParaRPr lang="en-US"/>
            </a:p>
          </p:txBody>
        </p:sp>
      </p:grpSp>
      <p:sp>
        <p:nvSpPr>
          <p:cNvPr id="352307" name="Rectangle 51"/>
          <p:cNvSpPr>
            <a:spLocks noRot="1" noChangeArrowheads="1"/>
          </p:cNvSpPr>
          <p:nvPr/>
        </p:nvSpPr>
        <p:spPr bwMode="auto">
          <a:xfrm>
            <a:off x="0" y="1052513"/>
            <a:ext cx="3708400" cy="5545137"/>
          </a:xfrm>
          <a:prstGeom prst="rect">
            <a:avLst/>
          </a:prstGeom>
          <a:noFill/>
          <a:ln>
            <a:noFill/>
          </a:ln>
          <a:effec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hlink"/>
              </a:buClr>
              <a:buFont typeface="Wingdings" pitchFamily="2" charset="2"/>
              <a:buNone/>
              <a:defRPr/>
            </a:pPr>
            <a:r>
              <a:rPr lang="en-US" altLang="en-US" sz="2000">
                <a:effectLst>
                  <a:outerShdw blurRad="38100" dist="38100" dir="2700000" algn="tl">
                    <a:srgbClr val="4D4D4D"/>
                  </a:outerShdw>
                </a:effectLst>
              </a:rPr>
              <a:t>Current State = F</a:t>
            </a:r>
          </a:p>
          <a:p>
            <a:pPr eaLnBrk="1" hangingPunct="1">
              <a:spcBef>
                <a:spcPct val="20000"/>
              </a:spcBef>
              <a:buClr>
                <a:schemeClr val="hlink"/>
              </a:buClr>
              <a:buFont typeface="Wingdings" pitchFamily="2" charset="2"/>
              <a:buNone/>
              <a:defRPr/>
            </a:pPr>
            <a:r>
              <a:rPr lang="en-US" altLang="en-US" sz="2000">
                <a:effectLst>
                  <a:outerShdw blurRad="38100" dist="38100" dir="2700000" algn="tl">
                    <a:srgbClr val="4D4D4D"/>
                  </a:outerShdw>
                </a:effectLst>
              </a:rPr>
              <a:t>	f(E) = 1 + 5 = 6                  </a:t>
            </a:r>
          </a:p>
          <a:p>
            <a:pPr eaLnBrk="1" hangingPunct="1">
              <a:spcBef>
                <a:spcPct val="20000"/>
              </a:spcBef>
              <a:buClr>
                <a:schemeClr val="hlink"/>
              </a:buClr>
              <a:buFont typeface="Wingdings" pitchFamily="2" charset="2"/>
              <a:buNone/>
              <a:defRPr/>
            </a:pPr>
            <a:endParaRPr lang="en-US" altLang="en-US" sz="2000">
              <a:effectLst>
                <a:outerShdw blurRad="38100" dist="38100" dir="2700000" algn="tl">
                  <a:srgbClr val="4D4D4D"/>
                </a:outerShdw>
              </a:effectLst>
            </a:endParaRPr>
          </a:p>
          <a:p>
            <a:pPr eaLnBrk="1" hangingPunct="1">
              <a:spcBef>
                <a:spcPct val="20000"/>
              </a:spcBef>
              <a:buClr>
                <a:schemeClr val="hlink"/>
              </a:buClr>
              <a:buFont typeface="Wingdings" pitchFamily="2" charset="2"/>
              <a:buNone/>
              <a:defRPr/>
            </a:pPr>
            <a:r>
              <a:rPr lang="en-US" altLang="en-US" sz="2000">
                <a:effectLst>
                  <a:outerShdw blurRad="38100" dist="38100" dir="2700000" algn="tl">
                    <a:srgbClr val="4D4D4D"/>
                  </a:outerShdw>
                </a:effectLst>
              </a:rPr>
              <a:t>Current State = E</a:t>
            </a:r>
          </a:p>
          <a:p>
            <a:pPr eaLnBrk="1" hangingPunct="1">
              <a:spcBef>
                <a:spcPct val="20000"/>
              </a:spcBef>
              <a:buClr>
                <a:schemeClr val="hlink"/>
              </a:buClr>
              <a:buFont typeface="Wingdings" pitchFamily="2" charset="2"/>
              <a:buNone/>
              <a:defRPr/>
            </a:pPr>
            <a:r>
              <a:rPr lang="en-US" altLang="en-US" sz="2000">
                <a:effectLst>
                  <a:outerShdw blurRad="38100" dist="38100" dir="2700000" algn="tl">
                    <a:srgbClr val="4D4D4D"/>
                  </a:outerShdw>
                </a:effectLst>
              </a:rPr>
              <a:t>	f(D) = 3 + 2 = 5</a:t>
            </a:r>
          </a:p>
          <a:p>
            <a:pPr eaLnBrk="1" hangingPunct="1">
              <a:spcBef>
                <a:spcPct val="20000"/>
              </a:spcBef>
              <a:buClr>
                <a:schemeClr val="hlink"/>
              </a:buClr>
              <a:buFont typeface="Wingdings" pitchFamily="2" charset="2"/>
              <a:buNone/>
              <a:defRPr/>
            </a:pPr>
            <a:r>
              <a:rPr lang="en-US" altLang="en-US" sz="2000">
                <a:effectLst>
                  <a:outerShdw blurRad="38100" dist="38100" dir="2700000" algn="tl">
                    <a:srgbClr val="4D4D4D"/>
                  </a:outerShdw>
                </a:effectLst>
              </a:rPr>
              <a:t>	f(B) = 4 + 9 = 13</a:t>
            </a:r>
          </a:p>
          <a:p>
            <a:pPr eaLnBrk="1" hangingPunct="1">
              <a:spcBef>
                <a:spcPct val="20000"/>
              </a:spcBef>
              <a:buClr>
                <a:schemeClr val="hlink"/>
              </a:buClr>
              <a:buFont typeface="Wingdings" pitchFamily="2" charset="2"/>
              <a:buNone/>
              <a:defRPr/>
            </a:pPr>
            <a:r>
              <a:rPr lang="en-US" altLang="en-US" sz="2000">
                <a:effectLst>
                  <a:outerShdw blurRad="38100" dist="38100" dir="2700000" algn="tl">
                    <a:srgbClr val="4D4D4D"/>
                  </a:outerShdw>
                </a:effectLst>
              </a:rPr>
              <a:t>	f(F) = </a:t>
            </a:r>
            <a:r>
              <a:rPr lang="en-US" altLang="en-US" sz="2000" b="1">
                <a:effectLst>
                  <a:outerShdw blurRad="38100" dist="38100" dir="2700000" algn="tl">
                    <a:srgbClr val="4D4D4D"/>
                  </a:outerShdw>
                </a:effectLst>
                <a:sym typeface="Symbol" pitchFamily="18" charset="2"/>
              </a:rPr>
              <a:t></a:t>
            </a:r>
            <a:endParaRPr lang="en-US" altLang="en-US" sz="2000">
              <a:effectLst>
                <a:outerShdw blurRad="38100" dist="38100" dir="2700000" algn="tl">
                  <a:srgbClr val="4D4D4D"/>
                </a:outerShdw>
              </a:effectLst>
            </a:endParaRPr>
          </a:p>
          <a:p>
            <a:pPr eaLnBrk="1" hangingPunct="1">
              <a:spcBef>
                <a:spcPct val="20000"/>
              </a:spcBef>
              <a:buClr>
                <a:schemeClr val="hlink"/>
              </a:buClr>
              <a:buFont typeface="Wingdings" pitchFamily="2" charset="2"/>
              <a:buNone/>
              <a:defRPr/>
            </a:pPr>
            <a:r>
              <a:rPr lang="en-US" altLang="en-US" sz="2000">
                <a:effectLst>
                  <a:outerShdw blurRad="38100" dist="38100" dir="2700000" algn="tl">
                    <a:srgbClr val="4D4D4D"/>
                  </a:outerShdw>
                </a:effectLst>
              </a:rPr>
              <a:t>Current State = D</a:t>
            </a:r>
          </a:p>
          <a:p>
            <a:pPr eaLnBrk="1" hangingPunct="1">
              <a:spcBef>
                <a:spcPct val="20000"/>
              </a:spcBef>
              <a:buClr>
                <a:schemeClr val="hlink"/>
              </a:buClr>
              <a:buFont typeface="Wingdings" pitchFamily="2" charset="2"/>
              <a:buNone/>
              <a:defRPr/>
            </a:pPr>
            <a:r>
              <a:rPr lang="en-US" altLang="en-US" sz="2000">
                <a:effectLst>
                  <a:outerShdw blurRad="38100" dist="38100" dir="2700000" algn="tl">
                    <a:srgbClr val="4D4D4D"/>
                  </a:outerShdw>
                </a:effectLst>
              </a:rPr>
              <a:t>	f(G) = 2 + 0 = 2</a:t>
            </a:r>
          </a:p>
          <a:p>
            <a:pPr eaLnBrk="1" hangingPunct="1">
              <a:spcBef>
                <a:spcPct val="20000"/>
              </a:spcBef>
              <a:buClr>
                <a:schemeClr val="hlink"/>
              </a:buClr>
              <a:buFont typeface="Wingdings" pitchFamily="2" charset="2"/>
              <a:buNone/>
              <a:defRPr/>
            </a:pPr>
            <a:r>
              <a:rPr lang="en-US" altLang="en-US" sz="2000">
                <a:effectLst>
                  <a:outerShdw blurRad="38100" dist="38100" dir="2700000" algn="tl">
                    <a:srgbClr val="4D4D4D"/>
                  </a:outerShdw>
                </a:effectLst>
              </a:rPr>
              <a:t>	f(E) = 3 + 13 = 16</a:t>
            </a:r>
          </a:p>
          <a:p>
            <a:pPr eaLnBrk="1" hangingPunct="1">
              <a:spcBef>
                <a:spcPct val="20000"/>
              </a:spcBef>
              <a:buClr>
                <a:schemeClr val="hlink"/>
              </a:buClr>
              <a:buFont typeface="Wingdings" pitchFamily="2" charset="2"/>
              <a:buNone/>
              <a:defRPr/>
            </a:pPr>
            <a:endParaRPr lang="en-US" altLang="en-US" sz="2000">
              <a:effectLst>
                <a:outerShdw blurRad="38100" dist="38100" dir="2700000" algn="tl">
                  <a:srgbClr val="4D4D4D"/>
                </a:outerShdw>
              </a:effectLst>
            </a:endParaRPr>
          </a:p>
          <a:p>
            <a:pPr eaLnBrk="1" hangingPunct="1">
              <a:spcBef>
                <a:spcPct val="20000"/>
              </a:spcBef>
              <a:buClr>
                <a:schemeClr val="hlink"/>
              </a:buClr>
              <a:buFont typeface="Wingdings" pitchFamily="2" charset="2"/>
              <a:buNone/>
              <a:defRPr/>
            </a:pPr>
            <a:r>
              <a:rPr lang="en-US" altLang="en-US" sz="2000">
                <a:effectLst>
                  <a:outerShdw blurRad="38100" dist="38100" dir="2700000" algn="tl">
                    <a:srgbClr val="4D4D4D"/>
                  </a:outerShdw>
                </a:effectLst>
              </a:rPr>
              <a:t>Visited Nodes =</a:t>
            </a:r>
          </a:p>
          <a:p>
            <a:pPr eaLnBrk="1" hangingPunct="1">
              <a:spcBef>
                <a:spcPct val="20000"/>
              </a:spcBef>
              <a:buClr>
                <a:schemeClr val="hlink"/>
              </a:buClr>
              <a:buFont typeface="Wingdings" pitchFamily="2" charset="2"/>
              <a:buNone/>
              <a:defRPr/>
            </a:pPr>
            <a:r>
              <a:rPr lang="en-US" altLang="en-US" sz="2000">
                <a:effectLst>
                  <a:outerShdw blurRad="38100" dist="38100" dir="2700000" algn="tl">
                    <a:srgbClr val="4D4D4D"/>
                  </a:outerShdw>
                </a:effectLst>
              </a:rPr>
              <a:t>S, B, C, H, C, B, E, F, E, D, G</a:t>
            </a:r>
          </a:p>
          <a:p>
            <a:pPr eaLnBrk="1" hangingPunct="1">
              <a:spcBef>
                <a:spcPct val="20000"/>
              </a:spcBef>
              <a:buClr>
                <a:schemeClr val="hlink"/>
              </a:buClr>
              <a:buFont typeface="Wingdings" pitchFamily="2" charset="2"/>
              <a:buNone/>
              <a:defRPr/>
            </a:pPr>
            <a:endParaRPr lang="en-US" altLang="en-US" sz="2000">
              <a:effectLst>
                <a:outerShdw blurRad="38100" dist="38100" dir="2700000" algn="tl">
                  <a:srgbClr val="4D4D4D"/>
                </a:outerShdw>
              </a:effectLst>
            </a:endParaRPr>
          </a:p>
          <a:p>
            <a:pPr eaLnBrk="1" hangingPunct="1">
              <a:spcBef>
                <a:spcPct val="20000"/>
              </a:spcBef>
              <a:buClr>
                <a:schemeClr val="hlink"/>
              </a:buClr>
              <a:buFont typeface="Wingdings" pitchFamily="2" charset="2"/>
              <a:buNone/>
              <a:defRPr/>
            </a:pPr>
            <a:r>
              <a:rPr lang="en-US" altLang="en-US" sz="2000">
                <a:effectLst>
                  <a:outerShdw blurRad="38100" dist="38100" dir="2700000" algn="tl">
                    <a:srgbClr val="4D4D4D"/>
                  </a:outerShdw>
                </a:effectLst>
              </a:rPr>
              <a:t>Path = S, B, E, D, G</a:t>
            </a:r>
          </a:p>
        </p:txBody>
      </p:sp>
      <p:sp>
        <p:nvSpPr>
          <p:cNvPr id="22539" name="Rectangle 2"/>
          <p:cNvSpPr>
            <a:spLocks noGrp="1" noRot="1" noChangeArrowheads="1"/>
          </p:cNvSpPr>
          <p:nvPr>
            <p:ph type="title"/>
          </p:nvPr>
        </p:nvSpPr>
        <p:spPr>
          <a:xfrm>
            <a:off x="323850" y="115888"/>
            <a:ext cx="8510588" cy="896937"/>
          </a:xfrm>
        </p:spPr>
        <p:txBody>
          <a:bodyPr/>
          <a:lstStyle/>
          <a:p>
            <a:pPr eaLnBrk="1" hangingPunct="1"/>
            <a:r>
              <a:rPr lang="en-US" altLang="en-US">
                <a:effectLst/>
              </a:rPr>
              <a:t>Another Example</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3"/>
          <p:cNvSpPr>
            <a:spLocks noGrp="1" noChangeArrowheads="1"/>
          </p:cNvSpPr>
          <p:nvPr>
            <p:ph type="title"/>
          </p:nvPr>
        </p:nvSpPr>
        <p:spPr/>
        <p:txBody>
          <a:bodyPr rIns="130174"/>
          <a:lstStyle/>
          <a:p>
            <a:pPr indent="0" eaLnBrk="1" hangingPunct="1">
              <a:defRPr/>
            </a:pPr>
            <a:r>
              <a:rPr lang="en-US"/>
              <a:t>Heuristics for Searching</a:t>
            </a:r>
          </a:p>
        </p:txBody>
      </p:sp>
      <p:sp>
        <p:nvSpPr>
          <p:cNvPr id="123909" name="Rectangle 4"/>
          <p:cNvSpPr>
            <a:spLocks noGrp="1" noChangeArrowheads="1"/>
          </p:cNvSpPr>
          <p:nvPr>
            <p:ph type="body" idx="1"/>
          </p:nvPr>
        </p:nvSpPr>
        <p:spPr/>
        <p:txBody>
          <a:bodyPr rIns="130174"/>
          <a:lstStyle/>
          <a:p>
            <a:pPr eaLnBrk="1" hangingPunct="1"/>
            <a:r>
              <a:rPr lang="en-US" dirty="0"/>
              <a:t>For many tasks, a good heuristic is the key to finding a solution</a:t>
            </a:r>
          </a:p>
          <a:p>
            <a:pPr marL="723900" lvl="1" eaLnBrk="1" hangingPunct="1"/>
            <a:r>
              <a:rPr lang="en-US" dirty="0"/>
              <a:t>prune the search space</a:t>
            </a:r>
          </a:p>
          <a:p>
            <a:pPr marL="723900" lvl="1" eaLnBrk="1" hangingPunct="1"/>
            <a:r>
              <a:rPr lang="en-US" dirty="0"/>
              <a:t>move towards the goal</a:t>
            </a:r>
          </a:p>
          <a:p>
            <a:pPr marL="723900" lvl="1" eaLnBrk="1" hangingPunct="1"/>
            <a:endParaRPr lang="en-US" dirty="0"/>
          </a:p>
          <a:p>
            <a:pPr eaLnBrk="1" hangingPunct="1"/>
            <a:r>
              <a:rPr lang="en-US" dirty="0"/>
              <a:t>Relaxed problems</a:t>
            </a:r>
          </a:p>
          <a:p>
            <a:pPr marL="723900" lvl="1" eaLnBrk="1" hangingPunct="1"/>
            <a:r>
              <a:rPr lang="en-US" dirty="0"/>
              <a:t>fewer restrictions on the successor function (operators)</a:t>
            </a:r>
          </a:p>
          <a:p>
            <a:pPr marL="723900" lvl="1" eaLnBrk="1" hangingPunct="1"/>
            <a:r>
              <a:rPr lang="en-US" dirty="0"/>
              <a:t>its exact solution may be a good heuristic for the original problem</a:t>
            </a:r>
          </a:p>
        </p:txBody>
      </p:sp>
    </p:spTree>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Euclidean Distance</a:t>
            </a:r>
          </a:p>
        </p:txBody>
      </p:sp>
      <p:sp>
        <p:nvSpPr>
          <p:cNvPr id="6" name="TextBox 5"/>
          <p:cNvSpPr txBox="1"/>
          <p:nvPr/>
        </p:nvSpPr>
        <p:spPr>
          <a:xfrm>
            <a:off x="685800" y="1752600"/>
            <a:ext cx="8077200" cy="369332"/>
          </a:xfrm>
          <a:prstGeom prst="rect">
            <a:avLst/>
          </a:prstGeom>
          <a:noFill/>
        </p:spPr>
        <p:txBody>
          <a:bodyPr wrap="square" rtlCol="0">
            <a:spAutoFit/>
          </a:bodyPr>
          <a:lstStyle/>
          <a:p>
            <a:r>
              <a:rPr lang="en-US" dirty="0"/>
              <a:t>Always pick the step that is the closed to the target.</a:t>
            </a:r>
          </a:p>
        </p:txBody>
      </p:sp>
      <p:pic>
        <p:nvPicPr>
          <p:cNvPr id="288771" name="Picture 3"/>
          <p:cNvPicPr>
            <a:picLocks noGrp="1" noChangeAspect="1" noChangeArrowheads="1"/>
          </p:cNvPicPr>
          <p:nvPr>
            <p:ph sz="quarter" idx="1"/>
          </p:nvPr>
        </p:nvPicPr>
        <p:blipFill>
          <a:blip r:embed="rId2"/>
          <a:srcRect/>
          <a:stretch>
            <a:fillRect/>
          </a:stretch>
        </p:blipFill>
        <p:spPr bwMode="auto">
          <a:xfrm>
            <a:off x="1143000" y="2438400"/>
            <a:ext cx="2895600" cy="1069975"/>
          </a:xfrm>
          <a:prstGeom prst="rect">
            <a:avLst/>
          </a:prstGeom>
          <a:noFill/>
          <a:ln w="9525">
            <a:noFill/>
            <a:miter lim="800000"/>
            <a:headEnd/>
            <a:tailEnd/>
          </a:ln>
          <a:effectLst/>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Manhattan Distance</a:t>
            </a:r>
          </a:p>
        </p:txBody>
      </p:sp>
      <p:sp>
        <p:nvSpPr>
          <p:cNvPr id="5" name="TextBox 4"/>
          <p:cNvSpPr txBox="1"/>
          <p:nvPr/>
        </p:nvSpPr>
        <p:spPr>
          <a:xfrm>
            <a:off x="533400" y="1524000"/>
            <a:ext cx="8610600" cy="3139321"/>
          </a:xfrm>
          <a:prstGeom prst="rect">
            <a:avLst/>
          </a:prstGeom>
          <a:noFill/>
        </p:spPr>
        <p:txBody>
          <a:bodyPr wrap="square" rtlCol="0">
            <a:spAutoFit/>
          </a:bodyPr>
          <a:lstStyle/>
          <a:p>
            <a:pPr>
              <a:buFont typeface="Arial" pitchFamily="34" charset="0"/>
              <a:buChar char="•"/>
            </a:pPr>
            <a:r>
              <a:rPr lang="en-US" sz="2000" dirty="0"/>
              <a:t>Another common Approach is to replace absolute distance with “Manhattan Distance”</a:t>
            </a:r>
          </a:p>
          <a:p>
            <a:pPr>
              <a:buFont typeface="Arial" pitchFamily="34" charset="0"/>
              <a:buChar char="•"/>
            </a:pPr>
            <a:endParaRPr lang="en-US" sz="2000" dirty="0"/>
          </a:p>
          <a:p>
            <a:pPr>
              <a:buFont typeface="Arial" pitchFamily="34" charset="0"/>
              <a:buChar char="•"/>
            </a:pPr>
            <a:r>
              <a:rPr lang="en-US" sz="2000" dirty="0"/>
              <a:t>This is a approximation of the distance between two points based on adding the horizontal distance and vertical distance rather than the computing the exact  distance. </a:t>
            </a:r>
          </a:p>
          <a:p>
            <a:pPr>
              <a:buFont typeface="Arial" pitchFamily="34" charset="0"/>
              <a:buChar char="•"/>
            </a:pPr>
            <a:endParaRPr lang="en-US" sz="2000" dirty="0"/>
          </a:p>
          <a:p>
            <a:pPr>
              <a:buFont typeface="Arial" pitchFamily="34" charset="0"/>
              <a:buChar char="•"/>
            </a:pPr>
            <a:r>
              <a:rPr lang="en-US" sz="2000" dirty="0"/>
              <a:t>This is a good example of how A* algorithm can be customized for specific games and maps.</a:t>
            </a:r>
          </a:p>
          <a:p>
            <a:endParaRPr lang="en-US" dirty="0"/>
          </a:p>
        </p:txBody>
      </p:sp>
      <p:pic>
        <p:nvPicPr>
          <p:cNvPr id="289795" name="Picture 3"/>
          <p:cNvPicPr>
            <a:picLocks noChangeAspect="1" noChangeArrowheads="1"/>
          </p:cNvPicPr>
          <p:nvPr/>
        </p:nvPicPr>
        <p:blipFill>
          <a:blip r:embed="rId2"/>
          <a:srcRect/>
          <a:stretch>
            <a:fillRect/>
          </a:stretch>
        </p:blipFill>
        <p:spPr bwMode="auto">
          <a:xfrm>
            <a:off x="2743200" y="5029200"/>
            <a:ext cx="2514600" cy="981075"/>
          </a:xfrm>
          <a:prstGeom prst="rect">
            <a:avLst/>
          </a:prstGeom>
          <a:noFill/>
          <a:ln w="9525">
            <a:noFill/>
            <a:miter lim="800000"/>
            <a:headEnd/>
            <a:tailEnd/>
          </a:ln>
          <a:effectLst/>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Nilsson's Sequence Score</a:t>
            </a:r>
            <a:endParaRPr lang="en-US" dirty="0"/>
          </a:p>
        </p:txBody>
      </p:sp>
      <p:sp>
        <p:nvSpPr>
          <p:cNvPr id="3" name="Content Placeholder 2"/>
          <p:cNvSpPr>
            <a:spLocks noGrp="1"/>
          </p:cNvSpPr>
          <p:nvPr>
            <p:ph sz="quarter" idx="1"/>
          </p:nvPr>
        </p:nvSpPr>
        <p:spPr>
          <a:xfrm>
            <a:off x="301752" y="1527048"/>
            <a:ext cx="8503920" cy="4949952"/>
          </a:xfrm>
        </p:spPr>
        <p:txBody>
          <a:bodyPr>
            <a:normAutofit/>
          </a:bodyPr>
          <a:lstStyle/>
          <a:p>
            <a:r>
              <a:rPr lang="en-US" b="1" dirty="0"/>
              <a:t>Nilsson's Sequence Score</a:t>
            </a:r>
            <a:r>
              <a:rPr lang="en-US" dirty="0"/>
              <a:t>: h(n) = P(n) + 3 S(n)P(n) is the </a:t>
            </a:r>
            <a:r>
              <a:rPr lang="en-US" dirty="0" err="1"/>
              <a:t>manhattan</a:t>
            </a:r>
            <a:r>
              <a:rPr lang="en-US" dirty="0"/>
              <a:t> distance of each tile from its proper position.</a:t>
            </a:r>
          </a:p>
          <a:p>
            <a:r>
              <a:rPr lang="en-US" dirty="0"/>
              <a:t>"The quantity S(n) is a </a:t>
            </a:r>
            <a:r>
              <a:rPr lang="en-US" i="1" dirty="0"/>
              <a:t>sequence score</a:t>
            </a:r>
            <a:r>
              <a:rPr lang="en-US" dirty="0"/>
              <a:t> obtained by checking around the </a:t>
            </a:r>
            <a:r>
              <a:rPr lang="en-US" dirty="0" err="1"/>
              <a:t>noncentral</a:t>
            </a:r>
            <a:r>
              <a:rPr lang="en-US" dirty="0"/>
              <a:t> squares in turn, allotting 2 for every tile not followed by its proper successor and 0 for every other tile, except that a piece in the center scores 1."</a:t>
            </a:r>
          </a:p>
          <a:p>
            <a:r>
              <a:rPr lang="en-US" dirty="0"/>
              <a:t>This might be easier to understand if you know that the goal state that Nilsson uses is represented by: (1 2 3 8 space 4 7 6 5). This heuristic is not admissible.</a:t>
            </a:r>
          </a:p>
          <a:p>
            <a:endParaRPr lang="en-US"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7" name="Rectangle 4"/>
          <p:cNvSpPr>
            <a:spLocks noGrp="1" noChangeArrowheads="1"/>
          </p:cNvSpPr>
          <p:nvPr>
            <p:ph type="body" idx="1"/>
          </p:nvPr>
        </p:nvSpPr>
        <p:spPr>
          <a:xfrm>
            <a:off x="228600" y="1447800"/>
            <a:ext cx="8839200" cy="5041900"/>
          </a:xfrm>
        </p:spPr>
        <p:txBody>
          <a:bodyPr rIns="130174"/>
          <a:lstStyle/>
          <a:p>
            <a:pPr marL="382588" indent="-342900" eaLnBrk="1" hangingPunct="1">
              <a:lnSpc>
                <a:spcPct val="90000"/>
              </a:lnSpc>
              <a:buFont typeface="Wingdings" pitchFamily="2" charset="2"/>
              <a:buNone/>
            </a:pPr>
            <a:r>
              <a:rPr lang="en-US" sz="2000" dirty="0"/>
              <a:t>E.g., for the 8-puzzle:</a:t>
            </a:r>
            <a:br>
              <a:rPr lang="en-US" sz="2000" dirty="0"/>
            </a:br>
            <a:endParaRPr lang="en-US" sz="2000" dirty="0"/>
          </a:p>
          <a:p>
            <a:pPr marL="382588" indent="-342900" eaLnBrk="1" hangingPunct="1">
              <a:lnSpc>
                <a:spcPct val="90000"/>
              </a:lnSpc>
              <a:buClr>
                <a:srgbClr val="000000"/>
              </a:buClr>
              <a:buSzPct val="100000"/>
              <a:buFont typeface="Arial" charset="0"/>
              <a:buChar char="•"/>
            </a:pPr>
            <a:r>
              <a:rPr lang="en-US" sz="2000" dirty="0">
                <a:latin typeface="Arial Italic" charset="0"/>
                <a:cs typeface="Arial Italic" charset="0"/>
                <a:sym typeface="Arial Italic" charset="0"/>
              </a:rPr>
              <a:t>h</a:t>
            </a:r>
            <a:r>
              <a:rPr lang="en-US" sz="2000" baseline="-25000" dirty="0">
                <a:latin typeface="Arial Italic" charset="0"/>
                <a:cs typeface="Arial Italic" charset="0"/>
                <a:sym typeface="Arial Italic" charset="0"/>
              </a:rPr>
              <a:t>1</a:t>
            </a:r>
            <a:r>
              <a:rPr lang="en-US" sz="2000" dirty="0">
                <a:latin typeface="Arial Italic" charset="0"/>
                <a:cs typeface="Arial Italic" charset="0"/>
                <a:sym typeface="Arial Italic" charset="0"/>
              </a:rPr>
              <a:t>(n) </a:t>
            </a:r>
            <a:r>
              <a:rPr lang="en-US" sz="2000" dirty="0"/>
              <a:t>= number of misplaced tiles</a:t>
            </a:r>
          </a:p>
          <a:p>
            <a:pPr marL="382588" indent="-342900" eaLnBrk="1" hangingPunct="1">
              <a:lnSpc>
                <a:spcPct val="90000"/>
              </a:lnSpc>
              <a:buClr>
                <a:srgbClr val="000000"/>
              </a:buClr>
              <a:buSzPct val="100000"/>
              <a:buFont typeface="Arial" charset="0"/>
              <a:buChar char="•"/>
            </a:pPr>
            <a:r>
              <a:rPr lang="en-US" sz="2000" dirty="0">
                <a:latin typeface="Arial Italic" charset="0"/>
                <a:cs typeface="Arial Italic" charset="0"/>
                <a:sym typeface="Arial Italic" charset="0"/>
              </a:rPr>
              <a:t>h</a:t>
            </a:r>
            <a:r>
              <a:rPr lang="en-US" sz="2000" baseline="-25000" dirty="0">
                <a:latin typeface="Arial Italic" charset="0"/>
                <a:cs typeface="Arial Italic" charset="0"/>
                <a:sym typeface="Arial Italic" charset="0"/>
              </a:rPr>
              <a:t>2</a:t>
            </a:r>
            <a:r>
              <a:rPr lang="en-US" sz="2000" dirty="0">
                <a:latin typeface="Arial Italic" charset="0"/>
                <a:cs typeface="Arial Italic" charset="0"/>
                <a:sym typeface="Arial Italic" charset="0"/>
              </a:rPr>
              <a:t>(n) </a:t>
            </a:r>
            <a:r>
              <a:rPr lang="en-US" sz="2000" dirty="0"/>
              <a:t>=no. of squares from desired location of each tile</a:t>
            </a:r>
            <a:br>
              <a:rPr lang="en-US" sz="2000" dirty="0"/>
            </a:br>
            <a:endParaRPr lang="en-US" sz="2000" dirty="0"/>
          </a:p>
          <a:p>
            <a:pPr marL="382588" indent="-342900" eaLnBrk="1" hangingPunct="1">
              <a:lnSpc>
                <a:spcPct val="90000"/>
              </a:lnSpc>
              <a:buFont typeface="Wingdings" pitchFamily="2" charset="2"/>
              <a:buNone/>
            </a:pPr>
            <a:endParaRPr lang="en-US" sz="2000" dirty="0"/>
          </a:p>
          <a:p>
            <a:pPr marL="382588" indent="-342900" eaLnBrk="1" hangingPunct="1">
              <a:lnSpc>
                <a:spcPct val="90000"/>
              </a:lnSpc>
              <a:buFont typeface="Wingdings" pitchFamily="2" charset="2"/>
              <a:buNone/>
            </a:pPr>
            <a:endParaRPr lang="en-US" dirty="0"/>
          </a:p>
          <a:p>
            <a:pPr marL="382588" indent="-342900" eaLnBrk="1" hangingPunct="1">
              <a:lnSpc>
                <a:spcPct val="90000"/>
              </a:lnSpc>
              <a:buFont typeface="Wingdings" pitchFamily="2" charset="2"/>
              <a:buNone/>
            </a:pPr>
            <a:endParaRPr lang="en-US" dirty="0"/>
          </a:p>
          <a:p>
            <a:pPr marL="382588" indent="-342900" eaLnBrk="1" hangingPunct="1">
              <a:lnSpc>
                <a:spcPct val="90000"/>
              </a:lnSpc>
              <a:buFont typeface="Wingdings" pitchFamily="2" charset="2"/>
              <a:buNone/>
            </a:pPr>
            <a:endParaRPr lang="en-US" dirty="0"/>
          </a:p>
          <a:p>
            <a:pPr marL="382588" indent="-342900" eaLnBrk="1" hangingPunct="1">
              <a:lnSpc>
                <a:spcPct val="90000"/>
              </a:lnSpc>
              <a:buClr>
                <a:srgbClr val="CC0099"/>
              </a:buClr>
              <a:buSzPct val="100000"/>
              <a:buFont typeface="Arial" charset="0"/>
              <a:buChar char="•"/>
            </a:pPr>
            <a:endParaRPr lang="en-US" u="sng" dirty="0">
              <a:solidFill>
                <a:srgbClr val="CC0099"/>
              </a:solidFill>
            </a:endParaRPr>
          </a:p>
          <a:p>
            <a:pPr marL="382588" indent="-342900" eaLnBrk="1" hangingPunct="1">
              <a:lnSpc>
                <a:spcPct val="90000"/>
              </a:lnSpc>
              <a:buClr>
                <a:srgbClr val="CC0099"/>
              </a:buClr>
              <a:buSzPct val="100000"/>
              <a:buFont typeface="Arial" charset="0"/>
              <a:buChar char="•"/>
            </a:pPr>
            <a:r>
              <a:rPr lang="en-US" u="sng" dirty="0">
                <a:solidFill>
                  <a:srgbClr val="CC0099"/>
                </a:solidFill>
              </a:rPr>
              <a:t>h</a:t>
            </a:r>
            <a:r>
              <a:rPr lang="en-US" u="sng" baseline="-25000" dirty="0">
                <a:solidFill>
                  <a:srgbClr val="CC0099"/>
                </a:solidFill>
              </a:rPr>
              <a:t>1</a:t>
            </a:r>
            <a:r>
              <a:rPr lang="en-US" u="sng" dirty="0">
                <a:solidFill>
                  <a:srgbClr val="CC0099"/>
                </a:solidFill>
              </a:rPr>
              <a:t>(S) = ?</a:t>
            </a:r>
            <a:r>
              <a:rPr lang="en-US" dirty="0"/>
              <a:t> 8</a:t>
            </a:r>
          </a:p>
          <a:p>
            <a:pPr marL="382588" indent="-342900" eaLnBrk="1" hangingPunct="1">
              <a:lnSpc>
                <a:spcPct val="90000"/>
              </a:lnSpc>
              <a:buClr>
                <a:srgbClr val="CC0099"/>
              </a:buClr>
              <a:buSzPct val="100000"/>
              <a:buFont typeface="Arial" charset="0"/>
              <a:buChar char="•"/>
            </a:pPr>
            <a:r>
              <a:rPr lang="en-US" u="sng" dirty="0">
                <a:solidFill>
                  <a:srgbClr val="CC0099"/>
                </a:solidFill>
              </a:rPr>
              <a:t>h</a:t>
            </a:r>
            <a:r>
              <a:rPr lang="en-US" u="sng" baseline="-25000" dirty="0">
                <a:solidFill>
                  <a:srgbClr val="CC0099"/>
                </a:solidFill>
              </a:rPr>
              <a:t>2</a:t>
            </a:r>
            <a:r>
              <a:rPr lang="en-US" u="sng" dirty="0">
                <a:solidFill>
                  <a:srgbClr val="CC0099"/>
                </a:solidFill>
              </a:rPr>
              <a:t>(S) = ?</a:t>
            </a:r>
            <a:r>
              <a:rPr lang="en-US" dirty="0"/>
              <a:t> 3+1+2+2+2+3+3+2 = 18</a:t>
            </a:r>
            <a:r>
              <a:rPr lang="en-US" sz="2400" dirty="0"/>
              <a:t> </a:t>
            </a:r>
          </a:p>
        </p:txBody>
      </p:sp>
      <p:pic>
        <p:nvPicPr>
          <p:cNvPr id="125958" name="Picture 5"/>
          <p:cNvPicPr>
            <a:picLocks noChangeArrowheads="1"/>
          </p:cNvPicPr>
          <p:nvPr/>
        </p:nvPicPr>
        <p:blipFill>
          <a:blip r:embed="rId2"/>
          <a:srcRect/>
          <a:stretch>
            <a:fillRect/>
          </a:stretch>
        </p:blipFill>
        <p:spPr bwMode="auto">
          <a:xfrm>
            <a:off x="3898900" y="2971800"/>
            <a:ext cx="4787900" cy="2743201"/>
          </a:xfrm>
          <a:prstGeom prst="rect">
            <a:avLst/>
          </a:prstGeom>
          <a:noFill/>
          <a:ln w="9525">
            <a:noFill/>
            <a:miter lim="800000"/>
            <a:headEnd/>
            <a:tailEnd/>
          </a:ln>
        </p:spPr>
      </p:pic>
      <p:sp>
        <p:nvSpPr>
          <p:cNvPr id="11" name="Rectangle 3"/>
          <p:cNvSpPr>
            <a:spLocks noGrp="1" noChangeArrowheads="1"/>
          </p:cNvSpPr>
          <p:nvPr>
            <p:ph type="title"/>
          </p:nvPr>
        </p:nvSpPr>
        <p:spPr>
          <a:xfrm>
            <a:off x="301752" y="228600"/>
            <a:ext cx="8534400" cy="758952"/>
          </a:xfrm>
        </p:spPr>
        <p:txBody>
          <a:bodyPr rIns="130174"/>
          <a:lstStyle/>
          <a:p>
            <a:pPr indent="0" eaLnBrk="1" hangingPunct="1">
              <a:defRPr/>
            </a:pPr>
            <a:r>
              <a:rPr lang="en-US" dirty="0"/>
              <a:t>8-Puzzle Heuristics</a:t>
            </a:r>
          </a:p>
        </p:txBody>
      </p:sp>
    </p:spTree>
  </p:cSld>
  <p:clrMapOvr>
    <a:masterClrMapping/>
  </p:clrMapOvr>
  <p:transition/>
</p:sld>
</file>

<file path=ppt/slides/slide1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9" name="Rectangle 2"/>
          <p:cNvSpPr>
            <a:spLocks noGrp="1" noChangeArrowheads="1"/>
          </p:cNvSpPr>
          <p:nvPr>
            <p:ph type="body" idx="1"/>
          </p:nvPr>
        </p:nvSpPr>
        <p:spPr>
          <a:xfrm>
            <a:off x="457200" y="1371600"/>
            <a:ext cx="8153400" cy="990600"/>
          </a:xfrm>
        </p:spPr>
        <p:txBody>
          <a:bodyPr/>
          <a:lstStyle/>
          <a:p>
            <a:r>
              <a:rPr lang="en-US" altLang="he-IL" sz="2400" i="1" u="sng" dirty="0">
                <a:solidFill>
                  <a:srgbClr val="3399FF"/>
                </a:solidFill>
              </a:rPr>
              <a:t>Example:</a:t>
            </a:r>
            <a:r>
              <a:rPr lang="en-US" altLang="he-IL" sz="2400" dirty="0"/>
              <a:t> </a:t>
            </a:r>
            <a:r>
              <a:rPr lang="en-US" altLang="he-IL" sz="2400" dirty="0">
                <a:cs typeface="Miriam" pitchFamily="34" charset="-79"/>
              </a:rPr>
              <a:t>a small part of the 8-puzzle problem-space graph.</a:t>
            </a:r>
            <a:endParaRPr lang="en-US" altLang="he-IL" sz="2400" u="sng" dirty="0"/>
          </a:p>
        </p:txBody>
      </p:sp>
      <p:grpSp>
        <p:nvGrpSpPr>
          <p:cNvPr id="2" name="Group 58"/>
          <p:cNvGrpSpPr>
            <a:grpSpLocks/>
          </p:cNvGrpSpPr>
          <p:nvPr/>
        </p:nvGrpSpPr>
        <p:grpSpPr bwMode="auto">
          <a:xfrm>
            <a:off x="304800" y="2286000"/>
            <a:ext cx="8458200" cy="3810000"/>
            <a:chOff x="192" y="1440"/>
            <a:chExt cx="5328" cy="2400"/>
          </a:xfrm>
        </p:grpSpPr>
        <p:graphicFrame>
          <p:nvGraphicFramePr>
            <p:cNvPr id="1026" name="Object 1024"/>
            <p:cNvGraphicFramePr>
              <a:graphicFrameLocks noChangeAspect="1"/>
            </p:cNvGraphicFramePr>
            <p:nvPr/>
          </p:nvGraphicFramePr>
          <p:xfrm>
            <a:off x="2592" y="1440"/>
            <a:ext cx="576" cy="576"/>
          </p:xfrm>
          <a:graphic>
            <a:graphicData uri="http://schemas.openxmlformats.org/presentationml/2006/ole">
              <mc:AlternateContent xmlns:mc="http://schemas.openxmlformats.org/markup-compatibility/2006">
                <mc:Choice xmlns:v="urn:schemas-microsoft-com:vml" Requires="v">
                  <p:oleObj name="Worksheet" r:id="rId2" imgW="554400" imgH="508680" progId="Excel.Sheet.8">
                    <p:embed/>
                  </p:oleObj>
                </mc:Choice>
                <mc:Fallback>
                  <p:oleObj name="Worksheet" r:id="rId2" imgW="554400" imgH="508680" progId="Excel.Sheet.8">
                    <p:embed/>
                    <p:pic>
                      <p:nvPicPr>
                        <p:cNvPr id="0"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2" y="1440"/>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graphicFrame>
          <p:nvGraphicFramePr>
            <p:cNvPr id="1027" name="Object 1025"/>
            <p:cNvGraphicFramePr>
              <a:graphicFrameLocks noChangeAspect="1"/>
            </p:cNvGraphicFramePr>
            <p:nvPr/>
          </p:nvGraphicFramePr>
          <p:xfrm>
            <a:off x="4512" y="2304"/>
            <a:ext cx="576" cy="576"/>
          </p:xfrm>
          <a:graphic>
            <a:graphicData uri="http://schemas.openxmlformats.org/presentationml/2006/ole">
              <mc:AlternateContent xmlns:mc="http://schemas.openxmlformats.org/markup-compatibility/2006">
                <mc:Choice xmlns:v="urn:schemas-microsoft-com:vml" Requires="v">
                  <p:oleObj name="Worksheet" r:id="rId4" imgW="554400" imgH="508680" progId="Excel.Sheet.8">
                    <p:embed/>
                  </p:oleObj>
                </mc:Choice>
                <mc:Fallback>
                  <p:oleObj name="Worksheet" r:id="rId4" imgW="554400" imgH="508680" progId="Excel.Sheet.8">
                    <p:embed/>
                    <p:pic>
                      <p:nvPicPr>
                        <p:cNvPr id="0" name="Object 10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2" y="2304"/>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graphicFrame>
          <p:nvGraphicFramePr>
            <p:cNvPr id="1028" name="Object 1026"/>
            <p:cNvGraphicFramePr>
              <a:graphicFrameLocks noChangeAspect="1"/>
            </p:cNvGraphicFramePr>
            <p:nvPr/>
          </p:nvGraphicFramePr>
          <p:xfrm>
            <a:off x="3216" y="2304"/>
            <a:ext cx="576" cy="576"/>
          </p:xfrm>
          <a:graphic>
            <a:graphicData uri="http://schemas.openxmlformats.org/presentationml/2006/ole">
              <mc:AlternateContent xmlns:mc="http://schemas.openxmlformats.org/markup-compatibility/2006">
                <mc:Choice xmlns:v="urn:schemas-microsoft-com:vml" Requires="v">
                  <p:oleObj name="Worksheet" r:id="rId6" imgW="554400" imgH="508680" progId="Excel.Sheet.8">
                    <p:embed/>
                  </p:oleObj>
                </mc:Choice>
                <mc:Fallback>
                  <p:oleObj name="Worksheet" r:id="rId6" imgW="554400" imgH="508680" progId="Excel.Sheet.8">
                    <p:embed/>
                    <p:pic>
                      <p:nvPicPr>
                        <p:cNvPr id="0" name="Object 10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6" y="2304"/>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graphicFrame>
          <p:nvGraphicFramePr>
            <p:cNvPr id="1029" name="Object 1027"/>
            <p:cNvGraphicFramePr>
              <a:graphicFrameLocks noChangeAspect="1"/>
            </p:cNvGraphicFramePr>
            <p:nvPr/>
          </p:nvGraphicFramePr>
          <p:xfrm>
            <a:off x="1920" y="2304"/>
            <a:ext cx="576" cy="576"/>
          </p:xfrm>
          <a:graphic>
            <a:graphicData uri="http://schemas.openxmlformats.org/presentationml/2006/ole">
              <mc:AlternateContent xmlns:mc="http://schemas.openxmlformats.org/markup-compatibility/2006">
                <mc:Choice xmlns:v="urn:schemas-microsoft-com:vml" Requires="v">
                  <p:oleObj name="Worksheet" r:id="rId8" imgW="554400" imgH="508680" progId="Excel.Sheet.8">
                    <p:embed/>
                  </p:oleObj>
                </mc:Choice>
                <mc:Fallback>
                  <p:oleObj name="Worksheet" r:id="rId8" imgW="554400" imgH="508680" progId="Excel.Sheet.8">
                    <p:embed/>
                    <p:pic>
                      <p:nvPicPr>
                        <p:cNvPr id="0" name="Object 10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20" y="2304"/>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graphicFrame>
          <p:nvGraphicFramePr>
            <p:cNvPr id="1030" name="Object 1028"/>
            <p:cNvGraphicFramePr>
              <a:graphicFrameLocks noChangeAspect="1"/>
            </p:cNvGraphicFramePr>
            <p:nvPr/>
          </p:nvGraphicFramePr>
          <p:xfrm>
            <a:off x="672" y="2304"/>
            <a:ext cx="576" cy="576"/>
          </p:xfrm>
          <a:graphic>
            <a:graphicData uri="http://schemas.openxmlformats.org/presentationml/2006/ole">
              <mc:AlternateContent xmlns:mc="http://schemas.openxmlformats.org/markup-compatibility/2006">
                <mc:Choice xmlns:v="urn:schemas-microsoft-com:vml" Requires="v">
                  <p:oleObj name="Worksheet" r:id="rId10" imgW="554400" imgH="508680" progId="Excel.Sheet.8">
                    <p:embed/>
                  </p:oleObj>
                </mc:Choice>
                <mc:Fallback>
                  <p:oleObj name="Worksheet" r:id="rId10" imgW="554400" imgH="508680" progId="Excel.Sheet.8">
                    <p:embed/>
                    <p:pic>
                      <p:nvPicPr>
                        <p:cNvPr id="0" name="Object 10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2" y="2304"/>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graphicFrame>
          <p:nvGraphicFramePr>
            <p:cNvPr id="1031" name="Object 1029"/>
            <p:cNvGraphicFramePr>
              <a:graphicFrameLocks noChangeAspect="1"/>
            </p:cNvGraphicFramePr>
            <p:nvPr/>
          </p:nvGraphicFramePr>
          <p:xfrm>
            <a:off x="192" y="3264"/>
            <a:ext cx="576" cy="576"/>
          </p:xfrm>
          <a:graphic>
            <a:graphicData uri="http://schemas.openxmlformats.org/presentationml/2006/ole">
              <mc:AlternateContent xmlns:mc="http://schemas.openxmlformats.org/markup-compatibility/2006">
                <mc:Choice xmlns:v="urn:schemas-microsoft-com:vml" Requires="v">
                  <p:oleObj name="Worksheet" r:id="rId12" imgW="554400" imgH="508680" progId="Excel.Sheet.8">
                    <p:embed/>
                  </p:oleObj>
                </mc:Choice>
                <mc:Fallback>
                  <p:oleObj name="Worksheet" r:id="rId12" imgW="554400" imgH="508680" progId="Excel.Sheet.8">
                    <p:embed/>
                    <p:pic>
                      <p:nvPicPr>
                        <p:cNvPr id="0" name="Object 10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2" y="3264"/>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graphicFrame>
          <p:nvGraphicFramePr>
            <p:cNvPr id="1032" name="Object 1030"/>
            <p:cNvGraphicFramePr>
              <a:graphicFrameLocks noChangeAspect="1"/>
            </p:cNvGraphicFramePr>
            <p:nvPr/>
          </p:nvGraphicFramePr>
          <p:xfrm>
            <a:off x="816" y="3264"/>
            <a:ext cx="576" cy="576"/>
          </p:xfrm>
          <a:graphic>
            <a:graphicData uri="http://schemas.openxmlformats.org/presentationml/2006/ole">
              <mc:AlternateContent xmlns:mc="http://schemas.openxmlformats.org/markup-compatibility/2006">
                <mc:Choice xmlns:v="urn:schemas-microsoft-com:vml" Requires="v">
                  <p:oleObj name="Worksheet" r:id="rId14" imgW="554400" imgH="508680" progId="Excel.Sheet.8">
                    <p:embed/>
                  </p:oleObj>
                </mc:Choice>
                <mc:Fallback>
                  <p:oleObj name="Worksheet" r:id="rId14" imgW="554400" imgH="508680" progId="Excel.Sheet.8">
                    <p:embed/>
                    <p:pic>
                      <p:nvPicPr>
                        <p:cNvPr id="0" name="Object 103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16" y="3264"/>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graphicFrame>
          <p:nvGraphicFramePr>
            <p:cNvPr id="1033" name="Object 1031"/>
            <p:cNvGraphicFramePr>
              <a:graphicFrameLocks noChangeAspect="1"/>
            </p:cNvGraphicFramePr>
            <p:nvPr/>
          </p:nvGraphicFramePr>
          <p:xfrm>
            <a:off x="1488" y="3264"/>
            <a:ext cx="576" cy="576"/>
          </p:xfrm>
          <a:graphic>
            <a:graphicData uri="http://schemas.openxmlformats.org/presentationml/2006/ole">
              <mc:AlternateContent xmlns:mc="http://schemas.openxmlformats.org/markup-compatibility/2006">
                <mc:Choice xmlns:v="urn:schemas-microsoft-com:vml" Requires="v">
                  <p:oleObj name="Worksheet" r:id="rId16" imgW="554400" imgH="508680" progId="Excel.Sheet.8">
                    <p:embed/>
                  </p:oleObj>
                </mc:Choice>
                <mc:Fallback>
                  <p:oleObj name="Worksheet" r:id="rId16" imgW="554400" imgH="508680" progId="Excel.Sheet.8">
                    <p:embed/>
                    <p:pic>
                      <p:nvPicPr>
                        <p:cNvPr id="0" name="Object 103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88" y="3264"/>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graphicFrame>
          <p:nvGraphicFramePr>
            <p:cNvPr id="1034" name="Object 1032"/>
            <p:cNvGraphicFramePr>
              <a:graphicFrameLocks noChangeAspect="1"/>
            </p:cNvGraphicFramePr>
            <p:nvPr/>
          </p:nvGraphicFramePr>
          <p:xfrm>
            <a:off x="2112" y="3264"/>
            <a:ext cx="576" cy="576"/>
          </p:xfrm>
          <a:graphic>
            <a:graphicData uri="http://schemas.openxmlformats.org/presentationml/2006/ole">
              <mc:AlternateContent xmlns:mc="http://schemas.openxmlformats.org/markup-compatibility/2006">
                <mc:Choice xmlns:v="urn:schemas-microsoft-com:vml" Requires="v">
                  <p:oleObj name="Worksheet" r:id="rId18" imgW="554400" imgH="508680" progId="Excel.Sheet.8">
                    <p:embed/>
                  </p:oleObj>
                </mc:Choice>
                <mc:Fallback>
                  <p:oleObj name="Worksheet" r:id="rId18" imgW="554400" imgH="508680" progId="Excel.Sheet.8">
                    <p:embed/>
                    <p:pic>
                      <p:nvPicPr>
                        <p:cNvPr id="0" name="Object 103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12" y="3264"/>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graphicFrame>
          <p:nvGraphicFramePr>
            <p:cNvPr id="1035" name="Object 1033"/>
            <p:cNvGraphicFramePr>
              <a:graphicFrameLocks noChangeAspect="1"/>
            </p:cNvGraphicFramePr>
            <p:nvPr/>
          </p:nvGraphicFramePr>
          <p:xfrm>
            <a:off x="2880" y="3264"/>
            <a:ext cx="576" cy="576"/>
          </p:xfrm>
          <a:graphic>
            <a:graphicData uri="http://schemas.openxmlformats.org/presentationml/2006/ole">
              <mc:AlternateContent xmlns:mc="http://schemas.openxmlformats.org/markup-compatibility/2006">
                <mc:Choice xmlns:v="urn:schemas-microsoft-com:vml" Requires="v">
                  <p:oleObj name="Worksheet" r:id="rId20" imgW="554400" imgH="508680" progId="Excel.Sheet.8">
                    <p:embed/>
                  </p:oleObj>
                </mc:Choice>
                <mc:Fallback>
                  <p:oleObj name="Worksheet" r:id="rId20" imgW="554400" imgH="508680" progId="Excel.Sheet.8">
                    <p:embed/>
                    <p:pic>
                      <p:nvPicPr>
                        <p:cNvPr id="0" name="Object 103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880" y="3264"/>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graphicFrame>
          <p:nvGraphicFramePr>
            <p:cNvPr id="1036" name="Object 1034"/>
            <p:cNvGraphicFramePr>
              <a:graphicFrameLocks noChangeAspect="1"/>
            </p:cNvGraphicFramePr>
            <p:nvPr/>
          </p:nvGraphicFramePr>
          <p:xfrm>
            <a:off x="3504" y="3264"/>
            <a:ext cx="576" cy="576"/>
          </p:xfrm>
          <a:graphic>
            <a:graphicData uri="http://schemas.openxmlformats.org/presentationml/2006/ole">
              <mc:AlternateContent xmlns:mc="http://schemas.openxmlformats.org/markup-compatibility/2006">
                <mc:Choice xmlns:v="urn:schemas-microsoft-com:vml" Requires="v">
                  <p:oleObj name="Worksheet" r:id="rId22" imgW="554400" imgH="508680" progId="Excel.Sheet.8">
                    <p:embed/>
                  </p:oleObj>
                </mc:Choice>
                <mc:Fallback>
                  <p:oleObj name="Worksheet" r:id="rId22" imgW="554400" imgH="508680" progId="Excel.Sheet.8">
                    <p:embed/>
                    <p:pic>
                      <p:nvPicPr>
                        <p:cNvPr id="0" name="Object 103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04" y="3264"/>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graphicFrame>
          <p:nvGraphicFramePr>
            <p:cNvPr id="1037" name="Object 1035"/>
            <p:cNvGraphicFramePr>
              <a:graphicFrameLocks noChangeAspect="1"/>
            </p:cNvGraphicFramePr>
            <p:nvPr/>
          </p:nvGraphicFramePr>
          <p:xfrm>
            <a:off x="4944" y="3264"/>
            <a:ext cx="576" cy="576"/>
          </p:xfrm>
          <a:graphic>
            <a:graphicData uri="http://schemas.openxmlformats.org/presentationml/2006/ole">
              <mc:AlternateContent xmlns:mc="http://schemas.openxmlformats.org/markup-compatibility/2006">
                <mc:Choice xmlns:v="urn:schemas-microsoft-com:vml" Requires="v">
                  <p:oleObj name="Worksheet" r:id="rId24" imgW="554400" imgH="508680" progId="Excel.Sheet.8">
                    <p:embed/>
                  </p:oleObj>
                </mc:Choice>
                <mc:Fallback>
                  <p:oleObj name="Worksheet" r:id="rId24" imgW="554400" imgH="508680" progId="Excel.Sheet.8">
                    <p:embed/>
                    <p:pic>
                      <p:nvPicPr>
                        <p:cNvPr id="0" name="Object 103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944" y="3264"/>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graphicFrame>
          <p:nvGraphicFramePr>
            <p:cNvPr id="1038" name="Object 1036"/>
            <p:cNvGraphicFramePr>
              <a:graphicFrameLocks noChangeAspect="1"/>
            </p:cNvGraphicFramePr>
            <p:nvPr/>
          </p:nvGraphicFramePr>
          <p:xfrm>
            <a:off x="4272" y="3264"/>
            <a:ext cx="576" cy="576"/>
          </p:xfrm>
          <a:graphic>
            <a:graphicData uri="http://schemas.openxmlformats.org/presentationml/2006/ole">
              <mc:AlternateContent xmlns:mc="http://schemas.openxmlformats.org/markup-compatibility/2006">
                <mc:Choice xmlns:v="urn:schemas-microsoft-com:vml" Requires="v">
                  <p:oleObj name="Worksheet" r:id="rId26" imgW="554400" imgH="508680" progId="Excel.Sheet.8">
                    <p:embed/>
                  </p:oleObj>
                </mc:Choice>
                <mc:Fallback>
                  <p:oleObj name="Worksheet" r:id="rId26" imgW="554400" imgH="508680" progId="Excel.Sheet.8">
                    <p:embed/>
                    <p:pic>
                      <p:nvPicPr>
                        <p:cNvPr id="0" name="Object 103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272" y="3264"/>
                          <a:ext cx="576" cy="576"/>
                        </a:xfrm>
                        <a:prstGeom prst="rect">
                          <a:avLst/>
                        </a:prstGeom>
                        <a:solidFill>
                          <a:schemeClr val="folHlink"/>
                        </a:solidFill>
                        <a:ln w="9525">
                          <a:solidFill>
                            <a:schemeClr val="tx1"/>
                          </a:solidFill>
                          <a:miter lim="800000"/>
                          <a:headEnd/>
                          <a:tailEnd/>
                        </a:ln>
                      </p:spPr>
                    </p:pic>
                  </p:oleObj>
                </mc:Fallback>
              </mc:AlternateContent>
            </a:graphicData>
          </a:graphic>
        </p:graphicFrame>
        <p:sp>
          <p:nvSpPr>
            <p:cNvPr id="1042" name="Line 16"/>
            <p:cNvSpPr>
              <a:spLocks noChangeShapeType="1"/>
            </p:cNvSpPr>
            <p:nvPr/>
          </p:nvSpPr>
          <p:spPr bwMode="auto">
            <a:xfrm flipH="1">
              <a:off x="960" y="2016"/>
              <a:ext cx="1632" cy="288"/>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1043" name="Line 17"/>
            <p:cNvSpPr>
              <a:spLocks noChangeShapeType="1"/>
            </p:cNvSpPr>
            <p:nvPr/>
          </p:nvSpPr>
          <p:spPr bwMode="auto">
            <a:xfrm flipH="1">
              <a:off x="2208" y="2016"/>
              <a:ext cx="576" cy="288"/>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1044" name="Line 18"/>
            <p:cNvSpPr>
              <a:spLocks noChangeShapeType="1"/>
            </p:cNvSpPr>
            <p:nvPr/>
          </p:nvSpPr>
          <p:spPr bwMode="auto">
            <a:xfrm>
              <a:off x="2976" y="2016"/>
              <a:ext cx="480" cy="288"/>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1045" name="Line 19"/>
            <p:cNvSpPr>
              <a:spLocks noChangeShapeType="1"/>
            </p:cNvSpPr>
            <p:nvPr/>
          </p:nvSpPr>
          <p:spPr bwMode="auto">
            <a:xfrm>
              <a:off x="3168" y="2016"/>
              <a:ext cx="1584" cy="288"/>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1046" name="Line 20"/>
            <p:cNvSpPr>
              <a:spLocks noChangeShapeType="1"/>
            </p:cNvSpPr>
            <p:nvPr/>
          </p:nvSpPr>
          <p:spPr bwMode="auto">
            <a:xfrm flipH="1">
              <a:off x="480" y="2880"/>
              <a:ext cx="384" cy="384"/>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1047" name="Line 21"/>
            <p:cNvSpPr>
              <a:spLocks noChangeShapeType="1"/>
            </p:cNvSpPr>
            <p:nvPr/>
          </p:nvSpPr>
          <p:spPr bwMode="auto">
            <a:xfrm>
              <a:off x="1056" y="2880"/>
              <a:ext cx="48" cy="384"/>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1048" name="Line 22"/>
            <p:cNvSpPr>
              <a:spLocks noChangeShapeType="1"/>
            </p:cNvSpPr>
            <p:nvPr/>
          </p:nvSpPr>
          <p:spPr bwMode="auto">
            <a:xfrm flipH="1">
              <a:off x="1776" y="2880"/>
              <a:ext cx="336" cy="384"/>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1049" name="Line 23"/>
            <p:cNvSpPr>
              <a:spLocks noChangeShapeType="1"/>
            </p:cNvSpPr>
            <p:nvPr/>
          </p:nvSpPr>
          <p:spPr bwMode="auto">
            <a:xfrm>
              <a:off x="2304" y="2880"/>
              <a:ext cx="96" cy="384"/>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1050" name="Line 24"/>
            <p:cNvSpPr>
              <a:spLocks noChangeShapeType="1"/>
            </p:cNvSpPr>
            <p:nvPr/>
          </p:nvSpPr>
          <p:spPr bwMode="auto">
            <a:xfrm flipH="1">
              <a:off x="3168" y="2880"/>
              <a:ext cx="240" cy="384"/>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1051" name="Line 25"/>
            <p:cNvSpPr>
              <a:spLocks noChangeShapeType="1"/>
            </p:cNvSpPr>
            <p:nvPr/>
          </p:nvSpPr>
          <p:spPr bwMode="auto">
            <a:xfrm>
              <a:off x="3600" y="2880"/>
              <a:ext cx="192" cy="384"/>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1052" name="Line 26"/>
            <p:cNvSpPr>
              <a:spLocks noChangeShapeType="1"/>
            </p:cNvSpPr>
            <p:nvPr/>
          </p:nvSpPr>
          <p:spPr bwMode="auto">
            <a:xfrm flipH="1">
              <a:off x="4560" y="2880"/>
              <a:ext cx="144" cy="384"/>
            </a:xfrm>
            <a:prstGeom prst="line">
              <a:avLst/>
            </a:prstGeom>
            <a:noFill/>
            <a:ln w="12700" cap="sq">
              <a:solidFill>
                <a:schemeClr val="tx1"/>
              </a:solidFill>
              <a:round/>
              <a:headEnd type="none" w="sm" len="sm"/>
              <a:tailEnd type="none" w="sm" len="sm"/>
            </a:ln>
          </p:spPr>
          <p:txBody>
            <a:bodyPr wrap="none" anchor="ctr"/>
            <a:lstStyle/>
            <a:p>
              <a:endParaRPr lang="en-US"/>
            </a:p>
          </p:txBody>
        </p:sp>
        <p:sp>
          <p:nvSpPr>
            <p:cNvPr id="1053" name="Line 27"/>
            <p:cNvSpPr>
              <a:spLocks noChangeShapeType="1"/>
            </p:cNvSpPr>
            <p:nvPr/>
          </p:nvSpPr>
          <p:spPr bwMode="auto">
            <a:xfrm>
              <a:off x="4896" y="2880"/>
              <a:ext cx="336" cy="384"/>
            </a:xfrm>
            <a:prstGeom prst="line">
              <a:avLst/>
            </a:prstGeom>
            <a:noFill/>
            <a:ln w="12700" cap="sq">
              <a:solidFill>
                <a:schemeClr val="tx1"/>
              </a:solidFill>
              <a:round/>
              <a:headEnd type="none" w="sm" len="sm"/>
              <a:tailEnd type="none" w="sm" len="sm"/>
            </a:ln>
          </p:spPr>
          <p:txBody>
            <a:bodyPr wrap="none" anchor="ctr"/>
            <a:lstStyle/>
            <a:p>
              <a:endParaRPr lang="en-US"/>
            </a:p>
          </p:txBody>
        </p:sp>
      </p:grpSp>
      <p:sp>
        <p:nvSpPr>
          <p:cNvPr id="164920" name="Rectangle 56"/>
          <p:cNvSpPr>
            <a:spLocks noGrp="1" noChangeArrowheads="1"/>
          </p:cNvSpPr>
          <p:nvPr>
            <p:ph type="title"/>
          </p:nvPr>
        </p:nvSpPr>
        <p:spPr>
          <a:xfrm>
            <a:off x="609600" y="381000"/>
            <a:ext cx="8382000" cy="685800"/>
          </a:xfrm>
        </p:spPr>
        <p:txBody>
          <a:bodyPr>
            <a:normAutofit fontScale="90000"/>
          </a:bodyPr>
          <a:lstStyle/>
          <a:p>
            <a:pPr algn="ctr">
              <a:defRPr/>
            </a:pPr>
            <a:r>
              <a:rPr lang="en-US" altLang="he-IL" sz="4000" dirty="0">
                <a:effectLst>
                  <a:outerShdw blurRad="38100" dist="38100" dir="2700000" algn="tl">
                    <a:srgbClr val="C0C0C0"/>
                  </a:outerShdw>
                </a:effectLst>
              </a:rPr>
              <a:t>Problem-Space Graphs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screen"/>
          <p:cNvPicPr>
            <a:picLocks noChangeAspect="1" noChangeArrowheads="1"/>
          </p:cNvPicPr>
          <p:nvPr/>
        </p:nvPicPr>
        <p:blipFill>
          <a:blip r:embed="rId3"/>
          <a:srcRect/>
          <a:stretch>
            <a:fillRect/>
          </a:stretch>
        </p:blipFill>
        <p:spPr bwMode="auto">
          <a:xfrm>
            <a:off x="1295400" y="1371600"/>
            <a:ext cx="5715000" cy="4876800"/>
          </a:xfrm>
          <a:prstGeom prst="rect">
            <a:avLst/>
          </a:prstGeom>
          <a:noFill/>
          <a:ln w="9525">
            <a:noFill/>
            <a:miter lim="800000"/>
            <a:headEnd/>
            <a:tailEnd/>
          </a:ln>
        </p:spPr>
      </p:pic>
      <p:sp>
        <p:nvSpPr>
          <p:cNvPr id="15363" name="Rectangle 3"/>
          <p:cNvSpPr>
            <a:spLocks noGrp="1" noChangeArrowheads="1"/>
          </p:cNvSpPr>
          <p:nvPr>
            <p:ph type="title"/>
          </p:nvPr>
        </p:nvSpPr>
        <p:spPr>
          <a:xfrm>
            <a:off x="685800" y="304800"/>
            <a:ext cx="7772400" cy="609600"/>
          </a:xfrm>
        </p:spPr>
        <p:txBody>
          <a:bodyPr/>
          <a:lstStyle/>
          <a:p>
            <a:pPr eaLnBrk="1" hangingPunct="1"/>
            <a:r>
              <a:rPr lang="en-US" sz="3200">
                <a:solidFill>
                  <a:srgbClr val="003399"/>
                </a:solidFill>
              </a:rPr>
              <a:t>Modified heuristic for 8-puzzle</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90818" name="Picture 2"/>
          <p:cNvPicPr>
            <a:picLocks noGrp="1" noChangeAspect="1" noChangeArrowheads="1"/>
          </p:cNvPicPr>
          <p:nvPr>
            <p:ph sz="quarter" idx="1"/>
          </p:nvPr>
        </p:nvPicPr>
        <p:blipFill>
          <a:blip r:embed="rId2"/>
          <a:srcRect/>
          <a:stretch>
            <a:fillRect/>
          </a:stretch>
        </p:blipFill>
        <p:spPr bwMode="auto">
          <a:xfrm>
            <a:off x="0" y="0"/>
            <a:ext cx="9143999" cy="6858000"/>
          </a:xfrm>
          <a:prstGeom prst="rect">
            <a:avLst/>
          </a:prstGeom>
          <a:noFill/>
          <a:ln w="9525">
            <a:noFill/>
            <a:miter lim="800000"/>
            <a:headEnd/>
            <a:tailEnd/>
          </a:ln>
          <a:effectLst/>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85800" y="152400"/>
            <a:ext cx="7772400" cy="838200"/>
          </a:xfrm>
        </p:spPr>
        <p:txBody>
          <a:bodyPr/>
          <a:lstStyle/>
          <a:p>
            <a:r>
              <a:rPr lang="en-US" sz="3600" b="1" dirty="0"/>
              <a:t>Properties of A*</a:t>
            </a:r>
          </a:p>
        </p:txBody>
      </p:sp>
      <p:sp>
        <p:nvSpPr>
          <p:cNvPr id="29699" name="Rectangle 3"/>
          <p:cNvSpPr>
            <a:spLocks noGrp="1" noChangeArrowheads="1"/>
          </p:cNvSpPr>
          <p:nvPr>
            <p:ph type="body" idx="1"/>
          </p:nvPr>
        </p:nvSpPr>
        <p:spPr>
          <a:xfrm>
            <a:off x="609600" y="1371600"/>
            <a:ext cx="7772400" cy="2057400"/>
          </a:xfrm>
        </p:spPr>
        <p:txBody>
          <a:bodyPr/>
          <a:lstStyle/>
          <a:p>
            <a:r>
              <a:rPr lang="en-US" sz="2400" dirty="0"/>
              <a:t>A* generates an optimal solution if h(n) is an admissible heuristic and the search space is a tree:</a:t>
            </a:r>
          </a:p>
          <a:p>
            <a:pPr lvl="1"/>
            <a:r>
              <a:rPr lang="en-US" sz="2400" dirty="0"/>
              <a:t>h(n) is </a:t>
            </a:r>
            <a:r>
              <a:rPr lang="en-US" sz="2400" b="1" dirty="0"/>
              <a:t>admissible</a:t>
            </a:r>
            <a:r>
              <a:rPr lang="en-US" sz="2400" dirty="0"/>
              <a:t> if it never overestimates the cost to reach the destination node</a:t>
            </a:r>
          </a:p>
        </p:txBody>
      </p:sp>
      <p:sp>
        <p:nvSpPr>
          <p:cNvPr id="29700" name="Rectangle 4"/>
          <p:cNvSpPr>
            <a:spLocks noChangeArrowheads="1"/>
          </p:cNvSpPr>
          <p:nvPr/>
        </p:nvSpPr>
        <p:spPr bwMode="auto">
          <a:xfrm>
            <a:off x="533400" y="3124200"/>
            <a:ext cx="7772400" cy="2133600"/>
          </a:xfrm>
          <a:prstGeom prst="rect">
            <a:avLst/>
          </a:prstGeom>
          <a:noFill/>
          <a:ln w="9525">
            <a:noFill/>
            <a:miter lim="800000"/>
            <a:headEnd/>
            <a:tailEnd/>
          </a:ln>
          <a:effectLst/>
        </p:spPr>
        <p:txBody>
          <a:bodyPr/>
          <a:lstStyle/>
          <a:p>
            <a:pPr marL="342900" indent="-342900">
              <a:spcBef>
                <a:spcPct val="20000"/>
              </a:spcBef>
              <a:buFontTx/>
              <a:buChar char="•"/>
            </a:pPr>
            <a:r>
              <a:rPr lang="en-US" dirty="0"/>
              <a:t>A* generates an optimal solution if h(n) is a consistent heuristic and the search space is a graph:</a:t>
            </a:r>
          </a:p>
          <a:p>
            <a:pPr marL="742950" lvl="1" indent="-285750">
              <a:spcBef>
                <a:spcPct val="20000"/>
              </a:spcBef>
              <a:buFontTx/>
              <a:buChar char="–"/>
            </a:pPr>
            <a:r>
              <a:rPr lang="en-US" dirty="0"/>
              <a:t>h(n) is </a:t>
            </a:r>
            <a:r>
              <a:rPr lang="en-US" b="1" dirty="0"/>
              <a:t>consistent</a:t>
            </a:r>
            <a:r>
              <a:rPr lang="en-US" dirty="0"/>
              <a:t> if for every node n and for every successor node n’ of n:</a:t>
            </a:r>
          </a:p>
          <a:p>
            <a:pPr marL="742950" lvl="1" indent="-285750">
              <a:spcBef>
                <a:spcPct val="20000"/>
              </a:spcBef>
            </a:pPr>
            <a:r>
              <a:rPr lang="en-US" dirty="0"/>
              <a:t>          h(n) </a:t>
            </a:r>
            <a:r>
              <a:rPr lang="en-US" dirty="0">
                <a:cs typeface="Times New Roman" pitchFamily="18" charset="0"/>
              </a:rPr>
              <a:t>≤ c(</a:t>
            </a:r>
            <a:r>
              <a:rPr lang="en-US" dirty="0" err="1">
                <a:cs typeface="Times New Roman" pitchFamily="18" charset="0"/>
              </a:rPr>
              <a:t>n,n</a:t>
            </a:r>
            <a:r>
              <a:rPr lang="en-US" dirty="0">
                <a:cs typeface="Times New Roman" pitchFamily="18" charset="0"/>
              </a:rPr>
              <a:t>’) + h(n’)</a:t>
            </a:r>
          </a:p>
        </p:txBody>
      </p:sp>
      <p:grpSp>
        <p:nvGrpSpPr>
          <p:cNvPr id="2" name="Group 14"/>
          <p:cNvGrpSpPr>
            <a:grpSpLocks/>
          </p:cNvGrpSpPr>
          <p:nvPr/>
        </p:nvGrpSpPr>
        <p:grpSpPr bwMode="auto">
          <a:xfrm>
            <a:off x="5140325" y="4375150"/>
            <a:ext cx="3622675" cy="1492250"/>
            <a:chOff x="3312" y="3194"/>
            <a:chExt cx="2282" cy="940"/>
          </a:xfrm>
        </p:grpSpPr>
        <p:sp>
          <p:nvSpPr>
            <p:cNvPr id="29701" name="Text Box 5"/>
            <p:cNvSpPr txBox="1">
              <a:spLocks noChangeArrowheads="1"/>
            </p:cNvSpPr>
            <p:nvPr/>
          </p:nvSpPr>
          <p:spPr bwMode="auto">
            <a:xfrm>
              <a:off x="3552" y="3312"/>
              <a:ext cx="218" cy="294"/>
            </a:xfrm>
            <a:prstGeom prst="rect">
              <a:avLst/>
            </a:prstGeom>
            <a:noFill/>
            <a:ln w="9525">
              <a:solidFill>
                <a:schemeClr val="tx1"/>
              </a:solidFill>
              <a:miter lim="800000"/>
              <a:headEnd/>
              <a:tailEnd/>
            </a:ln>
            <a:effectLst/>
          </p:spPr>
          <p:txBody>
            <a:bodyPr wrap="none">
              <a:spAutoFit/>
            </a:bodyPr>
            <a:lstStyle/>
            <a:p>
              <a:r>
                <a:rPr lang="en-US"/>
                <a:t>n</a:t>
              </a:r>
            </a:p>
          </p:txBody>
        </p:sp>
        <p:sp>
          <p:nvSpPr>
            <p:cNvPr id="29702" name="Line 6"/>
            <p:cNvSpPr>
              <a:spLocks noChangeShapeType="1"/>
            </p:cNvSpPr>
            <p:nvPr/>
          </p:nvSpPr>
          <p:spPr bwMode="auto">
            <a:xfrm>
              <a:off x="3648" y="3600"/>
              <a:ext cx="480" cy="384"/>
            </a:xfrm>
            <a:prstGeom prst="line">
              <a:avLst/>
            </a:prstGeom>
            <a:noFill/>
            <a:ln w="9525">
              <a:solidFill>
                <a:schemeClr val="tx1"/>
              </a:solidFill>
              <a:round/>
              <a:headEnd/>
              <a:tailEnd/>
            </a:ln>
            <a:effectLst/>
          </p:spPr>
          <p:txBody>
            <a:bodyPr/>
            <a:lstStyle/>
            <a:p>
              <a:endParaRPr lang="en-US"/>
            </a:p>
          </p:txBody>
        </p:sp>
        <p:sp>
          <p:nvSpPr>
            <p:cNvPr id="29703" name="Text Box 7"/>
            <p:cNvSpPr txBox="1">
              <a:spLocks noChangeArrowheads="1"/>
            </p:cNvSpPr>
            <p:nvPr/>
          </p:nvSpPr>
          <p:spPr bwMode="auto">
            <a:xfrm>
              <a:off x="4134" y="3840"/>
              <a:ext cx="282" cy="294"/>
            </a:xfrm>
            <a:prstGeom prst="rect">
              <a:avLst/>
            </a:prstGeom>
            <a:noFill/>
            <a:ln w="9525">
              <a:solidFill>
                <a:schemeClr val="tx1"/>
              </a:solidFill>
              <a:miter lim="800000"/>
              <a:headEnd/>
              <a:tailEnd/>
            </a:ln>
            <a:effectLst/>
          </p:spPr>
          <p:txBody>
            <a:bodyPr wrap="none">
              <a:spAutoFit/>
            </a:bodyPr>
            <a:lstStyle/>
            <a:p>
              <a:r>
                <a:rPr lang="en-US"/>
                <a:t>n’</a:t>
              </a:r>
            </a:p>
          </p:txBody>
        </p:sp>
        <p:sp>
          <p:nvSpPr>
            <p:cNvPr id="29704" name="Text Box 8"/>
            <p:cNvSpPr txBox="1">
              <a:spLocks noChangeArrowheads="1"/>
            </p:cNvSpPr>
            <p:nvPr/>
          </p:nvSpPr>
          <p:spPr bwMode="auto">
            <a:xfrm>
              <a:off x="5376" y="3456"/>
              <a:ext cx="218" cy="294"/>
            </a:xfrm>
            <a:prstGeom prst="rect">
              <a:avLst/>
            </a:prstGeom>
            <a:solidFill>
              <a:srgbClr val="6600FF"/>
            </a:solidFill>
            <a:ln w="9525">
              <a:solidFill>
                <a:schemeClr val="tx1"/>
              </a:solidFill>
              <a:miter lim="800000"/>
              <a:headEnd/>
              <a:tailEnd/>
            </a:ln>
            <a:effectLst/>
          </p:spPr>
          <p:txBody>
            <a:bodyPr wrap="none">
              <a:spAutoFit/>
            </a:bodyPr>
            <a:lstStyle/>
            <a:p>
              <a:r>
                <a:rPr lang="en-US"/>
                <a:t>d</a:t>
              </a:r>
            </a:p>
          </p:txBody>
        </p:sp>
        <p:sp>
          <p:nvSpPr>
            <p:cNvPr id="29705" name="Line 9"/>
            <p:cNvSpPr>
              <a:spLocks noChangeShapeType="1"/>
            </p:cNvSpPr>
            <p:nvPr/>
          </p:nvSpPr>
          <p:spPr bwMode="auto">
            <a:xfrm flipV="1">
              <a:off x="4416" y="3648"/>
              <a:ext cx="912" cy="288"/>
            </a:xfrm>
            <a:prstGeom prst="line">
              <a:avLst/>
            </a:prstGeom>
            <a:noFill/>
            <a:ln w="9525" cap="rnd">
              <a:solidFill>
                <a:schemeClr val="tx1"/>
              </a:solidFill>
              <a:prstDash val="sysDot"/>
              <a:round/>
              <a:headEnd/>
              <a:tailEnd/>
            </a:ln>
            <a:effectLst/>
          </p:spPr>
          <p:txBody>
            <a:bodyPr/>
            <a:lstStyle/>
            <a:p>
              <a:endParaRPr lang="en-US"/>
            </a:p>
          </p:txBody>
        </p:sp>
        <p:sp>
          <p:nvSpPr>
            <p:cNvPr id="29706" name="Line 10"/>
            <p:cNvSpPr>
              <a:spLocks noChangeShapeType="1"/>
            </p:cNvSpPr>
            <p:nvPr/>
          </p:nvSpPr>
          <p:spPr bwMode="auto">
            <a:xfrm>
              <a:off x="3744" y="3456"/>
              <a:ext cx="1632" cy="96"/>
            </a:xfrm>
            <a:prstGeom prst="line">
              <a:avLst/>
            </a:prstGeom>
            <a:noFill/>
            <a:ln w="9525" cap="rnd">
              <a:solidFill>
                <a:schemeClr val="tx1"/>
              </a:solidFill>
              <a:prstDash val="sysDot"/>
              <a:round/>
              <a:headEnd/>
              <a:tailEnd/>
            </a:ln>
            <a:effectLst/>
          </p:spPr>
          <p:txBody>
            <a:bodyPr/>
            <a:lstStyle/>
            <a:p>
              <a:endParaRPr lang="en-US"/>
            </a:p>
          </p:txBody>
        </p:sp>
        <p:sp>
          <p:nvSpPr>
            <p:cNvPr id="29707" name="Text Box 11"/>
            <p:cNvSpPr txBox="1">
              <a:spLocks noChangeArrowheads="1"/>
            </p:cNvSpPr>
            <p:nvPr/>
          </p:nvSpPr>
          <p:spPr bwMode="auto">
            <a:xfrm>
              <a:off x="4022" y="3194"/>
              <a:ext cx="436" cy="288"/>
            </a:xfrm>
            <a:prstGeom prst="rect">
              <a:avLst/>
            </a:prstGeom>
            <a:noFill/>
            <a:ln w="9525">
              <a:noFill/>
              <a:miter lim="800000"/>
              <a:headEnd/>
              <a:tailEnd/>
            </a:ln>
            <a:effectLst/>
          </p:spPr>
          <p:txBody>
            <a:bodyPr wrap="none">
              <a:spAutoFit/>
            </a:bodyPr>
            <a:lstStyle/>
            <a:p>
              <a:r>
                <a:rPr lang="en-US"/>
                <a:t>h(n)</a:t>
              </a:r>
            </a:p>
          </p:txBody>
        </p:sp>
        <p:sp>
          <p:nvSpPr>
            <p:cNvPr id="29708" name="Text Box 12"/>
            <p:cNvSpPr txBox="1">
              <a:spLocks noChangeArrowheads="1"/>
            </p:cNvSpPr>
            <p:nvPr/>
          </p:nvSpPr>
          <p:spPr bwMode="auto">
            <a:xfrm>
              <a:off x="3312" y="3696"/>
              <a:ext cx="633" cy="288"/>
            </a:xfrm>
            <a:prstGeom prst="rect">
              <a:avLst/>
            </a:prstGeom>
            <a:noFill/>
            <a:ln w="9525">
              <a:noFill/>
              <a:miter lim="800000"/>
              <a:headEnd/>
              <a:tailEnd/>
            </a:ln>
            <a:effectLst/>
          </p:spPr>
          <p:txBody>
            <a:bodyPr wrap="none">
              <a:spAutoFit/>
            </a:bodyPr>
            <a:lstStyle/>
            <a:p>
              <a:r>
                <a:rPr lang="en-US"/>
                <a:t>c(n,n’)</a:t>
              </a:r>
            </a:p>
          </p:txBody>
        </p:sp>
        <p:sp>
          <p:nvSpPr>
            <p:cNvPr id="29709" name="Text Box 13"/>
            <p:cNvSpPr txBox="1">
              <a:spLocks noChangeArrowheads="1"/>
            </p:cNvSpPr>
            <p:nvPr/>
          </p:nvSpPr>
          <p:spPr bwMode="auto">
            <a:xfrm>
              <a:off x="4700" y="3744"/>
              <a:ext cx="500" cy="288"/>
            </a:xfrm>
            <a:prstGeom prst="rect">
              <a:avLst/>
            </a:prstGeom>
            <a:noFill/>
            <a:ln w="9525">
              <a:noFill/>
              <a:miter lim="800000"/>
              <a:headEnd/>
              <a:tailEnd/>
            </a:ln>
            <a:effectLst/>
          </p:spPr>
          <p:txBody>
            <a:bodyPr wrap="none">
              <a:spAutoFit/>
            </a:bodyPr>
            <a:lstStyle/>
            <a:p>
              <a:r>
                <a:rPr lang="en-US"/>
                <a:t>h(n’)</a:t>
              </a:r>
            </a:p>
          </p:txBody>
        </p:sp>
      </p:grpSp>
      <p:sp>
        <p:nvSpPr>
          <p:cNvPr id="29711" name="Text Box 15"/>
          <p:cNvSpPr txBox="1">
            <a:spLocks noChangeArrowheads="1"/>
          </p:cNvSpPr>
          <p:nvPr/>
        </p:nvSpPr>
        <p:spPr bwMode="auto">
          <a:xfrm>
            <a:off x="593725" y="5562600"/>
            <a:ext cx="7048500" cy="646331"/>
          </a:xfrm>
          <a:prstGeom prst="rect">
            <a:avLst/>
          </a:prstGeom>
          <a:noFill/>
          <a:ln w="9525">
            <a:noFill/>
            <a:miter lim="800000"/>
            <a:headEnd/>
            <a:tailEnd/>
          </a:ln>
          <a:effectLst/>
        </p:spPr>
        <p:txBody>
          <a:bodyPr wrap="square">
            <a:spAutoFit/>
          </a:bodyPr>
          <a:lstStyle/>
          <a:p>
            <a:pPr>
              <a:buFontTx/>
              <a:buChar char="•"/>
            </a:pPr>
            <a:r>
              <a:rPr lang="en-US" dirty="0"/>
              <a:t> If h(n) is consistent then h(n) is admissible</a:t>
            </a:r>
          </a:p>
          <a:p>
            <a:pPr>
              <a:buFontTx/>
              <a:buChar char="•"/>
            </a:pPr>
            <a:r>
              <a:rPr lang="en-US" dirty="0"/>
              <a:t>Frequently when h(n) is admissible, it is also consistent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7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P spid="29711"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85800" y="152400"/>
            <a:ext cx="7772400" cy="914400"/>
          </a:xfrm>
        </p:spPr>
        <p:txBody>
          <a:bodyPr/>
          <a:lstStyle/>
          <a:p>
            <a:r>
              <a:rPr lang="en-US" dirty="0"/>
              <a:t>Admissible Heuristics</a:t>
            </a:r>
          </a:p>
        </p:txBody>
      </p:sp>
      <p:sp>
        <p:nvSpPr>
          <p:cNvPr id="38915" name="Rectangle 3"/>
          <p:cNvSpPr>
            <a:spLocks noGrp="1" noChangeArrowheads="1"/>
          </p:cNvSpPr>
          <p:nvPr>
            <p:ph type="body" idx="1"/>
          </p:nvPr>
        </p:nvSpPr>
        <p:spPr>
          <a:xfrm>
            <a:off x="685800" y="1828800"/>
            <a:ext cx="7772400" cy="4572000"/>
          </a:xfrm>
        </p:spPr>
        <p:txBody>
          <a:bodyPr/>
          <a:lstStyle/>
          <a:p>
            <a:r>
              <a:rPr lang="en-US" sz="2400" dirty="0"/>
              <a:t>A heuristic is admissible if it is too optimistic, estimating the cost to be smaller than it actually is.</a:t>
            </a:r>
          </a:p>
          <a:p>
            <a:endParaRPr lang="en-US" sz="2400" dirty="0"/>
          </a:p>
          <a:p>
            <a:r>
              <a:rPr lang="en-US" sz="2400" dirty="0"/>
              <a:t>Example:</a:t>
            </a:r>
          </a:p>
        </p:txBody>
      </p:sp>
      <p:sp>
        <p:nvSpPr>
          <p:cNvPr id="38916" name="Text Box 4"/>
          <p:cNvSpPr txBox="1">
            <a:spLocks noChangeArrowheads="1"/>
          </p:cNvSpPr>
          <p:nvPr/>
        </p:nvSpPr>
        <p:spPr bwMode="auto">
          <a:xfrm>
            <a:off x="1676400" y="3810000"/>
            <a:ext cx="7026275" cy="2282825"/>
          </a:xfrm>
          <a:prstGeom prst="rect">
            <a:avLst/>
          </a:prstGeom>
          <a:noFill/>
          <a:ln w="9525">
            <a:noFill/>
            <a:miter lim="800000"/>
            <a:headEnd/>
            <a:tailEnd/>
          </a:ln>
          <a:effectLst/>
        </p:spPr>
        <p:txBody>
          <a:bodyPr>
            <a:spAutoFit/>
          </a:bodyPr>
          <a:lstStyle/>
          <a:p>
            <a:r>
              <a:rPr lang="en-US" dirty="0"/>
              <a:t>In the road map domain, </a:t>
            </a:r>
          </a:p>
          <a:p>
            <a:endParaRPr lang="en-US" dirty="0"/>
          </a:p>
          <a:p>
            <a:r>
              <a:rPr lang="en-US" dirty="0"/>
              <a:t>    h(n) = “Euclidean distance to destination” </a:t>
            </a:r>
          </a:p>
          <a:p>
            <a:endParaRPr lang="en-US" dirty="0"/>
          </a:p>
          <a:p>
            <a:r>
              <a:rPr lang="en-US" dirty="0"/>
              <a:t>is admissible as normally cities are not connected by roads that make straight lines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38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p:bldP spid="38916" grpId="1"/>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685800" y="152400"/>
            <a:ext cx="7772400" cy="1143000"/>
          </a:xfrm>
        </p:spPr>
        <p:txBody>
          <a:bodyPr>
            <a:normAutofit fontScale="90000"/>
          </a:bodyPr>
          <a:lstStyle/>
          <a:p>
            <a:r>
              <a:rPr lang="en-US" sz="3600"/>
              <a:t>Example: Admissible Heuristics in 8-Puzzle Game</a:t>
            </a:r>
          </a:p>
        </p:txBody>
      </p:sp>
      <p:sp>
        <p:nvSpPr>
          <p:cNvPr id="41987" name="Rectangle 3"/>
          <p:cNvSpPr>
            <a:spLocks noGrp="1" noChangeArrowheads="1"/>
          </p:cNvSpPr>
          <p:nvPr>
            <p:ph type="body" idx="1"/>
          </p:nvPr>
        </p:nvSpPr>
        <p:spPr>
          <a:xfrm>
            <a:off x="304800" y="1524000"/>
            <a:ext cx="8534400" cy="4495800"/>
          </a:xfrm>
        </p:spPr>
        <p:txBody>
          <a:bodyPr>
            <a:normAutofit fontScale="92500"/>
          </a:bodyPr>
          <a:lstStyle/>
          <a:p>
            <a:r>
              <a:rPr lang="en-US" sz="2400" dirty="0"/>
              <a:t>Heuristic: a tile A can be moved to any tile B</a:t>
            </a:r>
          </a:p>
          <a:p>
            <a:pPr lvl="1"/>
            <a:r>
              <a:rPr lang="en-US" sz="2400" dirty="0"/>
              <a:t>H1(n) = “number of misplaced tiles in board n”</a:t>
            </a:r>
          </a:p>
          <a:p>
            <a:pPr lvl="1"/>
            <a:endParaRPr lang="en-US" sz="2400" dirty="0"/>
          </a:p>
          <a:p>
            <a:r>
              <a:rPr lang="en-US" sz="2400" dirty="0"/>
              <a:t>Heuristic: a tile A can be moved to a tile B if B is adjacent to A</a:t>
            </a:r>
          </a:p>
          <a:p>
            <a:pPr lvl="1"/>
            <a:r>
              <a:rPr lang="en-US" sz="2400" dirty="0"/>
              <a:t>H2(n) = “sum of distances of misplaced tiles to goal positions in board n”</a:t>
            </a:r>
          </a:p>
          <a:p>
            <a:pPr lvl="1"/>
            <a:endParaRPr lang="en-US" sz="2400" dirty="0"/>
          </a:p>
          <a:p>
            <a:r>
              <a:rPr lang="en-US" sz="2400" dirty="0"/>
              <a:t>Some experimental results reported in Russell &amp; </a:t>
            </a:r>
            <a:r>
              <a:rPr lang="en-US" sz="2400" dirty="0" err="1"/>
              <a:t>Norvig</a:t>
            </a:r>
            <a:r>
              <a:rPr lang="en-US" sz="2400" dirty="0"/>
              <a:t> (2002):</a:t>
            </a:r>
          </a:p>
          <a:p>
            <a:pPr lvl="1"/>
            <a:r>
              <a:rPr lang="en-US" sz="2400" dirty="0"/>
              <a:t>A* with h2 performs up to 10 times better than A* with h1</a:t>
            </a:r>
          </a:p>
          <a:p>
            <a:pPr lvl="1"/>
            <a:r>
              <a:rPr lang="en-US" sz="2400" dirty="0"/>
              <a:t>A* with h2 performs up to 36,000 times better than a classical uninformed search algorithm (iterative deepening)</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p:cNvSpPr>
            <a:spLocks noGrp="1" noChangeArrowheads="1"/>
          </p:cNvSpPr>
          <p:nvPr>
            <p:ph type="title"/>
          </p:nvPr>
        </p:nvSpPr>
        <p:spPr/>
        <p:txBody>
          <a:bodyPr rIns="130174"/>
          <a:lstStyle/>
          <a:p>
            <a:pPr indent="0" eaLnBrk="1" hangingPunct="1">
              <a:defRPr/>
            </a:pPr>
            <a:r>
              <a:rPr lang="en-US" dirty="0"/>
              <a:t>Memory-Bounded Search</a:t>
            </a:r>
          </a:p>
        </p:txBody>
      </p:sp>
      <p:sp>
        <p:nvSpPr>
          <p:cNvPr id="119813" name="Rectangle 4"/>
          <p:cNvSpPr>
            <a:spLocks noGrp="1" noChangeArrowheads="1"/>
          </p:cNvSpPr>
          <p:nvPr>
            <p:ph type="body" idx="1"/>
          </p:nvPr>
        </p:nvSpPr>
        <p:spPr/>
        <p:txBody>
          <a:bodyPr rIns="130174"/>
          <a:lstStyle/>
          <a:p>
            <a:pPr eaLnBrk="1" hangingPunct="1"/>
            <a:r>
              <a:rPr lang="en-US" dirty="0"/>
              <a:t>Search algorithms that try to conserve memory</a:t>
            </a:r>
          </a:p>
          <a:p>
            <a:pPr eaLnBrk="1" hangingPunct="1"/>
            <a:r>
              <a:rPr lang="en-US" dirty="0"/>
              <a:t>Most are modifications of A*</a:t>
            </a:r>
          </a:p>
          <a:p>
            <a:pPr marL="723900" lvl="1" eaLnBrk="1" hangingPunct="1"/>
            <a:r>
              <a:rPr lang="en-US" dirty="0"/>
              <a:t>Iterative deepening A* (IDA*)</a:t>
            </a:r>
          </a:p>
          <a:p>
            <a:pPr marL="723900" lvl="1" eaLnBrk="1" hangingPunct="1"/>
            <a:r>
              <a:rPr lang="en-US" dirty="0"/>
              <a:t>Recursive Best first search</a:t>
            </a:r>
          </a:p>
          <a:p>
            <a:pPr marL="723900" lvl="1" eaLnBrk="1" hangingPunct="1"/>
            <a:r>
              <a:rPr lang="en-US" dirty="0"/>
              <a:t>Simplified memory-bounded A* (SMA*)</a:t>
            </a:r>
          </a:p>
        </p:txBody>
      </p:sp>
    </p:spTree>
  </p:cSld>
  <p:clrMapOvr>
    <a:masterClrMapping/>
  </p:clrMapOvr>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a:spLocks noGrp="1" noChangeArrowheads="1"/>
          </p:cNvSpPr>
          <p:nvPr>
            <p:ph type="title"/>
          </p:nvPr>
        </p:nvSpPr>
        <p:spPr/>
        <p:txBody>
          <a:bodyPr rIns="130174"/>
          <a:lstStyle/>
          <a:p>
            <a:pPr indent="0" eaLnBrk="1" hangingPunct="1">
              <a:defRPr/>
            </a:pPr>
            <a:r>
              <a:rPr lang="en-US"/>
              <a:t>Iterative Deepening A* (IDA*)</a:t>
            </a:r>
          </a:p>
        </p:txBody>
      </p:sp>
      <p:sp>
        <p:nvSpPr>
          <p:cNvPr id="120837" name="Rectangle 4"/>
          <p:cNvSpPr>
            <a:spLocks noGrp="1" noChangeArrowheads="1"/>
          </p:cNvSpPr>
          <p:nvPr>
            <p:ph type="body" idx="1"/>
          </p:nvPr>
        </p:nvSpPr>
        <p:spPr/>
        <p:txBody>
          <a:bodyPr rIns="130174"/>
          <a:lstStyle/>
          <a:p>
            <a:pPr eaLnBrk="1" hangingPunct="1"/>
            <a:r>
              <a:rPr lang="en-US" dirty="0"/>
              <a:t>Explores paths within a given contour (f-cost limit) in a depth-first manner</a:t>
            </a:r>
          </a:p>
          <a:p>
            <a:pPr marL="723900" lvl="1" eaLnBrk="1" hangingPunct="1"/>
            <a:r>
              <a:rPr lang="en-US" dirty="0"/>
              <a:t>This saves memory space because depth-first keeps only the current path in memory</a:t>
            </a:r>
          </a:p>
          <a:p>
            <a:pPr marL="1066800" lvl="2" eaLnBrk="1" hangingPunct="1"/>
            <a:r>
              <a:rPr lang="en-US" dirty="0"/>
              <a:t>but it results in repeated computation of earlier contours since it doesn’t remember its history</a:t>
            </a:r>
          </a:p>
          <a:p>
            <a:pPr marL="723900" lvl="1" eaLnBrk="1" hangingPunct="1"/>
            <a:r>
              <a:rPr lang="en-US" dirty="0"/>
              <a:t>was the “best” search algorithm for many practical problems for some time</a:t>
            </a:r>
          </a:p>
          <a:p>
            <a:pPr marL="723900" lvl="1" eaLnBrk="1" hangingPunct="1"/>
            <a:r>
              <a:rPr lang="en-US" dirty="0"/>
              <a:t>does have problems with difficult domains</a:t>
            </a:r>
          </a:p>
          <a:p>
            <a:pPr marL="1066800" lvl="2" eaLnBrk="1" hangingPunct="1"/>
            <a:r>
              <a:rPr lang="en-US" dirty="0"/>
              <a:t>contours differ only slightly between states</a:t>
            </a:r>
          </a:p>
          <a:p>
            <a:pPr marL="1066800" lvl="2" eaLnBrk="1" hangingPunct="1"/>
            <a:r>
              <a:rPr lang="en-US" dirty="0"/>
              <a:t>algorithm frequently switches back and forth </a:t>
            </a:r>
          </a:p>
          <a:p>
            <a:pPr marL="1409700" lvl="3" eaLnBrk="1" hangingPunct="1"/>
            <a:r>
              <a:rPr lang="en-US" dirty="0"/>
              <a:t>similar to disk thrashing in (old) operating systems</a:t>
            </a:r>
          </a:p>
        </p:txBody>
      </p:sp>
    </p:spTree>
  </p:cSld>
  <p:clrMapOvr>
    <a:masterClrMapping/>
  </p:clrMapOvr>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3"/>
          <p:cNvSpPr>
            <a:spLocks noGrp="1" noChangeArrowheads="1"/>
          </p:cNvSpPr>
          <p:nvPr>
            <p:ph type="title"/>
          </p:nvPr>
        </p:nvSpPr>
        <p:spPr/>
        <p:txBody>
          <a:bodyPr rIns="130174"/>
          <a:lstStyle/>
          <a:p>
            <a:pPr indent="0" eaLnBrk="1" hangingPunct="1">
              <a:defRPr/>
            </a:pPr>
            <a:r>
              <a:rPr lang="en-US"/>
              <a:t>Recursive Best-First Search</a:t>
            </a:r>
          </a:p>
        </p:txBody>
      </p:sp>
      <p:sp>
        <p:nvSpPr>
          <p:cNvPr id="121861" name="Rectangle 4"/>
          <p:cNvSpPr>
            <a:spLocks noGrp="1" noChangeArrowheads="1"/>
          </p:cNvSpPr>
          <p:nvPr>
            <p:ph type="body" idx="1"/>
          </p:nvPr>
        </p:nvSpPr>
        <p:spPr/>
        <p:txBody>
          <a:bodyPr rIns="130174"/>
          <a:lstStyle/>
          <a:p>
            <a:pPr eaLnBrk="1" hangingPunct="1"/>
            <a:r>
              <a:rPr lang="en-US" dirty="0"/>
              <a:t>Similar to best-first search, but with lower space requirements</a:t>
            </a:r>
          </a:p>
          <a:p>
            <a:pPr marL="723900" lvl="1" eaLnBrk="1" hangingPunct="1"/>
            <a:r>
              <a:rPr lang="en-US" dirty="0">
                <a:latin typeface="Arial Italic" charset="0"/>
                <a:cs typeface="Arial Italic" charset="0"/>
                <a:sym typeface="Arial Italic" charset="0"/>
              </a:rPr>
              <a:t>O(</a:t>
            </a:r>
            <a:r>
              <a:rPr lang="en-US" dirty="0" err="1">
                <a:latin typeface="Arial Italic" charset="0"/>
                <a:cs typeface="Arial Italic" charset="0"/>
                <a:sym typeface="Arial Italic" charset="0"/>
              </a:rPr>
              <a:t>bd</a:t>
            </a:r>
            <a:r>
              <a:rPr lang="en-US" dirty="0">
                <a:latin typeface="Arial Italic" charset="0"/>
                <a:cs typeface="Arial Italic" charset="0"/>
                <a:sym typeface="Arial Italic" charset="0"/>
              </a:rPr>
              <a:t>) </a:t>
            </a:r>
            <a:r>
              <a:rPr lang="en-US" dirty="0"/>
              <a:t> instead of </a:t>
            </a:r>
            <a:r>
              <a:rPr lang="en-US" dirty="0">
                <a:latin typeface="Arial Italic" charset="0"/>
                <a:cs typeface="Arial Italic" charset="0"/>
                <a:sym typeface="Arial Italic" charset="0"/>
              </a:rPr>
              <a:t>O(</a:t>
            </a:r>
            <a:r>
              <a:rPr lang="en-US" dirty="0" err="1">
                <a:latin typeface="Arial Italic" charset="0"/>
                <a:cs typeface="Arial Italic" charset="0"/>
                <a:sym typeface="Arial Italic" charset="0"/>
              </a:rPr>
              <a:t>b</a:t>
            </a:r>
            <a:r>
              <a:rPr lang="en-US" baseline="30000" dirty="0" err="1">
                <a:latin typeface="Arial Italic" charset="0"/>
                <a:cs typeface="Arial Italic" charset="0"/>
                <a:sym typeface="Arial Italic" charset="0"/>
              </a:rPr>
              <a:t>m</a:t>
            </a:r>
            <a:r>
              <a:rPr lang="en-US" dirty="0">
                <a:latin typeface="Arial Italic" charset="0"/>
                <a:cs typeface="Arial Italic" charset="0"/>
                <a:sym typeface="Arial Italic" charset="0"/>
              </a:rPr>
              <a:t>)</a:t>
            </a:r>
            <a:endParaRPr lang="en-US" dirty="0">
              <a:latin typeface="Arial Italic" charset="0"/>
              <a:sym typeface="Arial Italic" charset="0"/>
            </a:endParaRPr>
          </a:p>
          <a:p>
            <a:pPr eaLnBrk="1" hangingPunct="1"/>
            <a:r>
              <a:rPr lang="en-US" dirty="0"/>
              <a:t>It keeps track of the best alternative to the current path</a:t>
            </a:r>
          </a:p>
          <a:p>
            <a:pPr marL="723900" lvl="1" eaLnBrk="1" hangingPunct="1"/>
            <a:r>
              <a:rPr lang="en-US" dirty="0"/>
              <a:t>best f-value of the paths explored so far from predecessors of the current node</a:t>
            </a:r>
          </a:p>
          <a:p>
            <a:pPr marL="723900" lvl="1" eaLnBrk="1" hangingPunct="1"/>
            <a:r>
              <a:rPr lang="en-US" dirty="0"/>
              <a:t>if it needs to re-explore parts of the search space, it knows the best candidate path</a:t>
            </a:r>
          </a:p>
          <a:p>
            <a:pPr marL="723900" lvl="1" eaLnBrk="1" hangingPunct="1"/>
            <a:r>
              <a:rPr lang="en-US" dirty="0"/>
              <a:t>still may lead to multiple re-explorations</a:t>
            </a:r>
          </a:p>
        </p:txBody>
      </p:sp>
    </p:spTree>
  </p:cSld>
  <p:clrMapOvr>
    <a:masterClrMapping/>
  </p:clrMapOvr>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p:cNvSpPr>
            <a:spLocks noGrp="1" noChangeArrowheads="1"/>
          </p:cNvSpPr>
          <p:nvPr>
            <p:ph type="title"/>
          </p:nvPr>
        </p:nvSpPr>
        <p:spPr/>
        <p:txBody>
          <a:bodyPr rIns="130174"/>
          <a:lstStyle/>
          <a:p>
            <a:pPr indent="0" eaLnBrk="1" hangingPunct="1">
              <a:defRPr/>
            </a:pPr>
            <a:r>
              <a:rPr lang="en-US"/>
              <a:t>Simplified Memory-Bounded A* (SMA*)</a:t>
            </a:r>
          </a:p>
        </p:txBody>
      </p:sp>
      <p:sp>
        <p:nvSpPr>
          <p:cNvPr id="122885" name="Rectangle 4"/>
          <p:cNvSpPr>
            <a:spLocks noGrp="1" noChangeArrowheads="1"/>
          </p:cNvSpPr>
          <p:nvPr>
            <p:ph type="body" idx="1"/>
          </p:nvPr>
        </p:nvSpPr>
        <p:spPr/>
        <p:txBody>
          <a:bodyPr rIns="130174"/>
          <a:lstStyle/>
          <a:p>
            <a:pPr eaLnBrk="1" hangingPunct="1"/>
            <a:r>
              <a:rPr lang="en-US" dirty="0"/>
              <a:t>Uses all available memory for the search</a:t>
            </a:r>
          </a:p>
          <a:p>
            <a:pPr marL="723900" lvl="1" eaLnBrk="1" hangingPunct="1"/>
            <a:r>
              <a:rPr lang="en-US" dirty="0"/>
              <a:t>Drops nodes from the queue when it runs out of space</a:t>
            </a:r>
          </a:p>
          <a:p>
            <a:pPr marL="1066800" lvl="2" eaLnBrk="1" hangingPunct="1"/>
            <a:r>
              <a:rPr lang="en-US" dirty="0"/>
              <a:t>those with the highest f-costs</a:t>
            </a:r>
          </a:p>
          <a:p>
            <a:pPr marL="723900" lvl="1" eaLnBrk="1" hangingPunct="1"/>
            <a:r>
              <a:rPr lang="en-US" dirty="0"/>
              <a:t>Avoids re-computation of already explored area</a:t>
            </a:r>
          </a:p>
          <a:p>
            <a:pPr marL="1066800" lvl="2" eaLnBrk="1" hangingPunct="1"/>
            <a:r>
              <a:rPr lang="en-US" dirty="0"/>
              <a:t>keeps information about the best path of a “forgotten” </a:t>
            </a:r>
            <a:r>
              <a:rPr lang="en-US" dirty="0" err="1"/>
              <a:t>subtree</a:t>
            </a:r>
            <a:r>
              <a:rPr lang="en-US" dirty="0"/>
              <a:t> in its ancestor</a:t>
            </a:r>
          </a:p>
          <a:p>
            <a:pPr marL="723900" lvl="1" eaLnBrk="1" hangingPunct="1"/>
            <a:r>
              <a:rPr lang="en-US" dirty="0"/>
              <a:t>Complete if there is enough memory for the shortest solution path</a:t>
            </a:r>
          </a:p>
          <a:p>
            <a:pPr marL="723900" lvl="1" eaLnBrk="1" hangingPunct="1"/>
            <a:r>
              <a:rPr lang="en-US" dirty="0"/>
              <a:t>often better than A* and IDA*</a:t>
            </a:r>
          </a:p>
          <a:p>
            <a:pPr marL="1066800" lvl="2" eaLnBrk="1" hangingPunct="1"/>
            <a:r>
              <a:rPr lang="en-US" dirty="0"/>
              <a:t>but some problems are still too tough</a:t>
            </a:r>
          </a:p>
          <a:p>
            <a:pPr marL="1066800" lvl="2" eaLnBrk="1" hangingPunct="1"/>
            <a:r>
              <a:rPr lang="en-US" dirty="0"/>
              <a:t>trade-off between time and space requirements</a:t>
            </a:r>
          </a:p>
        </p:txBody>
      </p:sp>
    </p:spTree>
  </p:cSld>
  <p:clrMapOvr>
    <a:masterClrMapping/>
  </p:clrMapOvr>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457200" y="274638"/>
            <a:ext cx="8229600" cy="563562"/>
          </a:xfrm>
        </p:spPr>
        <p:txBody>
          <a:bodyPr lIns="90488" tIns="44450" rIns="90488" bIns="44450">
            <a:normAutofit fontScale="90000"/>
          </a:bodyPr>
          <a:lstStyle/>
          <a:p>
            <a:pPr eaLnBrk="1" hangingPunct="1"/>
            <a:r>
              <a:rPr lang="en-US" sz="3600">
                <a:solidFill>
                  <a:srgbClr val="009900"/>
                </a:solidFill>
              </a:rPr>
              <a:t>AND/OR Graphs</a:t>
            </a:r>
          </a:p>
        </p:txBody>
      </p:sp>
      <p:sp>
        <p:nvSpPr>
          <p:cNvPr id="56323" name="Rectangle 3"/>
          <p:cNvSpPr>
            <a:spLocks noGrp="1" noChangeArrowheads="1"/>
          </p:cNvSpPr>
          <p:nvPr>
            <p:ph type="body" idx="4294967295"/>
          </p:nvPr>
        </p:nvSpPr>
        <p:spPr>
          <a:xfrm>
            <a:off x="304800" y="1066800"/>
            <a:ext cx="8534400" cy="5334000"/>
          </a:xfrm>
        </p:spPr>
        <p:txBody>
          <a:bodyPr lIns="90488" tIns="44450" rIns="90488" bIns="44450"/>
          <a:lstStyle/>
          <a:p>
            <a:pPr eaLnBrk="1" hangingPunct="1"/>
            <a:r>
              <a:rPr lang="en-US" sz="2400">
                <a:solidFill>
                  <a:srgbClr val="FF0000"/>
                </a:solidFill>
              </a:rPr>
              <a:t>Nodes represent subproblems</a:t>
            </a:r>
          </a:p>
          <a:p>
            <a:pPr lvl="1" eaLnBrk="1" hangingPunct="1"/>
            <a:r>
              <a:rPr lang="en-US" sz="2000"/>
              <a:t>And links represent subproblem decompositions</a:t>
            </a:r>
          </a:p>
          <a:p>
            <a:pPr lvl="1" eaLnBrk="1" hangingPunct="1"/>
            <a:r>
              <a:rPr lang="en-US" sz="2000"/>
              <a:t>OR links represent alternative solutions</a:t>
            </a:r>
          </a:p>
          <a:p>
            <a:pPr lvl="1" eaLnBrk="1" hangingPunct="1"/>
            <a:r>
              <a:rPr lang="en-US" sz="2000"/>
              <a:t>Start node is initial problem</a:t>
            </a:r>
          </a:p>
          <a:p>
            <a:pPr lvl="1" eaLnBrk="1" hangingPunct="1"/>
            <a:r>
              <a:rPr lang="en-US" sz="2000"/>
              <a:t>Terminal nodes are solved subproblems</a:t>
            </a:r>
          </a:p>
          <a:p>
            <a:pPr eaLnBrk="1" hangingPunct="1"/>
            <a:endParaRPr lang="en-US" sz="2000"/>
          </a:p>
          <a:p>
            <a:pPr eaLnBrk="1" hangingPunct="1"/>
            <a:r>
              <a:rPr lang="en-US" sz="2400">
                <a:solidFill>
                  <a:srgbClr val="003399"/>
                </a:solidFill>
              </a:rPr>
              <a:t>Solution graph</a:t>
            </a:r>
          </a:p>
          <a:p>
            <a:pPr lvl="1" eaLnBrk="1" hangingPunct="1"/>
            <a:r>
              <a:rPr lang="en-US" sz="2000"/>
              <a:t>It is an AND/OR subgraph such that:</a:t>
            </a:r>
          </a:p>
          <a:p>
            <a:pPr lvl="1" eaLnBrk="1" hangingPunct="1"/>
            <a:r>
              <a:rPr lang="en-US" sz="2000"/>
              <a:t>1. It contains the start node</a:t>
            </a:r>
          </a:p>
          <a:p>
            <a:pPr lvl="1" eaLnBrk="1" hangingPunct="1"/>
            <a:r>
              <a:rPr lang="en-US" sz="2000"/>
              <a:t>2. All it terminal nodes (nodes with no successors) are solved primitive problems</a:t>
            </a:r>
          </a:p>
          <a:p>
            <a:pPr lvl="1" eaLnBrk="1" hangingPunct="1"/>
            <a:r>
              <a:rPr lang="en-US" sz="2000"/>
              <a:t>3. If it contains an AND node L, it must contain the entire group of AND links that leads to children  of L.</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Rot="1" noChangeArrowheads="1"/>
          </p:cNvSpPr>
          <p:nvPr>
            <p:ph type="title"/>
          </p:nvPr>
        </p:nvSpPr>
        <p:spPr>
          <a:xfrm>
            <a:off x="250825" y="260350"/>
            <a:ext cx="8510588" cy="654050"/>
          </a:xfrm>
        </p:spPr>
        <p:txBody>
          <a:bodyPr/>
          <a:lstStyle/>
          <a:p>
            <a:pPr eaLnBrk="1" hangingPunct="1"/>
            <a:r>
              <a:rPr lang="es-MX" altLang="en-US" dirty="0">
                <a:effectLst/>
              </a:rPr>
              <a:t>AND/OR </a:t>
            </a:r>
            <a:r>
              <a:rPr lang="es-MX" altLang="en-US" dirty="0" err="1">
                <a:effectLst/>
              </a:rPr>
              <a:t>graphs</a:t>
            </a:r>
            <a:endParaRPr lang="es-MX" altLang="he-IL" dirty="0">
              <a:effectLst/>
            </a:endParaRPr>
          </a:p>
        </p:txBody>
      </p:sp>
      <p:sp>
        <p:nvSpPr>
          <p:cNvPr id="275459" name="Rectangle 3"/>
          <p:cNvSpPr>
            <a:spLocks noGrp="1" noRot="1" noChangeArrowheads="1"/>
          </p:cNvSpPr>
          <p:nvPr>
            <p:ph type="body" idx="1"/>
          </p:nvPr>
        </p:nvSpPr>
        <p:spPr>
          <a:xfrm>
            <a:off x="457200" y="1676400"/>
            <a:ext cx="8229600" cy="4800600"/>
          </a:xfrm>
        </p:spPr>
        <p:txBody>
          <a:bodyPr/>
          <a:lstStyle/>
          <a:p>
            <a:pPr eaLnBrk="1" hangingPunct="1">
              <a:buFont typeface="Wingdings" pitchFamily="2" charset="2"/>
              <a:buChar char="§"/>
              <a:defRPr/>
            </a:pPr>
            <a:r>
              <a:rPr lang="es-MX" altLang="he-IL" dirty="0" err="1"/>
              <a:t>Some</a:t>
            </a:r>
            <a:r>
              <a:rPr lang="es-MX" altLang="he-IL" dirty="0"/>
              <a:t> </a:t>
            </a:r>
            <a:r>
              <a:rPr lang="es-MX" altLang="he-IL" dirty="0" err="1"/>
              <a:t>problems</a:t>
            </a:r>
            <a:r>
              <a:rPr lang="es-MX" altLang="he-IL" dirty="0"/>
              <a:t> are </a:t>
            </a:r>
            <a:r>
              <a:rPr lang="es-MX" altLang="he-IL" dirty="0" err="1"/>
              <a:t>best</a:t>
            </a:r>
            <a:r>
              <a:rPr lang="es-MX" altLang="he-IL" dirty="0"/>
              <a:t> </a:t>
            </a:r>
            <a:r>
              <a:rPr lang="es-MX" altLang="he-IL" dirty="0" err="1"/>
              <a:t>represented</a:t>
            </a:r>
            <a:r>
              <a:rPr lang="es-MX" altLang="he-IL" dirty="0"/>
              <a:t> as </a:t>
            </a:r>
            <a:r>
              <a:rPr lang="en-US" altLang="he-IL" dirty="0"/>
              <a:t>achieving </a:t>
            </a:r>
            <a:r>
              <a:rPr lang="es-MX" altLang="he-IL" dirty="0" err="1"/>
              <a:t>subgoals</a:t>
            </a:r>
            <a:r>
              <a:rPr lang="es-MX" altLang="he-IL" dirty="0"/>
              <a:t>, </a:t>
            </a:r>
            <a:r>
              <a:rPr lang="en-US" altLang="he-IL" dirty="0"/>
              <a:t>some of which achieved simultaneously and independently (AND)</a:t>
            </a:r>
          </a:p>
          <a:p>
            <a:pPr eaLnBrk="1" hangingPunct="1">
              <a:buFont typeface="Wingdings" pitchFamily="2" charset="2"/>
              <a:buChar char="§"/>
              <a:defRPr/>
            </a:pPr>
            <a:r>
              <a:rPr lang="en-US" altLang="he-IL" dirty="0"/>
              <a:t>Up to now, only dealt with OR options																																	</a:t>
            </a:r>
          </a:p>
        </p:txBody>
      </p:sp>
      <p:sp>
        <p:nvSpPr>
          <p:cNvPr id="2052" name="Rectangle 4"/>
          <p:cNvSpPr>
            <a:spLocks noChangeArrowheads="1"/>
          </p:cNvSpPr>
          <p:nvPr/>
        </p:nvSpPr>
        <p:spPr bwMode="auto">
          <a:xfrm>
            <a:off x="3276600" y="4038600"/>
            <a:ext cx="2508250" cy="447675"/>
          </a:xfrm>
          <a:prstGeom prst="rect">
            <a:avLst/>
          </a:prstGeom>
          <a:noFill/>
          <a:ln w="12700">
            <a:solidFill>
              <a:schemeClr val="tx1"/>
            </a:solidFill>
            <a:miter lim="800000"/>
            <a:headEnd/>
            <a:tailEnd/>
          </a:ln>
        </p:spPr>
        <p:txBody>
          <a:bodyPr wrap="none" lIns="63500" tIns="25400" rIns="63500" bIns="25400">
            <a:spAutoFit/>
          </a:bodyPr>
          <a:lstStyle/>
          <a:p>
            <a:pPr eaLnBrk="0" hangingPunct="0">
              <a:lnSpc>
                <a:spcPct val="90000"/>
              </a:lnSpc>
            </a:pPr>
            <a:r>
              <a:rPr lang="es-MX" altLang="he-IL" sz="2800" b="1">
                <a:solidFill>
                  <a:schemeClr val="accent1"/>
                </a:solidFill>
                <a:latin typeface="Times New Roman" charset="0"/>
                <a:cs typeface="Times New Roman (Hebrew)" charset="-79"/>
              </a:rPr>
              <a:t>Possess TV set</a:t>
            </a:r>
            <a:endParaRPr lang="es-MX" altLang="he-IL" sz="2800" b="1">
              <a:latin typeface="Times New Roman" charset="0"/>
              <a:cs typeface="Times New Roman (Hebrew)" charset="-79"/>
            </a:endParaRPr>
          </a:p>
        </p:txBody>
      </p:sp>
      <p:sp>
        <p:nvSpPr>
          <p:cNvPr id="2053" name="Rectangle 5"/>
          <p:cNvSpPr>
            <a:spLocks noChangeArrowheads="1"/>
          </p:cNvSpPr>
          <p:nvPr/>
        </p:nvSpPr>
        <p:spPr bwMode="auto">
          <a:xfrm>
            <a:off x="1371600" y="5105400"/>
            <a:ext cx="1651000" cy="447675"/>
          </a:xfrm>
          <a:prstGeom prst="rect">
            <a:avLst/>
          </a:prstGeom>
          <a:noFill/>
          <a:ln w="12700">
            <a:solidFill>
              <a:schemeClr val="tx1"/>
            </a:solidFill>
            <a:miter lim="800000"/>
            <a:headEnd/>
            <a:tailEnd/>
          </a:ln>
        </p:spPr>
        <p:txBody>
          <a:bodyPr wrap="none" lIns="63500" tIns="25400" rIns="63500" bIns="25400">
            <a:spAutoFit/>
          </a:bodyPr>
          <a:lstStyle/>
          <a:p>
            <a:pPr eaLnBrk="0" hangingPunct="0">
              <a:lnSpc>
                <a:spcPct val="90000"/>
              </a:lnSpc>
            </a:pPr>
            <a:r>
              <a:rPr lang="es-MX" altLang="he-IL" sz="2800" b="1">
                <a:solidFill>
                  <a:schemeClr val="accent1"/>
                </a:solidFill>
                <a:latin typeface="Times New Roman" charset="0"/>
                <a:cs typeface="Times New Roman (Hebrew)" charset="-79"/>
              </a:rPr>
              <a:t>Steal TV</a:t>
            </a:r>
          </a:p>
        </p:txBody>
      </p:sp>
      <p:sp>
        <p:nvSpPr>
          <p:cNvPr id="2054" name="Rectangle 6"/>
          <p:cNvSpPr>
            <a:spLocks noChangeArrowheads="1"/>
          </p:cNvSpPr>
          <p:nvPr/>
        </p:nvSpPr>
        <p:spPr bwMode="auto">
          <a:xfrm>
            <a:off x="3367088" y="5156200"/>
            <a:ext cx="2222500" cy="447675"/>
          </a:xfrm>
          <a:prstGeom prst="rect">
            <a:avLst/>
          </a:prstGeom>
          <a:noFill/>
          <a:ln w="12700">
            <a:solidFill>
              <a:schemeClr val="tx1"/>
            </a:solidFill>
            <a:miter lim="800000"/>
            <a:headEnd/>
            <a:tailEnd/>
          </a:ln>
        </p:spPr>
        <p:txBody>
          <a:bodyPr wrap="none" lIns="63500" tIns="25400" rIns="63500" bIns="25400">
            <a:spAutoFit/>
          </a:bodyPr>
          <a:lstStyle/>
          <a:p>
            <a:pPr eaLnBrk="0" hangingPunct="0">
              <a:lnSpc>
                <a:spcPct val="90000"/>
              </a:lnSpc>
            </a:pPr>
            <a:r>
              <a:rPr lang="es-MX" altLang="he-IL" sz="2800" b="1">
                <a:solidFill>
                  <a:schemeClr val="accent1"/>
                </a:solidFill>
                <a:latin typeface="Times New Roman" charset="0"/>
                <a:cs typeface="Times New Roman (Hebrew)" charset="-79"/>
              </a:rPr>
              <a:t>Earn Money</a:t>
            </a:r>
            <a:endParaRPr lang="es-MX" altLang="he-IL" sz="2800" b="1">
              <a:latin typeface="Times New Roman" charset="0"/>
              <a:cs typeface="Times New Roman (Hebrew)" charset="-79"/>
            </a:endParaRPr>
          </a:p>
        </p:txBody>
      </p:sp>
      <p:sp>
        <p:nvSpPr>
          <p:cNvPr id="2055" name="Rectangle 7"/>
          <p:cNvSpPr>
            <a:spLocks noChangeArrowheads="1"/>
          </p:cNvSpPr>
          <p:nvPr/>
        </p:nvSpPr>
        <p:spPr bwMode="auto">
          <a:xfrm>
            <a:off x="6096000" y="5105400"/>
            <a:ext cx="1512888" cy="447675"/>
          </a:xfrm>
          <a:prstGeom prst="rect">
            <a:avLst/>
          </a:prstGeom>
          <a:noFill/>
          <a:ln w="12700">
            <a:solidFill>
              <a:schemeClr val="tx1"/>
            </a:solidFill>
            <a:miter lim="800000"/>
            <a:headEnd/>
            <a:tailEnd/>
          </a:ln>
        </p:spPr>
        <p:txBody>
          <a:bodyPr wrap="none" lIns="63500" tIns="25400" rIns="63500" bIns="25400">
            <a:spAutoFit/>
          </a:bodyPr>
          <a:lstStyle/>
          <a:p>
            <a:pPr eaLnBrk="0" hangingPunct="0">
              <a:lnSpc>
                <a:spcPct val="90000"/>
              </a:lnSpc>
            </a:pPr>
            <a:r>
              <a:rPr lang="es-MX" altLang="he-IL" sz="2800" b="1">
                <a:solidFill>
                  <a:schemeClr val="accent1"/>
                </a:solidFill>
                <a:latin typeface="Times New Roman" charset="0"/>
                <a:cs typeface="Times New Roman (Hebrew)" charset="-79"/>
              </a:rPr>
              <a:t>Buy TV</a:t>
            </a:r>
          </a:p>
        </p:txBody>
      </p:sp>
      <p:sp>
        <p:nvSpPr>
          <p:cNvPr id="2056" name="Line 8"/>
          <p:cNvSpPr>
            <a:spLocks noChangeShapeType="1"/>
          </p:cNvSpPr>
          <p:nvPr/>
        </p:nvSpPr>
        <p:spPr bwMode="auto">
          <a:xfrm flipH="1">
            <a:off x="2392363" y="4489450"/>
            <a:ext cx="1922462" cy="6350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2057" name="Line 9"/>
          <p:cNvSpPr>
            <a:spLocks noChangeShapeType="1"/>
          </p:cNvSpPr>
          <p:nvPr/>
        </p:nvSpPr>
        <p:spPr bwMode="auto">
          <a:xfrm>
            <a:off x="4314825" y="4476750"/>
            <a:ext cx="0" cy="6477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2058" name="Line 10"/>
          <p:cNvSpPr>
            <a:spLocks noChangeShapeType="1"/>
          </p:cNvSpPr>
          <p:nvPr/>
        </p:nvSpPr>
        <p:spPr bwMode="auto">
          <a:xfrm>
            <a:off x="4314825" y="4489450"/>
            <a:ext cx="1989138" cy="6350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2059" name="Line 11"/>
          <p:cNvSpPr>
            <a:spLocks noChangeShapeType="1"/>
          </p:cNvSpPr>
          <p:nvPr/>
        </p:nvSpPr>
        <p:spPr bwMode="auto">
          <a:xfrm flipV="1">
            <a:off x="4289425" y="4591050"/>
            <a:ext cx="349250" cy="114300"/>
          </a:xfrm>
          <a:prstGeom prst="line">
            <a:avLst/>
          </a:prstGeom>
          <a:noFill/>
          <a:ln w="25400">
            <a:solidFill>
              <a:schemeClr val="tx1"/>
            </a:solidFill>
            <a:round/>
            <a:headEnd type="none" w="sm" len="sm"/>
            <a:tailEnd type="none" w="sm" len="sm"/>
          </a:ln>
        </p:spPr>
        <p:txBody>
          <a:bodyPr wrap="none" anchor="ctr"/>
          <a:lstStyle/>
          <a:p>
            <a:endParaRPr lang="en-US"/>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a:xfrm>
            <a:off x="301625" y="228600"/>
            <a:ext cx="8350250" cy="762000"/>
          </a:xfrm>
        </p:spPr>
        <p:txBody>
          <a:bodyPr/>
          <a:lstStyle/>
          <a:p>
            <a:pPr eaLnBrk="1" hangingPunct="1"/>
            <a:r>
              <a:rPr lang="en-US" altLang="en-US" dirty="0">
                <a:effectLst/>
              </a:rPr>
              <a:t>Searching </a:t>
            </a:r>
            <a:r>
              <a:rPr lang="es-MX" altLang="en-US" dirty="0">
                <a:effectLst/>
              </a:rPr>
              <a:t>AND/OR </a:t>
            </a:r>
            <a:r>
              <a:rPr lang="es-MX" altLang="en-US" dirty="0" err="1">
                <a:effectLst/>
              </a:rPr>
              <a:t>graphs</a:t>
            </a:r>
            <a:endParaRPr lang="es-MX" altLang="he-IL" dirty="0">
              <a:effectLst/>
            </a:endParaRPr>
          </a:p>
        </p:txBody>
      </p:sp>
      <p:sp>
        <p:nvSpPr>
          <p:cNvPr id="278531" name="Rectangle 3"/>
          <p:cNvSpPr>
            <a:spLocks noGrp="1" noRot="1" noChangeArrowheads="1"/>
          </p:cNvSpPr>
          <p:nvPr>
            <p:ph type="body" idx="1"/>
          </p:nvPr>
        </p:nvSpPr>
        <p:spPr>
          <a:xfrm>
            <a:off x="304800" y="1524000"/>
            <a:ext cx="8458200" cy="4876800"/>
          </a:xfrm>
        </p:spPr>
        <p:txBody>
          <a:bodyPr/>
          <a:lstStyle/>
          <a:p>
            <a:pPr eaLnBrk="1" hangingPunct="1">
              <a:buFont typeface="Wingdings" pitchFamily="2" charset="2"/>
              <a:buChar char="§"/>
              <a:defRPr/>
            </a:pPr>
            <a:r>
              <a:rPr lang="en-US" altLang="he-IL" dirty="0"/>
              <a:t>A solution in an AND-OR tree is a </a:t>
            </a:r>
            <a:r>
              <a:rPr lang="en-US" altLang="he-IL" i="1" dirty="0"/>
              <a:t>sub tree </a:t>
            </a:r>
            <a:r>
              <a:rPr lang="en-US" altLang="he-IL" dirty="0"/>
              <a:t>whose </a:t>
            </a:r>
            <a:r>
              <a:rPr lang="en-US" altLang="he-IL" i="1" dirty="0"/>
              <a:t>leafs</a:t>
            </a:r>
            <a:r>
              <a:rPr lang="en-US" altLang="he-IL" dirty="0"/>
              <a:t> are included in the goal set</a:t>
            </a:r>
          </a:p>
          <a:p>
            <a:pPr eaLnBrk="1" hangingPunct="1">
              <a:buFont typeface="Wingdings" pitchFamily="2" charset="2"/>
              <a:buChar char="§"/>
              <a:defRPr/>
            </a:pPr>
            <a:endParaRPr lang="en-US" altLang="he-IL" dirty="0"/>
          </a:p>
          <a:p>
            <a:pPr eaLnBrk="1" hangingPunct="1">
              <a:buFont typeface="Wingdings" pitchFamily="2" charset="2"/>
              <a:buChar char="§"/>
              <a:defRPr/>
            </a:pPr>
            <a:r>
              <a:rPr lang="en-US" altLang="he-IL" dirty="0"/>
              <a:t>Cost function: sum of costs in AND node		</a:t>
            </a:r>
            <a:r>
              <a:rPr lang="en-US" altLang="he-IL" i="1" dirty="0"/>
              <a:t>f(n) = f(n</a:t>
            </a:r>
            <a:r>
              <a:rPr lang="en-US" altLang="he-IL" i="1" baseline="-25000" dirty="0"/>
              <a:t>1</a:t>
            </a:r>
            <a:r>
              <a:rPr lang="en-US" altLang="he-IL" i="1" dirty="0"/>
              <a:t>) + f(n</a:t>
            </a:r>
            <a:r>
              <a:rPr lang="en-US" altLang="he-IL" i="1" baseline="-25000" dirty="0"/>
              <a:t>2</a:t>
            </a:r>
            <a:r>
              <a:rPr lang="en-US" altLang="he-IL" i="1" dirty="0"/>
              <a:t>) + …. + f(</a:t>
            </a:r>
            <a:r>
              <a:rPr lang="en-US" altLang="he-IL" i="1" dirty="0" err="1"/>
              <a:t>n</a:t>
            </a:r>
            <a:r>
              <a:rPr lang="en-US" altLang="he-IL" i="1" baseline="-25000" dirty="0" err="1"/>
              <a:t>k</a:t>
            </a:r>
            <a:r>
              <a:rPr lang="en-US" altLang="he-IL" i="1" dirty="0"/>
              <a:t>)</a:t>
            </a:r>
            <a:endParaRPr lang="es-MX" altLang="he-IL" dirty="0"/>
          </a:p>
          <a:p>
            <a:pPr eaLnBrk="1" hangingPunct="1">
              <a:buFont typeface="Wingdings" pitchFamily="2" charset="2"/>
              <a:buChar char="§"/>
              <a:defRPr/>
            </a:pPr>
            <a:endParaRPr lang="es-MX" altLang="he-IL" dirty="0"/>
          </a:p>
          <a:p>
            <a:pPr eaLnBrk="1" hangingPunct="1">
              <a:buFont typeface="Wingdings" pitchFamily="2" charset="2"/>
              <a:buChar char="§"/>
              <a:defRPr/>
            </a:pPr>
            <a:r>
              <a:rPr lang="es-MX" altLang="he-IL" dirty="0" err="1"/>
              <a:t>How</a:t>
            </a:r>
            <a:r>
              <a:rPr lang="es-MX" altLang="he-IL" dirty="0"/>
              <a:t> can </a:t>
            </a:r>
            <a:r>
              <a:rPr lang="es-MX" altLang="he-IL" dirty="0" err="1"/>
              <a:t>we</a:t>
            </a:r>
            <a:r>
              <a:rPr lang="es-MX" altLang="he-IL" dirty="0"/>
              <a:t> </a:t>
            </a:r>
            <a:r>
              <a:rPr lang="es-MX" altLang="he-IL" dirty="0" err="1"/>
              <a:t>extend</a:t>
            </a:r>
            <a:r>
              <a:rPr lang="es-MX" altLang="he-IL" dirty="0"/>
              <a:t> A* </a:t>
            </a:r>
            <a:r>
              <a:rPr lang="es-MX" altLang="he-IL" dirty="0" err="1"/>
              <a:t>to</a:t>
            </a:r>
            <a:r>
              <a:rPr lang="es-MX" altLang="he-IL" dirty="0"/>
              <a:t> </a:t>
            </a:r>
            <a:r>
              <a:rPr lang="es-MX" altLang="he-IL" dirty="0" err="1"/>
              <a:t>search</a:t>
            </a:r>
            <a:r>
              <a:rPr lang="es-MX" altLang="he-IL" dirty="0"/>
              <a:t> AND/OR </a:t>
            </a:r>
            <a:r>
              <a:rPr lang="es-MX" altLang="he-IL" dirty="0" err="1"/>
              <a:t>trees</a:t>
            </a:r>
            <a:r>
              <a:rPr lang="en-US" altLang="he-IL" dirty="0"/>
              <a:t>?  The AO* algorithm.</a:t>
            </a:r>
            <a:endParaRPr lang="es-MX" altLang="he-IL"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rrowheads="1"/>
          </p:cNvSpPr>
          <p:nvPr>
            <p:ph type="title"/>
          </p:nvPr>
        </p:nvSpPr>
        <p:spPr>
          <a:xfrm>
            <a:off x="609600" y="228600"/>
            <a:ext cx="8153400" cy="838200"/>
          </a:xfrm>
        </p:spPr>
        <p:txBody>
          <a:bodyPr/>
          <a:lstStyle/>
          <a:p>
            <a:pPr eaLnBrk="1" hangingPunct="1"/>
            <a:r>
              <a:rPr lang="es-MX" altLang="he-IL">
                <a:effectLst/>
              </a:rPr>
              <a:t>AND/OR search</a:t>
            </a:r>
            <a:r>
              <a:rPr lang="en-US" altLang="he-IL">
                <a:effectLst/>
              </a:rPr>
              <a:t> </a:t>
            </a:r>
            <a:endParaRPr lang="es-MX" altLang="he-IL">
              <a:effectLst/>
            </a:endParaRPr>
          </a:p>
        </p:txBody>
      </p:sp>
      <p:sp>
        <p:nvSpPr>
          <p:cNvPr id="310275" name="Rectangle 3"/>
          <p:cNvSpPr>
            <a:spLocks noGrp="1" noRot="1" noChangeArrowheads="1"/>
          </p:cNvSpPr>
          <p:nvPr>
            <p:ph type="body" idx="1"/>
          </p:nvPr>
        </p:nvSpPr>
        <p:spPr>
          <a:xfrm>
            <a:off x="685800" y="1524000"/>
            <a:ext cx="8001000" cy="968375"/>
          </a:xfrm>
        </p:spPr>
        <p:txBody>
          <a:bodyPr/>
          <a:lstStyle/>
          <a:p>
            <a:pPr eaLnBrk="1" hangingPunct="1">
              <a:lnSpc>
                <a:spcPct val="90000"/>
              </a:lnSpc>
              <a:buFont typeface="Wingdings" pitchFamily="2" charset="2"/>
              <a:buChar char="§"/>
              <a:defRPr/>
            </a:pPr>
            <a:r>
              <a:rPr lang="es-MX" altLang="en-US" dirty="0" err="1"/>
              <a:t>We</a:t>
            </a:r>
            <a:r>
              <a:rPr lang="es-MX" altLang="en-US" dirty="0"/>
              <a:t> </a:t>
            </a:r>
            <a:r>
              <a:rPr lang="es-MX" altLang="en-US" dirty="0" err="1"/>
              <a:t>must</a:t>
            </a:r>
            <a:r>
              <a:rPr lang="es-MX" altLang="en-US" dirty="0"/>
              <a:t> examine </a:t>
            </a:r>
            <a:r>
              <a:rPr lang="es-MX" altLang="en-US" dirty="0" err="1"/>
              <a:t>several</a:t>
            </a:r>
            <a:r>
              <a:rPr lang="es-MX" altLang="en-US" dirty="0"/>
              <a:t> </a:t>
            </a:r>
            <a:r>
              <a:rPr lang="es-MX" altLang="en-US" dirty="0" err="1"/>
              <a:t>node</a:t>
            </a:r>
            <a:r>
              <a:rPr lang="en-US" altLang="en-US" dirty="0"/>
              <a:t>s</a:t>
            </a:r>
            <a:r>
              <a:rPr lang="es-MX" altLang="en-US" dirty="0"/>
              <a:t> </a:t>
            </a:r>
            <a:r>
              <a:rPr lang="es-MX" altLang="en-US" dirty="0" err="1"/>
              <a:t>simultaneously</a:t>
            </a:r>
            <a:r>
              <a:rPr lang="es-MX" altLang="en-US" dirty="0"/>
              <a:t> </a:t>
            </a:r>
            <a:r>
              <a:rPr lang="es-MX" altLang="en-US" dirty="0" err="1"/>
              <a:t>when</a:t>
            </a:r>
            <a:r>
              <a:rPr lang="es-MX" altLang="en-US" dirty="0"/>
              <a:t> </a:t>
            </a:r>
            <a:r>
              <a:rPr lang="es-MX" altLang="en-US" dirty="0" err="1"/>
              <a:t>choosing</a:t>
            </a:r>
            <a:r>
              <a:rPr lang="es-MX" altLang="en-US" dirty="0"/>
              <a:t> </a:t>
            </a:r>
            <a:r>
              <a:rPr lang="es-MX" altLang="en-US" dirty="0" err="1"/>
              <a:t>the</a:t>
            </a:r>
            <a:r>
              <a:rPr lang="es-MX" altLang="en-US" dirty="0"/>
              <a:t> </a:t>
            </a:r>
            <a:r>
              <a:rPr lang="es-MX" altLang="en-US" dirty="0" err="1"/>
              <a:t>next</a:t>
            </a:r>
            <a:r>
              <a:rPr lang="es-MX" altLang="en-US" dirty="0"/>
              <a:t> </a:t>
            </a:r>
            <a:r>
              <a:rPr lang="es-MX" altLang="en-US" dirty="0" err="1"/>
              <a:t>move</a:t>
            </a:r>
            <a:endParaRPr lang="es-MX" altLang="en-US" dirty="0"/>
          </a:p>
          <a:p>
            <a:pPr eaLnBrk="1" hangingPunct="1">
              <a:lnSpc>
                <a:spcPct val="90000"/>
              </a:lnSpc>
              <a:buFont typeface="Wingdings" pitchFamily="2" charset="2"/>
              <a:buChar char="§"/>
              <a:defRPr/>
            </a:pPr>
            <a:endParaRPr lang="es-MX" altLang="en-US" dirty="0"/>
          </a:p>
          <a:p>
            <a:pPr eaLnBrk="1" hangingPunct="1">
              <a:lnSpc>
                <a:spcPct val="90000"/>
              </a:lnSpc>
              <a:buFont typeface="Wingdings" pitchFamily="2" charset="2"/>
              <a:buChar char="§"/>
              <a:defRPr/>
            </a:pPr>
            <a:endParaRPr lang="es-MX" altLang="he-IL" dirty="0"/>
          </a:p>
          <a:p>
            <a:pPr eaLnBrk="1" hangingPunct="1">
              <a:lnSpc>
                <a:spcPct val="90000"/>
              </a:lnSpc>
              <a:buFont typeface="Wingdings" pitchFamily="2" charset="2"/>
              <a:buChar char="§"/>
              <a:defRPr/>
            </a:pPr>
            <a:endParaRPr lang="es-MX" altLang="he-IL" dirty="0"/>
          </a:p>
        </p:txBody>
      </p:sp>
      <p:grpSp>
        <p:nvGrpSpPr>
          <p:cNvPr id="2" name="Group 47"/>
          <p:cNvGrpSpPr>
            <a:grpSpLocks/>
          </p:cNvGrpSpPr>
          <p:nvPr/>
        </p:nvGrpSpPr>
        <p:grpSpPr bwMode="auto">
          <a:xfrm>
            <a:off x="457200" y="2438400"/>
            <a:ext cx="8521700" cy="4121150"/>
            <a:chOff x="1200" y="1824"/>
            <a:chExt cx="3456" cy="2108"/>
          </a:xfrm>
        </p:grpSpPr>
        <p:sp>
          <p:nvSpPr>
            <p:cNvPr id="4118" name="Oval 4"/>
            <p:cNvSpPr>
              <a:spLocks noChangeArrowheads="1"/>
            </p:cNvSpPr>
            <p:nvPr/>
          </p:nvSpPr>
          <p:spPr bwMode="auto">
            <a:xfrm>
              <a:off x="1200" y="3216"/>
              <a:ext cx="360" cy="360"/>
            </a:xfrm>
            <a:prstGeom prst="ellipse">
              <a:avLst/>
            </a:prstGeom>
            <a:noFill/>
            <a:ln w="25400">
              <a:solidFill>
                <a:schemeClr val="tx1"/>
              </a:solidFill>
              <a:round/>
              <a:headEnd/>
              <a:tailEnd/>
            </a:ln>
          </p:spPr>
          <p:txBody>
            <a:bodyPr wrap="none" anchor="ctr"/>
            <a:lstStyle/>
            <a:p>
              <a:endParaRPr lang="en-US" altLang="en-US"/>
            </a:p>
          </p:txBody>
        </p:sp>
        <p:sp>
          <p:nvSpPr>
            <p:cNvPr id="4119" name="Oval 5"/>
            <p:cNvSpPr>
              <a:spLocks noChangeArrowheads="1"/>
            </p:cNvSpPr>
            <p:nvPr/>
          </p:nvSpPr>
          <p:spPr bwMode="auto">
            <a:xfrm>
              <a:off x="2704" y="1824"/>
              <a:ext cx="360" cy="360"/>
            </a:xfrm>
            <a:prstGeom prst="ellipse">
              <a:avLst/>
            </a:prstGeom>
            <a:noFill/>
            <a:ln w="25400">
              <a:solidFill>
                <a:schemeClr val="tx1"/>
              </a:solidFill>
              <a:round/>
              <a:headEnd/>
              <a:tailEnd/>
            </a:ln>
          </p:spPr>
          <p:txBody>
            <a:bodyPr wrap="none" anchor="ctr"/>
            <a:lstStyle/>
            <a:p>
              <a:endParaRPr lang="en-US" altLang="en-US"/>
            </a:p>
          </p:txBody>
        </p:sp>
        <p:sp>
          <p:nvSpPr>
            <p:cNvPr id="4120" name="Oval 6"/>
            <p:cNvSpPr>
              <a:spLocks noChangeArrowheads="1"/>
            </p:cNvSpPr>
            <p:nvPr/>
          </p:nvSpPr>
          <p:spPr bwMode="auto">
            <a:xfrm>
              <a:off x="1968" y="2432"/>
              <a:ext cx="360" cy="360"/>
            </a:xfrm>
            <a:prstGeom prst="ellipse">
              <a:avLst/>
            </a:prstGeom>
            <a:noFill/>
            <a:ln w="25400">
              <a:solidFill>
                <a:schemeClr val="tx1"/>
              </a:solidFill>
              <a:round/>
              <a:headEnd/>
              <a:tailEnd/>
            </a:ln>
          </p:spPr>
          <p:txBody>
            <a:bodyPr wrap="none" anchor="ctr"/>
            <a:lstStyle/>
            <a:p>
              <a:endParaRPr lang="en-US" altLang="en-US"/>
            </a:p>
          </p:txBody>
        </p:sp>
        <p:sp>
          <p:nvSpPr>
            <p:cNvPr id="4121" name="Oval 7"/>
            <p:cNvSpPr>
              <a:spLocks noChangeArrowheads="1"/>
            </p:cNvSpPr>
            <p:nvPr/>
          </p:nvSpPr>
          <p:spPr bwMode="auto">
            <a:xfrm>
              <a:off x="2696" y="2424"/>
              <a:ext cx="360" cy="360"/>
            </a:xfrm>
            <a:prstGeom prst="ellipse">
              <a:avLst/>
            </a:prstGeom>
            <a:noFill/>
            <a:ln w="25400">
              <a:solidFill>
                <a:schemeClr val="tx1"/>
              </a:solidFill>
              <a:round/>
              <a:headEnd/>
              <a:tailEnd/>
            </a:ln>
          </p:spPr>
          <p:txBody>
            <a:bodyPr wrap="none" anchor="ctr"/>
            <a:lstStyle/>
            <a:p>
              <a:endParaRPr lang="en-US" altLang="en-US"/>
            </a:p>
          </p:txBody>
        </p:sp>
        <p:sp>
          <p:nvSpPr>
            <p:cNvPr id="4122" name="Oval 8"/>
            <p:cNvSpPr>
              <a:spLocks noChangeArrowheads="1"/>
            </p:cNvSpPr>
            <p:nvPr/>
          </p:nvSpPr>
          <p:spPr bwMode="auto">
            <a:xfrm>
              <a:off x="3312" y="2424"/>
              <a:ext cx="360" cy="360"/>
            </a:xfrm>
            <a:prstGeom prst="ellipse">
              <a:avLst/>
            </a:prstGeom>
            <a:noFill/>
            <a:ln w="25400">
              <a:solidFill>
                <a:schemeClr val="tx1"/>
              </a:solidFill>
              <a:round/>
              <a:headEnd/>
              <a:tailEnd/>
            </a:ln>
          </p:spPr>
          <p:txBody>
            <a:bodyPr wrap="none" anchor="ctr"/>
            <a:lstStyle/>
            <a:p>
              <a:endParaRPr lang="en-US" altLang="en-US"/>
            </a:p>
          </p:txBody>
        </p:sp>
        <p:sp>
          <p:nvSpPr>
            <p:cNvPr id="4123" name="Line 9"/>
            <p:cNvSpPr>
              <a:spLocks noChangeShapeType="1"/>
            </p:cNvSpPr>
            <p:nvPr/>
          </p:nvSpPr>
          <p:spPr bwMode="auto">
            <a:xfrm>
              <a:off x="2896" y="2200"/>
              <a:ext cx="0" cy="216"/>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24" name="Line 10"/>
            <p:cNvSpPr>
              <a:spLocks noChangeShapeType="1"/>
            </p:cNvSpPr>
            <p:nvPr/>
          </p:nvSpPr>
          <p:spPr bwMode="auto">
            <a:xfrm flipH="1">
              <a:off x="2296" y="2192"/>
              <a:ext cx="592" cy="312"/>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25" name="Line 11"/>
            <p:cNvSpPr>
              <a:spLocks noChangeShapeType="1"/>
            </p:cNvSpPr>
            <p:nvPr/>
          </p:nvSpPr>
          <p:spPr bwMode="auto">
            <a:xfrm>
              <a:off x="2896" y="2224"/>
              <a:ext cx="560" cy="208"/>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26" name="Line 12"/>
            <p:cNvSpPr>
              <a:spLocks noChangeShapeType="1"/>
            </p:cNvSpPr>
            <p:nvPr/>
          </p:nvSpPr>
          <p:spPr bwMode="auto">
            <a:xfrm flipV="1">
              <a:off x="2888" y="2312"/>
              <a:ext cx="184" cy="24"/>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27" name="Rectangle 13"/>
            <p:cNvSpPr>
              <a:spLocks noChangeArrowheads="1"/>
            </p:cNvSpPr>
            <p:nvPr/>
          </p:nvSpPr>
          <p:spPr bwMode="auto">
            <a:xfrm>
              <a:off x="2752" y="1840"/>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4128" name="Rectangle 14"/>
            <p:cNvSpPr>
              <a:spLocks noChangeArrowheads="1"/>
            </p:cNvSpPr>
            <p:nvPr/>
          </p:nvSpPr>
          <p:spPr bwMode="auto">
            <a:xfrm>
              <a:off x="2008" y="2464"/>
              <a:ext cx="272"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B</a:t>
              </a:r>
            </a:p>
          </p:txBody>
        </p:sp>
        <p:sp>
          <p:nvSpPr>
            <p:cNvPr id="4129" name="Rectangle 15"/>
            <p:cNvSpPr>
              <a:spLocks noChangeArrowheads="1"/>
            </p:cNvSpPr>
            <p:nvPr/>
          </p:nvSpPr>
          <p:spPr bwMode="auto">
            <a:xfrm>
              <a:off x="2736" y="2456"/>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C</a:t>
              </a:r>
            </a:p>
          </p:txBody>
        </p:sp>
        <p:sp>
          <p:nvSpPr>
            <p:cNvPr id="4130" name="Rectangle 16"/>
            <p:cNvSpPr>
              <a:spLocks noChangeArrowheads="1"/>
            </p:cNvSpPr>
            <p:nvPr/>
          </p:nvSpPr>
          <p:spPr bwMode="auto">
            <a:xfrm>
              <a:off x="3352" y="2456"/>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4131" name="Rectangle 17"/>
            <p:cNvSpPr>
              <a:spLocks noChangeArrowheads="1"/>
            </p:cNvSpPr>
            <p:nvPr/>
          </p:nvSpPr>
          <p:spPr bwMode="auto">
            <a:xfrm>
              <a:off x="3024" y="2312"/>
              <a:ext cx="272" cy="228"/>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dirty="0">
                  <a:latin typeface="Times New Roman" charset="0"/>
                  <a:cs typeface="Times New Roman (Hebrew)" charset="-79"/>
                </a:rPr>
                <a:t>38</a:t>
              </a:r>
            </a:p>
          </p:txBody>
        </p:sp>
        <p:sp>
          <p:nvSpPr>
            <p:cNvPr id="4132" name="Rectangle 18"/>
            <p:cNvSpPr>
              <a:spLocks noChangeArrowheads="1"/>
            </p:cNvSpPr>
            <p:nvPr/>
          </p:nvSpPr>
          <p:spPr bwMode="auto">
            <a:xfrm>
              <a:off x="1248" y="3232"/>
              <a:ext cx="272"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E</a:t>
              </a:r>
            </a:p>
          </p:txBody>
        </p:sp>
        <p:sp>
          <p:nvSpPr>
            <p:cNvPr id="4133" name="Oval 19"/>
            <p:cNvSpPr>
              <a:spLocks noChangeArrowheads="1"/>
            </p:cNvSpPr>
            <p:nvPr/>
          </p:nvSpPr>
          <p:spPr bwMode="auto">
            <a:xfrm>
              <a:off x="1832" y="3224"/>
              <a:ext cx="360" cy="360"/>
            </a:xfrm>
            <a:prstGeom prst="ellipse">
              <a:avLst/>
            </a:prstGeom>
            <a:noFill/>
            <a:ln w="25400">
              <a:solidFill>
                <a:schemeClr val="tx1"/>
              </a:solidFill>
              <a:round/>
              <a:headEnd/>
              <a:tailEnd/>
            </a:ln>
          </p:spPr>
          <p:txBody>
            <a:bodyPr wrap="none" anchor="ctr"/>
            <a:lstStyle/>
            <a:p>
              <a:endParaRPr lang="en-US" altLang="en-US"/>
            </a:p>
          </p:txBody>
        </p:sp>
        <p:sp>
          <p:nvSpPr>
            <p:cNvPr id="4134" name="Rectangle 20"/>
            <p:cNvSpPr>
              <a:spLocks noChangeArrowheads="1"/>
            </p:cNvSpPr>
            <p:nvPr/>
          </p:nvSpPr>
          <p:spPr bwMode="auto">
            <a:xfrm>
              <a:off x="1872" y="3256"/>
              <a:ext cx="256"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F</a:t>
              </a:r>
            </a:p>
          </p:txBody>
        </p:sp>
        <p:sp>
          <p:nvSpPr>
            <p:cNvPr id="4135" name="Oval 21"/>
            <p:cNvSpPr>
              <a:spLocks noChangeArrowheads="1"/>
            </p:cNvSpPr>
            <p:nvPr/>
          </p:nvSpPr>
          <p:spPr bwMode="auto">
            <a:xfrm>
              <a:off x="2448" y="3224"/>
              <a:ext cx="360" cy="360"/>
            </a:xfrm>
            <a:prstGeom prst="ellipse">
              <a:avLst/>
            </a:prstGeom>
            <a:noFill/>
            <a:ln w="25400">
              <a:solidFill>
                <a:schemeClr val="tx1"/>
              </a:solidFill>
              <a:round/>
              <a:headEnd/>
              <a:tailEnd/>
            </a:ln>
          </p:spPr>
          <p:txBody>
            <a:bodyPr wrap="none" anchor="ctr"/>
            <a:lstStyle/>
            <a:p>
              <a:endParaRPr lang="en-US" altLang="en-US"/>
            </a:p>
          </p:txBody>
        </p:sp>
        <p:sp>
          <p:nvSpPr>
            <p:cNvPr id="4136" name="Rectangle 22"/>
            <p:cNvSpPr>
              <a:spLocks noChangeArrowheads="1"/>
            </p:cNvSpPr>
            <p:nvPr/>
          </p:nvSpPr>
          <p:spPr bwMode="auto">
            <a:xfrm>
              <a:off x="2488" y="3256"/>
              <a:ext cx="304"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G</a:t>
              </a:r>
            </a:p>
          </p:txBody>
        </p:sp>
        <p:sp>
          <p:nvSpPr>
            <p:cNvPr id="4137" name="Oval 23"/>
            <p:cNvSpPr>
              <a:spLocks noChangeArrowheads="1"/>
            </p:cNvSpPr>
            <p:nvPr/>
          </p:nvSpPr>
          <p:spPr bwMode="auto">
            <a:xfrm>
              <a:off x="3032" y="3248"/>
              <a:ext cx="360" cy="360"/>
            </a:xfrm>
            <a:prstGeom prst="ellipse">
              <a:avLst/>
            </a:prstGeom>
            <a:noFill/>
            <a:ln w="25400">
              <a:solidFill>
                <a:schemeClr val="tx1"/>
              </a:solidFill>
              <a:round/>
              <a:headEnd/>
              <a:tailEnd/>
            </a:ln>
          </p:spPr>
          <p:txBody>
            <a:bodyPr wrap="none" anchor="ctr"/>
            <a:lstStyle/>
            <a:p>
              <a:endParaRPr lang="en-US" altLang="en-US"/>
            </a:p>
          </p:txBody>
        </p:sp>
        <p:sp>
          <p:nvSpPr>
            <p:cNvPr id="4138" name="Rectangle 24"/>
            <p:cNvSpPr>
              <a:spLocks noChangeArrowheads="1"/>
            </p:cNvSpPr>
            <p:nvPr/>
          </p:nvSpPr>
          <p:spPr bwMode="auto">
            <a:xfrm>
              <a:off x="3072" y="3280"/>
              <a:ext cx="304"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H</a:t>
              </a:r>
            </a:p>
          </p:txBody>
        </p:sp>
        <p:sp>
          <p:nvSpPr>
            <p:cNvPr id="4139" name="Oval 25"/>
            <p:cNvSpPr>
              <a:spLocks noChangeArrowheads="1"/>
            </p:cNvSpPr>
            <p:nvPr/>
          </p:nvSpPr>
          <p:spPr bwMode="auto">
            <a:xfrm>
              <a:off x="3648" y="3256"/>
              <a:ext cx="360" cy="360"/>
            </a:xfrm>
            <a:prstGeom prst="ellipse">
              <a:avLst/>
            </a:prstGeom>
            <a:noFill/>
            <a:ln w="25400">
              <a:solidFill>
                <a:schemeClr val="tx1"/>
              </a:solidFill>
              <a:round/>
              <a:headEnd/>
              <a:tailEnd/>
            </a:ln>
          </p:spPr>
          <p:txBody>
            <a:bodyPr wrap="none" anchor="ctr"/>
            <a:lstStyle/>
            <a:p>
              <a:endParaRPr lang="en-US" altLang="en-US"/>
            </a:p>
          </p:txBody>
        </p:sp>
        <p:sp>
          <p:nvSpPr>
            <p:cNvPr id="4140" name="Rectangle 26"/>
            <p:cNvSpPr>
              <a:spLocks noChangeArrowheads="1"/>
            </p:cNvSpPr>
            <p:nvPr/>
          </p:nvSpPr>
          <p:spPr bwMode="auto">
            <a:xfrm>
              <a:off x="3688" y="3288"/>
              <a:ext cx="192"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I</a:t>
              </a:r>
            </a:p>
          </p:txBody>
        </p:sp>
        <p:sp>
          <p:nvSpPr>
            <p:cNvPr id="4141" name="Oval 27"/>
            <p:cNvSpPr>
              <a:spLocks noChangeArrowheads="1"/>
            </p:cNvSpPr>
            <p:nvPr/>
          </p:nvSpPr>
          <p:spPr bwMode="auto">
            <a:xfrm>
              <a:off x="4224" y="3272"/>
              <a:ext cx="360" cy="360"/>
            </a:xfrm>
            <a:prstGeom prst="ellipse">
              <a:avLst/>
            </a:prstGeom>
            <a:noFill/>
            <a:ln w="25400">
              <a:solidFill>
                <a:schemeClr val="tx1"/>
              </a:solidFill>
              <a:round/>
              <a:headEnd/>
              <a:tailEnd/>
            </a:ln>
          </p:spPr>
          <p:txBody>
            <a:bodyPr wrap="none" anchor="ctr"/>
            <a:lstStyle/>
            <a:p>
              <a:endParaRPr lang="en-US" altLang="en-US"/>
            </a:p>
          </p:txBody>
        </p:sp>
        <p:sp>
          <p:nvSpPr>
            <p:cNvPr id="4142" name="Rectangle 28"/>
            <p:cNvSpPr>
              <a:spLocks noChangeArrowheads="1"/>
            </p:cNvSpPr>
            <p:nvPr/>
          </p:nvSpPr>
          <p:spPr bwMode="auto">
            <a:xfrm>
              <a:off x="4264" y="3304"/>
              <a:ext cx="224"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J</a:t>
              </a:r>
            </a:p>
          </p:txBody>
        </p:sp>
        <p:sp>
          <p:nvSpPr>
            <p:cNvPr id="4143" name="Line 29"/>
            <p:cNvSpPr>
              <a:spLocks noChangeShapeType="1"/>
            </p:cNvSpPr>
            <p:nvPr/>
          </p:nvSpPr>
          <p:spPr bwMode="auto">
            <a:xfrm flipH="1">
              <a:off x="1424" y="2832"/>
              <a:ext cx="744" cy="368"/>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44" name="Line 30"/>
            <p:cNvSpPr>
              <a:spLocks noChangeShapeType="1"/>
            </p:cNvSpPr>
            <p:nvPr/>
          </p:nvSpPr>
          <p:spPr bwMode="auto">
            <a:xfrm flipH="1">
              <a:off x="2136" y="2816"/>
              <a:ext cx="32" cy="448"/>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45" name="Line 31"/>
            <p:cNvSpPr>
              <a:spLocks noChangeShapeType="1"/>
            </p:cNvSpPr>
            <p:nvPr/>
          </p:nvSpPr>
          <p:spPr bwMode="auto">
            <a:xfrm>
              <a:off x="2016" y="2928"/>
              <a:ext cx="144" cy="72"/>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46" name="Line 32"/>
            <p:cNvSpPr>
              <a:spLocks noChangeShapeType="1"/>
            </p:cNvSpPr>
            <p:nvPr/>
          </p:nvSpPr>
          <p:spPr bwMode="auto">
            <a:xfrm flipH="1">
              <a:off x="2744" y="2808"/>
              <a:ext cx="200" cy="456"/>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47" name="Line 33"/>
            <p:cNvSpPr>
              <a:spLocks noChangeShapeType="1"/>
            </p:cNvSpPr>
            <p:nvPr/>
          </p:nvSpPr>
          <p:spPr bwMode="auto">
            <a:xfrm>
              <a:off x="2928" y="2808"/>
              <a:ext cx="240" cy="44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48" name="Line 34"/>
            <p:cNvSpPr>
              <a:spLocks noChangeShapeType="1"/>
            </p:cNvSpPr>
            <p:nvPr/>
          </p:nvSpPr>
          <p:spPr bwMode="auto">
            <a:xfrm>
              <a:off x="2856" y="2960"/>
              <a:ext cx="144" cy="24"/>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49" name="Line 35"/>
            <p:cNvSpPr>
              <a:spLocks noChangeShapeType="1"/>
            </p:cNvSpPr>
            <p:nvPr/>
          </p:nvSpPr>
          <p:spPr bwMode="auto">
            <a:xfrm>
              <a:off x="3600" y="2816"/>
              <a:ext cx="136" cy="456"/>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50" name="Line 36"/>
            <p:cNvSpPr>
              <a:spLocks noChangeShapeType="1"/>
            </p:cNvSpPr>
            <p:nvPr/>
          </p:nvSpPr>
          <p:spPr bwMode="auto">
            <a:xfrm>
              <a:off x="3606" y="2795"/>
              <a:ext cx="808" cy="44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51" name="Line 37"/>
            <p:cNvSpPr>
              <a:spLocks noChangeShapeType="1"/>
            </p:cNvSpPr>
            <p:nvPr/>
          </p:nvSpPr>
          <p:spPr bwMode="auto">
            <a:xfrm flipV="1">
              <a:off x="3648" y="2912"/>
              <a:ext cx="144" cy="64"/>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152" name="Rectangle 38"/>
            <p:cNvSpPr>
              <a:spLocks noChangeArrowheads="1"/>
            </p:cNvSpPr>
            <p:nvPr/>
          </p:nvSpPr>
          <p:spPr bwMode="auto">
            <a:xfrm>
              <a:off x="1832" y="2968"/>
              <a:ext cx="272" cy="228"/>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17</a:t>
              </a:r>
            </a:p>
          </p:txBody>
        </p:sp>
        <p:sp>
          <p:nvSpPr>
            <p:cNvPr id="4153" name="Rectangle 39"/>
            <p:cNvSpPr>
              <a:spLocks noChangeArrowheads="1"/>
            </p:cNvSpPr>
            <p:nvPr/>
          </p:nvSpPr>
          <p:spPr bwMode="auto">
            <a:xfrm>
              <a:off x="2864" y="2976"/>
              <a:ext cx="176" cy="228"/>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9</a:t>
              </a:r>
            </a:p>
          </p:txBody>
        </p:sp>
        <p:sp>
          <p:nvSpPr>
            <p:cNvPr id="4154" name="Rectangle 40"/>
            <p:cNvSpPr>
              <a:spLocks noChangeArrowheads="1"/>
            </p:cNvSpPr>
            <p:nvPr/>
          </p:nvSpPr>
          <p:spPr bwMode="auto">
            <a:xfrm>
              <a:off x="3680" y="2960"/>
              <a:ext cx="272" cy="228"/>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27</a:t>
              </a:r>
            </a:p>
          </p:txBody>
        </p:sp>
        <p:sp>
          <p:nvSpPr>
            <p:cNvPr id="4155" name="Rectangle 41"/>
            <p:cNvSpPr>
              <a:spLocks noChangeArrowheads="1"/>
            </p:cNvSpPr>
            <p:nvPr/>
          </p:nvSpPr>
          <p:spPr bwMode="auto">
            <a:xfrm>
              <a:off x="1264" y="3664"/>
              <a:ext cx="304" cy="228"/>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(5)</a:t>
              </a:r>
            </a:p>
          </p:txBody>
        </p:sp>
        <p:sp>
          <p:nvSpPr>
            <p:cNvPr id="4156" name="Rectangle 42"/>
            <p:cNvSpPr>
              <a:spLocks noChangeArrowheads="1"/>
            </p:cNvSpPr>
            <p:nvPr/>
          </p:nvSpPr>
          <p:spPr bwMode="auto">
            <a:xfrm>
              <a:off x="1856" y="3672"/>
              <a:ext cx="400" cy="228"/>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(10)</a:t>
              </a:r>
            </a:p>
          </p:txBody>
        </p:sp>
        <p:sp>
          <p:nvSpPr>
            <p:cNvPr id="4157" name="Rectangle 43"/>
            <p:cNvSpPr>
              <a:spLocks noChangeArrowheads="1"/>
            </p:cNvSpPr>
            <p:nvPr/>
          </p:nvSpPr>
          <p:spPr bwMode="auto">
            <a:xfrm>
              <a:off x="2504" y="3680"/>
              <a:ext cx="304" cy="228"/>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(3)</a:t>
              </a:r>
            </a:p>
          </p:txBody>
        </p:sp>
        <p:sp>
          <p:nvSpPr>
            <p:cNvPr id="4158" name="Rectangle 44"/>
            <p:cNvSpPr>
              <a:spLocks noChangeArrowheads="1"/>
            </p:cNvSpPr>
            <p:nvPr/>
          </p:nvSpPr>
          <p:spPr bwMode="auto">
            <a:xfrm>
              <a:off x="3088" y="3688"/>
              <a:ext cx="304" cy="228"/>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(4)</a:t>
              </a:r>
            </a:p>
          </p:txBody>
        </p:sp>
        <p:sp>
          <p:nvSpPr>
            <p:cNvPr id="4159" name="Rectangle 45"/>
            <p:cNvSpPr>
              <a:spLocks noChangeArrowheads="1"/>
            </p:cNvSpPr>
            <p:nvPr/>
          </p:nvSpPr>
          <p:spPr bwMode="auto">
            <a:xfrm>
              <a:off x="3680" y="3704"/>
              <a:ext cx="400" cy="228"/>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(15)</a:t>
              </a:r>
            </a:p>
          </p:txBody>
        </p:sp>
        <p:sp>
          <p:nvSpPr>
            <p:cNvPr id="4160" name="Rectangle 46"/>
            <p:cNvSpPr>
              <a:spLocks noChangeArrowheads="1"/>
            </p:cNvSpPr>
            <p:nvPr/>
          </p:nvSpPr>
          <p:spPr bwMode="auto">
            <a:xfrm>
              <a:off x="4256" y="3704"/>
              <a:ext cx="400" cy="228"/>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(10)</a:t>
              </a:r>
            </a:p>
          </p:txBody>
        </p:sp>
      </p:gr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rrowheads="1"/>
          </p:cNvSpPr>
          <p:nvPr>
            <p:ph type="title"/>
          </p:nvPr>
        </p:nvSpPr>
        <p:spPr>
          <a:xfrm>
            <a:off x="301625" y="228600"/>
            <a:ext cx="8429625" cy="762000"/>
          </a:xfrm>
        </p:spPr>
        <p:txBody>
          <a:bodyPr/>
          <a:lstStyle/>
          <a:p>
            <a:pPr eaLnBrk="1" hangingPunct="1"/>
            <a:r>
              <a:rPr lang="es-MX" altLang="en-US" dirty="0">
                <a:effectLst/>
              </a:rPr>
              <a:t>AND/OR  </a:t>
            </a:r>
            <a:r>
              <a:rPr lang="es-MX" altLang="en-US" dirty="0" err="1">
                <a:effectLst/>
              </a:rPr>
              <a:t>Best-First-Search</a:t>
            </a:r>
            <a:endParaRPr lang="es-MX" altLang="he-IL" dirty="0">
              <a:effectLst/>
            </a:endParaRPr>
          </a:p>
        </p:txBody>
      </p:sp>
      <p:sp>
        <p:nvSpPr>
          <p:cNvPr id="314371" name="Rectangle 3"/>
          <p:cNvSpPr>
            <a:spLocks noGrp="1" noRot="1" noChangeArrowheads="1"/>
          </p:cNvSpPr>
          <p:nvPr>
            <p:ph type="body" idx="1"/>
          </p:nvPr>
        </p:nvSpPr>
        <p:spPr>
          <a:xfrm>
            <a:off x="609600" y="1676400"/>
            <a:ext cx="8229600" cy="4724400"/>
          </a:xfrm>
        </p:spPr>
        <p:txBody>
          <a:bodyPr/>
          <a:lstStyle/>
          <a:p>
            <a:pPr eaLnBrk="1" hangingPunct="1">
              <a:lnSpc>
                <a:spcPct val="88000"/>
              </a:lnSpc>
              <a:spcBef>
                <a:spcPct val="43000"/>
              </a:spcBef>
              <a:buFont typeface="Wingdings" pitchFamily="2" charset="2"/>
              <a:buChar char="§"/>
              <a:defRPr/>
            </a:pPr>
            <a:r>
              <a:rPr lang="es-MX" altLang="he-IL" dirty="0" err="1"/>
              <a:t>Traverse</a:t>
            </a:r>
            <a:r>
              <a:rPr lang="es-MX" altLang="he-IL" dirty="0"/>
              <a:t> </a:t>
            </a:r>
            <a:r>
              <a:rPr lang="es-MX" altLang="he-IL" dirty="0" err="1"/>
              <a:t>the</a:t>
            </a:r>
            <a:r>
              <a:rPr lang="es-MX" altLang="he-IL" dirty="0"/>
              <a:t> </a:t>
            </a:r>
            <a:r>
              <a:rPr lang="es-MX" altLang="he-IL" dirty="0" err="1"/>
              <a:t>graph</a:t>
            </a:r>
            <a:r>
              <a:rPr lang="es-MX" altLang="he-IL" dirty="0"/>
              <a:t> (</a:t>
            </a:r>
            <a:r>
              <a:rPr lang="es-MX" altLang="he-IL" dirty="0" err="1"/>
              <a:t>from</a:t>
            </a:r>
            <a:r>
              <a:rPr lang="es-MX" altLang="he-IL" dirty="0"/>
              <a:t> </a:t>
            </a:r>
            <a:r>
              <a:rPr lang="es-MX" altLang="he-IL" dirty="0" err="1"/>
              <a:t>the</a:t>
            </a:r>
            <a:r>
              <a:rPr lang="es-MX" altLang="he-IL" dirty="0"/>
              <a:t> </a:t>
            </a:r>
            <a:r>
              <a:rPr lang="es-MX" altLang="he-IL" dirty="0" err="1"/>
              <a:t>initial</a:t>
            </a:r>
            <a:r>
              <a:rPr lang="es-MX" altLang="he-IL" dirty="0"/>
              <a:t> </a:t>
            </a:r>
            <a:r>
              <a:rPr lang="es-MX" altLang="he-IL" dirty="0" err="1"/>
              <a:t>node</a:t>
            </a:r>
            <a:r>
              <a:rPr lang="es-MX" altLang="he-IL" dirty="0"/>
              <a:t>) </a:t>
            </a:r>
            <a:r>
              <a:rPr lang="es-MX" altLang="he-IL" dirty="0" err="1"/>
              <a:t>following</a:t>
            </a:r>
            <a:r>
              <a:rPr lang="es-MX" altLang="he-IL" dirty="0"/>
              <a:t> </a:t>
            </a:r>
            <a:r>
              <a:rPr lang="es-MX" altLang="he-IL" dirty="0" err="1"/>
              <a:t>the</a:t>
            </a:r>
            <a:r>
              <a:rPr lang="es-MX" altLang="he-IL" dirty="0"/>
              <a:t> </a:t>
            </a:r>
            <a:r>
              <a:rPr lang="es-MX" altLang="he-IL" dirty="0" err="1"/>
              <a:t>best</a:t>
            </a:r>
            <a:r>
              <a:rPr lang="es-MX" altLang="he-IL" dirty="0"/>
              <a:t> </a:t>
            </a:r>
            <a:r>
              <a:rPr lang="es-MX" altLang="he-IL" dirty="0" err="1"/>
              <a:t>current</a:t>
            </a:r>
            <a:r>
              <a:rPr lang="es-MX" altLang="he-IL" dirty="0"/>
              <a:t> </a:t>
            </a:r>
            <a:r>
              <a:rPr lang="es-MX" altLang="he-IL" dirty="0" err="1"/>
              <a:t>path</a:t>
            </a:r>
            <a:r>
              <a:rPr lang="es-MX" altLang="he-IL" dirty="0"/>
              <a:t>.</a:t>
            </a:r>
          </a:p>
          <a:p>
            <a:pPr eaLnBrk="1" hangingPunct="1">
              <a:buFont typeface="Wingdings" pitchFamily="2" charset="2"/>
              <a:buChar char="§"/>
              <a:defRPr/>
            </a:pPr>
            <a:r>
              <a:rPr lang="es-MX" altLang="he-IL" dirty="0"/>
              <a:t>Pick </a:t>
            </a:r>
            <a:r>
              <a:rPr lang="es-MX" altLang="he-IL" dirty="0" err="1"/>
              <a:t>one</a:t>
            </a:r>
            <a:r>
              <a:rPr lang="es-MX" altLang="he-IL" dirty="0"/>
              <a:t> of </a:t>
            </a:r>
            <a:r>
              <a:rPr lang="es-MX" altLang="he-IL" dirty="0" err="1"/>
              <a:t>the</a:t>
            </a:r>
            <a:r>
              <a:rPr lang="es-MX" altLang="he-IL" dirty="0"/>
              <a:t> </a:t>
            </a:r>
            <a:r>
              <a:rPr lang="es-MX" altLang="he-IL" dirty="0" err="1"/>
              <a:t>unexpanded</a:t>
            </a:r>
            <a:r>
              <a:rPr lang="es-MX" altLang="he-IL" dirty="0"/>
              <a:t> </a:t>
            </a:r>
            <a:r>
              <a:rPr lang="es-MX" altLang="he-IL" dirty="0" err="1"/>
              <a:t>nodes</a:t>
            </a:r>
            <a:r>
              <a:rPr lang="es-MX" altLang="he-IL" dirty="0"/>
              <a:t> </a:t>
            </a:r>
            <a:r>
              <a:rPr lang="es-MX" altLang="he-IL" dirty="0" err="1"/>
              <a:t>on</a:t>
            </a:r>
            <a:r>
              <a:rPr lang="es-MX" altLang="he-IL" dirty="0"/>
              <a:t> </a:t>
            </a:r>
            <a:r>
              <a:rPr lang="es-MX" altLang="he-IL" dirty="0" err="1"/>
              <a:t>that</a:t>
            </a:r>
            <a:r>
              <a:rPr lang="es-MX" altLang="he-IL" dirty="0"/>
              <a:t> </a:t>
            </a:r>
            <a:r>
              <a:rPr lang="es-MX" altLang="he-IL" dirty="0" err="1"/>
              <a:t>path</a:t>
            </a:r>
            <a:r>
              <a:rPr lang="es-MX" altLang="he-IL" dirty="0"/>
              <a:t> and </a:t>
            </a:r>
            <a:r>
              <a:rPr lang="es-MX" altLang="he-IL" dirty="0" err="1"/>
              <a:t>expand</a:t>
            </a:r>
            <a:r>
              <a:rPr lang="es-MX" altLang="he-IL" dirty="0"/>
              <a:t> </a:t>
            </a:r>
            <a:r>
              <a:rPr lang="es-MX" altLang="he-IL" dirty="0" err="1"/>
              <a:t>it</a:t>
            </a:r>
            <a:r>
              <a:rPr lang="es-MX" altLang="he-IL" dirty="0"/>
              <a:t>.  </a:t>
            </a:r>
            <a:r>
              <a:rPr lang="es-MX" altLang="he-IL" dirty="0" err="1"/>
              <a:t>Add</a:t>
            </a:r>
            <a:r>
              <a:rPr lang="es-MX" altLang="he-IL" dirty="0"/>
              <a:t> </a:t>
            </a:r>
            <a:r>
              <a:rPr lang="es-MX" altLang="he-IL" dirty="0" err="1"/>
              <a:t>its</a:t>
            </a:r>
            <a:r>
              <a:rPr lang="es-MX" altLang="he-IL" dirty="0"/>
              <a:t> </a:t>
            </a:r>
            <a:r>
              <a:rPr lang="es-MX" altLang="he-IL" dirty="0" err="1"/>
              <a:t>successors</a:t>
            </a:r>
            <a:r>
              <a:rPr lang="es-MX" altLang="he-IL" dirty="0"/>
              <a:t> </a:t>
            </a:r>
            <a:r>
              <a:rPr lang="es-MX" altLang="he-IL" dirty="0" err="1"/>
              <a:t>to</a:t>
            </a:r>
            <a:r>
              <a:rPr lang="es-MX" altLang="he-IL" dirty="0"/>
              <a:t> </a:t>
            </a:r>
            <a:r>
              <a:rPr lang="es-MX" altLang="he-IL" dirty="0" err="1"/>
              <a:t>the</a:t>
            </a:r>
            <a:r>
              <a:rPr lang="es-MX" altLang="he-IL" dirty="0"/>
              <a:t> </a:t>
            </a:r>
            <a:r>
              <a:rPr lang="es-MX" altLang="he-IL" dirty="0" err="1"/>
              <a:t>graph</a:t>
            </a:r>
            <a:r>
              <a:rPr lang="es-MX" altLang="he-IL" dirty="0"/>
              <a:t> and compute </a:t>
            </a:r>
            <a:r>
              <a:rPr lang="es-MX" altLang="he-IL" i="1" dirty="0"/>
              <a:t>f</a:t>
            </a:r>
            <a:r>
              <a:rPr lang="es-MX" altLang="he-IL" dirty="0"/>
              <a:t> </a:t>
            </a:r>
            <a:r>
              <a:rPr lang="en-US" altLang="he-IL" dirty="0"/>
              <a:t> </a:t>
            </a:r>
            <a:r>
              <a:rPr lang="es-MX" altLang="he-IL" dirty="0" err="1"/>
              <a:t>for</a:t>
            </a:r>
            <a:r>
              <a:rPr lang="es-MX" altLang="he-IL" dirty="0"/>
              <a:t> </a:t>
            </a:r>
            <a:r>
              <a:rPr lang="es-MX" altLang="he-IL" dirty="0" err="1"/>
              <a:t>each</a:t>
            </a:r>
            <a:r>
              <a:rPr lang="es-MX" altLang="he-IL" dirty="0"/>
              <a:t> of </a:t>
            </a:r>
            <a:r>
              <a:rPr lang="es-MX" altLang="he-IL" dirty="0" err="1"/>
              <a:t>them</a:t>
            </a:r>
            <a:endParaRPr lang="es-MX" altLang="he-IL" dirty="0"/>
          </a:p>
          <a:p>
            <a:pPr eaLnBrk="1" hangingPunct="1">
              <a:buFont typeface="Wingdings" pitchFamily="2" charset="2"/>
              <a:buChar char="§"/>
              <a:defRPr/>
            </a:pPr>
            <a:r>
              <a:rPr lang="es-MX" altLang="he-IL" dirty="0" err="1"/>
              <a:t>Change</a:t>
            </a:r>
            <a:r>
              <a:rPr lang="es-MX" altLang="he-IL" dirty="0"/>
              <a:t> </a:t>
            </a:r>
            <a:r>
              <a:rPr lang="es-MX" altLang="he-IL" dirty="0" err="1"/>
              <a:t>the</a:t>
            </a:r>
            <a:r>
              <a:rPr lang="es-MX" altLang="he-IL" dirty="0"/>
              <a:t> </a:t>
            </a:r>
            <a:r>
              <a:rPr lang="es-MX" altLang="he-IL" dirty="0" err="1"/>
              <a:t>expanded</a:t>
            </a:r>
            <a:r>
              <a:rPr lang="es-MX" altLang="he-IL" dirty="0"/>
              <a:t> </a:t>
            </a:r>
            <a:r>
              <a:rPr lang="es-MX" altLang="he-IL" dirty="0" err="1"/>
              <a:t>node’s</a:t>
            </a:r>
            <a:r>
              <a:rPr lang="es-MX" altLang="he-IL" dirty="0"/>
              <a:t> </a:t>
            </a:r>
            <a:r>
              <a:rPr lang="es-MX" altLang="he-IL" i="1" dirty="0"/>
              <a:t>f</a:t>
            </a:r>
            <a:r>
              <a:rPr lang="es-MX" altLang="he-IL" dirty="0"/>
              <a:t> </a:t>
            </a:r>
            <a:r>
              <a:rPr lang="es-MX" altLang="he-IL" dirty="0" err="1"/>
              <a:t>value</a:t>
            </a:r>
            <a:r>
              <a:rPr lang="es-MX" altLang="he-IL" dirty="0"/>
              <a:t> </a:t>
            </a:r>
            <a:r>
              <a:rPr lang="es-MX" altLang="he-IL" dirty="0" err="1"/>
              <a:t>to</a:t>
            </a:r>
            <a:r>
              <a:rPr lang="es-MX" altLang="he-IL" dirty="0"/>
              <a:t> </a:t>
            </a:r>
            <a:r>
              <a:rPr lang="es-MX" altLang="he-IL" dirty="0" err="1"/>
              <a:t>reflect</a:t>
            </a:r>
            <a:r>
              <a:rPr lang="es-MX" altLang="he-IL" dirty="0"/>
              <a:t> </a:t>
            </a:r>
            <a:r>
              <a:rPr lang="es-MX" altLang="he-IL" dirty="0" err="1"/>
              <a:t>its</a:t>
            </a:r>
            <a:r>
              <a:rPr lang="es-MX" altLang="he-IL" dirty="0"/>
              <a:t> </a:t>
            </a:r>
            <a:r>
              <a:rPr lang="es-MX" altLang="he-IL" dirty="0" err="1"/>
              <a:t>successors</a:t>
            </a:r>
            <a:r>
              <a:rPr lang="es-MX" altLang="he-IL" dirty="0"/>
              <a:t>.  </a:t>
            </a:r>
            <a:r>
              <a:rPr lang="es-MX" altLang="he-IL" dirty="0" err="1"/>
              <a:t>Propagate</a:t>
            </a:r>
            <a:r>
              <a:rPr lang="es-MX" altLang="he-IL" dirty="0"/>
              <a:t> </a:t>
            </a:r>
            <a:r>
              <a:rPr lang="es-MX" altLang="he-IL" dirty="0" err="1"/>
              <a:t>the</a:t>
            </a:r>
            <a:r>
              <a:rPr lang="es-MX" altLang="he-IL" dirty="0"/>
              <a:t> </a:t>
            </a:r>
            <a:r>
              <a:rPr lang="es-MX" altLang="he-IL" dirty="0" err="1"/>
              <a:t>change</a:t>
            </a:r>
            <a:r>
              <a:rPr lang="es-MX" altLang="he-IL" dirty="0"/>
              <a:t> up </a:t>
            </a:r>
            <a:r>
              <a:rPr lang="es-MX" altLang="he-IL" dirty="0" err="1"/>
              <a:t>the</a:t>
            </a:r>
            <a:r>
              <a:rPr lang="es-MX" altLang="he-IL" dirty="0"/>
              <a:t> </a:t>
            </a:r>
            <a:r>
              <a:rPr lang="es-MX" altLang="he-IL" dirty="0" err="1"/>
              <a:t>graph</a:t>
            </a:r>
            <a:r>
              <a:rPr lang="es-MX" altLang="he-IL" dirty="0"/>
              <a:t>. </a:t>
            </a:r>
            <a:endParaRPr lang="en-US" altLang="he-IL" dirty="0"/>
          </a:p>
          <a:p>
            <a:pPr eaLnBrk="1" hangingPunct="1">
              <a:buFont typeface="Wingdings" pitchFamily="2" charset="2"/>
              <a:buChar char="§"/>
              <a:defRPr/>
            </a:pPr>
            <a:r>
              <a:rPr lang="es-MX" altLang="he-IL" dirty="0"/>
              <a:t> </a:t>
            </a:r>
            <a:r>
              <a:rPr lang="es-MX" altLang="he-IL" dirty="0" err="1"/>
              <a:t>Reconsider</a:t>
            </a:r>
            <a:r>
              <a:rPr lang="es-MX" altLang="he-IL" dirty="0"/>
              <a:t> </a:t>
            </a:r>
            <a:r>
              <a:rPr lang="es-MX" altLang="he-IL" dirty="0" err="1"/>
              <a:t>the</a:t>
            </a:r>
            <a:r>
              <a:rPr lang="es-MX" altLang="he-IL" dirty="0"/>
              <a:t> </a:t>
            </a:r>
            <a:r>
              <a:rPr lang="es-MX" altLang="he-IL" dirty="0" err="1"/>
              <a:t>current</a:t>
            </a:r>
            <a:r>
              <a:rPr lang="es-MX" altLang="he-IL" dirty="0"/>
              <a:t> </a:t>
            </a:r>
            <a:r>
              <a:rPr lang="es-MX" altLang="he-IL" dirty="0" err="1"/>
              <a:t>best</a:t>
            </a:r>
            <a:r>
              <a:rPr lang="es-MX" altLang="he-IL" dirty="0"/>
              <a:t> </a:t>
            </a:r>
            <a:r>
              <a:rPr lang="es-MX" altLang="he-IL" dirty="0" err="1"/>
              <a:t>solution</a:t>
            </a:r>
            <a:r>
              <a:rPr lang="es-MX" altLang="he-IL" dirty="0"/>
              <a:t> and </a:t>
            </a:r>
            <a:r>
              <a:rPr lang="es-MX" altLang="he-IL" dirty="0" err="1"/>
              <a:t>repeat</a:t>
            </a:r>
            <a:r>
              <a:rPr lang="en-US" altLang="he-IL" dirty="0"/>
              <a:t> until a solution is found</a:t>
            </a:r>
            <a:endParaRPr lang="es-MX" altLang="he-IL"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p:nvPr>
        </p:nvSpPr>
        <p:spPr>
          <a:xfrm>
            <a:off x="228600" y="0"/>
            <a:ext cx="8763000" cy="914400"/>
          </a:xfrm>
        </p:spPr>
        <p:txBody>
          <a:bodyPr/>
          <a:lstStyle/>
          <a:p>
            <a:pPr eaLnBrk="1" hangingPunct="1"/>
            <a:r>
              <a:rPr lang="es-MX" altLang="en-US" dirty="0">
                <a:effectLst/>
              </a:rPr>
              <a:t>AND/OR </a:t>
            </a:r>
            <a:r>
              <a:rPr lang="es-MX" altLang="en-US" dirty="0" err="1">
                <a:effectLst/>
              </a:rPr>
              <a:t>Best</a:t>
            </a:r>
            <a:r>
              <a:rPr lang="en-US" altLang="en-US" dirty="0">
                <a:effectLst/>
              </a:rPr>
              <a:t>-First-Search example</a:t>
            </a:r>
            <a:endParaRPr lang="es-MX" altLang="he-IL" dirty="0">
              <a:effectLst/>
            </a:endParaRPr>
          </a:p>
        </p:txBody>
      </p:sp>
      <p:sp>
        <p:nvSpPr>
          <p:cNvPr id="6147" name="Oval 3"/>
          <p:cNvSpPr>
            <a:spLocks noChangeArrowheads="1"/>
          </p:cNvSpPr>
          <p:nvPr/>
        </p:nvSpPr>
        <p:spPr bwMode="auto">
          <a:xfrm>
            <a:off x="5283200" y="14859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6148" name="Oval 4"/>
          <p:cNvSpPr>
            <a:spLocks noChangeArrowheads="1"/>
          </p:cNvSpPr>
          <p:nvPr/>
        </p:nvSpPr>
        <p:spPr bwMode="auto">
          <a:xfrm>
            <a:off x="4114800" y="24511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6149" name="Oval 5"/>
          <p:cNvSpPr>
            <a:spLocks noChangeArrowheads="1"/>
          </p:cNvSpPr>
          <p:nvPr/>
        </p:nvSpPr>
        <p:spPr bwMode="auto">
          <a:xfrm>
            <a:off x="5295900" y="26670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6150" name="Oval 6"/>
          <p:cNvSpPr>
            <a:spLocks noChangeArrowheads="1"/>
          </p:cNvSpPr>
          <p:nvPr/>
        </p:nvSpPr>
        <p:spPr bwMode="auto">
          <a:xfrm>
            <a:off x="6248400" y="24384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6151" name="Line 7"/>
          <p:cNvSpPr>
            <a:spLocks noChangeShapeType="1"/>
          </p:cNvSpPr>
          <p:nvPr/>
        </p:nvSpPr>
        <p:spPr bwMode="auto">
          <a:xfrm>
            <a:off x="5588000" y="2082800"/>
            <a:ext cx="0" cy="5588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152" name="Line 8"/>
          <p:cNvSpPr>
            <a:spLocks noChangeShapeType="1"/>
          </p:cNvSpPr>
          <p:nvPr/>
        </p:nvSpPr>
        <p:spPr bwMode="auto">
          <a:xfrm flipH="1">
            <a:off x="4635500" y="2070100"/>
            <a:ext cx="939800" cy="4953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153" name="Line 9"/>
          <p:cNvSpPr>
            <a:spLocks noChangeShapeType="1"/>
          </p:cNvSpPr>
          <p:nvPr/>
        </p:nvSpPr>
        <p:spPr bwMode="auto">
          <a:xfrm>
            <a:off x="5588000" y="2120900"/>
            <a:ext cx="889000" cy="3302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154" name="Rectangle 10"/>
          <p:cNvSpPr>
            <a:spLocks noChangeArrowheads="1"/>
          </p:cNvSpPr>
          <p:nvPr/>
        </p:nvSpPr>
        <p:spPr bwMode="auto">
          <a:xfrm>
            <a:off x="5359400" y="1511300"/>
            <a:ext cx="6858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6155" name="Rectangle 11"/>
          <p:cNvSpPr>
            <a:spLocks noChangeArrowheads="1"/>
          </p:cNvSpPr>
          <p:nvPr/>
        </p:nvSpPr>
        <p:spPr bwMode="auto">
          <a:xfrm>
            <a:off x="4178300" y="2501900"/>
            <a:ext cx="6604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B</a:t>
            </a:r>
          </a:p>
        </p:txBody>
      </p:sp>
      <p:sp>
        <p:nvSpPr>
          <p:cNvPr id="6156" name="Rectangle 12"/>
          <p:cNvSpPr>
            <a:spLocks noChangeArrowheads="1"/>
          </p:cNvSpPr>
          <p:nvPr/>
        </p:nvSpPr>
        <p:spPr bwMode="auto">
          <a:xfrm>
            <a:off x="5359400" y="2717800"/>
            <a:ext cx="6858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C</a:t>
            </a:r>
          </a:p>
        </p:txBody>
      </p:sp>
      <p:sp>
        <p:nvSpPr>
          <p:cNvPr id="6157" name="Rectangle 13"/>
          <p:cNvSpPr>
            <a:spLocks noChangeArrowheads="1"/>
          </p:cNvSpPr>
          <p:nvPr/>
        </p:nvSpPr>
        <p:spPr bwMode="auto">
          <a:xfrm>
            <a:off x="6311900" y="2489200"/>
            <a:ext cx="6858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6158" name="Rectangle 14"/>
          <p:cNvSpPr>
            <a:spLocks noChangeArrowheads="1"/>
          </p:cNvSpPr>
          <p:nvPr/>
        </p:nvSpPr>
        <p:spPr bwMode="auto">
          <a:xfrm>
            <a:off x="3581400" y="25400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(3)</a:t>
            </a:r>
          </a:p>
        </p:txBody>
      </p:sp>
      <p:sp>
        <p:nvSpPr>
          <p:cNvPr id="6159" name="Rectangle 15"/>
          <p:cNvSpPr>
            <a:spLocks noChangeArrowheads="1"/>
          </p:cNvSpPr>
          <p:nvPr/>
        </p:nvSpPr>
        <p:spPr bwMode="auto">
          <a:xfrm>
            <a:off x="4800600" y="28702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(4)</a:t>
            </a:r>
          </a:p>
        </p:txBody>
      </p:sp>
      <p:sp>
        <p:nvSpPr>
          <p:cNvPr id="6160" name="Rectangle 16"/>
          <p:cNvSpPr>
            <a:spLocks noChangeArrowheads="1"/>
          </p:cNvSpPr>
          <p:nvPr/>
        </p:nvSpPr>
        <p:spPr bwMode="auto">
          <a:xfrm>
            <a:off x="6946900" y="25654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(5)</a:t>
            </a:r>
          </a:p>
        </p:txBody>
      </p:sp>
      <p:sp>
        <p:nvSpPr>
          <p:cNvPr id="6161" name="Rectangle 17"/>
          <p:cNvSpPr>
            <a:spLocks noChangeArrowheads="1"/>
          </p:cNvSpPr>
          <p:nvPr/>
        </p:nvSpPr>
        <p:spPr bwMode="auto">
          <a:xfrm>
            <a:off x="5029200" y="23622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(9)</a:t>
            </a:r>
          </a:p>
        </p:txBody>
      </p:sp>
      <p:sp>
        <p:nvSpPr>
          <p:cNvPr id="6162" name="Line 18"/>
          <p:cNvSpPr>
            <a:spLocks noChangeShapeType="1"/>
          </p:cNvSpPr>
          <p:nvPr/>
        </p:nvSpPr>
        <p:spPr bwMode="auto">
          <a:xfrm>
            <a:off x="2057400" y="3314700"/>
            <a:ext cx="5397500"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163" name="Oval 19"/>
          <p:cNvSpPr>
            <a:spLocks noChangeArrowheads="1"/>
          </p:cNvSpPr>
          <p:nvPr/>
        </p:nvSpPr>
        <p:spPr bwMode="auto">
          <a:xfrm>
            <a:off x="2362200" y="16002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6164" name="Rectangle 20"/>
          <p:cNvSpPr>
            <a:spLocks noChangeArrowheads="1"/>
          </p:cNvSpPr>
          <p:nvPr/>
        </p:nvSpPr>
        <p:spPr bwMode="auto">
          <a:xfrm>
            <a:off x="2438400" y="1625600"/>
            <a:ext cx="6858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6165" name="Rectangle 21"/>
          <p:cNvSpPr>
            <a:spLocks noChangeArrowheads="1"/>
          </p:cNvSpPr>
          <p:nvPr/>
        </p:nvSpPr>
        <p:spPr bwMode="auto">
          <a:xfrm>
            <a:off x="2476500" y="23622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(5)</a:t>
            </a:r>
          </a:p>
        </p:txBody>
      </p:sp>
      <p:sp>
        <p:nvSpPr>
          <p:cNvPr id="6166" name="Line 22"/>
          <p:cNvSpPr>
            <a:spLocks noChangeShapeType="1"/>
          </p:cNvSpPr>
          <p:nvPr/>
        </p:nvSpPr>
        <p:spPr bwMode="auto">
          <a:xfrm>
            <a:off x="3276600" y="1460500"/>
            <a:ext cx="0" cy="18669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167" name="Line 23"/>
          <p:cNvSpPr>
            <a:spLocks noChangeShapeType="1"/>
          </p:cNvSpPr>
          <p:nvPr/>
        </p:nvSpPr>
        <p:spPr bwMode="auto">
          <a:xfrm>
            <a:off x="5257800" y="2235200"/>
            <a:ext cx="330200" cy="1143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168" name="Rectangle 24"/>
          <p:cNvSpPr>
            <a:spLocks noChangeArrowheads="1"/>
          </p:cNvSpPr>
          <p:nvPr/>
        </p:nvSpPr>
        <p:spPr bwMode="auto">
          <a:xfrm>
            <a:off x="3378200" y="1447800"/>
            <a:ext cx="412750" cy="2921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n-US" altLang="es-MX" b="1">
                <a:latin typeface="Times New Roman" charset="0"/>
                <a:cs typeface="Times New Roman (Hebrew)" charset="-79"/>
              </a:rPr>
              <a:t>2.</a:t>
            </a:r>
          </a:p>
        </p:txBody>
      </p:sp>
      <p:sp>
        <p:nvSpPr>
          <p:cNvPr id="6169" name="Line 25"/>
          <p:cNvSpPr>
            <a:spLocks noChangeShapeType="1"/>
          </p:cNvSpPr>
          <p:nvPr/>
        </p:nvSpPr>
        <p:spPr bwMode="auto">
          <a:xfrm>
            <a:off x="6019800" y="1917700"/>
            <a:ext cx="762000" cy="419100"/>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6170" name="Rectangle 26"/>
          <p:cNvSpPr>
            <a:spLocks noChangeArrowheads="1"/>
          </p:cNvSpPr>
          <p:nvPr/>
        </p:nvSpPr>
        <p:spPr bwMode="auto">
          <a:xfrm>
            <a:off x="1828800" y="1447800"/>
            <a:ext cx="412750" cy="2921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n-US" altLang="es-MX" b="1">
                <a:latin typeface="Times New Roman" charset="0"/>
                <a:cs typeface="Times New Roman (Hebrew)" charset="-79"/>
              </a:rPr>
              <a:t>1.</a:t>
            </a:r>
          </a:p>
        </p:txBody>
      </p:sp>
      <p:sp>
        <p:nvSpPr>
          <p:cNvPr id="6171" name="Oval 27"/>
          <p:cNvSpPr>
            <a:spLocks noChangeArrowheads="1"/>
          </p:cNvSpPr>
          <p:nvPr/>
        </p:nvSpPr>
        <p:spPr bwMode="auto">
          <a:xfrm>
            <a:off x="4279900" y="35814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6172" name="Oval 28"/>
          <p:cNvSpPr>
            <a:spLocks noChangeArrowheads="1"/>
          </p:cNvSpPr>
          <p:nvPr/>
        </p:nvSpPr>
        <p:spPr bwMode="auto">
          <a:xfrm>
            <a:off x="2781300" y="45720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6173" name="Oval 29"/>
          <p:cNvSpPr>
            <a:spLocks noChangeArrowheads="1"/>
          </p:cNvSpPr>
          <p:nvPr/>
        </p:nvSpPr>
        <p:spPr bwMode="auto">
          <a:xfrm>
            <a:off x="4343400" y="46609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6174" name="Oval 30"/>
          <p:cNvSpPr>
            <a:spLocks noChangeArrowheads="1"/>
          </p:cNvSpPr>
          <p:nvPr/>
        </p:nvSpPr>
        <p:spPr bwMode="auto">
          <a:xfrm>
            <a:off x="5753100" y="42418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6175" name="Line 31"/>
          <p:cNvSpPr>
            <a:spLocks noChangeShapeType="1"/>
          </p:cNvSpPr>
          <p:nvPr/>
        </p:nvSpPr>
        <p:spPr bwMode="auto">
          <a:xfrm>
            <a:off x="4584700" y="4178300"/>
            <a:ext cx="165100" cy="4445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176" name="Line 32"/>
          <p:cNvSpPr>
            <a:spLocks noChangeShapeType="1"/>
          </p:cNvSpPr>
          <p:nvPr/>
        </p:nvSpPr>
        <p:spPr bwMode="auto">
          <a:xfrm flipH="1">
            <a:off x="3390900" y="4165600"/>
            <a:ext cx="1181100" cy="5715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177" name="Line 33"/>
          <p:cNvSpPr>
            <a:spLocks noChangeShapeType="1"/>
          </p:cNvSpPr>
          <p:nvPr/>
        </p:nvSpPr>
        <p:spPr bwMode="auto">
          <a:xfrm>
            <a:off x="4584700" y="4216400"/>
            <a:ext cx="1143000" cy="2540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178" name="Rectangle 34"/>
          <p:cNvSpPr>
            <a:spLocks noChangeArrowheads="1"/>
          </p:cNvSpPr>
          <p:nvPr/>
        </p:nvSpPr>
        <p:spPr bwMode="auto">
          <a:xfrm>
            <a:off x="4356100" y="3606800"/>
            <a:ext cx="6858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6179" name="Rectangle 35"/>
          <p:cNvSpPr>
            <a:spLocks noChangeArrowheads="1"/>
          </p:cNvSpPr>
          <p:nvPr/>
        </p:nvSpPr>
        <p:spPr bwMode="auto">
          <a:xfrm>
            <a:off x="2844800" y="4622800"/>
            <a:ext cx="6604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B</a:t>
            </a:r>
          </a:p>
        </p:txBody>
      </p:sp>
      <p:sp>
        <p:nvSpPr>
          <p:cNvPr id="6180" name="Rectangle 36"/>
          <p:cNvSpPr>
            <a:spLocks noChangeArrowheads="1"/>
          </p:cNvSpPr>
          <p:nvPr/>
        </p:nvSpPr>
        <p:spPr bwMode="auto">
          <a:xfrm>
            <a:off x="4406900" y="4711700"/>
            <a:ext cx="6858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C</a:t>
            </a:r>
          </a:p>
        </p:txBody>
      </p:sp>
      <p:sp>
        <p:nvSpPr>
          <p:cNvPr id="6181" name="Rectangle 37"/>
          <p:cNvSpPr>
            <a:spLocks noChangeArrowheads="1"/>
          </p:cNvSpPr>
          <p:nvPr/>
        </p:nvSpPr>
        <p:spPr bwMode="auto">
          <a:xfrm>
            <a:off x="5816600" y="4292600"/>
            <a:ext cx="6858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6182" name="Oval 38"/>
          <p:cNvSpPr>
            <a:spLocks noChangeArrowheads="1"/>
          </p:cNvSpPr>
          <p:nvPr/>
        </p:nvSpPr>
        <p:spPr bwMode="auto">
          <a:xfrm>
            <a:off x="5156200" y="52451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6183" name="Rectangle 39"/>
          <p:cNvSpPr>
            <a:spLocks noChangeArrowheads="1"/>
          </p:cNvSpPr>
          <p:nvPr/>
        </p:nvSpPr>
        <p:spPr bwMode="auto">
          <a:xfrm>
            <a:off x="5219700" y="5295900"/>
            <a:ext cx="6604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E</a:t>
            </a:r>
          </a:p>
        </p:txBody>
      </p:sp>
      <p:sp>
        <p:nvSpPr>
          <p:cNvPr id="6184" name="Oval 40"/>
          <p:cNvSpPr>
            <a:spLocks noChangeArrowheads="1"/>
          </p:cNvSpPr>
          <p:nvPr/>
        </p:nvSpPr>
        <p:spPr bwMode="auto">
          <a:xfrm>
            <a:off x="6413500" y="52197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6185" name="Rectangle 41"/>
          <p:cNvSpPr>
            <a:spLocks noChangeArrowheads="1"/>
          </p:cNvSpPr>
          <p:nvPr/>
        </p:nvSpPr>
        <p:spPr bwMode="auto">
          <a:xfrm>
            <a:off x="6477000" y="5270500"/>
            <a:ext cx="6350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F</a:t>
            </a:r>
          </a:p>
        </p:txBody>
      </p:sp>
      <p:sp>
        <p:nvSpPr>
          <p:cNvPr id="6186" name="Line 42"/>
          <p:cNvSpPr>
            <a:spLocks noChangeShapeType="1"/>
          </p:cNvSpPr>
          <p:nvPr/>
        </p:nvSpPr>
        <p:spPr bwMode="auto">
          <a:xfrm>
            <a:off x="4191000" y="4343400"/>
            <a:ext cx="457200" cy="762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187" name="Line 43"/>
          <p:cNvSpPr>
            <a:spLocks noChangeShapeType="1"/>
          </p:cNvSpPr>
          <p:nvPr/>
        </p:nvSpPr>
        <p:spPr bwMode="auto">
          <a:xfrm flipH="1">
            <a:off x="5626100" y="4864100"/>
            <a:ext cx="520700" cy="4572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188" name="Line 44"/>
          <p:cNvSpPr>
            <a:spLocks noChangeShapeType="1"/>
          </p:cNvSpPr>
          <p:nvPr/>
        </p:nvSpPr>
        <p:spPr bwMode="auto">
          <a:xfrm>
            <a:off x="6108700" y="4826000"/>
            <a:ext cx="571500" cy="4064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189" name="Line 45"/>
          <p:cNvSpPr>
            <a:spLocks noChangeShapeType="1"/>
          </p:cNvSpPr>
          <p:nvPr/>
        </p:nvSpPr>
        <p:spPr bwMode="auto">
          <a:xfrm flipV="1">
            <a:off x="5956300" y="5016500"/>
            <a:ext cx="393700" cy="381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6190" name="Rectangle 46"/>
          <p:cNvSpPr>
            <a:spLocks noChangeArrowheads="1"/>
          </p:cNvSpPr>
          <p:nvPr/>
        </p:nvSpPr>
        <p:spPr bwMode="auto">
          <a:xfrm>
            <a:off x="5829300" y="54737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(4)</a:t>
            </a:r>
          </a:p>
        </p:txBody>
      </p:sp>
      <p:sp>
        <p:nvSpPr>
          <p:cNvPr id="6191" name="Rectangle 47"/>
          <p:cNvSpPr>
            <a:spLocks noChangeArrowheads="1"/>
          </p:cNvSpPr>
          <p:nvPr/>
        </p:nvSpPr>
        <p:spPr bwMode="auto">
          <a:xfrm>
            <a:off x="7086600" y="54737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(4)</a:t>
            </a:r>
          </a:p>
        </p:txBody>
      </p:sp>
      <p:sp>
        <p:nvSpPr>
          <p:cNvPr id="6192" name="Rectangle 48"/>
          <p:cNvSpPr>
            <a:spLocks noChangeArrowheads="1"/>
          </p:cNvSpPr>
          <p:nvPr/>
        </p:nvSpPr>
        <p:spPr bwMode="auto">
          <a:xfrm>
            <a:off x="5829300" y="5080000"/>
            <a:ext cx="7874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(10)</a:t>
            </a:r>
          </a:p>
        </p:txBody>
      </p:sp>
      <p:sp>
        <p:nvSpPr>
          <p:cNvPr id="6193" name="Rectangle 49"/>
          <p:cNvSpPr>
            <a:spLocks noChangeArrowheads="1"/>
          </p:cNvSpPr>
          <p:nvPr/>
        </p:nvSpPr>
        <p:spPr bwMode="auto">
          <a:xfrm>
            <a:off x="3479800" y="47752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(3)</a:t>
            </a:r>
          </a:p>
        </p:txBody>
      </p:sp>
      <p:sp>
        <p:nvSpPr>
          <p:cNvPr id="6194" name="Rectangle 50"/>
          <p:cNvSpPr>
            <a:spLocks noChangeArrowheads="1"/>
          </p:cNvSpPr>
          <p:nvPr/>
        </p:nvSpPr>
        <p:spPr bwMode="auto">
          <a:xfrm>
            <a:off x="3898900" y="44450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(9)</a:t>
            </a:r>
          </a:p>
        </p:txBody>
      </p:sp>
      <p:sp>
        <p:nvSpPr>
          <p:cNvPr id="6195" name="Rectangle 51"/>
          <p:cNvSpPr>
            <a:spLocks noChangeArrowheads="1"/>
          </p:cNvSpPr>
          <p:nvPr/>
        </p:nvSpPr>
        <p:spPr bwMode="auto">
          <a:xfrm>
            <a:off x="5054600" y="48387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(4)</a:t>
            </a:r>
          </a:p>
        </p:txBody>
      </p:sp>
      <p:sp>
        <p:nvSpPr>
          <p:cNvPr id="6196" name="Rectangle 52"/>
          <p:cNvSpPr>
            <a:spLocks noChangeArrowheads="1"/>
          </p:cNvSpPr>
          <p:nvPr/>
        </p:nvSpPr>
        <p:spPr bwMode="auto">
          <a:xfrm>
            <a:off x="6464300" y="4356100"/>
            <a:ext cx="7874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(10)</a:t>
            </a:r>
          </a:p>
        </p:txBody>
      </p:sp>
      <p:sp>
        <p:nvSpPr>
          <p:cNvPr id="6197" name="Line 53"/>
          <p:cNvSpPr>
            <a:spLocks noChangeShapeType="1"/>
          </p:cNvSpPr>
          <p:nvPr/>
        </p:nvSpPr>
        <p:spPr bwMode="auto">
          <a:xfrm>
            <a:off x="2159000" y="5969000"/>
            <a:ext cx="5397500"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198" name="Rectangle 54"/>
          <p:cNvSpPr>
            <a:spLocks noChangeArrowheads="1"/>
          </p:cNvSpPr>
          <p:nvPr/>
        </p:nvSpPr>
        <p:spPr bwMode="auto">
          <a:xfrm>
            <a:off x="2057400" y="3695700"/>
            <a:ext cx="412750" cy="2921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n-US" altLang="es-MX" b="1">
                <a:latin typeface="Times New Roman" charset="0"/>
                <a:cs typeface="Times New Roman (Hebrew)" charset="-79"/>
              </a:rPr>
              <a:t>3.</a:t>
            </a:r>
          </a:p>
        </p:txBody>
      </p:sp>
      <p:sp>
        <p:nvSpPr>
          <p:cNvPr id="6199" name="Line 55"/>
          <p:cNvSpPr>
            <a:spLocks noChangeShapeType="1"/>
          </p:cNvSpPr>
          <p:nvPr/>
        </p:nvSpPr>
        <p:spPr bwMode="auto">
          <a:xfrm flipH="1">
            <a:off x="3073400" y="4000500"/>
            <a:ext cx="1041400" cy="495300"/>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228600" y="152400"/>
            <a:ext cx="8534400" cy="838200"/>
          </a:xfrm>
        </p:spPr>
        <p:txBody>
          <a:bodyPr/>
          <a:lstStyle/>
          <a:p>
            <a:pPr eaLnBrk="1" hangingPunct="1"/>
            <a:r>
              <a:rPr lang="es-MX" altLang="en-US">
                <a:effectLst/>
              </a:rPr>
              <a:t>AND/OR Best</a:t>
            </a:r>
            <a:r>
              <a:rPr lang="en-US" altLang="en-US">
                <a:effectLst/>
              </a:rPr>
              <a:t>-First-Search example</a:t>
            </a:r>
            <a:endParaRPr lang="en-US" altLang="es-MX">
              <a:effectLst/>
            </a:endParaRPr>
          </a:p>
        </p:txBody>
      </p:sp>
      <p:sp>
        <p:nvSpPr>
          <p:cNvPr id="7171" name="Oval 3"/>
          <p:cNvSpPr>
            <a:spLocks noChangeArrowheads="1"/>
          </p:cNvSpPr>
          <p:nvPr/>
        </p:nvSpPr>
        <p:spPr bwMode="auto">
          <a:xfrm>
            <a:off x="2768600" y="32893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7172" name="Oval 4"/>
          <p:cNvSpPr>
            <a:spLocks noChangeArrowheads="1"/>
          </p:cNvSpPr>
          <p:nvPr/>
        </p:nvSpPr>
        <p:spPr bwMode="auto">
          <a:xfrm>
            <a:off x="4470400" y="33528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7173" name="Oval 5"/>
          <p:cNvSpPr>
            <a:spLocks noChangeArrowheads="1"/>
          </p:cNvSpPr>
          <p:nvPr/>
        </p:nvSpPr>
        <p:spPr bwMode="auto">
          <a:xfrm>
            <a:off x="5676900" y="32893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7174" name="Line 6"/>
          <p:cNvSpPr>
            <a:spLocks noChangeShapeType="1"/>
          </p:cNvSpPr>
          <p:nvPr/>
        </p:nvSpPr>
        <p:spPr bwMode="auto">
          <a:xfrm>
            <a:off x="4572000" y="2895600"/>
            <a:ext cx="165100" cy="4445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7175" name="Line 7"/>
          <p:cNvSpPr>
            <a:spLocks noChangeShapeType="1"/>
          </p:cNvSpPr>
          <p:nvPr/>
        </p:nvSpPr>
        <p:spPr bwMode="auto">
          <a:xfrm flipH="1">
            <a:off x="3378200" y="2882900"/>
            <a:ext cx="1181100" cy="5715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7176" name="Line 8"/>
          <p:cNvSpPr>
            <a:spLocks noChangeShapeType="1"/>
          </p:cNvSpPr>
          <p:nvPr/>
        </p:nvSpPr>
        <p:spPr bwMode="auto">
          <a:xfrm>
            <a:off x="4572000" y="2933700"/>
            <a:ext cx="1155700" cy="4445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7177" name="Rectangle 9"/>
          <p:cNvSpPr>
            <a:spLocks noChangeArrowheads="1"/>
          </p:cNvSpPr>
          <p:nvPr/>
        </p:nvSpPr>
        <p:spPr bwMode="auto">
          <a:xfrm>
            <a:off x="2832100" y="3340100"/>
            <a:ext cx="6604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B</a:t>
            </a:r>
          </a:p>
        </p:txBody>
      </p:sp>
      <p:sp>
        <p:nvSpPr>
          <p:cNvPr id="7178" name="Rectangle 10"/>
          <p:cNvSpPr>
            <a:spLocks noChangeArrowheads="1"/>
          </p:cNvSpPr>
          <p:nvPr/>
        </p:nvSpPr>
        <p:spPr bwMode="auto">
          <a:xfrm>
            <a:off x="4533900" y="3403600"/>
            <a:ext cx="6858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C</a:t>
            </a:r>
          </a:p>
        </p:txBody>
      </p:sp>
      <p:sp>
        <p:nvSpPr>
          <p:cNvPr id="7179" name="Rectangle 11"/>
          <p:cNvSpPr>
            <a:spLocks noChangeArrowheads="1"/>
          </p:cNvSpPr>
          <p:nvPr/>
        </p:nvSpPr>
        <p:spPr bwMode="auto">
          <a:xfrm>
            <a:off x="5740400" y="3340100"/>
            <a:ext cx="6858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7180" name="Oval 12"/>
          <p:cNvSpPr>
            <a:spLocks noChangeArrowheads="1"/>
          </p:cNvSpPr>
          <p:nvPr/>
        </p:nvSpPr>
        <p:spPr bwMode="auto">
          <a:xfrm>
            <a:off x="2095500" y="42926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7181" name="Rectangle 13"/>
          <p:cNvSpPr>
            <a:spLocks noChangeArrowheads="1"/>
          </p:cNvSpPr>
          <p:nvPr/>
        </p:nvSpPr>
        <p:spPr bwMode="auto">
          <a:xfrm>
            <a:off x="2159000" y="4343400"/>
            <a:ext cx="7112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G</a:t>
            </a:r>
          </a:p>
        </p:txBody>
      </p:sp>
      <p:sp>
        <p:nvSpPr>
          <p:cNvPr id="7182" name="Oval 14"/>
          <p:cNvSpPr>
            <a:spLocks noChangeArrowheads="1"/>
          </p:cNvSpPr>
          <p:nvPr/>
        </p:nvSpPr>
        <p:spPr bwMode="auto">
          <a:xfrm>
            <a:off x="3365500" y="42799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7183" name="Rectangle 15"/>
          <p:cNvSpPr>
            <a:spLocks noChangeArrowheads="1"/>
          </p:cNvSpPr>
          <p:nvPr/>
        </p:nvSpPr>
        <p:spPr bwMode="auto">
          <a:xfrm>
            <a:off x="3429000" y="4330700"/>
            <a:ext cx="7112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H</a:t>
            </a:r>
          </a:p>
        </p:txBody>
      </p:sp>
      <p:sp>
        <p:nvSpPr>
          <p:cNvPr id="7184" name="Oval 16"/>
          <p:cNvSpPr>
            <a:spLocks noChangeArrowheads="1"/>
          </p:cNvSpPr>
          <p:nvPr/>
        </p:nvSpPr>
        <p:spPr bwMode="auto">
          <a:xfrm>
            <a:off x="5080000" y="42926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7185" name="Rectangle 17"/>
          <p:cNvSpPr>
            <a:spLocks noChangeArrowheads="1"/>
          </p:cNvSpPr>
          <p:nvPr/>
        </p:nvSpPr>
        <p:spPr bwMode="auto">
          <a:xfrm>
            <a:off x="5143500" y="4343400"/>
            <a:ext cx="6604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E</a:t>
            </a:r>
          </a:p>
        </p:txBody>
      </p:sp>
      <p:sp>
        <p:nvSpPr>
          <p:cNvPr id="7186" name="Oval 18"/>
          <p:cNvSpPr>
            <a:spLocks noChangeArrowheads="1"/>
          </p:cNvSpPr>
          <p:nvPr/>
        </p:nvSpPr>
        <p:spPr bwMode="auto">
          <a:xfrm>
            <a:off x="6337300" y="42672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7187" name="Rectangle 19"/>
          <p:cNvSpPr>
            <a:spLocks noChangeArrowheads="1"/>
          </p:cNvSpPr>
          <p:nvPr/>
        </p:nvSpPr>
        <p:spPr bwMode="auto">
          <a:xfrm>
            <a:off x="6400800" y="4318000"/>
            <a:ext cx="6350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F</a:t>
            </a:r>
          </a:p>
        </p:txBody>
      </p:sp>
      <p:sp>
        <p:nvSpPr>
          <p:cNvPr id="7188" name="Line 20"/>
          <p:cNvSpPr>
            <a:spLocks noChangeShapeType="1"/>
          </p:cNvSpPr>
          <p:nvPr/>
        </p:nvSpPr>
        <p:spPr bwMode="auto">
          <a:xfrm>
            <a:off x="4178300" y="3060700"/>
            <a:ext cx="457200" cy="762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7189" name="Line 21"/>
          <p:cNvSpPr>
            <a:spLocks noChangeShapeType="1"/>
          </p:cNvSpPr>
          <p:nvPr/>
        </p:nvSpPr>
        <p:spPr bwMode="auto">
          <a:xfrm flipH="1">
            <a:off x="5549900" y="3911600"/>
            <a:ext cx="520700" cy="4572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7190" name="Line 22"/>
          <p:cNvSpPr>
            <a:spLocks noChangeShapeType="1"/>
          </p:cNvSpPr>
          <p:nvPr/>
        </p:nvSpPr>
        <p:spPr bwMode="auto">
          <a:xfrm>
            <a:off x="6032500" y="3873500"/>
            <a:ext cx="571500" cy="4064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7191" name="Line 23"/>
          <p:cNvSpPr>
            <a:spLocks noChangeShapeType="1"/>
          </p:cNvSpPr>
          <p:nvPr/>
        </p:nvSpPr>
        <p:spPr bwMode="auto">
          <a:xfrm flipV="1">
            <a:off x="5880100" y="4064000"/>
            <a:ext cx="393700" cy="381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7192" name="Rectangle 24"/>
          <p:cNvSpPr>
            <a:spLocks noChangeArrowheads="1"/>
          </p:cNvSpPr>
          <p:nvPr/>
        </p:nvSpPr>
        <p:spPr bwMode="auto">
          <a:xfrm>
            <a:off x="2794000" y="44704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(5)</a:t>
            </a:r>
          </a:p>
        </p:txBody>
      </p:sp>
      <p:sp>
        <p:nvSpPr>
          <p:cNvPr id="7193" name="Rectangle 25"/>
          <p:cNvSpPr>
            <a:spLocks noChangeArrowheads="1"/>
          </p:cNvSpPr>
          <p:nvPr/>
        </p:nvSpPr>
        <p:spPr bwMode="auto">
          <a:xfrm>
            <a:off x="4051300" y="44450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(7)</a:t>
            </a:r>
          </a:p>
        </p:txBody>
      </p:sp>
      <p:sp>
        <p:nvSpPr>
          <p:cNvPr id="7194" name="Rectangle 26"/>
          <p:cNvSpPr>
            <a:spLocks noChangeArrowheads="1"/>
          </p:cNvSpPr>
          <p:nvPr/>
        </p:nvSpPr>
        <p:spPr bwMode="auto">
          <a:xfrm>
            <a:off x="5753100" y="45212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(4)</a:t>
            </a:r>
          </a:p>
        </p:txBody>
      </p:sp>
      <p:sp>
        <p:nvSpPr>
          <p:cNvPr id="7195" name="Rectangle 27"/>
          <p:cNvSpPr>
            <a:spLocks noChangeArrowheads="1"/>
          </p:cNvSpPr>
          <p:nvPr/>
        </p:nvSpPr>
        <p:spPr bwMode="auto">
          <a:xfrm>
            <a:off x="7010400" y="45212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(4)</a:t>
            </a:r>
          </a:p>
        </p:txBody>
      </p:sp>
      <p:sp>
        <p:nvSpPr>
          <p:cNvPr id="7196" name="Rectangle 28"/>
          <p:cNvSpPr>
            <a:spLocks noChangeArrowheads="1"/>
          </p:cNvSpPr>
          <p:nvPr/>
        </p:nvSpPr>
        <p:spPr bwMode="auto">
          <a:xfrm>
            <a:off x="5753100" y="4127500"/>
            <a:ext cx="7874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(10)</a:t>
            </a:r>
          </a:p>
        </p:txBody>
      </p:sp>
      <p:sp>
        <p:nvSpPr>
          <p:cNvPr id="7197" name="Line 29"/>
          <p:cNvSpPr>
            <a:spLocks noChangeShapeType="1"/>
          </p:cNvSpPr>
          <p:nvPr/>
        </p:nvSpPr>
        <p:spPr bwMode="auto">
          <a:xfrm flipH="1">
            <a:off x="2654300" y="3898900"/>
            <a:ext cx="508000" cy="5461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7198" name="Line 30"/>
          <p:cNvSpPr>
            <a:spLocks noChangeShapeType="1"/>
          </p:cNvSpPr>
          <p:nvPr/>
        </p:nvSpPr>
        <p:spPr bwMode="auto">
          <a:xfrm>
            <a:off x="3162300" y="3937000"/>
            <a:ext cx="381000" cy="3429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7199" name="Rectangle 31"/>
          <p:cNvSpPr>
            <a:spLocks noChangeArrowheads="1"/>
          </p:cNvSpPr>
          <p:nvPr/>
        </p:nvSpPr>
        <p:spPr bwMode="auto">
          <a:xfrm>
            <a:off x="3467100" y="34925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(6)</a:t>
            </a:r>
          </a:p>
        </p:txBody>
      </p:sp>
      <p:sp>
        <p:nvSpPr>
          <p:cNvPr id="7200" name="Rectangle 32"/>
          <p:cNvSpPr>
            <a:spLocks noChangeArrowheads="1"/>
          </p:cNvSpPr>
          <p:nvPr/>
        </p:nvSpPr>
        <p:spPr bwMode="auto">
          <a:xfrm>
            <a:off x="3848100" y="3162300"/>
            <a:ext cx="7874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(12)</a:t>
            </a:r>
          </a:p>
        </p:txBody>
      </p:sp>
      <p:sp>
        <p:nvSpPr>
          <p:cNvPr id="7201" name="Rectangle 33"/>
          <p:cNvSpPr>
            <a:spLocks noChangeArrowheads="1"/>
          </p:cNvSpPr>
          <p:nvPr/>
        </p:nvSpPr>
        <p:spPr bwMode="auto">
          <a:xfrm>
            <a:off x="5143500" y="3492500"/>
            <a:ext cx="6350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(4)</a:t>
            </a:r>
          </a:p>
        </p:txBody>
      </p:sp>
      <p:sp>
        <p:nvSpPr>
          <p:cNvPr id="7202" name="Rectangle 34"/>
          <p:cNvSpPr>
            <a:spLocks noChangeArrowheads="1"/>
          </p:cNvSpPr>
          <p:nvPr/>
        </p:nvSpPr>
        <p:spPr bwMode="auto">
          <a:xfrm>
            <a:off x="6388100" y="3403600"/>
            <a:ext cx="787400" cy="361950"/>
          </a:xfrm>
          <a:prstGeom prst="rect">
            <a:avLst/>
          </a:prstGeom>
          <a:noFill/>
          <a:ln w="9525">
            <a:noFill/>
            <a:miter lim="800000"/>
            <a:headEnd/>
            <a:tailEnd/>
          </a:ln>
        </p:spPr>
        <p:txBody>
          <a:bodyPr wrap="none" lIns="63500" tIns="25400" rIns="63500" bIns="25400">
            <a:spAutoFit/>
          </a:bodyPr>
          <a:lstStyle/>
          <a:p>
            <a:pPr eaLnBrk="0" hangingPunct="0">
              <a:lnSpc>
                <a:spcPct val="85000"/>
              </a:lnSpc>
            </a:pPr>
            <a:r>
              <a:rPr lang="en-US" altLang="es-MX" sz="2400" b="1">
                <a:latin typeface="Times New Roman" charset="0"/>
                <a:cs typeface="Times New Roman (Hebrew)" charset="-79"/>
              </a:rPr>
              <a:t>(10)</a:t>
            </a:r>
          </a:p>
        </p:txBody>
      </p:sp>
      <p:sp>
        <p:nvSpPr>
          <p:cNvPr id="7203" name="Rectangle 35"/>
          <p:cNvSpPr>
            <a:spLocks noChangeArrowheads="1"/>
          </p:cNvSpPr>
          <p:nvPr/>
        </p:nvSpPr>
        <p:spPr bwMode="auto">
          <a:xfrm>
            <a:off x="1981200" y="2438400"/>
            <a:ext cx="412750" cy="2921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n-US" altLang="es-MX" b="1">
                <a:latin typeface="Times New Roman" charset="0"/>
                <a:cs typeface="Times New Roman (Hebrew)" charset="-79"/>
              </a:rPr>
              <a:t>4.</a:t>
            </a:r>
          </a:p>
        </p:txBody>
      </p:sp>
      <p:sp>
        <p:nvSpPr>
          <p:cNvPr id="7204" name="Line 36"/>
          <p:cNvSpPr>
            <a:spLocks noChangeShapeType="1"/>
          </p:cNvSpPr>
          <p:nvPr/>
        </p:nvSpPr>
        <p:spPr bwMode="auto">
          <a:xfrm>
            <a:off x="5076825" y="2708275"/>
            <a:ext cx="1092200" cy="457200"/>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7205" name="Oval 37"/>
          <p:cNvSpPr>
            <a:spLocks noChangeArrowheads="1"/>
          </p:cNvSpPr>
          <p:nvPr/>
        </p:nvSpPr>
        <p:spPr bwMode="auto">
          <a:xfrm>
            <a:off x="4191000" y="2336800"/>
            <a:ext cx="571500" cy="571500"/>
          </a:xfrm>
          <a:prstGeom prst="ellipse">
            <a:avLst/>
          </a:prstGeom>
          <a:noFill/>
          <a:ln w="25400">
            <a:solidFill>
              <a:schemeClr val="tx1"/>
            </a:solidFill>
            <a:round/>
            <a:headEnd/>
            <a:tailEnd/>
          </a:ln>
        </p:spPr>
        <p:txBody>
          <a:bodyPr wrap="none" anchor="ctr"/>
          <a:lstStyle/>
          <a:p>
            <a:endParaRPr lang="en-US" altLang="en-US"/>
          </a:p>
        </p:txBody>
      </p:sp>
      <p:sp>
        <p:nvSpPr>
          <p:cNvPr id="7206" name="Rectangle 38"/>
          <p:cNvSpPr>
            <a:spLocks noChangeArrowheads="1"/>
          </p:cNvSpPr>
          <p:nvPr/>
        </p:nvSpPr>
        <p:spPr bwMode="auto">
          <a:xfrm>
            <a:off x="4267200" y="2362200"/>
            <a:ext cx="685800" cy="533400"/>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rrowheads="1"/>
          </p:cNvSpPr>
          <p:nvPr>
            <p:ph type="title"/>
          </p:nvPr>
        </p:nvSpPr>
        <p:spPr/>
        <p:txBody>
          <a:bodyPr/>
          <a:lstStyle/>
          <a:p>
            <a:pPr eaLnBrk="1" hangingPunct="1"/>
            <a:r>
              <a:rPr lang="en-US" altLang="en-US">
                <a:effectLst/>
              </a:rPr>
              <a:t>Interacting Sub goals</a:t>
            </a:r>
          </a:p>
        </p:txBody>
      </p:sp>
      <p:grpSp>
        <p:nvGrpSpPr>
          <p:cNvPr id="2" name="Group 20"/>
          <p:cNvGrpSpPr>
            <a:grpSpLocks/>
          </p:cNvGrpSpPr>
          <p:nvPr/>
        </p:nvGrpSpPr>
        <p:grpSpPr bwMode="auto">
          <a:xfrm>
            <a:off x="2484438" y="1844675"/>
            <a:ext cx="4286250" cy="3595688"/>
            <a:chOff x="1565" y="1162"/>
            <a:chExt cx="2700" cy="2265"/>
          </a:xfrm>
        </p:grpSpPr>
        <p:sp>
          <p:nvSpPr>
            <p:cNvPr id="9220" name="Oval 5"/>
            <p:cNvSpPr>
              <a:spLocks noChangeArrowheads="1"/>
            </p:cNvSpPr>
            <p:nvPr/>
          </p:nvSpPr>
          <p:spPr bwMode="auto">
            <a:xfrm>
              <a:off x="1578" y="2725"/>
              <a:ext cx="360" cy="360"/>
            </a:xfrm>
            <a:prstGeom prst="ellipse">
              <a:avLst/>
            </a:prstGeom>
            <a:noFill/>
            <a:ln w="25400">
              <a:solidFill>
                <a:schemeClr val="tx1"/>
              </a:solidFill>
              <a:round/>
              <a:headEnd/>
              <a:tailEnd/>
            </a:ln>
          </p:spPr>
          <p:txBody>
            <a:bodyPr wrap="none" anchor="ctr"/>
            <a:lstStyle/>
            <a:p>
              <a:endParaRPr lang="en-US" altLang="en-US"/>
            </a:p>
          </p:txBody>
        </p:sp>
        <p:sp>
          <p:nvSpPr>
            <p:cNvPr id="9221" name="Line 8"/>
            <p:cNvSpPr>
              <a:spLocks noChangeShapeType="1"/>
            </p:cNvSpPr>
            <p:nvPr/>
          </p:nvSpPr>
          <p:spPr bwMode="auto">
            <a:xfrm>
              <a:off x="2835" y="1525"/>
              <a:ext cx="363" cy="499"/>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9222" name="Line 9"/>
            <p:cNvSpPr>
              <a:spLocks noChangeShapeType="1"/>
            </p:cNvSpPr>
            <p:nvPr/>
          </p:nvSpPr>
          <p:spPr bwMode="auto">
            <a:xfrm flipH="1">
              <a:off x="1927" y="1525"/>
              <a:ext cx="908" cy="127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9223" name="Rectangle 11"/>
            <p:cNvSpPr>
              <a:spLocks noChangeArrowheads="1"/>
            </p:cNvSpPr>
            <p:nvPr/>
          </p:nvSpPr>
          <p:spPr bwMode="auto">
            <a:xfrm>
              <a:off x="1610" y="2750"/>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C</a:t>
              </a:r>
            </a:p>
          </p:txBody>
        </p:sp>
        <p:sp>
          <p:nvSpPr>
            <p:cNvPr id="9224" name="Rectangle 17"/>
            <p:cNvSpPr>
              <a:spLocks noChangeArrowheads="1"/>
            </p:cNvSpPr>
            <p:nvPr/>
          </p:nvSpPr>
          <p:spPr bwMode="auto">
            <a:xfrm>
              <a:off x="3061" y="2024"/>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9225" name="Oval 18"/>
            <p:cNvSpPr>
              <a:spLocks noChangeArrowheads="1"/>
            </p:cNvSpPr>
            <p:nvPr/>
          </p:nvSpPr>
          <p:spPr bwMode="auto">
            <a:xfrm>
              <a:off x="3651" y="2795"/>
              <a:ext cx="360" cy="360"/>
            </a:xfrm>
            <a:prstGeom prst="ellipse">
              <a:avLst/>
            </a:prstGeom>
            <a:noFill/>
            <a:ln w="25400">
              <a:solidFill>
                <a:schemeClr val="tx1"/>
              </a:solidFill>
              <a:round/>
              <a:headEnd/>
              <a:tailEnd/>
            </a:ln>
          </p:spPr>
          <p:txBody>
            <a:bodyPr wrap="none" anchor="ctr"/>
            <a:lstStyle/>
            <a:p>
              <a:endParaRPr lang="en-US" altLang="en-US"/>
            </a:p>
          </p:txBody>
        </p:sp>
        <p:sp>
          <p:nvSpPr>
            <p:cNvPr id="9226" name="Rectangle 19"/>
            <p:cNvSpPr>
              <a:spLocks noChangeArrowheads="1"/>
            </p:cNvSpPr>
            <p:nvPr/>
          </p:nvSpPr>
          <p:spPr bwMode="auto">
            <a:xfrm>
              <a:off x="3696" y="2795"/>
              <a:ext cx="272"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E</a:t>
              </a:r>
            </a:p>
          </p:txBody>
        </p:sp>
        <p:sp>
          <p:nvSpPr>
            <p:cNvPr id="9227" name="Line 25"/>
            <p:cNvSpPr>
              <a:spLocks noChangeShapeType="1"/>
            </p:cNvSpPr>
            <p:nvPr/>
          </p:nvSpPr>
          <p:spPr bwMode="auto">
            <a:xfrm>
              <a:off x="3198" y="2387"/>
              <a:ext cx="635" cy="408"/>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9228" name="Oval 29"/>
            <p:cNvSpPr>
              <a:spLocks noChangeArrowheads="1"/>
            </p:cNvSpPr>
            <p:nvPr/>
          </p:nvSpPr>
          <p:spPr bwMode="auto">
            <a:xfrm>
              <a:off x="2699" y="1162"/>
              <a:ext cx="360" cy="360"/>
            </a:xfrm>
            <a:prstGeom prst="ellipse">
              <a:avLst/>
            </a:prstGeom>
            <a:noFill/>
            <a:ln w="25400">
              <a:solidFill>
                <a:schemeClr val="tx1"/>
              </a:solidFill>
              <a:round/>
              <a:headEnd/>
              <a:tailEnd/>
            </a:ln>
          </p:spPr>
          <p:txBody>
            <a:bodyPr wrap="none" anchor="ctr"/>
            <a:lstStyle/>
            <a:p>
              <a:endParaRPr lang="en-US" altLang="en-US"/>
            </a:p>
          </p:txBody>
        </p:sp>
        <p:sp>
          <p:nvSpPr>
            <p:cNvPr id="9229" name="Rectangle 30"/>
            <p:cNvSpPr>
              <a:spLocks noChangeArrowheads="1"/>
            </p:cNvSpPr>
            <p:nvPr/>
          </p:nvSpPr>
          <p:spPr bwMode="auto">
            <a:xfrm>
              <a:off x="2699" y="1162"/>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9230" name="Oval 31"/>
            <p:cNvSpPr>
              <a:spLocks noChangeArrowheads="1"/>
            </p:cNvSpPr>
            <p:nvPr/>
          </p:nvSpPr>
          <p:spPr bwMode="auto">
            <a:xfrm>
              <a:off x="3016" y="2024"/>
              <a:ext cx="360" cy="360"/>
            </a:xfrm>
            <a:prstGeom prst="ellipse">
              <a:avLst/>
            </a:prstGeom>
            <a:noFill/>
            <a:ln w="25400">
              <a:solidFill>
                <a:schemeClr val="tx1"/>
              </a:solidFill>
              <a:round/>
              <a:headEnd/>
              <a:tailEnd/>
            </a:ln>
          </p:spPr>
          <p:txBody>
            <a:bodyPr wrap="none" anchor="ctr"/>
            <a:lstStyle/>
            <a:p>
              <a:endParaRPr lang="en-US" altLang="en-US"/>
            </a:p>
          </p:txBody>
        </p:sp>
        <p:sp>
          <p:nvSpPr>
            <p:cNvPr id="9231" name="Line 33"/>
            <p:cNvSpPr>
              <a:spLocks noChangeShapeType="1"/>
            </p:cNvSpPr>
            <p:nvPr/>
          </p:nvSpPr>
          <p:spPr bwMode="auto">
            <a:xfrm flipH="1">
              <a:off x="1927" y="2387"/>
              <a:ext cx="1271" cy="408"/>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9232" name="Rectangle 34"/>
            <p:cNvSpPr>
              <a:spLocks noChangeArrowheads="1"/>
            </p:cNvSpPr>
            <p:nvPr/>
          </p:nvSpPr>
          <p:spPr bwMode="auto">
            <a:xfrm>
              <a:off x="3923" y="3158"/>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9233" name="Rectangle 40"/>
            <p:cNvSpPr>
              <a:spLocks noChangeArrowheads="1"/>
            </p:cNvSpPr>
            <p:nvPr/>
          </p:nvSpPr>
          <p:spPr bwMode="auto">
            <a:xfrm>
              <a:off x="1565" y="3113"/>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9234" name="Line 41"/>
            <p:cNvSpPr>
              <a:spLocks noChangeShapeType="1"/>
            </p:cNvSpPr>
            <p:nvPr/>
          </p:nvSpPr>
          <p:spPr bwMode="auto">
            <a:xfrm flipH="1">
              <a:off x="2653" y="1797"/>
              <a:ext cx="363" cy="0"/>
            </a:xfrm>
            <a:prstGeom prst="line">
              <a:avLst/>
            </a:prstGeom>
            <a:noFill/>
            <a:ln w="25400">
              <a:solidFill>
                <a:schemeClr val="tx1"/>
              </a:solidFill>
              <a:round/>
              <a:headEnd type="none" w="sm" len="sm"/>
              <a:tailEnd type="none" w="sm" len="sm"/>
            </a:ln>
          </p:spPr>
          <p:txBody>
            <a:bodyPr wrap="none" anchor="ctr"/>
            <a:lstStyle/>
            <a:p>
              <a:endParaRPr lang="en-US"/>
            </a:p>
          </p:txBody>
        </p:sp>
      </p:gr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611188" y="476250"/>
            <a:ext cx="8077200" cy="685800"/>
          </a:xfrm>
        </p:spPr>
        <p:txBody>
          <a:bodyPr/>
          <a:lstStyle/>
          <a:p>
            <a:pPr eaLnBrk="1" hangingPunct="1"/>
            <a:r>
              <a:rPr lang="es-MX" altLang="en-US">
                <a:effectLst/>
              </a:rPr>
              <a:t>AO* algorithm</a:t>
            </a:r>
            <a:endParaRPr lang="es-MX" altLang="he-IL">
              <a:effectLst/>
            </a:endParaRPr>
          </a:p>
        </p:txBody>
      </p:sp>
      <p:sp>
        <p:nvSpPr>
          <p:cNvPr id="320515" name="Rectangle 3"/>
          <p:cNvSpPr>
            <a:spLocks noGrp="1" noRot="1" noChangeArrowheads="1"/>
          </p:cNvSpPr>
          <p:nvPr>
            <p:ph type="body" idx="1"/>
          </p:nvPr>
        </p:nvSpPr>
        <p:spPr>
          <a:xfrm>
            <a:off x="539750" y="1557338"/>
            <a:ext cx="8229600" cy="4606925"/>
          </a:xfrm>
        </p:spPr>
        <p:txBody>
          <a:bodyPr>
            <a:normAutofit lnSpcReduction="10000"/>
          </a:bodyPr>
          <a:lstStyle/>
          <a:p>
            <a:pPr marL="660400" indent="-660400" eaLnBrk="1" hangingPunct="1">
              <a:buFont typeface="Wingdings" pitchFamily="2" charset="2"/>
              <a:buAutoNum type="arabicPeriod"/>
              <a:defRPr/>
            </a:pPr>
            <a:r>
              <a:rPr lang="es-MX" altLang="he-IL" sz="2600" dirty="0" err="1"/>
              <a:t>Let</a:t>
            </a:r>
            <a:r>
              <a:rPr lang="es-MX" altLang="he-IL" sz="2600" dirty="0"/>
              <a:t> </a:t>
            </a:r>
            <a:r>
              <a:rPr lang="es-MX" altLang="he-IL" sz="2600" i="1" dirty="0"/>
              <a:t>G</a:t>
            </a:r>
            <a:r>
              <a:rPr lang="es-MX" altLang="he-IL" sz="2600" dirty="0"/>
              <a:t> </a:t>
            </a:r>
            <a:r>
              <a:rPr lang="es-MX" altLang="he-IL" sz="2600" dirty="0" err="1"/>
              <a:t>be</a:t>
            </a:r>
            <a:r>
              <a:rPr lang="es-MX" altLang="he-IL" sz="2600" dirty="0"/>
              <a:t> a </a:t>
            </a:r>
            <a:r>
              <a:rPr lang="es-MX" altLang="he-IL" sz="2600" dirty="0" err="1"/>
              <a:t>graph</a:t>
            </a:r>
            <a:r>
              <a:rPr lang="es-MX" altLang="he-IL" sz="2600" dirty="0"/>
              <a:t> </a:t>
            </a:r>
            <a:r>
              <a:rPr lang="es-MX" altLang="he-IL" sz="2600" dirty="0" err="1"/>
              <a:t>with</a:t>
            </a:r>
            <a:r>
              <a:rPr lang="es-MX" altLang="he-IL" sz="2600" dirty="0"/>
              <a:t> </a:t>
            </a:r>
            <a:r>
              <a:rPr lang="es-MX" altLang="he-IL" sz="2600" dirty="0" err="1"/>
              <a:t>only</a:t>
            </a:r>
            <a:r>
              <a:rPr lang="es-MX" altLang="he-IL" sz="2600" dirty="0"/>
              <a:t> </a:t>
            </a:r>
            <a:r>
              <a:rPr lang="es-MX" altLang="he-IL" sz="2600" dirty="0" err="1"/>
              <a:t>starting</a:t>
            </a:r>
            <a:r>
              <a:rPr lang="es-MX" altLang="he-IL" sz="2600" dirty="0"/>
              <a:t> </a:t>
            </a:r>
            <a:r>
              <a:rPr lang="es-MX" altLang="he-IL" sz="2600" dirty="0" err="1"/>
              <a:t>node</a:t>
            </a:r>
            <a:r>
              <a:rPr lang="es-MX" altLang="he-IL" sz="2600" dirty="0"/>
              <a:t> </a:t>
            </a:r>
            <a:r>
              <a:rPr lang="es-MX" altLang="he-IL" sz="2600" i="1" dirty="0"/>
              <a:t>INIT.</a:t>
            </a:r>
          </a:p>
          <a:p>
            <a:pPr marL="660400" indent="-660400" eaLnBrk="1" hangingPunct="1">
              <a:buFont typeface="Wingdings" pitchFamily="2" charset="2"/>
              <a:buAutoNum type="arabicPeriod"/>
              <a:defRPr/>
            </a:pPr>
            <a:r>
              <a:rPr lang="en-US" altLang="he-IL" sz="2600" dirty="0"/>
              <a:t>Repeat the followings until INIT is labeled SOLVED or h(INIT) &gt;  FUTILITY</a:t>
            </a:r>
            <a:endParaRPr lang="es-MX" altLang="he-IL" sz="2600" dirty="0"/>
          </a:p>
          <a:p>
            <a:pPr marL="1035050" lvl="1" indent="-577850" eaLnBrk="1" hangingPunct="1">
              <a:buFont typeface="Wingdings" pitchFamily="2" charset="2"/>
              <a:buAutoNum type="alphaLcParenR"/>
              <a:defRPr/>
            </a:pPr>
            <a:r>
              <a:rPr lang="es-MX" altLang="he-IL" sz="2200" i="1" dirty="0" err="1"/>
              <a:t>Select</a:t>
            </a:r>
            <a:r>
              <a:rPr lang="es-MX" altLang="he-IL" sz="2200" i="1" dirty="0"/>
              <a:t> </a:t>
            </a:r>
            <a:r>
              <a:rPr lang="es-MX" altLang="he-IL" sz="2200" i="1" dirty="0" err="1"/>
              <a:t>an</a:t>
            </a:r>
            <a:r>
              <a:rPr lang="es-MX" altLang="he-IL" sz="2200" i="1" dirty="0"/>
              <a:t> </a:t>
            </a:r>
            <a:r>
              <a:rPr lang="es-MX" altLang="he-IL" sz="2200" i="1" dirty="0" err="1"/>
              <a:t>unexpanded</a:t>
            </a:r>
            <a:r>
              <a:rPr lang="es-MX" altLang="he-IL" sz="2200" i="1" dirty="0"/>
              <a:t> </a:t>
            </a:r>
            <a:r>
              <a:rPr lang="es-MX" altLang="he-IL" sz="2200" i="1" dirty="0" err="1"/>
              <a:t>node</a:t>
            </a:r>
            <a:r>
              <a:rPr lang="es-MX" altLang="he-IL" sz="2200" i="1" dirty="0"/>
              <a:t> </a:t>
            </a:r>
            <a:r>
              <a:rPr lang="es-MX" altLang="he-IL" sz="2200" i="1" dirty="0" err="1"/>
              <a:t>from</a:t>
            </a:r>
            <a:r>
              <a:rPr lang="es-MX" altLang="he-IL" sz="2200" i="1" dirty="0"/>
              <a:t> </a:t>
            </a:r>
            <a:r>
              <a:rPr lang="es-MX" altLang="he-IL" sz="2200" i="1" dirty="0" err="1"/>
              <a:t>the</a:t>
            </a:r>
            <a:r>
              <a:rPr lang="es-MX" altLang="he-IL" sz="2200" i="1" dirty="0"/>
              <a:t> </a:t>
            </a:r>
            <a:r>
              <a:rPr lang="es-MX" altLang="he-IL" sz="2200" i="1" dirty="0" err="1"/>
              <a:t>most</a:t>
            </a:r>
            <a:r>
              <a:rPr lang="es-MX" altLang="he-IL" sz="2200" i="1" dirty="0"/>
              <a:t> </a:t>
            </a:r>
            <a:r>
              <a:rPr lang="es-MX" altLang="he-IL" sz="2200" i="1" dirty="0" err="1"/>
              <a:t>promising</a:t>
            </a:r>
            <a:r>
              <a:rPr lang="es-MX" altLang="he-IL" sz="2200" i="1" dirty="0"/>
              <a:t> </a:t>
            </a:r>
            <a:r>
              <a:rPr lang="es-MX" altLang="he-IL" sz="2200" i="1" dirty="0" err="1"/>
              <a:t>path</a:t>
            </a:r>
            <a:r>
              <a:rPr lang="es-MX" altLang="he-IL" sz="2200" i="1" dirty="0"/>
              <a:t> </a:t>
            </a:r>
            <a:r>
              <a:rPr lang="es-MX" altLang="he-IL" sz="2200" i="1" dirty="0" err="1"/>
              <a:t>from</a:t>
            </a:r>
            <a:r>
              <a:rPr lang="es-MX" altLang="he-IL" sz="2200" i="1" dirty="0"/>
              <a:t> </a:t>
            </a:r>
            <a:r>
              <a:rPr lang="en-US" altLang="he-IL" sz="2200" i="1" dirty="0"/>
              <a:t>INIT (call it NODE)</a:t>
            </a:r>
            <a:endParaRPr lang="en-US" altLang="he-IL" sz="2200" i="1" baseline="-25000" dirty="0"/>
          </a:p>
          <a:p>
            <a:pPr marL="1035050" lvl="1" indent="-577850" eaLnBrk="1" hangingPunct="1">
              <a:buFont typeface="Wingdings" pitchFamily="2" charset="2"/>
              <a:buAutoNum type="alphaLcParenR"/>
              <a:defRPr/>
            </a:pPr>
            <a:r>
              <a:rPr lang="en-US" altLang="he-IL" sz="2200" dirty="0"/>
              <a:t>Generate successors of NODE. If there are none, set h(NODE) = FUTILITY (i.e., NODE is unsolvable); otherwise for each SUCCESSOR that is not an ancestor of NODE do the following:</a:t>
            </a:r>
          </a:p>
          <a:p>
            <a:pPr marL="1409700" lvl="2" indent="-495300" eaLnBrk="1" hangingPunct="1">
              <a:buFont typeface="Wingdings" pitchFamily="2" charset="2"/>
              <a:buAutoNum type="romanLcPeriod"/>
              <a:defRPr/>
            </a:pPr>
            <a:r>
              <a:rPr lang="en-US" altLang="he-IL" sz="2000" dirty="0"/>
              <a:t>Add SUCCESSSOR to G.</a:t>
            </a:r>
          </a:p>
          <a:p>
            <a:pPr marL="1409700" lvl="2" indent="-495300" eaLnBrk="1" hangingPunct="1">
              <a:buFont typeface="Wingdings" pitchFamily="2" charset="2"/>
              <a:buAutoNum type="romanLcPeriod"/>
              <a:defRPr/>
            </a:pPr>
            <a:r>
              <a:rPr lang="en-US" altLang="he-IL" sz="2000" dirty="0"/>
              <a:t>If SUCCESSOR is a terminal node, label it SOLVED and set  h(SUCCESSOR) = 0.</a:t>
            </a:r>
          </a:p>
          <a:p>
            <a:pPr marL="1409700" lvl="2" indent="-495300" eaLnBrk="1" hangingPunct="1">
              <a:buFont typeface="Wingdings" pitchFamily="2" charset="2"/>
              <a:buAutoNum type="romanLcPeriod"/>
              <a:defRPr/>
            </a:pPr>
            <a:r>
              <a:rPr lang="en-US" altLang="he-IL" sz="2000" dirty="0"/>
              <a:t>If SUCCESSPR is not a terminal node, compute its h</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rrowheads="1"/>
          </p:cNvSpPr>
          <p:nvPr>
            <p:ph type="title"/>
          </p:nvPr>
        </p:nvSpPr>
        <p:spPr/>
        <p:txBody>
          <a:bodyPr/>
          <a:lstStyle/>
          <a:p>
            <a:pPr eaLnBrk="1" hangingPunct="1"/>
            <a:r>
              <a:rPr lang="en-US" altLang="en-US">
                <a:effectLst/>
              </a:rPr>
              <a:t>AO* algorithm (Cont.)</a:t>
            </a:r>
          </a:p>
        </p:txBody>
      </p:sp>
      <p:sp>
        <p:nvSpPr>
          <p:cNvPr id="321539" name="Rectangle 3"/>
          <p:cNvSpPr>
            <a:spLocks noGrp="1" noRot="1" noChangeArrowheads="1"/>
          </p:cNvSpPr>
          <p:nvPr>
            <p:ph type="body" idx="1"/>
          </p:nvPr>
        </p:nvSpPr>
        <p:spPr>
          <a:xfrm>
            <a:off x="301625" y="1412875"/>
            <a:ext cx="8540750" cy="5040313"/>
          </a:xfrm>
        </p:spPr>
        <p:txBody>
          <a:bodyPr/>
          <a:lstStyle/>
          <a:p>
            <a:pPr marL="1035050" lvl="1" indent="-577850" eaLnBrk="1" hangingPunct="1">
              <a:lnSpc>
                <a:spcPct val="80000"/>
              </a:lnSpc>
              <a:buFont typeface="Wingdings" pitchFamily="2" charset="2"/>
              <a:buAutoNum type="alphaLcParenR" startAt="3"/>
              <a:defRPr/>
            </a:pPr>
            <a:r>
              <a:rPr lang="en-US" altLang="he-IL" sz="2400"/>
              <a:t>Propagate the newly discovered information up the graph by doing the following: let S be set of SOLVED nodes or nodes whose h values have been changed and need to have values propagated back to their parents. Initialize S to Node. Until S is empty repeat the followings:</a:t>
            </a:r>
          </a:p>
          <a:p>
            <a:pPr marL="1409700" lvl="2" indent="-495300" eaLnBrk="1" hangingPunct="1">
              <a:lnSpc>
                <a:spcPct val="80000"/>
              </a:lnSpc>
              <a:buFont typeface="Wingdings" pitchFamily="2" charset="2"/>
              <a:buAutoNum type="romanLcPeriod"/>
              <a:defRPr/>
            </a:pPr>
            <a:endParaRPr lang="en-US" altLang="he-IL" sz="2000"/>
          </a:p>
          <a:p>
            <a:pPr marL="1409700" lvl="2" indent="-495300" eaLnBrk="1" hangingPunct="1">
              <a:lnSpc>
                <a:spcPct val="80000"/>
              </a:lnSpc>
              <a:buFont typeface="Wingdings" pitchFamily="2" charset="2"/>
              <a:buAutoNum type="romanLcPeriod"/>
              <a:defRPr/>
            </a:pPr>
            <a:r>
              <a:rPr lang="en-US" altLang="he-IL" sz="2000"/>
              <a:t>Remove a node from S and call it CURRENT.</a:t>
            </a:r>
          </a:p>
          <a:p>
            <a:pPr marL="1409700" lvl="2" indent="-495300" eaLnBrk="1" hangingPunct="1">
              <a:lnSpc>
                <a:spcPct val="80000"/>
              </a:lnSpc>
              <a:buFont typeface="Wingdings" pitchFamily="2" charset="2"/>
              <a:buAutoNum type="romanLcPeriod"/>
              <a:defRPr/>
            </a:pPr>
            <a:r>
              <a:rPr lang="en-US" altLang="he-IL" sz="2000"/>
              <a:t>Compute the cost of each of the arcs emerging from CURRENT. Assign minimum cost of its successors as its h.</a:t>
            </a:r>
          </a:p>
          <a:p>
            <a:pPr marL="1409700" lvl="2" indent="-495300" eaLnBrk="1" hangingPunct="1">
              <a:lnSpc>
                <a:spcPct val="80000"/>
              </a:lnSpc>
              <a:buFont typeface="Wingdings" pitchFamily="2" charset="2"/>
              <a:buAutoNum type="romanLcPeriod"/>
              <a:defRPr/>
            </a:pPr>
            <a:r>
              <a:rPr lang="en-US" altLang="he-IL" sz="2000"/>
              <a:t>Mark the best path out of CURRENT by marking the arc that had the minimum cost in step ii</a:t>
            </a:r>
          </a:p>
          <a:p>
            <a:pPr marL="1409700" lvl="2" indent="-495300" eaLnBrk="1" hangingPunct="1">
              <a:lnSpc>
                <a:spcPct val="80000"/>
              </a:lnSpc>
              <a:buFont typeface="Wingdings" pitchFamily="2" charset="2"/>
              <a:buAutoNum type="romanLcPeriod"/>
              <a:defRPr/>
            </a:pPr>
            <a:r>
              <a:rPr lang="en-US" altLang="he-IL" sz="2000"/>
              <a:t>Mark CURRENT as SOLVED if all of the nodes connected to it through new labeled arc have been labeled SOLVED</a:t>
            </a:r>
          </a:p>
          <a:p>
            <a:pPr marL="1409700" lvl="2" indent="-495300" eaLnBrk="1" hangingPunct="1">
              <a:lnSpc>
                <a:spcPct val="80000"/>
              </a:lnSpc>
              <a:buFont typeface="Wingdings" pitchFamily="2" charset="2"/>
              <a:buAutoNum type="romanLcPeriod"/>
              <a:defRPr/>
            </a:pPr>
            <a:r>
              <a:rPr lang="en-US" altLang="he-IL" sz="2000"/>
              <a:t>If CURRENT has been labeled SOLVED or its cost was just changed, propagate its new cost back up through the graph. So add all of the ancestors of CURRENT to S.</a:t>
            </a:r>
            <a:endParaRPr lang="es-MX" altLang="he-IL"/>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p:spPr>
        <p:txBody>
          <a:bodyPr/>
          <a:lstStyle/>
          <a:p>
            <a:r>
              <a:rPr lang="en-US" altLang="en-US" dirty="0">
                <a:effectLst/>
              </a:rPr>
              <a:t>An Example of AO* Algorithm</a:t>
            </a:r>
          </a:p>
        </p:txBody>
      </p:sp>
      <p:pic>
        <p:nvPicPr>
          <p:cNvPr id="12291" name="Picture 4"/>
          <p:cNvPicPr>
            <a:picLocks noGrp="1" noChangeAspect="1" noChangeArrowheads="1"/>
          </p:cNvPicPr>
          <p:nvPr>
            <p:ph type="body" idx="1"/>
          </p:nvPr>
        </p:nvPicPr>
        <p:blipFill>
          <a:blip r:embed="rId2"/>
          <a:srcRect/>
          <a:stretch>
            <a:fillRect/>
          </a:stretch>
        </p:blipFill>
        <p:spPr>
          <a:xfrm>
            <a:off x="2843213" y="1752601"/>
            <a:ext cx="3381375" cy="4191000"/>
          </a:xfrm>
          <a:noFill/>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01625" y="228600"/>
            <a:ext cx="8510588" cy="752475"/>
          </a:xfrm>
          <a:noFill/>
        </p:spPr>
        <p:txBody>
          <a:bodyPr/>
          <a:lstStyle/>
          <a:p>
            <a:r>
              <a:rPr lang="en-US" altLang="en-US" sz="4000">
                <a:effectLst/>
              </a:rPr>
              <a:t>An Example</a:t>
            </a:r>
          </a:p>
        </p:txBody>
      </p:sp>
      <p:grpSp>
        <p:nvGrpSpPr>
          <p:cNvPr id="2" name="Group 47"/>
          <p:cNvGrpSpPr>
            <a:grpSpLocks/>
          </p:cNvGrpSpPr>
          <p:nvPr/>
        </p:nvGrpSpPr>
        <p:grpSpPr bwMode="auto">
          <a:xfrm>
            <a:off x="3635375" y="3048000"/>
            <a:ext cx="1147763" cy="838200"/>
            <a:chOff x="2290" y="663"/>
            <a:chExt cx="723" cy="406"/>
          </a:xfrm>
        </p:grpSpPr>
        <p:sp>
          <p:nvSpPr>
            <p:cNvPr id="13316" name="Oval 29"/>
            <p:cNvSpPr>
              <a:spLocks noChangeArrowheads="1"/>
            </p:cNvSpPr>
            <p:nvPr/>
          </p:nvSpPr>
          <p:spPr bwMode="auto">
            <a:xfrm>
              <a:off x="2653" y="709"/>
              <a:ext cx="360" cy="360"/>
            </a:xfrm>
            <a:prstGeom prst="ellipse">
              <a:avLst/>
            </a:prstGeom>
            <a:noFill/>
            <a:ln w="25400">
              <a:solidFill>
                <a:schemeClr val="tx1"/>
              </a:solidFill>
              <a:round/>
              <a:headEnd/>
              <a:tailEnd/>
            </a:ln>
          </p:spPr>
          <p:txBody>
            <a:bodyPr wrap="none" anchor="ctr"/>
            <a:lstStyle/>
            <a:p>
              <a:endParaRPr lang="en-US" altLang="en-US"/>
            </a:p>
          </p:txBody>
        </p:sp>
        <p:sp>
          <p:nvSpPr>
            <p:cNvPr id="13317" name="Rectangle 30"/>
            <p:cNvSpPr>
              <a:spLocks noChangeArrowheads="1"/>
            </p:cNvSpPr>
            <p:nvPr/>
          </p:nvSpPr>
          <p:spPr bwMode="auto">
            <a:xfrm>
              <a:off x="2699" y="709"/>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dirty="0">
                  <a:latin typeface="Times New Roman" charset="0"/>
                  <a:cs typeface="Times New Roman (Hebrew)" charset="-79"/>
                </a:rPr>
                <a:t>A</a:t>
              </a:r>
            </a:p>
          </p:txBody>
        </p:sp>
        <p:sp>
          <p:nvSpPr>
            <p:cNvPr id="13318" name="Rectangle 40"/>
            <p:cNvSpPr>
              <a:spLocks noChangeArrowheads="1"/>
            </p:cNvSpPr>
            <p:nvPr/>
          </p:nvSpPr>
          <p:spPr bwMode="auto">
            <a:xfrm>
              <a:off x="2290" y="663"/>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(8)</a:t>
              </a:r>
            </a:p>
          </p:txBody>
        </p:sp>
      </p:gr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01625" y="228600"/>
            <a:ext cx="8510588" cy="752475"/>
          </a:xfrm>
          <a:noFill/>
        </p:spPr>
        <p:txBody>
          <a:bodyPr/>
          <a:lstStyle/>
          <a:p>
            <a:r>
              <a:rPr lang="en-US" altLang="en-US" sz="4000">
                <a:effectLst/>
              </a:rPr>
              <a:t>An Example</a:t>
            </a:r>
          </a:p>
        </p:txBody>
      </p:sp>
      <p:grpSp>
        <p:nvGrpSpPr>
          <p:cNvPr id="2" name="Group 60"/>
          <p:cNvGrpSpPr>
            <a:grpSpLocks/>
          </p:cNvGrpSpPr>
          <p:nvPr/>
        </p:nvGrpSpPr>
        <p:grpSpPr bwMode="auto">
          <a:xfrm>
            <a:off x="2411413" y="2133600"/>
            <a:ext cx="4935537" cy="2590800"/>
            <a:chOff x="1519" y="663"/>
            <a:chExt cx="3109" cy="1721"/>
          </a:xfrm>
        </p:grpSpPr>
        <p:sp>
          <p:nvSpPr>
            <p:cNvPr id="14340" name="Oval 5"/>
            <p:cNvSpPr>
              <a:spLocks noChangeArrowheads="1"/>
            </p:cNvSpPr>
            <p:nvPr/>
          </p:nvSpPr>
          <p:spPr bwMode="auto">
            <a:xfrm>
              <a:off x="1973" y="1434"/>
              <a:ext cx="360" cy="360"/>
            </a:xfrm>
            <a:prstGeom prst="ellipse">
              <a:avLst/>
            </a:prstGeom>
            <a:noFill/>
            <a:ln w="25400">
              <a:solidFill>
                <a:schemeClr val="tx1"/>
              </a:solidFill>
              <a:round/>
              <a:headEnd/>
              <a:tailEnd/>
            </a:ln>
          </p:spPr>
          <p:txBody>
            <a:bodyPr wrap="none" anchor="ctr"/>
            <a:lstStyle/>
            <a:p>
              <a:endParaRPr lang="en-US" altLang="en-US"/>
            </a:p>
          </p:txBody>
        </p:sp>
        <p:sp>
          <p:nvSpPr>
            <p:cNvPr id="14341" name="Rectangle 11"/>
            <p:cNvSpPr>
              <a:spLocks noChangeArrowheads="1"/>
            </p:cNvSpPr>
            <p:nvPr/>
          </p:nvSpPr>
          <p:spPr bwMode="auto">
            <a:xfrm>
              <a:off x="2653" y="1933"/>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C</a:t>
              </a:r>
            </a:p>
          </p:txBody>
        </p:sp>
        <p:sp>
          <p:nvSpPr>
            <p:cNvPr id="14342" name="Rectangle 17"/>
            <p:cNvSpPr>
              <a:spLocks noChangeArrowheads="1"/>
            </p:cNvSpPr>
            <p:nvPr/>
          </p:nvSpPr>
          <p:spPr bwMode="auto">
            <a:xfrm>
              <a:off x="3833" y="1480"/>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14343" name="Oval 18"/>
            <p:cNvSpPr>
              <a:spLocks noChangeArrowheads="1"/>
            </p:cNvSpPr>
            <p:nvPr/>
          </p:nvSpPr>
          <p:spPr bwMode="auto">
            <a:xfrm>
              <a:off x="3787" y="1480"/>
              <a:ext cx="360" cy="360"/>
            </a:xfrm>
            <a:prstGeom prst="ellipse">
              <a:avLst/>
            </a:prstGeom>
            <a:noFill/>
            <a:ln w="25400">
              <a:solidFill>
                <a:schemeClr val="tx1"/>
              </a:solidFill>
              <a:round/>
              <a:headEnd/>
              <a:tailEnd/>
            </a:ln>
          </p:spPr>
          <p:txBody>
            <a:bodyPr wrap="none" anchor="ctr"/>
            <a:lstStyle/>
            <a:p>
              <a:endParaRPr lang="en-US" altLang="en-US"/>
            </a:p>
          </p:txBody>
        </p:sp>
        <p:sp>
          <p:nvSpPr>
            <p:cNvPr id="14344" name="Rectangle 19"/>
            <p:cNvSpPr>
              <a:spLocks noChangeArrowheads="1"/>
            </p:cNvSpPr>
            <p:nvPr/>
          </p:nvSpPr>
          <p:spPr bwMode="auto">
            <a:xfrm>
              <a:off x="2018" y="1434"/>
              <a:ext cx="272"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B</a:t>
              </a:r>
            </a:p>
          </p:txBody>
        </p:sp>
        <p:sp>
          <p:nvSpPr>
            <p:cNvPr id="14345" name="Oval 29"/>
            <p:cNvSpPr>
              <a:spLocks noChangeArrowheads="1"/>
            </p:cNvSpPr>
            <p:nvPr/>
          </p:nvSpPr>
          <p:spPr bwMode="auto">
            <a:xfrm>
              <a:off x="2653" y="709"/>
              <a:ext cx="360" cy="360"/>
            </a:xfrm>
            <a:prstGeom prst="ellipse">
              <a:avLst/>
            </a:prstGeom>
            <a:noFill/>
            <a:ln w="25400">
              <a:solidFill>
                <a:schemeClr val="tx1"/>
              </a:solidFill>
              <a:round/>
              <a:headEnd/>
              <a:tailEnd/>
            </a:ln>
          </p:spPr>
          <p:txBody>
            <a:bodyPr wrap="none" anchor="ctr"/>
            <a:lstStyle/>
            <a:p>
              <a:endParaRPr lang="en-US" altLang="en-US"/>
            </a:p>
          </p:txBody>
        </p:sp>
        <p:sp>
          <p:nvSpPr>
            <p:cNvPr id="14346" name="Rectangle 30"/>
            <p:cNvSpPr>
              <a:spLocks noChangeArrowheads="1"/>
            </p:cNvSpPr>
            <p:nvPr/>
          </p:nvSpPr>
          <p:spPr bwMode="auto">
            <a:xfrm>
              <a:off x="2699" y="709"/>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14347" name="Oval 31"/>
            <p:cNvSpPr>
              <a:spLocks noChangeArrowheads="1"/>
            </p:cNvSpPr>
            <p:nvPr/>
          </p:nvSpPr>
          <p:spPr bwMode="auto">
            <a:xfrm>
              <a:off x="2608" y="1933"/>
              <a:ext cx="360" cy="360"/>
            </a:xfrm>
            <a:prstGeom prst="ellipse">
              <a:avLst/>
            </a:prstGeom>
            <a:noFill/>
            <a:ln w="25400">
              <a:solidFill>
                <a:schemeClr val="tx1"/>
              </a:solidFill>
              <a:round/>
              <a:headEnd/>
              <a:tailEnd/>
            </a:ln>
          </p:spPr>
          <p:txBody>
            <a:bodyPr wrap="none" anchor="ctr"/>
            <a:lstStyle/>
            <a:p>
              <a:endParaRPr lang="en-US" altLang="en-US"/>
            </a:p>
          </p:txBody>
        </p:sp>
        <p:sp>
          <p:nvSpPr>
            <p:cNvPr id="14348" name="Rectangle 34"/>
            <p:cNvSpPr>
              <a:spLocks noChangeArrowheads="1"/>
            </p:cNvSpPr>
            <p:nvPr/>
          </p:nvSpPr>
          <p:spPr bwMode="auto">
            <a:xfrm>
              <a:off x="4286" y="148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(8)</a:t>
              </a:r>
            </a:p>
          </p:txBody>
        </p:sp>
        <p:sp>
          <p:nvSpPr>
            <p:cNvPr id="14349" name="Rectangle 40"/>
            <p:cNvSpPr>
              <a:spLocks noChangeArrowheads="1"/>
            </p:cNvSpPr>
            <p:nvPr/>
          </p:nvSpPr>
          <p:spPr bwMode="auto">
            <a:xfrm>
              <a:off x="1519" y="148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a:t>
              </a:r>
            </a:p>
          </p:txBody>
        </p:sp>
        <p:sp>
          <p:nvSpPr>
            <p:cNvPr id="14350" name="Line 13"/>
            <p:cNvSpPr>
              <a:spLocks noChangeShapeType="1"/>
            </p:cNvSpPr>
            <p:nvPr/>
          </p:nvSpPr>
          <p:spPr bwMode="auto">
            <a:xfrm flipH="1">
              <a:off x="2290" y="1026"/>
              <a:ext cx="409" cy="454"/>
            </a:xfrm>
            <a:prstGeom prst="line">
              <a:avLst/>
            </a:prstGeom>
            <a:noFill/>
            <a:ln w="9525">
              <a:solidFill>
                <a:schemeClr val="tx1"/>
              </a:solidFill>
              <a:round/>
              <a:headEnd/>
              <a:tailEnd type="triangle" w="med" len="med"/>
            </a:ln>
          </p:spPr>
          <p:txBody>
            <a:bodyPr wrap="none"/>
            <a:lstStyle/>
            <a:p>
              <a:endParaRPr lang="en-US"/>
            </a:p>
          </p:txBody>
        </p:sp>
        <p:sp>
          <p:nvSpPr>
            <p:cNvPr id="14351" name="Line 14"/>
            <p:cNvSpPr>
              <a:spLocks noChangeShapeType="1"/>
            </p:cNvSpPr>
            <p:nvPr/>
          </p:nvSpPr>
          <p:spPr bwMode="auto">
            <a:xfrm>
              <a:off x="2789" y="1071"/>
              <a:ext cx="0" cy="862"/>
            </a:xfrm>
            <a:prstGeom prst="line">
              <a:avLst/>
            </a:prstGeom>
            <a:noFill/>
            <a:ln w="9525">
              <a:solidFill>
                <a:schemeClr val="tx1"/>
              </a:solidFill>
              <a:round/>
              <a:headEnd/>
              <a:tailEnd type="triangle" w="med" len="med"/>
            </a:ln>
          </p:spPr>
          <p:txBody>
            <a:bodyPr wrap="none"/>
            <a:lstStyle/>
            <a:p>
              <a:endParaRPr lang="en-US"/>
            </a:p>
          </p:txBody>
        </p:sp>
        <p:sp>
          <p:nvSpPr>
            <p:cNvPr id="14352" name="Line 15"/>
            <p:cNvSpPr>
              <a:spLocks noChangeShapeType="1"/>
            </p:cNvSpPr>
            <p:nvPr/>
          </p:nvSpPr>
          <p:spPr bwMode="auto">
            <a:xfrm>
              <a:off x="3016" y="981"/>
              <a:ext cx="817" cy="544"/>
            </a:xfrm>
            <a:prstGeom prst="line">
              <a:avLst/>
            </a:prstGeom>
            <a:noFill/>
            <a:ln w="9525">
              <a:solidFill>
                <a:schemeClr val="tx1"/>
              </a:solidFill>
              <a:round/>
              <a:headEnd/>
              <a:tailEnd type="triangle" w="med" len="med"/>
            </a:ln>
          </p:spPr>
          <p:txBody>
            <a:bodyPr wrap="none"/>
            <a:lstStyle/>
            <a:p>
              <a:endParaRPr lang="en-US"/>
            </a:p>
          </p:txBody>
        </p:sp>
        <p:sp>
          <p:nvSpPr>
            <p:cNvPr id="14353" name="Rectangle 40"/>
            <p:cNvSpPr>
              <a:spLocks noChangeArrowheads="1"/>
            </p:cNvSpPr>
            <p:nvPr/>
          </p:nvSpPr>
          <p:spPr bwMode="auto">
            <a:xfrm>
              <a:off x="2245" y="2115"/>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4354" name="Rectangle 40"/>
            <p:cNvSpPr>
              <a:spLocks noChangeArrowheads="1"/>
            </p:cNvSpPr>
            <p:nvPr/>
          </p:nvSpPr>
          <p:spPr bwMode="auto">
            <a:xfrm>
              <a:off x="1882" y="709"/>
              <a:ext cx="454"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[12]</a:t>
              </a:r>
            </a:p>
          </p:txBody>
        </p:sp>
        <p:sp>
          <p:nvSpPr>
            <p:cNvPr id="14355" name="Rectangle 40"/>
            <p:cNvSpPr>
              <a:spLocks noChangeArrowheads="1"/>
            </p:cNvSpPr>
            <p:nvPr/>
          </p:nvSpPr>
          <p:spPr bwMode="auto">
            <a:xfrm>
              <a:off x="2245" y="1026"/>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14356" name="Rectangle 40"/>
            <p:cNvSpPr>
              <a:spLocks noChangeArrowheads="1"/>
            </p:cNvSpPr>
            <p:nvPr/>
          </p:nvSpPr>
          <p:spPr bwMode="auto">
            <a:xfrm>
              <a:off x="3379" y="981"/>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14357" name="Rectangle 40"/>
            <p:cNvSpPr>
              <a:spLocks noChangeArrowheads="1"/>
            </p:cNvSpPr>
            <p:nvPr/>
          </p:nvSpPr>
          <p:spPr bwMode="auto">
            <a:xfrm>
              <a:off x="2789" y="1344"/>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14358" name="Line 21"/>
            <p:cNvSpPr>
              <a:spLocks noChangeShapeType="1"/>
            </p:cNvSpPr>
            <p:nvPr/>
          </p:nvSpPr>
          <p:spPr bwMode="auto">
            <a:xfrm>
              <a:off x="2562" y="1162"/>
              <a:ext cx="227" cy="91"/>
            </a:xfrm>
            <a:prstGeom prst="line">
              <a:avLst/>
            </a:prstGeom>
            <a:noFill/>
            <a:ln w="9525">
              <a:solidFill>
                <a:schemeClr val="tx1"/>
              </a:solidFill>
              <a:round/>
              <a:headEnd/>
              <a:tailEnd/>
            </a:ln>
          </p:spPr>
          <p:txBody>
            <a:bodyPr wrap="none"/>
            <a:lstStyle/>
            <a:p>
              <a:endParaRPr lang="en-US"/>
            </a:p>
          </p:txBody>
        </p:sp>
        <p:sp>
          <p:nvSpPr>
            <p:cNvPr id="14359" name="Line 36"/>
            <p:cNvSpPr>
              <a:spLocks noChangeShapeType="1"/>
            </p:cNvSpPr>
            <p:nvPr/>
          </p:nvSpPr>
          <p:spPr bwMode="auto">
            <a:xfrm flipH="1">
              <a:off x="2018" y="890"/>
              <a:ext cx="453" cy="453"/>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14360" name="Rectangle 40"/>
            <p:cNvSpPr>
              <a:spLocks noChangeArrowheads="1"/>
            </p:cNvSpPr>
            <p:nvPr/>
          </p:nvSpPr>
          <p:spPr bwMode="auto">
            <a:xfrm>
              <a:off x="3198" y="663"/>
              <a:ext cx="454"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[13]</a:t>
              </a:r>
            </a:p>
          </p:txBody>
        </p:sp>
      </p:gr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01625" y="228600"/>
            <a:ext cx="8510588" cy="752475"/>
          </a:xfrm>
          <a:noFill/>
        </p:spPr>
        <p:txBody>
          <a:bodyPr/>
          <a:lstStyle/>
          <a:p>
            <a:r>
              <a:rPr lang="en-US" altLang="en-US" sz="4000">
                <a:effectLst/>
              </a:rPr>
              <a:t>An Example</a:t>
            </a:r>
          </a:p>
        </p:txBody>
      </p:sp>
      <p:grpSp>
        <p:nvGrpSpPr>
          <p:cNvPr id="2" name="Group 26"/>
          <p:cNvGrpSpPr>
            <a:grpSpLocks/>
          </p:cNvGrpSpPr>
          <p:nvPr/>
        </p:nvGrpSpPr>
        <p:grpSpPr bwMode="auto">
          <a:xfrm>
            <a:off x="2411413" y="1752600"/>
            <a:ext cx="4935537" cy="3048000"/>
            <a:chOff x="1519" y="663"/>
            <a:chExt cx="3109" cy="1721"/>
          </a:xfrm>
        </p:grpSpPr>
        <p:sp>
          <p:nvSpPr>
            <p:cNvPr id="15364" name="Oval 5"/>
            <p:cNvSpPr>
              <a:spLocks noChangeArrowheads="1"/>
            </p:cNvSpPr>
            <p:nvPr/>
          </p:nvSpPr>
          <p:spPr bwMode="auto">
            <a:xfrm>
              <a:off x="1973" y="1434"/>
              <a:ext cx="360" cy="360"/>
            </a:xfrm>
            <a:prstGeom prst="ellipse">
              <a:avLst/>
            </a:prstGeom>
            <a:noFill/>
            <a:ln w="25400">
              <a:solidFill>
                <a:schemeClr val="tx1"/>
              </a:solidFill>
              <a:round/>
              <a:headEnd/>
              <a:tailEnd/>
            </a:ln>
          </p:spPr>
          <p:txBody>
            <a:bodyPr wrap="none" anchor="ctr"/>
            <a:lstStyle/>
            <a:p>
              <a:endParaRPr lang="en-US" altLang="en-US"/>
            </a:p>
          </p:txBody>
        </p:sp>
        <p:sp>
          <p:nvSpPr>
            <p:cNvPr id="15365" name="Rectangle 11"/>
            <p:cNvSpPr>
              <a:spLocks noChangeArrowheads="1"/>
            </p:cNvSpPr>
            <p:nvPr/>
          </p:nvSpPr>
          <p:spPr bwMode="auto">
            <a:xfrm>
              <a:off x="2653" y="1933"/>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C</a:t>
              </a:r>
            </a:p>
          </p:txBody>
        </p:sp>
        <p:sp>
          <p:nvSpPr>
            <p:cNvPr id="15366" name="Rectangle 17"/>
            <p:cNvSpPr>
              <a:spLocks noChangeArrowheads="1"/>
            </p:cNvSpPr>
            <p:nvPr/>
          </p:nvSpPr>
          <p:spPr bwMode="auto">
            <a:xfrm>
              <a:off x="3833" y="1480"/>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15367" name="Oval 18"/>
            <p:cNvSpPr>
              <a:spLocks noChangeArrowheads="1"/>
            </p:cNvSpPr>
            <p:nvPr/>
          </p:nvSpPr>
          <p:spPr bwMode="auto">
            <a:xfrm>
              <a:off x="3787" y="1480"/>
              <a:ext cx="360" cy="360"/>
            </a:xfrm>
            <a:prstGeom prst="ellipse">
              <a:avLst/>
            </a:prstGeom>
            <a:noFill/>
            <a:ln w="25400">
              <a:solidFill>
                <a:schemeClr val="tx1"/>
              </a:solidFill>
              <a:round/>
              <a:headEnd/>
              <a:tailEnd/>
            </a:ln>
          </p:spPr>
          <p:txBody>
            <a:bodyPr wrap="none" anchor="ctr"/>
            <a:lstStyle/>
            <a:p>
              <a:endParaRPr lang="en-US" altLang="en-US"/>
            </a:p>
          </p:txBody>
        </p:sp>
        <p:sp>
          <p:nvSpPr>
            <p:cNvPr id="15368" name="Rectangle 19"/>
            <p:cNvSpPr>
              <a:spLocks noChangeArrowheads="1"/>
            </p:cNvSpPr>
            <p:nvPr/>
          </p:nvSpPr>
          <p:spPr bwMode="auto">
            <a:xfrm>
              <a:off x="2018" y="1434"/>
              <a:ext cx="272"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B</a:t>
              </a:r>
            </a:p>
          </p:txBody>
        </p:sp>
        <p:sp>
          <p:nvSpPr>
            <p:cNvPr id="15369" name="Oval 29"/>
            <p:cNvSpPr>
              <a:spLocks noChangeArrowheads="1"/>
            </p:cNvSpPr>
            <p:nvPr/>
          </p:nvSpPr>
          <p:spPr bwMode="auto">
            <a:xfrm>
              <a:off x="2653" y="709"/>
              <a:ext cx="360" cy="360"/>
            </a:xfrm>
            <a:prstGeom prst="ellipse">
              <a:avLst/>
            </a:prstGeom>
            <a:noFill/>
            <a:ln w="25400">
              <a:solidFill>
                <a:schemeClr val="tx1"/>
              </a:solidFill>
              <a:round/>
              <a:headEnd/>
              <a:tailEnd/>
            </a:ln>
          </p:spPr>
          <p:txBody>
            <a:bodyPr wrap="none" anchor="ctr"/>
            <a:lstStyle/>
            <a:p>
              <a:endParaRPr lang="en-US" altLang="en-US"/>
            </a:p>
          </p:txBody>
        </p:sp>
        <p:sp>
          <p:nvSpPr>
            <p:cNvPr id="15370" name="Rectangle 30"/>
            <p:cNvSpPr>
              <a:spLocks noChangeArrowheads="1"/>
            </p:cNvSpPr>
            <p:nvPr/>
          </p:nvSpPr>
          <p:spPr bwMode="auto">
            <a:xfrm>
              <a:off x="2699" y="709"/>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15371" name="Oval 31"/>
            <p:cNvSpPr>
              <a:spLocks noChangeArrowheads="1"/>
            </p:cNvSpPr>
            <p:nvPr/>
          </p:nvSpPr>
          <p:spPr bwMode="auto">
            <a:xfrm>
              <a:off x="2608" y="1933"/>
              <a:ext cx="360" cy="360"/>
            </a:xfrm>
            <a:prstGeom prst="ellipse">
              <a:avLst/>
            </a:prstGeom>
            <a:noFill/>
            <a:ln w="25400">
              <a:solidFill>
                <a:schemeClr val="tx1"/>
              </a:solidFill>
              <a:round/>
              <a:headEnd/>
              <a:tailEnd/>
            </a:ln>
          </p:spPr>
          <p:txBody>
            <a:bodyPr wrap="none" anchor="ctr"/>
            <a:lstStyle/>
            <a:p>
              <a:endParaRPr lang="en-US" altLang="en-US"/>
            </a:p>
          </p:txBody>
        </p:sp>
        <p:sp>
          <p:nvSpPr>
            <p:cNvPr id="15372" name="Rectangle 34"/>
            <p:cNvSpPr>
              <a:spLocks noChangeArrowheads="1"/>
            </p:cNvSpPr>
            <p:nvPr/>
          </p:nvSpPr>
          <p:spPr bwMode="auto">
            <a:xfrm>
              <a:off x="4286" y="148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(8)</a:t>
              </a:r>
            </a:p>
          </p:txBody>
        </p:sp>
        <p:sp>
          <p:nvSpPr>
            <p:cNvPr id="15373" name="Rectangle 40"/>
            <p:cNvSpPr>
              <a:spLocks noChangeArrowheads="1"/>
            </p:cNvSpPr>
            <p:nvPr/>
          </p:nvSpPr>
          <p:spPr bwMode="auto">
            <a:xfrm>
              <a:off x="1519" y="148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a:t>
              </a:r>
              <a:r>
                <a:rPr lang="es-MX" altLang="he-IL" sz="2800" b="1">
                  <a:solidFill>
                    <a:srgbClr val="FF0000"/>
                  </a:solidFill>
                  <a:latin typeface="Times New Roman" charset="0"/>
                  <a:cs typeface="Times New Roman (Hebrew)" charset="-79"/>
                </a:rPr>
                <a:t>4</a:t>
              </a:r>
              <a:r>
                <a:rPr lang="es-MX" altLang="he-IL" sz="2800" b="1">
                  <a:latin typeface="Times New Roman" charset="0"/>
                  <a:cs typeface="Times New Roman (Hebrew)" charset="-79"/>
                </a:rPr>
                <a:t>)</a:t>
              </a:r>
            </a:p>
          </p:txBody>
        </p:sp>
        <p:sp>
          <p:nvSpPr>
            <p:cNvPr id="15374" name="Line 13"/>
            <p:cNvSpPr>
              <a:spLocks noChangeShapeType="1"/>
            </p:cNvSpPr>
            <p:nvPr/>
          </p:nvSpPr>
          <p:spPr bwMode="auto">
            <a:xfrm flipH="1">
              <a:off x="2290" y="1026"/>
              <a:ext cx="409" cy="454"/>
            </a:xfrm>
            <a:prstGeom prst="line">
              <a:avLst/>
            </a:prstGeom>
            <a:noFill/>
            <a:ln w="9525">
              <a:solidFill>
                <a:schemeClr val="tx1"/>
              </a:solidFill>
              <a:round/>
              <a:headEnd/>
              <a:tailEnd type="triangle" w="med" len="med"/>
            </a:ln>
          </p:spPr>
          <p:txBody>
            <a:bodyPr wrap="none"/>
            <a:lstStyle/>
            <a:p>
              <a:endParaRPr lang="en-US"/>
            </a:p>
          </p:txBody>
        </p:sp>
        <p:sp>
          <p:nvSpPr>
            <p:cNvPr id="15375" name="Line 14"/>
            <p:cNvSpPr>
              <a:spLocks noChangeShapeType="1"/>
            </p:cNvSpPr>
            <p:nvPr/>
          </p:nvSpPr>
          <p:spPr bwMode="auto">
            <a:xfrm>
              <a:off x="2789" y="1071"/>
              <a:ext cx="0" cy="862"/>
            </a:xfrm>
            <a:prstGeom prst="line">
              <a:avLst/>
            </a:prstGeom>
            <a:noFill/>
            <a:ln w="9525">
              <a:solidFill>
                <a:schemeClr val="tx1"/>
              </a:solidFill>
              <a:round/>
              <a:headEnd/>
              <a:tailEnd type="triangle" w="med" len="med"/>
            </a:ln>
          </p:spPr>
          <p:txBody>
            <a:bodyPr wrap="none"/>
            <a:lstStyle/>
            <a:p>
              <a:endParaRPr lang="en-US"/>
            </a:p>
          </p:txBody>
        </p:sp>
        <p:sp>
          <p:nvSpPr>
            <p:cNvPr id="15376" name="Line 15"/>
            <p:cNvSpPr>
              <a:spLocks noChangeShapeType="1"/>
            </p:cNvSpPr>
            <p:nvPr/>
          </p:nvSpPr>
          <p:spPr bwMode="auto">
            <a:xfrm>
              <a:off x="3016" y="981"/>
              <a:ext cx="817" cy="544"/>
            </a:xfrm>
            <a:prstGeom prst="line">
              <a:avLst/>
            </a:prstGeom>
            <a:noFill/>
            <a:ln w="9525">
              <a:solidFill>
                <a:schemeClr val="tx1"/>
              </a:solidFill>
              <a:round/>
              <a:headEnd/>
              <a:tailEnd type="triangle" w="med" len="med"/>
            </a:ln>
          </p:spPr>
          <p:txBody>
            <a:bodyPr wrap="none"/>
            <a:lstStyle/>
            <a:p>
              <a:endParaRPr lang="en-US"/>
            </a:p>
          </p:txBody>
        </p:sp>
        <p:sp>
          <p:nvSpPr>
            <p:cNvPr id="15377" name="Rectangle 40"/>
            <p:cNvSpPr>
              <a:spLocks noChangeArrowheads="1"/>
            </p:cNvSpPr>
            <p:nvPr/>
          </p:nvSpPr>
          <p:spPr bwMode="auto">
            <a:xfrm>
              <a:off x="2245" y="2115"/>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5378" name="Rectangle 40"/>
            <p:cNvSpPr>
              <a:spLocks noChangeArrowheads="1"/>
            </p:cNvSpPr>
            <p:nvPr/>
          </p:nvSpPr>
          <p:spPr bwMode="auto">
            <a:xfrm>
              <a:off x="1882" y="709"/>
              <a:ext cx="454"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a:t>
              </a:r>
              <a:r>
                <a:rPr lang="en-US" altLang="he-IL" sz="2800" b="1">
                  <a:solidFill>
                    <a:srgbClr val="FF0000"/>
                  </a:solidFill>
                  <a:latin typeface="Times New Roman" charset="0"/>
                  <a:cs typeface="Times New Roman (Hebrew)" charset="-79"/>
                </a:rPr>
                <a:t>15</a:t>
              </a:r>
              <a:r>
                <a:rPr lang="es-MX" altLang="he-IL" sz="2800" b="1">
                  <a:latin typeface="Times New Roman" charset="0"/>
                  <a:cs typeface="Times New Roman (Hebrew)" charset="-79"/>
                </a:rPr>
                <a:t>]</a:t>
              </a:r>
            </a:p>
          </p:txBody>
        </p:sp>
        <p:sp>
          <p:nvSpPr>
            <p:cNvPr id="15379" name="Rectangle 40"/>
            <p:cNvSpPr>
              <a:spLocks noChangeArrowheads="1"/>
            </p:cNvSpPr>
            <p:nvPr/>
          </p:nvSpPr>
          <p:spPr bwMode="auto">
            <a:xfrm>
              <a:off x="2245" y="1026"/>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15380" name="Rectangle 40"/>
            <p:cNvSpPr>
              <a:spLocks noChangeArrowheads="1"/>
            </p:cNvSpPr>
            <p:nvPr/>
          </p:nvSpPr>
          <p:spPr bwMode="auto">
            <a:xfrm>
              <a:off x="3379" y="981"/>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15381" name="Rectangle 40"/>
            <p:cNvSpPr>
              <a:spLocks noChangeArrowheads="1"/>
            </p:cNvSpPr>
            <p:nvPr/>
          </p:nvSpPr>
          <p:spPr bwMode="auto">
            <a:xfrm>
              <a:off x="2789" y="1344"/>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15382" name="Line 21"/>
            <p:cNvSpPr>
              <a:spLocks noChangeShapeType="1"/>
            </p:cNvSpPr>
            <p:nvPr/>
          </p:nvSpPr>
          <p:spPr bwMode="auto">
            <a:xfrm>
              <a:off x="2562" y="1162"/>
              <a:ext cx="227" cy="91"/>
            </a:xfrm>
            <a:prstGeom prst="line">
              <a:avLst/>
            </a:prstGeom>
            <a:noFill/>
            <a:ln w="9525">
              <a:solidFill>
                <a:schemeClr val="tx1"/>
              </a:solidFill>
              <a:round/>
              <a:headEnd/>
              <a:tailEnd/>
            </a:ln>
          </p:spPr>
          <p:txBody>
            <a:bodyPr wrap="none"/>
            <a:lstStyle/>
            <a:p>
              <a:endParaRPr lang="en-US"/>
            </a:p>
          </p:txBody>
        </p:sp>
        <p:sp>
          <p:nvSpPr>
            <p:cNvPr id="15383" name="Line 36"/>
            <p:cNvSpPr>
              <a:spLocks noChangeShapeType="1"/>
            </p:cNvSpPr>
            <p:nvPr/>
          </p:nvSpPr>
          <p:spPr bwMode="auto">
            <a:xfrm>
              <a:off x="3016" y="754"/>
              <a:ext cx="363" cy="272"/>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15384" name="Rectangle 40"/>
            <p:cNvSpPr>
              <a:spLocks noChangeArrowheads="1"/>
            </p:cNvSpPr>
            <p:nvPr/>
          </p:nvSpPr>
          <p:spPr bwMode="auto">
            <a:xfrm>
              <a:off x="3198" y="663"/>
              <a:ext cx="454"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[13]</a:t>
              </a:r>
            </a:p>
          </p:txBody>
        </p:sp>
        <p:sp>
          <p:nvSpPr>
            <p:cNvPr id="15385" name="Line 24"/>
            <p:cNvSpPr>
              <a:spLocks noChangeShapeType="1"/>
            </p:cNvSpPr>
            <p:nvPr/>
          </p:nvSpPr>
          <p:spPr bwMode="auto">
            <a:xfrm>
              <a:off x="2336" y="1706"/>
              <a:ext cx="363" cy="273"/>
            </a:xfrm>
            <a:prstGeom prst="line">
              <a:avLst/>
            </a:prstGeom>
            <a:noFill/>
            <a:ln w="9525">
              <a:solidFill>
                <a:schemeClr val="tx1"/>
              </a:solidFill>
              <a:round/>
              <a:headEnd/>
              <a:tailEnd type="triangle" w="med" len="med"/>
            </a:ln>
          </p:spPr>
          <p:txBody>
            <a:bodyPr wrap="none"/>
            <a:lstStyle/>
            <a:p>
              <a:endParaRPr lang="en-US"/>
            </a:p>
          </p:txBody>
        </p:sp>
        <p:sp>
          <p:nvSpPr>
            <p:cNvPr id="15386" name="Rectangle 40"/>
            <p:cNvSpPr>
              <a:spLocks noChangeArrowheads="1"/>
            </p:cNvSpPr>
            <p:nvPr/>
          </p:nvSpPr>
          <p:spPr bwMode="auto">
            <a:xfrm>
              <a:off x="2426" y="1570"/>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gr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23850" y="260350"/>
            <a:ext cx="8510588" cy="752475"/>
          </a:xfrm>
          <a:noFill/>
        </p:spPr>
        <p:txBody>
          <a:bodyPr/>
          <a:lstStyle/>
          <a:p>
            <a:r>
              <a:rPr lang="en-US" altLang="en-US" sz="4000">
                <a:effectLst/>
              </a:rPr>
              <a:t>An Example</a:t>
            </a:r>
          </a:p>
        </p:txBody>
      </p:sp>
      <p:grpSp>
        <p:nvGrpSpPr>
          <p:cNvPr id="2" name="Group 42"/>
          <p:cNvGrpSpPr>
            <a:grpSpLocks/>
          </p:cNvGrpSpPr>
          <p:nvPr/>
        </p:nvGrpSpPr>
        <p:grpSpPr bwMode="auto">
          <a:xfrm>
            <a:off x="2411413" y="1905000"/>
            <a:ext cx="4935537" cy="4040188"/>
            <a:chOff x="1519" y="663"/>
            <a:chExt cx="3109" cy="3082"/>
          </a:xfrm>
        </p:grpSpPr>
        <p:sp>
          <p:nvSpPr>
            <p:cNvPr id="16388" name="Oval 5"/>
            <p:cNvSpPr>
              <a:spLocks noChangeArrowheads="1"/>
            </p:cNvSpPr>
            <p:nvPr/>
          </p:nvSpPr>
          <p:spPr bwMode="auto">
            <a:xfrm>
              <a:off x="1973" y="1434"/>
              <a:ext cx="360" cy="360"/>
            </a:xfrm>
            <a:prstGeom prst="ellipse">
              <a:avLst/>
            </a:prstGeom>
            <a:noFill/>
            <a:ln w="25400">
              <a:solidFill>
                <a:schemeClr val="tx1"/>
              </a:solidFill>
              <a:round/>
              <a:headEnd/>
              <a:tailEnd/>
            </a:ln>
          </p:spPr>
          <p:txBody>
            <a:bodyPr wrap="none" anchor="ctr"/>
            <a:lstStyle/>
            <a:p>
              <a:endParaRPr lang="en-US" altLang="en-US"/>
            </a:p>
          </p:txBody>
        </p:sp>
        <p:sp>
          <p:nvSpPr>
            <p:cNvPr id="16389" name="Rectangle 11"/>
            <p:cNvSpPr>
              <a:spLocks noChangeArrowheads="1"/>
            </p:cNvSpPr>
            <p:nvPr/>
          </p:nvSpPr>
          <p:spPr bwMode="auto">
            <a:xfrm>
              <a:off x="2653" y="1933"/>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C</a:t>
              </a:r>
            </a:p>
          </p:txBody>
        </p:sp>
        <p:sp>
          <p:nvSpPr>
            <p:cNvPr id="16390" name="Rectangle 17"/>
            <p:cNvSpPr>
              <a:spLocks noChangeArrowheads="1"/>
            </p:cNvSpPr>
            <p:nvPr/>
          </p:nvSpPr>
          <p:spPr bwMode="auto">
            <a:xfrm>
              <a:off x="3833" y="1480"/>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16391" name="Oval 18"/>
            <p:cNvSpPr>
              <a:spLocks noChangeArrowheads="1"/>
            </p:cNvSpPr>
            <p:nvPr/>
          </p:nvSpPr>
          <p:spPr bwMode="auto">
            <a:xfrm>
              <a:off x="3787" y="1480"/>
              <a:ext cx="360" cy="360"/>
            </a:xfrm>
            <a:prstGeom prst="ellipse">
              <a:avLst/>
            </a:prstGeom>
            <a:noFill/>
            <a:ln w="25400">
              <a:solidFill>
                <a:schemeClr val="tx1"/>
              </a:solidFill>
              <a:round/>
              <a:headEnd/>
              <a:tailEnd/>
            </a:ln>
          </p:spPr>
          <p:txBody>
            <a:bodyPr wrap="none" anchor="ctr"/>
            <a:lstStyle/>
            <a:p>
              <a:endParaRPr lang="en-US" altLang="en-US"/>
            </a:p>
          </p:txBody>
        </p:sp>
        <p:sp>
          <p:nvSpPr>
            <p:cNvPr id="16392" name="Rectangle 19"/>
            <p:cNvSpPr>
              <a:spLocks noChangeArrowheads="1"/>
            </p:cNvSpPr>
            <p:nvPr/>
          </p:nvSpPr>
          <p:spPr bwMode="auto">
            <a:xfrm>
              <a:off x="2018" y="1434"/>
              <a:ext cx="272"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B</a:t>
              </a:r>
            </a:p>
          </p:txBody>
        </p:sp>
        <p:sp>
          <p:nvSpPr>
            <p:cNvPr id="16393" name="Oval 29"/>
            <p:cNvSpPr>
              <a:spLocks noChangeArrowheads="1"/>
            </p:cNvSpPr>
            <p:nvPr/>
          </p:nvSpPr>
          <p:spPr bwMode="auto">
            <a:xfrm>
              <a:off x="2653" y="709"/>
              <a:ext cx="360" cy="360"/>
            </a:xfrm>
            <a:prstGeom prst="ellipse">
              <a:avLst/>
            </a:prstGeom>
            <a:noFill/>
            <a:ln w="25400">
              <a:solidFill>
                <a:schemeClr val="tx1"/>
              </a:solidFill>
              <a:round/>
              <a:headEnd/>
              <a:tailEnd/>
            </a:ln>
          </p:spPr>
          <p:txBody>
            <a:bodyPr wrap="none" anchor="ctr"/>
            <a:lstStyle/>
            <a:p>
              <a:endParaRPr lang="en-US" altLang="en-US"/>
            </a:p>
          </p:txBody>
        </p:sp>
        <p:sp>
          <p:nvSpPr>
            <p:cNvPr id="16394" name="Rectangle 30"/>
            <p:cNvSpPr>
              <a:spLocks noChangeArrowheads="1"/>
            </p:cNvSpPr>
            <p:nvPr/>
          </p:nvSpPr>
          <p:spPr bwMode="auto">
            <a:xfrm>
              <a:off x="2699" y="709"/>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16395" name="Oval 31"/>
            <p:cNvSpPr>
              <a:spLocks noChangeArrowheads="1"/>
            </p:cNvSpPr>
            <p:nvPr/>
          </p:nvSpPr>
          <p:spPr bwMode="auto">
            <a:xfrm>
              <a:off x="2608" y="1933"/>
              <a:ext cx="360" cy="360"/>
            </a:xfrm>
            <a:prstGeom prst="ellipse">
              <a:avLst/>
            </a:prstGeom>
            <a:noFill/>
            <a:ln w="25400">
              <a:solidFill>
                <a:schemeClr val="tx1"/>
              </a:solidFill>
              <a:round/>
              <a:headEnd/>
              <a:tailEnd/>
            </a:ln>
          </p:spPr>
          <p:txBody>
            <a:bodyPr wrap="none" anchor="ctr"/>
            <a:lstStyle/>
            <a:p>
              <a:endParaRPr lang="en-US" altLang="en-US"/>
            </a:p>
          </p:txBody>
        </p:sp>
        <p:sp>
          <p:nvSpPr>
            <p:cNvPr id="16396" name="Rectangle 34"/>
            <p:cNvSpPr>
              <a:spLocks noChangeArrowheads="1"/>
            </p:cNvSpPr>
            <p:nvPr/>
          </p:nvSpPr>
          <p:spPr bwMode="auto">
            <a:xfrm>
              <a:off x="4286" y="148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a:t>
              </a:r>
              <a:r>
                <a:rPr lang="es-MX" altLang="he-IL" sz="2800" b="1">
                  <a:solidFill>
                    <a:srgbClr val="FF0000"/>
                  </a:solidFill>
                  <a:latin typeface="Times New Roman" charset="0"/>
                  <a:cs typeface="Times New Roman (Hebrew)" charset="-79"/>
                </a:rPr>
                <a:t>3</a:t>
              </a:r>
              <a:r>
                <a:rPr lang="es-MX" altLang="he-IL" sz="2800" b="1">
                  <a:latin typeface="Times New Roman" charset="0"/>
                  <a:cs typeface="Times New Roman (Hebrew)" charset="-79"/>
                </a:rPr>
                <a:t>)</a:t>
              </a:r>
            </a:p>
          </p:txBody>
        </p:sp>
        <p:sp>
          <p:nvSpPr>
            <p:cNvPr id="16397" name="Rectangle 40"/>
            <p:cNvSpPr>
              <a:spLocks noChangeArrowheads="1"/>
            </p:cNvSpPr>
            <p:nvPr/>
          </p:nvSpPr>
          <p:spPr bwMode="auto">
            <a:xfrm>
              <a:off x="1519" y="148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16398" name="Line 13"/>
            <p:cNvSpPr>
              <a:spLocks noChangeShapeType="1"/>
            </p:cNvSpPr>
            <p:nvPr/>
          </p:nvSpPr>
          <p:spPr bwMode="auto">
            <a:xfrm flipH="1">
              <a:off x="2290" y="1026"/>
              <a:ext cx="409" cy="454"/>
            </a:xfrm>
            <a:prstGeom prst="line">
              <a:avLst/>
            </a:prstGeom>
            <a:noFill/>
            <a:ln w="9525">
              <a:solidFill>
                <a:schemeClr val="tx1"/>
              </a:solidFill>
              <a:round/>
              <a:headEnd/>
              <a:tailEnd type="triangle" w="med" len="med"/>
            </a:ln>
          </p:spPr>
          <p:txBody>
            <a:bodyPr wrap="none"/>
            <a:lstStyle/>
            <a:p>
              <a:endParaRPr lang="en-US"/>
            </a:p>
          </p:txBody>
        </p:sp>
        <p:sp>
          <p:nvSpPr>
            <p:cNvPr id="16399" name="Line 14"/>
            <p:cNvSpPr>
              <a:spLocks noChangeShapeType="1"/>
            </p:cNvSpPr>
            <p:nvPr/>
          </p:nvSpPr>
          <p:spPr bwMode="auto">
            <a:xfrm>
              <a:off x="2789" y="1071"/>
              <a:ext cx="0" cy="862"/>
            </a:xfrm>
            <a:prstGeom prst="line">
              <a:avLst/>
            </a:prstGeom>
            <a:noFill/>
            <a:ln w="9525">
              <a:solidFill>
                <a:schemeClr val="tx1"/>
              </a:solidFill>
              <a:round/>
              <a:headEnd/>
              <a:tailEnd type="triangle" w="med" len="med"/>
            </a:ln>
          </p:spPr>
          <p:txBody>
            <a:bodyPr wrap="none"/>
            <a:lstStyle/>
            <a:p>
              <a:endParaRPr lang="en-US"/>
            </a:p>
          </p:txBody>
        </p:sp>
        <p:sp>
          <p:nvSpPr>
            <p:cNvPr id="16400" name="Line 15"/>
            <p:cNvSpPr>
              <a:spLocks noChangeShapeType="1"/>
            </p:cNvSpPr>
            <p:nvPr/>
          </p:nvSpPr>
          <p:spPr bwMode="auto">
            <a:xfrm>
              <a:off x="2245" y="1752"/>
              <a:ext cx="363" cy="272"/>
            </a:xfrm>
            <a:prstGeom prst="line">
              <a:avLst/>
            </a:prstGeom>
            <a:noFill/>
            <a:ln w="9525">
              <a:solidFill>
                <a:schemeClr val="tx1"/>
              </a:solidFill>
              <a:round/>
              <a:headEnd/>
              <a:tailEnd type="triangle" w="med" len="med"/>
            </a:ln>
          </p:spPr>
          <p:txBody>
            <a:bodyPr wrap="none"/>
            <a:lstStyle/>
            <a:p>
              <a:endParaRPr lang="en-US"/>
            </a:p>
          </p:txBody>
        </p:sp>
        <p:sp>
          <p:nvSpPr>
            <p:cNvPr id="16401" name="Oval 18"/>
            <p:cNvSpPr>
              <a:spLocks noChangeArrowheads="1"/>
            </p:cNvSpPr>
            <p:nvPr/>
          </p:nvSpPr>
          <p:spPr bwMode="auto">
            <a:xfrm>
              <a:off x="3288" y="2704"/>
              <a:ext cx="360" cy="360"/>
            </a:xfrm>
            <a:prstGeom prst="ellipse">
              <a:avLst/>
            </a:prstGeom>
            <a:noFill/>
            <a:ln w="25400">
              <a:solidFill>
                <a:schemeClr val="tx1"/>
              </a:solidFill>
              <a:round/>
              <a:headEnd/>
              <a:tailEnd/>
            </a:ln>
          </p:spPr>
          <p:txBody>
            <a:bodyPr wrap="none" anchor="ctr"/>
            <a:lstStyle/>
            <a:p>
              <a:endParaRPr lang="en-US" altLang="en-US"/>
            </a:p>
          </p:txBody>
        </p:sp>
        <p:sp>
          <p:nvSpPr>
            <p:cNvPr id="16402" name="Oval 18"/>
            <p:cNvSpPr>
              <a:spLocks noChangeArrowheads="1"/>
            </p:cNvSpPr>
            <p:nvPr/>
          </p:nvSpPr>
          <p:spPr bwMode="auto">
            <a:xfrm>
              <a:off x="4195" y="3385"/>
              <a:ext cx="360" cy="360"/>
            </a:xfrm>
            <a:prstGeom prst="ellipse">
              <a:avLst/>
            </a:prstGeom>
            <a:noFill/>
            <a:ln w="25400">
              <a:solidFill>
                <a:schemeClr val="tx1"/>
              </a:solidFill>
              <a:round/>
              <a:headEnd/>
              <a:tailEnd/>
            </a:ln>
          </p:spPr>
          <p:txBody>
            <a:bodyPr wrap="none" anchor="ctr"/>
            <a:lstStyle/>
            <a:p>
              <a:endParaRPr lang="en-US" altLang="en-US"/>
            </a:p>
          </p:txBody>
        </p:sp>
        <p:sp>
          <p:nvSpPr>
            <p:cNvPr id="16403" name="Line 18"/>
            <p:cNvSpPr>
              <a:spLocks noChangeShapeType="1"/>
            </p:cNvSpPr>
            <p:nvPr/>
          </p:nvSpPr>
          <p:spPr bwMode="auto">
            <a:xfrm>
              <a:off x="3016" y="981"/>
              <a:ext cx="817" cy="544"/>
            </a:xfrm>
            <a:prstGeom prst="line">
              <a:avLst/>
            </a:prstGeom>
            <a:noFill/>
            <a:ln w="9525">
              <a:solidFill>
                <a:schemeClr val="tx1"/>
              </a:solidFill>
              <a:round/>
              <a:headEnd/>
              <a:tailEnd type="triangle" w="med" len="med"/>
            </a:ln>
          </p:spPr>
          <p:txBody>
            <a:bodyPr wrap="none"/>
            <a:lstStyle/>
            <a:p>
              <a:endParaRPr lang="en-US"/>
            </a:p>
          </p:txBody>
        </p:sp>
        <p:sp>
          <p:nvSpPr>
            <p:cNvPr id="16404" name="Line 20"/>
            <p:cNvSpPr>
              <a:spLocks noChangeShapeType="1"/>
            </p:cNvSpPr>
            <p:nvPr/>
          </p:nvSpPr>
          <p:spPr bwMode="auto">
            <a:xfrm flipH="1">
              <a:off x="3560" y="1842"/>
              <a:ext cx="363" cy="908"/>
            </a:xfrm>
            <a:prstGeom prst="line">
              <a:avLst/>
            </a:prstGeom>
            <a:noFill/>
            <a:ln w="9525">
              <a:solidFill>
                <a:schemeClr val="tx1"/>
              </a:solidFill>
              <a:round/>
              <a:headEnd/>
              <a:tailEnd type="triangle" w="med" len="med"/>
            </a:ln>
          </p:spPr>
          <p:txBody>
            <a:bodyPr wrap="none"/>
            <a:lstStyle/>
            <a:p>
              <a:endParaRPr lang="en-US"/>
            </a:p>
          </p:txBody>
        </p:sp>
        <p:sp>
          <p:nvSpPr>
            <p:cNvPr id="16405" name="Line 21"/>
            <p:cNvSpPr>
              <a:spLocks noChangeShapeType="1"/>
            </p:cNvSpPr>
            <p:nvPr/>
          </p:nvSpPr>
          <p:spPr bwMode="auto">
            <a:xfrm>
              <a:off x="4105" y="1797"/>
              <a:ext cx="272" cy="1588"/>
            </a:xfrm>
            <a:prstGeom prst="line">
              <a:avLst/>
            </a:prstGeom>
            <a:noFill/>
            <a:ln w="9525">
              <a:solidFill>
                <a:schemeClr val="tx1"/>
              </a:solidFill>
              <a:round/>
              <a:headEnd/>
              <a:tailEnd type="triangle" w="med" len="med"/>
            </a:ln>
          </p:spPr>
          <p:txBody>
            <a:bodyPr wrap="none"/>
            <a:lstStyle/>
            <a:p>
              <a:endParaRPr lang="en-US"/>
            </a:p>
          </p:txBody>
        </p:sp>
        <p:sp>
          <p:nvSpPr>
            <p:cNvPr id="16406" name="Rectangle 17"/>
            <p:cNvSpPr>
              <a:spLocks noChangeArrowheads="1"/>
            </p:cNvSpPr>
            <p:nvPr/>
          </p:nvSpPr>
          <p:spPr bwMode="auto">
            <a:xfrm>
              <a:off x="4241" y="3385"/>
              <a:ext cx="304"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G</a:t>
              </a:r>
            </a:p>
          </p:txBody>
        </p:sp>
        <p:sp>
          <p:nvSpPr>
            <p:cNvPr id="16407" name="Rectangle 17"/>
            <p:cNvSpPr>
              <a:spLocks noChangeArrowheads="1"/>
            </p:cNvSpPr>
            <p:nvPr/>
          </p:nvSpPr>
          <p:spPr bwMode="auto">
            <a:xfrm>
              <a:off x="3334" y="2704"/>
              <a:ext cx="272"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E</a:t>
              </a:r>
            </a:p>
          </p:txBody>
        </p:sp>
        <p:sp>
          <p:nvSpPr>
            <p:cNvPr id="16408" name="Rectangle 40"/>
            <p:cNvSpPr>
              <a:spLocks noChangeArrowheads="1"/>
            </p:cNvSpPr>
            <p:nvPr/>
          </p:nvSpPr>
          <p:spPr bwMode="auto">
            <a:xfrm>
              <a:off x="2245" y="2115"/>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6409" name="Rectangle 40"/>
            <p:cNvSpPr>
              <a:spLocks noChangeArrowheads="1"/>
            </p:cNvSpPr>
            <p:nvPr/>
          </p:nvSpPr>
          <p:spPr bwMode="auto">
            <a:xfrm>
              <a:off x="2971" y="284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a:t>
              </a:r>
            </a:p>
          </p:txBody>
        </p:sp>
        <p:sp>
          <p:nvSpPr>
            <p:cNvPr id="16410" name="Rectangle 40"/>
            <p:cNvSpPr>
              <a:spLocks noChangeArrowheads="1"/>
            </p:cNvSpPr>
            <p:nvPr/>
          </p:nvSpPr>
          <p:spPr bwMode="auto">
            <a:xfrm>
              <a:off x="3787" y="3475"/>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(0)</a:t>
              </a:r>
            </a:p>
          </p:txBody>
        </p:sp>
        <p:sp>
          <p:nvSpPr>
            <p:cNvPr id="16411" name="Rectangle 40"/>
            <p:cNvSpPr>
              <a:spLocks noChangeArrowheads="1"/>
            </p:cNvSpPr>
            <p:nvPr/>
          </p:nvSpPr>
          <p:spPr bwMode="auto">
            <a:xfrm>
              <a:off x="1882" y="709"/>
              <a:ext cx="454"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[15]</a:t>
              </a:r>
            </a:p>
          </p:txBody>
        </p:sp>
        <p:sp>
          <p:nvSpPr>
            <p:cNvPr id="16412" name="Rectangle 40"/>
            <p:cNvSpPr>
              <a:spLocks noChangeArrowheads="1"/>
            </p:cNvSpPr>
            <p:nvPr/>
          </p:nvSpPr>
          <p:spPr bwMode="auto">
            <a:xfrm>
              <a:off x="2245" y="1026"/>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16413" name="Rectangle 40"/>
            <p:cNvSpPr>
              <a:spLocks noChangeArrowheads="1"/>
            </p:cNvSpPr>
            <p:nvPr/>
          </p:nvSpPr>
          <p:spPr bwMode="auto">
            <a:xfrm>
              <a:off x="3379" y="981"/>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16414" name="Rectangle 40"/>
            <p:cNvSpPr>
              <a:spLocks noChangeArrowheads="1"/>
            </p:cNvSpPr>
            <p:nvPr/>
          </p:nvSpPr>
          <p:spPr bwMode="auto">
            <a:xfrm>
              <a:off x="2789" y="1344"/>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16415" name="Rectangle 40"/>
            <p:cNvSpPr>
              <a:spLocks noChangeArrowheads="1"/>
            </p:cNvSpPr>
            <p:nvPr/>
          </p:nvSpPr>
          <p:spPr bwMode="auto">
            <a:xfrm>
              <a:off x="2381" y="1616"/>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6416" name="Rectangle 40"/>
            <p:cNvSpPr>
              <a:spLocks noChangeArrowheads="1"/>
            </p:cNvSpPr>
            <p:nvPr/>
          </p:nvSpPr>
          <p:spPr bwMode="auto">
            <a:xfrm>
              <a:off x="3606" y="2024"/>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6417" name="Rectangle 40"/>
            <p:cNvSpPr>
              <a:spLocks noChangeArrowheads="1"/>
            </p:cNvSpPr>
            <p:nvPr/>
          </p:nvSpPr>
          <p:spPr bwMode="auto">
            <a:xfrm>
              <a:off x="4286" y="2387"/>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16418" name="Line 37"/>
            <p:cNvSpPr>
              <a:spLocks noChangeShapeType="1"/>
            </p:cNvSpPr>
            <p:nvPr/>
          </p:nvSpPr>
          <p:spPr bwMode="auto">
            <a:xfrm>
              <a:off x="2562" y="1162"/>
              <a:ext cx="227" cy="91"/>
            </a:xfrm>
            <a:prstGeom prst="line">
              <a:avLst/>
            </a:prstGeom>
            <a:noFill/>
            <a:ln w="9525">
              <a:solidFill>
                <a:schemeClr val="tx1"/>
              </a:solidFill>
              <a:round/>
              <a:headEnd/>
              <a:tailEnd/>
            </a:ln>
          </p:spPr>
          <p:txBody>
            <a:bodyPr wrap="none"/>
            <a:lstStyle/>
            <a:p>
              <a:endParaRPr lang="en-US"/>
            </a:p>
          </p:txBody>
        </p:sp>
        <p:sp>
          <p:nvSpPr>
            <p:cNvPr id="16419" name="Rectangle 40"/>
            <p:cNvSpPr>
              <a:spLocks noChangeArrowheads="1"/>
            </p:cNvSpPr>
            <p:nvPr/>
          </p:nvSpPr>
          <p:spPr bwMode="auto">
            <a:xfrm>
              <a:off x="3198" y="663"/>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a:t>
              </a:r>
              <a:r>
                <a:rPr lang="es-MX" altLang="he-IL" sz="2800" b="1">
                  <a:solidFill>
                    <a:srgbClr val="FF0000"/>
                  </a:solidFill>
                  <a:latin typeface="Times New Roman" charset="0"/>
                  <a:cs typeface="Times New Roman (Hebrew)" charset="-79"/>
                </a:rPr>
                <a:t>8</a:t>
              </a:r>
              <a:r>
                <a:rPr lang="es-MX" altLang="he-IL" sz="2800" b="1">
                  <a:latin typeface="Times New Roman" charset="0"/>
                  <a:cs typeface="Times New Roman (Hebrew)" charset="-79"/>
                </a:rPr>
                <a:t>]</a:t>
              </a:r>
            </a:p>
          </p:txBody>
        </p:sp>
        <p:sp>
          <p:nvSpPr>
            <p:cNvPr id="16420" name="Line 36"/>
            <p:cNvSpPr>
              <a:spLocks noChangeShapeType="1"/>
            </p:cNvSpPr>
            <p:nvPr/>
          </p:nvSpPr>
          <p:spPr bwMode="auto">
            <a:xfrm>
              <a:off x="3016" y="754"/>
              <a:ext cx="363" cy="272"/>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16421" name="Line 36"/>
            <p:cNvSpPr>
              <a:spLocks noChangeShapeType="1"/>
            </p:cNvSpPr>
            <p:nvPr/>
          </p:nvSpPr>
          <p:spPr bwMode="auto">
            <a:xfrm flipH="1">
              <a:off x="3424" y="1752"/>
              <a:ext cx="227" cy="589"/>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16422" name="Line 36"/>
            <p:cNvSpPr>
              <a:spLocks noChangeShapeType="1"/>
            </p:cNvSpPr>
            <p:nvPr/>
          </p:nvSpPr>
          <p:spPr bwMode="auto">
            <a:xfrm>
              <a:off x="1927" y="1842"/>
              <a:ext cx="362" cy="273"/>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gr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23850" y="260350"/>
            <a:ext cx="8510588" cy="752475"/>
          </a:xfrm>
          <a:noFill/>
        </p:spPr>
        <p:txBody>
          <a:bodyPr/>
          <a:lstStyle/>
          <a:p>
            <a:r>
              <a:rPr lang="en-US" altLang="en-US" sz="4000">
                <a:effectLst/>
              </a:rPr>
              <a:t>An Example</a:t>
            </a:r>
          </a:p>
        </p:txBody>
      </p:sp>
      <p:grpSp>
        <p:nvGrpSpPr>
          <p:cNvPr id="2" name="Group 42"/>
          <p:cNvGrpSpPr>
            <a:grpSpLocks/>
          </p:cNvGrpSpPr>
          <p:nvPr/>
        </p:nvGrpSpPr>
        <p:grpSpPr bwMode="auto">
          <a:xfrm>
            <a:off x="2411413" y="1981200"/>
            <a:ext cx="4935537" cy="3963988"/>
            <a:chOff x="1519" y="663"/>
            <a:chExt cx="3109" cy="3082"/>
          </a:xfrm>
        </p:grpSpPr>
        <p:sp>
          <p:nvSpPr>
            <p:cNvPr id="17412" name="Oval 5"/>
            <p:cNvSpPr>
              <a:spLocks noChangeArrowheads="1"/>
            </p:cNvSpPr>
            <p:nvPr/>
          </p:nvSpPr>
          <p:spPr bwMode="auto">
            <a:xfrm>
              <a:off x="1973" y="1434"/>
              <a:ext cx="360" cy="360"/>
            </a:xfrm>
            <a:prstGeom prst="ellipse">
              <a:avLst/>
            </a:prstGeom>
            <a:noFill/>
            <a:ln w="25400">
              <a:solidFill>
                <a:schemeClr val="tx1"/>
              </a:solidFill>
              <a:round/>
              <a:headEnd/>
              <a:tailEnd/>
            </a:ln>
          </p:spPr>
          <p:txBody>
            <a:bodyPr wrap="none" anchor="ctr"/>
            <a:lstStyle/>
            <a:p>
              <a:endParaRPr lang="en-US" altLang="en-US"/>
            </a:p>
          </p:txBody>
        </p:sp>
        <p:sp>
          <p:nvSpPr>
            <p:cNvPr id="17413" name="Rectangle 11"/>
            <p:cNvSpPr>
              <a:spLocks noChangeArrowheads="1"/>
            </p:cNvSpPr>
            <p:nvPr/>
          </p:nvSpPr>
          <p:spPr bwMode="auto">
            <a:xfrm>
              <a:off x="2653" y="1933"/>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dirty="0">
                  <a:latin typeface="Times New Roman" charset="0"/>
                  <a:cs typeface="Times New Roman (Hebrew)" charset="-79"/>
                </a:rPr>
                <a:t>C</a:t>
              </a:r>
            </a:p>
          </p:txBody>
        </p:sp>
        <p:sp>
          <p:nvSpPr>
            <p:cNvPr id="17414" name="Rectangle 17"/>
            <p:cNvSpPr>
              <a:spLocks noChangeArrowheads="1"/>
            </p:cNvSpPr>
            <p:nvPr/>
          </p:nvSpPr>
          <p:spPr bwMode="auto">
            <a:xfrm>
              <a:off x="3833" y="1480"/>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17415" name="Oval 18"/>
            <p:cNvSpPr>
              <a:spLocks noChangeArrowheads="1"/>
            </p:cNvSpPr>
            <p:nvPr/>
          </p:nvSpPr>
          <p:spPr bwMode="auto">
            <a:xfrm>
              <a:off x="3787" y="1480"/>
              <a:ext cx="360" cy="360"/>
            </a:xfrm>
            <a:prstGeom prst="ellipse">
              <a:avLst/>
            </a:prstGeom>
            <a:noFill/>
            <a:ln w="25400">
              <a:solidFill>
                <a:schemeClr val="tx1"/>
              </a:solidFill>
              <a:round/>
              <a:headEnd/>
              <a:tailEnd/>
            </a:ln>
          </p:spPr>
          <p:txBody>
            <a:bodyPr wrap="none" anchor="ctr"/>
            <a:lstStyle/>
            <a:p>
              <a:endParaRPr lang="en-US" altLang="en-US"/>
            </a:p>
          </p:txBody>
        </p:sp>
        <p:sp>
          <p:nvSpPr>
            <p:cNvPr id="17416" name="Rectangle 19"/>
            <p:cNvSpPr>
              <a:spLocks noChangeArrowheads="1"/>
            </p:cNvSpPr>
            <p:nvPr/>
          </p:nvSpPr>
          <p:spPr bwMode="auto">
            <a:xfrm>
              <a:off x="2018" y="1434"/>
              <a:ext cx="272"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B</a:t>
              </a:r>
            </a:p>
          </p:txBody>
        </p:sp>
        <p:sp>
          <p:nvSpPr>
            <p:cNvPr id="17417" name="Oval 29"/>
            <p:cNvSpPr>
              <a:spLocks noChangeArrowheads="1"/>
            </p:cNvSpPr>
            <p:nvPr/>
          </p:nvSpPr>
          <p:spPr bwMode="auto">
            <a:xfrm>
              <a:off x="2653" y="709"/>
              <a:ext cx="360" cy="360"/>
            </a:xfrm>
            <a:prstGeom prst="ellipse">
              <a:avLst/>
            </a:prstGeom>
            <a:noFill/>
            <a:ln w="25400">
              <a:solidFill>
                <a:schemeClr val="tx1"/>
              </a:solidFill>
              <a:round/>
              <a:headEnd/>
              <a:tailEnd/>
            </a:ln>
          </p:spPr>
          <p:txBody>
            <a:bodyPr wrap="none" anchor="ctr"/>
            <a:lstStyle/>
            <a:p>
              <a:endParaRPr lang="en-US" altLang="en-US"/>
            </a:p>
          </p:txBody>
        </p:sp>
        <p:sp>
          <p:nvSpPr>
            <p:cNvPr id="17418" name="Rectangle 30"/>
            <p:cNvSpPr>
              <a:spLocks noChangeArrowheads="1"/>
            </p:cNvSpPr>
            <p:nvPr/>
          </p:nvSpPr>
          <p:spPr bwMode="auto">
            <a:xfrm>
              <a:off x="2699" y="709"/>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17419" name="Oval 31"/>
            <p:cNvSpPr>
              <a:spLocks noChangeArrowheads="1"/>
            </p:cNvSpPr>
            <p:nvPr/>
          </p:nvSpPr>
          <p:spPr bwMode="auto">
            <a:xfrm>
              <a:off x="2608" y="1933"/>
              <a:ext cx="360" cy="360"/>
            </a:xfrm>
            <a:prstGeom prst="ellipse">
              <a:avLst/>
            </a:prstGeom>
            <a:noFill/>
            <a:ln w="25400">
              <a:solidFill>
                <a:schemeClr val="tx1"/>
              </a:solidFill>
              <a:round/>
              <a:headEnd/>
              <a:tailEnd/>
            </a:ln>
          </p:spPr>
          <p:txBody>
            <a:bodyPr wrap="none" anchor="ctr"/>
            <a:lstStyle/>
            <a:p>
              <a:endParaRPr lang="en-US" altLang="en-US"/>
            </a:p>
          </p:txBody>
        </p:sp>
        <p:sp>
          <p:nvSpPr>
            <p:cNvPr id="17420" name="Rectangle 34"/>
            <p:cNvSpPr>
              <a:spLocks noChangeArrowheads="1"/>
            </p:cNvSpPr>
            <p:nvPr/>
          </p:nvSpPr>
          <p:spPr bwMode="auto">
            <a:xfrm>
              <a:off x="4286" y="148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a:t>
              </a:r>
              <a:r>
                <a:rPr lang="es-MX" altLang="he-IL" sz="2800" b="1">
                  <a:solidFill>
                    <a:srgbClr val="FF0000"/>
                  </a:solidFill>
                  <a:latin typeface="Times New Roman" charset="0"/>
                  <a:cs typeface="Times New Roman (Hebrew)" charset="-79"/>
                </a:rPr>
                <a:t>4</a:t>
              </a:r>
              <a:r>
                <a:rPr lang="es-MX" altLang="he-IL" sz="2800" b="1">
                  <a:latin typeface="Times New Roman" charset="0"/>
                  <a:cs typeface="Times New Roman (Hebrew)" charset="-79"/>
                </a:rPr>
                <a:t>)</a:t>
              </a:r>
            </a:p>
          </p:txBody>
        </p:sp>
        <p:sp>
          <p:nvSpPr>
            <p:cNvPr id="17421" name="Rectangle 40"/>
            <p:cNvSpPr>
              <a:spLocks noChangeArrowheads="1"/>
            </p:cNvSpPr>
            <p:nvPr/>
          </p:nvSpPr>
          <p:spPr bwMode="auto">
            <a:xfrm>
              <a:off x="1519" y="148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17422" name="Line 13"/>
            <p:cNvSpPr>
              <a:spLocks noChangeShapeType="1"/>
            </p:cNvSpPr>
            <p:nvPr/>
          </p:nvSpPr>
          <p:spPr bwMode="auto">
            <a:xfrm flipH="1">
              <a:off x="2290" y="1026"/>
              <a:ext cx="409" cy="454"/>
            </a:xfrm>
            <a:prstGeom prst="line">
              <a:avLst/>
            </a:prstGeom>
            <a:noFill/>
            <a:ln w="9525">
              <a:solidFill>
                <a:schemeClr val="tx1"/>
              </a:solidFill>
              <a:round/>
              <a:headEnd/>
              <a:tailEnd type="triangle" w="med" len="med"/>
            </a:ln>
          </p:spPr>
          <p:txBody>
            <a:bodyPr wrap="none"/>
            <a:lstStyle/>
            <a:p>
              <a:endParaRPr lang="en-US"/>
            </a:p>
          </p:txBody>
        </p:sp>
        <p:sp>
          <p:nvSpPr>
            <p:cNvPr id="17423" name="Line 14"/>
            <p:cNvSpPr>
              <a:spLocks noChangeShapeType="1"/>
            </p:cNvSpPr>
            <p:nvPr/>
          </p:nvSpPr>
          <p:spPr bwMode="auto">
            <a:xfrm>
              <a:off x="2789" y="1071"/>
              <a:ext cx="0" cy="862"/>
            </a:xfrm>
            <a:prstGeom prst="line">
              <a:avLst/>
            </a:prstGeom>
            <a:noFill/>
            <a:ln w="9525">
              <a:solidFill>
                <a:schemeClr val="tx1"/>
              </a:solidFill>
              <a:round/>
              <a:headEnd/>
              <a:tailEnd type="triangle" w="med" len="med"/>
            </a:ln>
          </p:spPr>
          <p:txBody>
            <a:bodyPr wrap="none"/>
            <a:lstStyle/>
            <a:p>
              <a:endParaRPr lang="en-US"/>
            </a:p>
          </p:txBody>
        </p:sp>
        <p:sp>
          <p:nvSpPr>
            <p:cNvPr id="17424" name="Line 15"/>
            <p:cNvSpPr>
              <a:spLocks noChangeShapeType="1"/>
            </p:cNvSpPr>
            <p:nvPr/>
          </p:nvSpPr>
          <p:spPr bwMode="auto">
            <a:xfrm>
              <a:off x="2245" y="1752"/>
              <a:ext cx="363" cy="272"/>
            </a:xfrm>
            <a:prstGeom prst="line">
              <a:avLst/>
            </a:prstGeom>
            <a:noFill/>
            <a:ln w="9525">
              <a:solidFill>
                <a:schemeClr val="tx1"/>
              </a:solidFill>
              <a:round/>
              <a:headEnd/>
              <a:tailEnd type="triangle" w="med" len="med"/>
            </a:ln>
          </p:spPr>
          <p:txBody>
            <a:bodyPr wrap="none"/>
            <a:lstStyle/>
            <a:p>
              <a:endParaRPr lang="en-US"/>
            </a:p>
          </p:txBody>
        </p:sp>
        <p:sp>
          <p:nvSpPr>
            <p:cNvPr id="17425" name="Oval 18"/>
            <p:cNvSpPr>
              <a:spLocks noChangeArrowheads="1"/>
            </p:cNvSpPr>
            <p:nvPr/>
          </p:nvSpPr>
          <p:spPr bwMode="auto">
            <a:xfrm>
              <a:off x="3288" y="2704"/>
              <a:ext cx="360" cy="360"/>
            </a:xfrm>
            <a:prstGeom prst="ellipse">
              <a:avLst/>
            </a:prstGeom>
            <a:noFill/>
            <a:ln w="25400">
              <a:solidFill>
                <a:schemeClr val="tx1"/>
              </a:solidFill>
              <a:round/>
              <a:headEnd/>
              <a:tailEnd/>
            </a:ln>
          </p:spPr>
          <p:txBody>
            <a:bodyPr wrap="none" anchor="ctr"/>
            <a:lstStyle/>
            <a:p>
              <a:endParaRPr lang="en-US" altLang="en-US"/>
            </a:p>
          </p:txBody>
        </p:sp>
        <p:sp>
          <p:nvSpPr>
            <p:cNvPr id="17426" name="Oval 18"/>
            <p:cNvSpPr>
              <a:spLocks noChangeArrowheads="1"/>
            </p:cNvSpPr>
            <p:nvPr/>
          </p:nvSpPr>
          <p:spPr bwMode="auto">
            <a:xfrm>
              <a:off x="4195" y="3385"/>
              <a:ext cx="360" cy="360"/>
            </a:xfrm>
            <a:prstGeom prst="ellipse">
              <a:avLst/>
            </a:prstGeom>
            <a:noFill/>
            <a:ln w="25400">
              <a:solidFill>
                <a:schemeClr val="tx1"/>
              </a:solidFill>
              <a:round/>
              <a:headEnd/>
              <a:tailEnd/>
            </a:ln>
          </p:spPr>
          <p:txBody>
            <a:bodyPr wrap="none" anchor="ctr"/>
            <a:lstStyle/>
            <a:p>
              <a:endParaRPr lang="en-US" altLang="en-US"/>
            </a:p>
          </p:txBody>
        </p:sp>
        <p:sp>
          <p:nvSpPr>
            <p:cNvPr id="17427" name="Line 18"/>
            <p:cNvSpPr>
              <a:spLocks noChangeShapeType="1"/>
            </p:cNvSpPr>
            <p:nvPr/>
          </p:nvSpPr>
          <p:spPr bwMode="auto">
            <a:xfrm>
              <a:off x="3016" y="981"/>
              <a:ext cx="817" cy="544"/>
            </a:xfrm>
            <a:prstGeom prst="line">
              <a:avLst/>
            </a:prstGeom>
            <a:noFill/>
            <a:ln w="9525">
              <a:solidFill>
                <a:schemeClr val="tx1"/>
              </a:solidFill>
              <a:round/>
              <a:headEnd/>
              <a:tailEnd type="triangle" w="med" len="med"/>
            </a:ln>
          </p:spPr>
          <p:txBody>
            <a:bodyPr wrap="none"/>
            <a:lstStyle/>
            <a:p>
              <a:endParaRPr lang="en-US"/>
            </a:p>
          </p:txBody>
        </p:sp>
        <p:sp>
          <p:nvSpPr>
            <p:cNvPr id="17428" name="Line 19"/>
            <p:cNvSpPr>
              <a:spLocks noChangeShapeType="1"/>
            </p:cNvSpPr>
            <p:nvPr/>
          </p:nvSpPr>
          <p:spPr bwMode="auto">
            <a:xfrm flipH="1">
              <a:off x="3560" y="1842"/>
              <a:ext cx="363" cy="908"/>
            </a:xfrm>
            <a:prstGeom prst="line">
              <a:avLst/>
            </a:prstGeom>
            <a:noFill/>
            <a:ln w="9525">
              <a:solidFill>
                <a:schemeClr val="tx1"/>
              </a:solidFill>
              <a:round/>
              <a:headEnd/>
              <a:tailEnd type="triangle" w="med" len="med"/>
            </a:ln>
          </p:spPr>
          <p:txBody>
            <a:bodyPr wrap="none"/>
            <a:lstStyle/>
            <a:p>
              <a:endParaRPr lang="en-US"/>
            </a:p>
          </p:txBody>
        </p:sp>
        <p:sp>
          <p:nvSpPr>
            <p:cNvPr id="17429" name="Line 20"/>
            <p:cNvSpPr>
              <a:spLocks noChangeShapeType="1"/>
            </p:cNvSpPr>
            <p:nvPr/>
          </p:nvSpPr>
          <p:spPr bwMode="auto">
            <a:xfrm>
              <a:off x="4105" y="1797"/>
              <a:ext cx="272" cy="1588"/>
            </a:xfrm>
            <a:prstGeom prst="line">
              <a:avLst/>
            </a:prstGeom>
            <a:noFill/>
            <a:ln w="9525">
              <a:solidFill>
                <a:schemeClr val="tx1"/>
              </a:solidFill>
              <a:round/>
              <a:headEnd/>
              <a:tailEnd type="triangle" w="med" len="med"/>
            </a:ln>
          </p:spPr>
          <p:txBody>
            <a:bodyPr wrap="none"/>
            <a:lstStyle/>
            <a:p>
              <a:endParaRPr lang="en-US"/>
            </a:p>
          </p:txBody>
        </p:sp>
        <p:sp>
          <p:nvSpPr>
            <p:cNvPr id="17430" name="Rectangle 17"/>
            <p:cNvSpPr>
              <a:spLocks noChangeArrowheads="1"/>
            </p:cNvSpPr>
            <p:nvPr/>
          </p:nvSpPr>
          <p:spPr bwMode="auto">
            <a:xfrm>
              <a:off x="4241" y="3385"/>
              <a:ext cx="304"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G</a:t>
              </a:r>
            </a:p>
          </p:txBody>
        </p:sp>
        <p:sp>
          <p:nvSpPr>
            <p:cNvPr id="17431" name="Rectangle 17"/>
            <p:cNvSpPr>
              <a:spLocks noChangeArrowheads="1"/>
            </p:cNvSpPr>
            <p:nvPr/>
          </p:nvSpPr>
          <p:spPr bwMode="auto">
            <a:xfrm>
              <a:off x="3334" y="2704"/>
              <a:ext cx="272"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E</a:t>
              </a:r>
            </a:p>
          </p:txBody>
        </p:sp>
        <p:sp>
          <p:nvSpPr>
            <p:cNvPr id="17432" name="Rectangle 40"/>
            <p:cNvSpPr>
              <a:spLocks noChangeArrowheads="1"/>
            </p:cNvSpPr>
            <p:nvPr/>
          </p:nvSpPr>
          <p:spPr bwMode="auto">
            <a:xfrm>
              <a:off x="2245" y="2115"/>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7433" name="Rectangle 40"/>
            <p:cNvSpPr>
              <a:spLocks noChangeArrowheads="1"/>
            </p:cNvSpPr>
            <p:nvPr/>
          </p:nvSpPr>
          <p:spPr bwMode="auto">
            <a:xfrm>
              <a:off x="2971" y="284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a:t>
              </a:r>
              <a:r>
                <a:rPr lang="es-MX" altLang="he-IL" sz="2800" b="1">
                  <a:solidFill>
                    <a:srgbClr val="FF0000"/>
                  </a:solidFill>
                  <a:latin typeface="Times New Roman" charset="0"/>
                  <a:cs typeface="Times New Roman (Hebrew)" charset="-79"/>
                </a:rPr>
                <a:t>3</a:t>
              </a:r>
              <a:r>
                <a:rPr lang="es-MX" altLang="he-IL" sz="2800" b="1">
                  <a:latin typeface="Times New Roman" charset="0"/>
                  <a:cs typeface="Times New Roman (Hebrew)" charset="-79"/>
                </a:rPr>
                <a:t>)</a:t>
              </a:r>
            </a:p>
          </p:txBody>
        </p:sp>
        <p:sp>
          <p:nvSpPr>
            <p:cNvPr id="17434" name="Rectangle 40"/>
            <p:cNvSpPr>
              <a:spLocks noChangeArrowheads="1"/>
            </p:cNvSpPr>
            <p:nvPr/>
          </p:nvSpPr>
          <p:spPr bwMode="auto">
            <a:xfrm>
              <a:off x="3787" y="3475"/>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(0)</a:t>
              </a:r>
            </a:p>
          </p:txBody>
        </p:sp>
        <p:sp>
          <p:nvSpPr>
            <p:cNvPr id="17435" name="Rectangle 40"/>
            <p:cNvSpPr>
              <a:spLocks noChangeArrowheads="1"/>
            </p:cNvSpPr>
            <p:nvPr/>
          </p:nvSpPr>
          <p:spPr bwMode="auto">
            <a:xfrm>
              <a:off x="1882" y="709"/>
              <a:ext cx="454"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[15]</a:t>
              </a:r>
            </a:p>
          </p:txBody>
        </p:sp>
        <p:sp>
          <p:nvSpPr>
            <p:cNvPr id="17436" name="Rectangle 40"/>
            <p:cNvSpPr>
              <a:spLocks noChangeArrowheads="1"/>
            </p:cNvSpPr>
            <p:nvPr/>
          </p:nvSpPr>
          <p:spPr bwMode="auto">
            <a:xfrm>
              <a:off x="2245" y="1026"/>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17437" name="Rectangle 40"/>
            <p:cNvSpPr>
              <a:spLocks noChangeArrowheads="1"/>
            </p:cNvSpPr>
            <p:nvPr/>
          </p:nvSpPr>
          <p:spPr bwMode="auto">
            <a:xfrm>
              <a:off x="3379" y="981"/>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17438" name="Rectangle 40"/>
            <p:cNvSpPr>
              <a:spLocks noChangeArrowheads="1"/>
            </p:cNvSpPr>
            <p:nvPr/>
          </p:nvSpPr>
          <p:spPr bwMode="auto">
            <a:xfrm>
              <a:off x="2789" y="1344"/>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17439" name="Rectangle 40"/>
            <p:cNvSpPr>
              <a:spLocks noChangeArrowheads="1"/>
            </p:cNvSpPr>
            <p:nvPr/>
          </p:nvSpPr>
          <p:spPr bwMode="auto">
            <a:xfrm>
              <a:off x="2381" y="1616"/>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7440" name="Rectangle 40"/>
            <p:cNvSpPr>
              <a:spLocks noChangeArrowheads="1"/>
            </p:cNvSpPr>
            <p:nvPr/>
          </p:nvSpPr>
          <p:spPr bwMode="auto">
            <a:xfrm>
              <a:off x="3061" y="2205"/>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7441" name="Rectangle 40"/>
            <p:cNvSpPr>
              <a:spLocks noChangeArrowheads="1"/>
            </p:cNvSpPr>
            <p:nvPr/>
          </p:nvSpPr>
          <p:spPr bwMode="auto">
            <a:xfrm>
              <a:off x="3606" y="2024"/>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7442" name="Rectangle 40"/>
            <p:cNvSpPr>
              <a:spLocks noChangeArrowheads="1"/>
            </p:cNvSpPr>
            <p:nvPr/>
          </p:nvSpPr>
          <p:spPr bwMode="auto">
            <a:xfrm>
              <a:off x="4286" y="2387"/>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17443" name="Line 34"/>
            <p:cNvSpPr>
              <a:spLocks noChangeShapeType="1"/>
            </p:cNvSpPr>
            <p:nvPr/>
          </p:nvSpPr>
          <p:spPr bwMode="auto">
            <a:xfrm>
              <a:off x="2562" y="1162"/>
              <a:ext cx="227" cy="91"/>
            </a:xfrm>
            <a:prstGeom prst="line">
              <a:avLst/>
            </a:prstGeom>
            <a:noFill/>
            <a:ln w="9525">
              <a:solidFill>
                <a:schemeClr val="tx1"/>
              </a:solidFill>
              <a:round/>
              <a:headEnd/>
              <a:tailEnd/>
            </a:ln>
          </p:spPr>
          <p:txBody>
            <a:bodyPr wrap="none"/>
            <a:lstStyle/>
            <a:p>
              <a:endParaRPr lang="en-US"/>
            </a:p>
          </p:txBody>
        </p:sp>
        <p:sp>
          <p:nvSpPr>
            <p:cNvPr id="17444" name="Rectangle 40"/>
            <p:cNvSpPr>
              <a:spLocks noChangeArrowheads="1"/>
            </p:cNvSpPr>
            <p:nvPr/>
          </p:nvSpPr>
          <p:spPr bwMode="auto">
            <a:xfrm>
              <a:off x="3198" y="663"/>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a:t>
              </a:r>
              <a:r>
                <a:rPr lang="es-MX" altLang="he-IL" sz="2800" b="1">
                  <a:solidFill>
                    <a:srgbClr val="FF0000"/>
                  </a:solidFill>
                  <a:latin typeface="Times New Roman" charset="0"/>
                  <a:cs typeface="Times New Roman (Hebrew)" charset="-79"/>
                </a:rPr>
                <a:t>9</a:t>
              </a:r>
              <a:r>
                <a:rPr lang="es-MX" altLang="he-IL" sz="2800" b="1">
                  <a:latin typeface="Times New Roman" charset="0"/>
                  <a:cs typeface="Times New Roman (Hebrew)" charset="-79"/>
                </a:rPr>
                <a:t>]</a:t>
              </a:r>
            </a:p>
          </p:txBody>
        </p:sp>
        <p:sp>
          <p:nvSpPr>
            <p:cNvPr id="17445" name="Line 36"/>
            <p:cNvSpPr>
              <a:spLocks noChangeShapeType="1"/>
            </p:cNvSpPr>
            <p:nvPr/>
          </p:nvSpPr>
          <p:spPr bwMode="auto">
            <a:xfrm>
              <a:off x="3016" y="754"/>
              <a:ext cx="363" cy="272"/>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17446" name="Line 36"/>
            <p:cNvSpPr>
              <a:spLocks noChangeShapeType="1"/>
            </p:cNvSpPr>
            <p:nvPr/>
          </p:nvSpPr>
          <p:spPr bwMode="auto">
            <a:xfrm>
              <a:off x="4286" y="1752"/>
              <a:ext cx="90" cy="544"/>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17447" name="Line 38"/>
            <p:cNvSpPr>
              <a:spLocks noChangeShapeType="1"/>
            </p:cNvSpPr>
            <p:nvPr/>
          </p:nvSpPr>
          <p:spPr bwMode="auto">
            <a:xfrm>
              <a:off x="3606" y="2976"/>
              <a:ext cx="635" cy="499"/>
            </a:xfrm>
            <a:prstGeom prst="line">
              <a:avLst/>
            </a:prstGeom>
            <a:noFill/>
            <a:ln w="9525">
              <a:solidFill>
                <a:schemeClr val="tx1"/>
              </a:solidFill>
              <a:round/>
              <a:headEnd/>
              <a:tailEnd type="triangle" w="med" len="med"/>
            </a:ln>
          </p:spPr>
          <p:txBody>
            <a:bodyPr wrap="none"/>
            <a:lstStyle/>
            <a:p>
              <a:endParaRPr lang="en-US"/>
            </a:p>
          </p:txBody>
        </p:sp>
        <p:sp>
          <p:nvSpPr>
            <p:cNvPr id="17448" name="Rectangle 40"/>
            <p:cNvSpPr>
              <a:spLocks noChangeArrowheads="1"/>
            </p:cNvSpPr>
            <p:nvPr/>
          </p:nvSpPr>
          <p:spPr bwMode="auto">
            <a:xfrm>
              <a:off x="3878" y="2931"/>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3</a:t>
              </a:r>
            </a:p>
          </p:txBody>
        </p:sp>
        <p:sp>
          <p:nvSpPr>
            <p:cNvPr id="17449" name="Line 36"/>
            <p:cNvSpPr>
              <a:spLocks noChangeShapeType="1"/>
            </p:cNvSpPr>
            <p:nvPr/>
          </p:nvSpPr>
          <p:spPr bwMode="auto">
            <a:xfrm>
              <a:off x="1927" y="1842"/>
              <a:ext cx="362" cy="273"/>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17450" name="Line 36"/>
            <p:cNvSpPr>
              <a:spLocks noChangeShapeType="1"/>
            </p:cNvSpPr>
            <p:nvPr/>
          </p:nvSpPr>
          <p:spPr bwMode="auto">
            <a:xfrm>
              <a:off x="3379" y="3158"/>
              <a:ext cx="362" cy="273"/>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gr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23850" y="260350"/>
            <a:ext cx="8510588" cy="752475"/>
          </a:xfrm>
          <a:noFill/>
        </p:spPr>
        <p:txBody>
          <a:bodyPr/>
          <a:lstStyle/>
          <a:p>
            <a:r>
              <a:rPr lang="en-US" altLang="en-US" sz="4000">
                <a:effectLst/>
              </a:rPr>
              <a:t>An Example</a:t>
            </a:r>
          </a:p>
        </p:txBody>
      </p:sp>
      <p:grpSp>
        <p:nvGrpSpPr>
          <p:cNvPr id="2" name="Group 45"/>
          <p:cNvGrpSpPr>
            <a:grpSpLocks/>
          </p:cNvGrpSpPr>
          <p:nvPr/>
        </p:nvGrpSpPr>
        <p:grpSpPr bwMode="auto">
          <a:xfrm>
            <a:off x="2411413" y="1676400"/>
            <a:ext cx="6103937" cy="4268788"/>
            <a:chOff x="1519" y="663"/>
            <a:chExt cx="3845" cy="3082"/>
          </a:xfrm>
        </p:grpSpPr>
        <p:sp>
          <p:nvSpPr>
            <p:cNvPr id="18436" name="Oval 5"/>
            <p:cNvSpPr>
              <a:spLocks noChangeArrowheads="1"/>
            </p:cNvSpPr>
            <p:nvPr/>
          </p:nvSpPr>
          <p:spPr bwMode="auto">
            <a:xfrm>
              <a:off x="1973" y="1434"/>
              <a:ext cx="360" cy="360"/>
            </a:xfrm>
            <a:prstGeom prst="ellipse">
              <a:avLst/>
            </a:prstGeom>
            <a:noFill/>
            <a:ln w="25400">
              <a:solidFill>
                <a:schemeClr val="tx1"/>
              </a:solidFill>
              <a:round/>
              <a:headEnd/>
              <a:tailEnd/>
            </a:ln>
          </p:spPr>
          <p:txBody>
            <a:bodyPr wrap="none" anchor="ctr"/>
            <a:lstStyle/>
            <a:p>
              <a:endParaRPr lang="en-US" altLang="en-US"/>
            </a:p>
          </p:txBody>
        </p:sp>
        <p:sp>
          <p:nvSpPr>
            <p:cNvPr id="18437" name="Rectangle 11"/>
            <p:cNvSpPr>
              <a:spLocks noChangeArrowheads="1"/>
            </p:cNvSpPr>
            <p:nvPr/>
          </p:nvSpPr>
          <p:spPr bwMode="auto">
            <a:xfrm>
              <a:off x="2653" y="1933"/>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C</a:t>
              </a:r>
            </a:p>
          </p:txBody>
        </p:sp>
        <p:sp>
          <p:nvSpPr>
            <p:cNvPr id="18438" name="Rectangle 17"/>
            <p:cNvSpPr>
              <a:spLocks noChangeArrowheads="1"/>
            </p:cNvSpPr>
            <p:nvPr/>
          </p:nvSpPr>
          <p:spPr bwMode="auto">
            <a:xfrm>
              <a:off x="3833" y="1480"/>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D</a:t>
              </a:r>
            </a:p>
          </p:txBody>
        </p:sp>
        <p:sp>
          <p:nvSpPr>
            <p:cNvPr id="18439" name="Oval 18"/>
            <p:cNvSpPr>
              <a:spLocks noChangeArrowheads="1"/>
            </p:cNvSpPr>
            <p:nvPr/>
          </p:nvSpPr>
          <p:spPr bwMode="auto">
            <a:xfrm>
              <a:off x="3787" y="1480"/>
              <a:ext cx="360" cy="360"/>
            </a:xfrm>
            <a:prstGeom prst="ellipse">
              <a:avLst/>
            </a:prstGeom>
            <a:noFill/>
            <a:ln w="25400">
              <a:solidFill>
                <a:schemeClr val="tx1"/>
              </a:solidFill>
              <a:round/>
              <a:headEnd/>
              <a:tailEnd/>
            </a:ln>
          </p:spPr>
          <p:txBody>
            <a:bodyPr wrap="none" anchor="ctr"/>
            <a:lstStyle/>
            <a:p>
              <a:endParaRPr lang="en-US" altLang="en-US"/>
            </a:p>
          </p:txBody>
        </p:sp>
        <p:sp>
          <p:nvSpPr>
            <p:cNvPr id="18440" name="Rectangle 19"/>
            <p:cNvSpPr>
              <a:spLocks noChangeArrowheads="1"/>
            </p:cNvSpPr>
            <p:nvPr/>
          </p:nvSpPr>
          <p:spPr bwMode="auto">
            <a:xfrm>
              <a:off x="2018" y="1434"/>
              <a:ext cx="272"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B</a:t>
              </a:r>
            </a:p>
          </p:txBody>
        </p:sp>
        <p:sp>
          <p:nvSpPr>
            <p:cNvPr id="18441" name="Oval 29"/>
            <p:cNvSpPr>
              <a:spLocks noChangeArrowheads="1"/>
            </p:cNvSpPr>
            <p:nvPr/>
          </p:nvSpPr>
          <p:spPr bwMode="auto">
            <a:xfrm>
              <a:off x="2653" y="709"/>
              <a:ext cx="360" cy="360"/>
            </a:xfrm>
            <a:prstGeom prst="ellipse">
              <a:avLst/>
            </a:prstGeom>
            <a:noFill/>
            <a:ln w="25400">
              <a:solidFill>
                <a:schemeClr val="tx1"/>
              </a:solidFill>
              <a:round/>
              <a:headEnd/>
              <a:tailEnd/>
            </a:ln>
          </p:spPr>
          <p:txBody>
            <a:bodyPr wrap="none" anchor="ctr"/>
            <a:lstStyle/>
            <a:p>
              <a:endParaRPr lang="en-US" altLang="en-US"/>
            </a:p>
          </p:txBody>
        </p:sp>
        <p:sp>
          <p:nvSpPr>
            <p:cNvPr id="18442" name="Rectangle 30"/>
            <p:cNvSpPr>
              <a:spLocks noChangeArrowheads="1"/>
            </p:cNvSpPr>
            <p:nvPr/>
          </p:nvSpPr>
          <p:spPr bwMode="auto">
            <a:xfrm>
              <a:off x="2699" y="709"/>
              <a:ext cx="288"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A</a:t>
              </a:r>
            </a:p>
          </p:txBody>
        </p:sp>
        <p:sp>
          <p:nvSpPr>
            <p:cNvPr id="18443" name="Oval 31"/>
            <p:cNvSpPr>
              <a:spLocks noChangeArrowheads="1"/>
            </p:cNvSpPr>
            <p:nvPr/>
          </p:nvSpPr>
          <p:spPr bwMode="auto">
            <a:xfrm>
              <a:off x="2608" y="1933"/>
              <a:ext cx="360" cy="360"/>
            </a:xfrm>
            <a:prstGeom prst="ellipse">
              <a:avLst/>
            </a:prstGeom>
            <a:noFill/>
            <a:ln w="25400">
              <a:solidFill>
                <a:schemeClr val="tx1"/>
              </a:solidFill>
              <a:round/>
              <a:headEnd/>
              <a:tailEnd/>
            </a:ln>
          </p:spPr>
          <p:txBody>
            <a:bodyPr wrap="none" anchor="ctr"/>
            <a:lstStyle/>
            <a:p>
              <a:endParaRPr lang="en-US" altLang="en-US"/>
            </a:p>
          </p:txBody>
        </p:sp>
        <p:sp>
          <p:nvSpPr>
            <p:cNvPr id="18444" name="Rectangle 40"/>
            <p:cNvSpPr>
              <a:spLocks noChangeArrowheads="1"/>
            </p:cNvSpPr>
            <p:nvPr/>
          </p:nvSpPr>
          <p:spPr bwMode="auto">
            <a:xfrm>
              <a:off x="1519" y="148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18445" name="Line 13"/>
            <p:cNvSpPr>
              <a:spLocks noChangeShapeType="1"/>
            </p:cNvSpPr>
            <p:nvPr/>
          </p:nvSpPr>
          <p:spPr bwMode="auto">
            <a:xfrm flipH="1">
              <a:off x="2290" y="1026"/>
              <a:ext cx="409" cy="454"/>
            </a:xfrm>
            <a:prstGeom prst="line">
              <a:avLst/>
            </a:prstGeom>
            <a:noFill/>
            <a:ln w="9525">
              <a:solidFill>
                <a:schemeClr val="tx1"/>
              </a:solidFill>
              <a:round/>
              <a:headEnd/>
              <a:tailEnd type="triangle" w="med" len="med"/>
            </a:ln>
          </p:spPr>
          <p:txBody>
            <a:bodyPr wrap="none"/>
            <a:lstStyle/>
            <a:p>
              <a:endParaRPr lang="en-US"/>
            </a:p>
          </p:txBody>
        </p:sp>
        <p:sp>
          <p:nvSpPr>
            <p:cNvPr id="18446" name="Line 14"/>
            <p:cNvSpPr>
              <a:spLocks noChangeShapeType="1"/>
            </p:cNvSpPr>
            <p:nvPr/>
          </p:nvSpPr>
          <p:spPr bwMode="auto">
            <a:xfrm>
              <a:off x="2789" y="1071"/>
              <a:ext cx="0" cy="862"/>
            </a:xfrm>
            <a:prstGeom prst="line">
              <a:avLst/>
            </a:prstGeom>
            <a:noFill/>
            <a:ln w="9525">
              <a:solidFill>
                <a:schemeClr val="tx1"/>
              </a:solidFill>
              <a:round/>
              <a:headEnd/>
              <a:tailEnd type="triangle" w="med" len="med"/>
            </a:ln>
          </p:spPr>
          <p:txBody>
            <a:bodyPr wrap="none"/>
            <a:lstStyle/>
            <a:p>
              <a:endParaRPr lang="en-US"/>
            </a:p>
          </p:txBody>
        </p:sp>
        <p:sp>
          <p:nvSpPr>
            <p:cNvPr id="18447" name="Line 15"/>
            <p:cNvSpPr>
              <a:spLocks noChangeShapeType="1"/>
            </p:cNvSpPr>
            <p:nvPr/>
          </p:nvSpPr>
          <p:spPr bwMode="auto">
            <a:xfrm>
              <a:off x="2245" y="1752"/>
              <a:ext cx="363" cy="272"/>
            </a:xfrm>
            <a:prstGeom prst="line">
              <a:avLst/>
            </a:prstGeom>
            <a:noFill/>
            <a:ln w="9525">
              <a:solidFill>
                <a:schemeClr val="tx1"/>
              </a:solidFill>
              <a:round/>
              <a:headEnd/>
              <a:tailEnd type="triangle" w="med" len="med"/>
            </a:ln>
          </p:spPr>
          <p:txBody>
            <a:bodyPr wrap="none"/>
            <a:lstStyle/>
            <a:p>
              <a:endParaRPr lang="en-US"/>
            </a:p>
          </p:txBody>
        </p:sp>
        <p:sp>
          <p:nvSpPr>
            <p:cNvPr id="18448" name="Oval 18"/>
            <p:cNvSpPr>
              <a:spLocks noChangeArrowheads="1"/>
            </p:cNvSpPr>
            <p:nvPr/>
          </p:nvSpPr>
          <p:spPr bwMode="auto">
            <a:xfrm>
              <a:off x="3288" y="2704"/>
              <a:ext cx="360" cy="360"/>
            </a:xfrm>
            <a:prstGeom prst="ellipse">
              <a:avLst/>
            </a:prstGeom>
            <a:noFill/>
            <a:ln w="25400">
              <a:solidFill>
                <a:schemeClr val="tx1"/>
              </a:solidFill>
              <a:round/>
              <a:headEnd/>
              <a:tailEnd/>
            </a:ln>
          </p:spPr>
          <p:txBody>
            <a:bodyPr wrap="none" anchor="ctr"/>
            <a:lstStyle/>
            <a:p>
              <a:endParaRPr lang="en-US" altLang="en-US"/>
            </a:p>
          </p:txBody>
        </p:sp>
        <p:sp>
          <p:nvSpPr>
            <p:cNvPr id="18449" name="Oval 18"/>
            <p:cNvSpPr>
              <a:spLocks noChangeArrowheads="1"/>
            </p:cNvSpPr>
            <p:nvPr/>
          </p:nvSpPr>
          <p:spPr bwMode="auto">
            <a:xfrm>
              <a:off x="4195" y="3385"/>
              <a:ext cx="360" cy="360"/>
            </a:xfrm>
            <a:prstGeom prst="ellipse">
              <a:avLst/>
            </a:prstGeom>
            <a:noFill/>
            <a:ln w="25400">
              <a:solidFill>
                <a:schemeClr val="tx1"/>
              </a:solidFill>
              <a:round/>
              <a:headEnd/>
              <a:tailEnd/>
            </a:ln>
          </p:spPr>
          <p:txBody>
            <a:bodyPr wrap="none" anchor="ctr"/>
            <a:lstStyle/>
            <a:p>
              <a:endParaRPr lang="en-US" altLang="en-US"/>
            </a:p>
          </p:txBody>
        </p:sp>
        <p:sp>
          <p:nvSpPr>
            <p:cNvPr id="18450" name="Line 18"/>
            <p:cNvSpPr>
              <a:spLocks noChangeShapeType="1"/>
            </p:cNvSpPr>
            <p:nvPr/>
          </p:nvSpPr>
          <p:spPr bwMode="auto">
            <a:xfrm>
              <a:off x="3016" y="981"/>
              <a:ext cx="817" cy="544"/>
            </a:xfrm>
            <a:prstGeom prst="line">
              <a:avLst/>
            </a:prstGeom>
            <a:noFill/>
            <a:ln w="9525">
              <a:solidFill>
                <a:schemeClr val="tx1"/>
              </a:solidFill>
              <a:round/>
              <a:headEnd/>
              <a:tailEnd type="triangle" w="med" len="med"/>
            </a:ln>
          </p:spPr>
          <p:txBody>
            <a:bodyPr wrap="none"/>
            <a:lstStyle/>
            <a:p>
              <a:endParaRPr lang="en-US"/>
            </a:p>
          </p:txBody>
        </p:sp>
        <p:sp>
          <p:nvSpPr>
            <p:cNvPr id="18451" name="Line 19"/>
            <p:cNvSpPr>
              <a:spLocks noChangeShapeType="1"/>
            </p:cNvSpPr>
            <p:nvPr/>
          </p:nvSpPr>
          <p:spPr bwMode="auto">
            <a:xfrm flipH="1">
              <a:off x="3560" y="1842"/>
              <a:ext cx="363" cy="908"/>
            </a:xfrm>
            <a:prstGeom prst="line">
              <a:avLst/>
            </a:prstGeom>
            <a:noFill/>
            <a:ln w="9525">
              <a:solidFill>
                <a:schemeClr val="tx1"/>
              </a:solidFill>
              <a:round/>
              <a:headEnd/>
              <a:tailEnd type="triangle" w="med" len="med"/>
            </a:ln>
          </p:spPr>
          <p:txBody>
            <a:bodyPr wrap="none"/>
            <a:lstStyle/>
            <a:p>
              <a:endParaRPr lang="en-US"/>
            </a:p>
          </p:txBody>
        </p:sp>
        <p:sp>
          <p:nvSpPr>
            <p:cNvPr id="18452" name="Line 20"/>
            <p:cNvSpPr>
              <a:spLocks noChangeShapeType="1"/>
            </p:cNvSpPr>
            <p:nvPr/>
          </p:nvSpPr>
          <p:spPr bwMode="auto">
            <a:xfrm>
              <a:off x="4105" y="1797"/>
              <a:ext cx="272" cy="1588"/>
            </a:xfrm>
            <a:prstGeom prst="line">
              <a:avLst/>
            </a:prstGeom>
            <a:noFill/>
            <a:ln w="9525">
              <a:solidFill>
                <a:schemeClr val="tx1"/>
              </a:solidFill>
              <a:round/>
              <a:headEnd/>
              <a:tailEnd type="triangle" w="med" len="med"/>
            </a:ln>
          </p:spPr>
          <p:txBody>
            <a:bodyPr wrap="none"/>
            <a:lstStyle/>
            <a:p>
              <a:endParaRPr lang="en-US"/>
            </a:p>
          </p:txBody>
        </p:sp>
        <p:sp>
          <p:nvSpPr>
            <p:cNvPr id="18453" name="Rectangle 17"/>
            <p:cNvSpPr>
              <a:spLocks noChangeArrowheads="1"/>
            </p:cNvSpPr>
            <p:nvPr/>
          </p:nvSpPr>
          <p:spPr bwMode="auto">
            <a:xfrm>
              <a:off x="4241" y="3385"/>
              <a:ext cx="304"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G</a:t>
              </a:r>
            </a:p>
          </p:txBody>
        </p:sp>
        <p:sp>
          <p:nvSpPr>
            <p:cNvPr id="18454" name="Rectangle 17"/>
            <p:cNvSpPr>
              <a:spLocks noChangeArrowheads="1"/>
            </p:cNvSpPr>
            <p:nvPr/>
          </p:nvSpPr>
          <p:spPr bwMode="auto">
            <a:xfrm>
              <a:off x="3334" y="2704"/>
              <a:ext cx="272" cy="336"/>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3600" b="1">
                  <a:latin typeface="Times New Roman" charset="0"/>
                  <a:cs typeface="Times New Roman (Hebrew)" charset="-79"/>
                </a:rPr>
                <a:t>E</a:t>
              </a:r>
            </a:p>
          </p:txBody>
        </p:sp>
        <p:sp>
          <p:nvSpPr>
            <p:cNvPr id="18455" name="Rectangle 40"/>
            <p:cNvSpPr>
              <a:spLocks noChangeArrowheads="1"/>
            </p:cNvSpPr>
            <p:nvPr/>
          </p:nvSpPr>
          <p:spPr bwMode="auto">
            <a:xfrm>
              <a:off x="2245" y="2115"/>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8456" name="Rectangle 40"/>
            <p:cNvSpPr>
              <a:spLocks noChangeArrowheads="1"/>
            </p:cNvSpPr>
            <p:nvPr/>
          </p:nvSpPr>
          <p:spPr bwMode="auto">
            <a:xfrm>
              <a:off x="2971" y="2840"/>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(3)</a:t>
              </a:r>
            </a:p>
          </p:txBody>
        </p:sp>
        <p:sp>
          <p:nvSpPr>
            <p:cNvPr id="18457" name="Rectangle 40"/>
            <p:cNvSpPr>
              <a:spLocks noChangeArrowheads="1"/>
            </p:cNvSpPr>
            <p:nvPr/>
          </p:nvSpPr>
          <p:spPr bwMode="auto">
            <a:xfrm>
              <a:off x="3787" y="3475"/>
              <a:ext cx="34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(0)</a:t>
              </a:r>
            </a:p>
          </p:txBody>
        </p:sp>
        <p:sp>
          <p:nvSpPr>
            <p:cNvPr id="18458" name="Rectangle 40"/>
            <p:cNvSpPr>
              <a:spLocks noChangeArrowheads="1"/>
            </p:cNvSpPr>
            <p:nvPr/>
          </p:nvSpPr>
          <p:spPr bwMode="auto">
            <a:xfrm>
              <a:off x="1882" y="709"/>
              <a:ext cx="454"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[15]</a:t>
              </a:r>
            </a:p>
          </p:txBody>
        </p:sp>
        <p:sp>
          <p:nvSpPr>
            <p:cNvPr id="18459" name="Rectangle 40"/>
            <p:cNvSpPr>
              <a:spLocks noChangeArrowheads="1"/>
            </p:cNvSpPr>
            <p:nvPr/>
          </p:nvSpPr>
          <p:spPr bwMode="auto">
            <a:xfrm>
              <a:off x="2245" y="1026"/>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18460" name="Rectangle 40"/>
            <p:cNvSpPr>
              <a:spLocks noChangeArrowheads="1"/>
            </p:cNvSpPr>
            <p:nvPr/>
          </p:nvSpPr>
          <p:spPr bwMode="auto">
            <a:xfrm>
              <a:off x="3379" y="981"/>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5</a:t>
              </a:r>
            </a:p>
          </p:txBody>
        </p:sp>
        <p:sp>
          <p:nvSpPr>
            <p:cNvPr id="18461" name="Rectangle 40"/>
            <p:cNvSpPr>
              <a:spLocks noChangeArrowheads="1"/>
            </p:cNvSpPr>
            <p:nvPr/>
          </p:nvSpPr>
          <p:spPr bwMode="auto">
            <a:xfrm>
              <a:off x="2789" y="1344"/>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dirty="0">
                  <a:latin typeface="Times New Roman" charset="0"/>
                  <a:cs typeface="Times New Roman (Hebrew)" charset="-79"/>
                </a:rPr>
                <a:t>5</a:t>
              </a:r>
            </a:p>
          </p:txBody>
        </p:sp>
        <p:sp>
          <p:nvSpPr>
            <p:cNvPr id="18462" name="Rectangle 40"/>
            <p:cNvSpPr>
              <a:spLocks noChangeArrowheads="1"/>
            </p:cNvSpPr>
            <p:nvPr/>
          </p:nvSpPr>
          <p:spPr bwMode="auto">
            <a:xfrm>
              <a:off x="2381" y="1616"/>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8463" name="Rectangle 40"/>
            <p:cNvSpPr>
              <a:spLocks noChangeArrowheads="1"/>
            </p:cNvSpPr>
            <p:nvPr/>
          </p:nvSpPr>
          <p:spPr bwMode="auto">
            <a:xfrm>
              <a:off x="3061" y="2205"/>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8464" name="Rectangle 40"/>
            <p:cNvSpPr>
              <a:spLocks noChangeArrowheads="1"/>
            </p:cNvSpPr>
            <p:nvPr/>
          </p:nvSpPr>
          <p:spPr bwMode="auto">
            <a:xfrm>
              <a:off x="3606" y="2024"/>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2</a:t>
              </a:r>
            </a:p>
          </p:txBody>
        </p:sp>
        <p:sp>
          <p:nvSpPr>
            <p:cNvPr id="18465" name="Rectangle 40"/>
            <p:cNvSpPr>
              <a:spLocks noChangeArrowheads="1"/>
            </p:cNvSpPr>
            <p:nvPr/>
          </p:nvSpPr>
          <p:spPr bwMode="auto">
            <a:xfrm>
              <a:off x="4286" y="2387"/>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4</a:t>
              </a:r>
            </a:p>
          </p:txBody>
        </p:sp>
        <p:sp>
          <p:nvSpPr>
            <p:cNvPr id="18466" name="Line 34"/>
            <p:cNvSpPr>
              <a:spLocks noChangeShapeType="1"/>
            </p:cNvSpPr>
            <p:nvPr/>
          </p:nvSpPr>
          <p:spPr bwMode="auto">
            <a:xfrm>
              <a:off x="2562" y="1162"/>
              <a:ext cx="227" cy="91"/>
            </a:xfrm>
            <a:prstGeom prst="line">
              <a:avLst/>
            </a:prstGeom>
            <a:noFill/>
            <a:ln w="9525">
              <a:solidFill>
                <a:schemeClr val="tx1"/>
              </a:solidFill>
              <a:round/>
              <a:headEnd/>
              <a:tailEnd/>
            </a:ln>
          </p:spPr>
          <p:txBody>
            <a:bodyPr wrap="none"/>
            <a:lstStyle/>
            <a:p>
              <a:endParaRPr lang="en-US"/>
            </a:p>
          </p:txBody>
        </p:sp>
        <p:sp>
          <p:nvSpPr>
            <p:cNvPr id="18467" name="Rectangle 40"/>
            <p:cNvSpPr>
              <a:spLocks noChangeArrowheads="1"/>
            </p:cNvSpPr>
            <p:nvPr/>
          </p:nvSpPr>
          <p:spPr bwMode="auto">
            <a:xfrm>
              <a:off x="3198" y="663"/>
              <a:ext cx="715"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solidFill>
                    <a:srgbClr val="FF0000"/>
                  </a:solidFill>
                  <a:latin typeface="Times New Roman" charset="0"/>
                  <a:cs typeface="Times New Roman (Hebrew)" charset="-79"/>
                </a:rPr>
                <a:t>Solved</a:t>
              </a:r>
            </a:p>
          </p:txBody>
        </p:sp>
        <p:sp>
          <p:nvSpPr>
            <p:cNvPr id="18468" name="Line 36"/>
            <p:cNvSpPr>
              <a:spLocks noChangeShapeType="1"/>
            </p:cNvSpPr>
            <p:nvPr/>
          </p:nvSpPr>
          <p:spPr bwMode="auto">
            <a:xfrm>
              <a:off x="3016" y="754"/>
              <a:ext cx="363" cy="272"/>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18469" name="Line 36"/>
            <p:cNvSpPr>
              <a:spLocks noChangeShapeType="1"/>
            </p:cNvSpPr>
            <p:nvPr/>
          </p:nvSpPr>
          <p:spPr bwMode="auto">
            <a:xfrm>
              <a:off x="4286" y="1752"/>
              <a:ext cx="90" cy="544"/>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18470" name="Line 38"/>
            <p:cNvSpPr>
              <a:spLocks noChangeShapeType="1"/>
            </p:cNvSpPr>
            <p:nvPr/>
          </p:nvSpPr>
          <p:spPr bwMode="auto">
            <a:xfrm>
              <a:off x="3606" y="2976"/>
              <a:ext cx="635" cy="499"/>
            </a:xfrm>
            <a:prstGeom prst="line">
              <a:avLst/>
            </a:prstGeom>
            <a:noFill/>
            <a:ln w="9525">
              <a:solidFill>
                <a:schemeClr val="tx1"/>
              </a:solidFill>
              <a:round/>
              <a:headEnd/>
              <a:tailEnd type="triangle" w="med" len="med"/>
            </a:ln>
          </p:spPr>
          <p:txBody>
            <a:bodyPr wrap="none"/>
            <a:lstStyle/>
            <a:p>
              <a:endParaRPr lang="en-US"/>
            </a:p>
          </p:txBody>
        </p:sp>
        <p:sp>
          <p:nvSpPr>
            <p:cNvPr id="18471" name="Rectangle 40"/>
            <p:cNvSpPr>
              <a:spLocks noChangeArrowheads="1"/>
            </p:cNvSpPr>
            <p:nvPr/>
          </p:nvSpPr>
          <p:spPr bwMode="auto">
            <a:xfrm>
              <a:off x="3878" y="2931"/>
              <a:ext cx="192"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latin typeface="Times New Roman" charset="0"/>
                  <a:cs typeface="Times New Roman (Hebrew)" charset="-79"/>
                </a:rPr>
                <a:t>3</a:t>
              </a:r>
            </a:p>
          </p:txBody>
        </p:sp>
        <p:sp>
          <p:nvSpPr>
            <p:cNvPr id="18472" name="Line 36"/>
            <p:cNvSpPr>
              <a:spLocks noChangeShapeType="1"/>
            </p:cNvSpPr>
            <p:nvPr/>
          </p:nvSpPr>
          <p:spPr bwMode="auto">
            <a:xfrm>
              <a:off x="1927" y="1842"/>
              <a:ext cx="362" cy="273"/>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18473" name="Rectangle 40"/>
            <p:cNvSpPr>
              <a:spLocks noChangeArrowheads="1"/>
            </p:cNvSpPr>
            <p:nvPr/>
          </p:nvSpPr>
          <p:spPr bwMode="auto">
            <a:xfrm>
              <a:off x="4649" y="3430"/>
              <a:ext cx="715"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solidFill>
                    <a:srgbClr val="FF0000"/>
                  </a:solidFill>
                  <a:latin typeface="Times New Roman" charset="0"/>
                  <a:cs typeface="Times New Roman (Hebrew)" charset="-79"/>
                </a:rPr>
                <a:t>Sol</a:t>
              </a:r>
              <a:r>
                <a:rPr lang="en-US" altLang="he-IL" sz="2800" b="1">
                  <a:solidFill>
                    <a:srgbClr val="FF0000"/>
                  </a:solidFill>
                  <a:latin typeface="Times New Roman" charset="0"/>
                  <a:cs typeface="Times New Roman (Hebrew)" charset="-79"/>
                </a:rPr>
                <a:t>ved</a:t>
              </a:r>
              <a:endParaRPr lang="es-MX" altLang="he-IL" sz="2800" b="1">
                <a:solidFill>
                  <a:srgbClr val="FF0000"/>
                </a:solidFill>
                <a:latin typeface="Times New Roman" charset="0"/>
                <a:cs typeface="Times New Roman (Hebrew)" charset="-79"/>
              </a:endParaRPr>
            </a:p>
          </p:txBody>
        </p:sp>
        <p:sp>
          <p:nvSpPr>
            <p:cNvPr id="18474" name="Line 36"/>
            <p:cNvSpPr>
              <a:spLocks noChangeShapeType="1"/>
            </p:cNvSpPr>
            <p:nvPr/>
          </p:nvSpPr>
          <p:spPr bwMode="auto">
            <a:xfrm>
              <a:off x="3379" y="3158"/>
              <a:ext cx="362" cy="273"/>
            </a:xfrm>
            <a:prstGeom prst="line">
              <a:avLst/>
            </a:prstGeom>
            <a:noFill/>
            <a:ln w="50800">
              <a:solidFill>
                <a:schemeClr val="accent1"/>
              </a:solidFill>
              <a:prstDash val="sysDot"/>
              <a:round/>
              <a:headEnd type="none" w="sm" len="sm"/>
              <a:tailEnd type="stealth" w="med" len="lg"/>
            </a:ln>
          </p:spPr>
          <p:txBody>
            <a:bodyPr wrap="none" anchor="ctr"/>
            <a:lstStyle/>
            <a:p>
              <a:endParaRPr lang="en-US"/>
            </a:p>
          </p:txBody>
        </p:sp>
        <p:sp>
          <p:nvSpPr>
            <p:cNvPr id="18475" name="Rectangle 40"/>
            <p:cNvSpPr>
              <a:spLocks noChangeArrowheads="1"/>
            </p:cNvSpPr>
            <p:nvPr/>
          </p:nvSpPr>
          <p:spPr bwMode="auto">
            <a:xfrm>
              <a:off x="4241" y="1434"/>
              <a:ext cx="715" cy="269"/>
            </a:xfrm>
            <a:prstGeom prst="rect">
              <a:avLst/>
            </a:prstGeom>
            <a:noFill/>
            <a:ln w="9525">
              <a:noFill/>
              <a:miter lim="800000"/>
              <a:headEnd/>
              <a:tailEnd/>
            </a:ln>
          </p:spPr>
          <p:txBody>
            <a:bodyPr wrap="none" lIns="63500" tIns="25400" rIns="63500" bIns="25400">
              <a:spAutoFit/>
            </a:bodyPr>
            <a:lstStyle/>
            <a:p>
              <a:pPr eaLnBrk="0" hangingPunct="0">
                <a:lnSpc>
                  <a:spcPct val="88000"/>
                </a:lnSpc>
              </a:pPr>
              <a:r>
                <a:rPr lang="es-MX" altLang="he-IL" sz="2800" b="1">
                  <a:solidFill>
                    <a:srgbClr val="FF0000"/>
                  </a:solidFill>
                  <a:latin typeface="Times New Roman" charset="0"/>
                  <a:cs typeface="Times New Roman (Hebrew)" charset="-79"/>
                </a:rPr>
                <a:t>Sol</a:t>
              </a:r>
              <a:r>
                <a:rPr lang="en-US" altLang="he-IL" sz="2800" b="1">
                  <a:solidFill>
                    <a:srgbClr val="FF0000"/>
                  </a:solidFill>
                  <a:latin typeface="Times New Roman" charset="0"/>
                  <a:cs typeface="Times New Roman (Hebrew)" charset="-79"/>
                </a:rPr>
                <a:t>ved</a:t>
              </a:r>
              <a:endParaRPr lang="es-MX" altLang="he-IL" sz="2800" b="1">
                <a:solidFill>
                  <a:srgbClr val="FF0000"/>
                </a:solidFill>
                <a:latin typeface="Times New Roman" charset="0"/>
                <a:cs typeface="Times New Roman (Hebrew)" charset="-79"/>
              </a:endParaRPr>
            </a:p>
          </p:txBody>
        </p:sp>
      </p:gr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miter lim="800000"/>
            <a:headEnd/>
            <a:tailEnd/>
          </a:ln>
        </p:spPr>
        <p:txBody>
          <a:bodyPr/>
          <a:lstStyle/>
          <a:p>
            <a:fld id="{27727E72-A6AE-444F-B384-68FBC68AEB31}" type="slidenum">
              <a:rPr lang="en-GB"/>
              <a:pPr/>
              <a:t>218</a:t>
            </a:fld>
            <a:endParaRPr lang="en-GB"/>
          </a:p>
        </p:txBody>
      </p:sp>
      <p:sp>
        <p:nvSpPr>
          <p:cNvPr id="41987" name="Rectangle 2"/>
          <p:cNvSpPr>
            <a:spLocks noGrp="1" noChangeArrowheads="1"/>
          </p:cNvSpPr>
          <p:nvPr>
            <p:ph type="title"/>
          </p:nvPr>
        </p:nvSpPr>
        <p:spPr/>
        <p:txBody>
          <a:bodyPr/>
          <a:lstStyle/>
          <a:p>
            <a:pPr eaLnBrk="1" hangingPunct="1"/>
            <a:r>
              <a:rPr lang="en-GB"/>
              <a:t>Problem Reduction</a:t>
            </a:r>
          </a:p>
        </p:txBody>
      </p:sp>
      <p:sp>
        <p:nvSpPr>
          <p:cNvPr id="41988" name="Rectangle 5"/>
          <p:cNvSpPr>
            <a:spLocks noChangeArrowheads="1"/>
          </p:cNvSpPr>
          <p:nvPr/>
        </p:nvSpPr>
        <p:spPr bwMode="auto">
          <a:xfrm>
            <a:off x="3200400" y="1981200"/>
            <a:ext cx="2819400" cy="4572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Goal: Acquire TV set</a:t>
            </a:r>
          </a:p>
        </p:txBody>
      </p:sp>
      <p:cxnSp>
        <p:nvCxnSpPr>
          <p:cNvPr id="41989" name="AutoShape 9"/>
          <p:cNvCxnSpPr>
            <a:cxnSpLocks noChangeShapeType="1"/>
            <a:stCxn id="41993" idx="0"/>
            <a:endCxn id="41988" idx="2"/>
          </p:cNvCxnSpPr>
          <p:nvPr/>
        </p:nvCxnSpPr>
        <p:spPr bwMode="auto">
          <a:xfrm flipV="1">
            <a:off x="1744663" y="2438400"/>
            <a:ext cx="2865437" cy="609600"/>
          </a:xfrm>
          <a:prstGeom prst="straightConnector1">
            <a:avLst/>
          </a:prstGeom>
          <a:noFill/>
          <a:ln w="12700">
            <a:solidFill>
              <a:schemeClr val="tx1"/>
            </a:solidFill>
            <a:round/>
            <a:headEnd/>
            <a:tailEnd/>
          </a:ln>
          <a:effectLst/>
        </p:spPr>
      </p:cxnSp>
      <p:cxnSp>
        <p:nvCxnSpPr>
          <p:cNvPr id="41990" name="AutoShape 10"/>
          <p:cNvCxnSpPr>
            <a:cxnSpLocks noChangeShapeType="1"/>
            <a:stCxn id="41988" idx="2"/>
            <a:endCxn id="41994" idx="0"/>
          </p:cNvCxnSpPr>
          <p:nvPr/>
        </p:nvCxnSpPr>
        <p:spPr bwMode="auto">
          <a:xfrm flipH="1">
            <a:off x="4572000" y="2438400"/>
            <a:ext cx="38100" cy="609600"/>
          </a:xfrm>
          <a:prstGeom prst="straightConnector1">
            <a:avLst/>
          </a:prstGeom>
          <a:noFill/>
          <a:ln w="12700">
            <a:solidFill>
              <a:schemeClr val="tx1"/>
            </a:solidFill>
            <a:round/>
            <a:headEnd/>
            <a:tailEnd/>
          </a:ln>
          <a:effectLst/>
        </p:spPr>
      </p:cxnSp>
      <p:cxnSp>
        <p:nvCxnSpPr>
          <p:cNvPr id="41991" name="AutoShape 11"/>
          <p:cNvCxnSpPr>
            <a:cxnSpLocks noChangeShapeType="1"/>
            <a:stCxn id="41988" idx="2"/>
            <a:endCxn id="41995" idx="0"/>
          </p:cNvCxnSpPr>
          <p:nvPr/>
        </p:nvCxnSpPr>
        <p:spPr bwMode="auto">
          <a:xfrm>
            <a:off x="4610100" y="2438400"/>
            <a:ext cx="2786063" cy="609600"/>
          </a:xfrm>
          <a:prstGeom prst="straightConnector1">
            <a:avLst/>
          </a:prstGeom>
          <a:noFill/>
          <a:ln w="12700">
            <a:solidFill>
              <a:schemeClr val="tx1"/>
            </a:solidFill>
            <a:round/>
            <a:headEnd/>
            <a:tailEnd/>
          </a:ln>
          <a:effectLst/>
        </p:spPr>
      </p:cxnSp>
      <p:sp>
        <p:nvSpPr>
          <p:cNvPr id="41992" name="Text Box 14"/>
          <p:cNvSpPr txBox="1">
            <a:spLocks noChangeArrowheads="1"/>
          </p:cNvSpPr>
          <p:nvPr/>
        </p:nvSpPr>
        <p:spPr bwMode="auto">
          <a:xfrm>
            <a:off x="3581400" y="3810000"/>
            <a:ext cx="22098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AND-OR Graphs</a:t>
            </a:r>
          </a:p>
        </p:txBody>
      </p:sp>
      <p:sp>
        <p:nvSpPr>
          <p:cNvPr id="41993" name="Rectangle 15"/>
          <p:cNvSpPr>
            <a:spLocks noChangeArrowheads="1"/>
          </p:cNvSpPr>
          <p:nvPr/>
        </p:nvSpPr>
        <p:spPr bwMode="auto">
          <a:xfrm>
            <a:off x="487363" y="3048000"/>
            <a:ext cx="2514600" cy="4572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Goal: Steal TV set</a:t>
            </a:r>
          </a:p>
        </p:txBody>
      </p:sp>
      <p:sp>
        <p:nvSpPr>
          <p:cNvPr id="41994" name="Rectangle 16"/>
          <p:cNvSpPr>
            <a:spLocks noChangeArrowheads="1"/>
          </p:cNvSpPr>
          <p:nvPr/>
        </p:nvSpPr>
        <p:spPr bwMode="auto">
          <a:xfrm>
            <a:off x="3132138" y="3048000"/>
            <a:ext cx="2879725" cy="4572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Goal: Earn some money</a:t>
            </a:r>
          </a:p>
        </p:txBody>
      </p:sp>
      <p:sp>
        <p:nvSpPr>
          <p:cNvPr id="41995" name="Rectangle 17"/>
          <p:cNvSpPr>
            <a:spLocks noChangeArrowheads="1"/>
          </p:cNvSpPr>
          <p:nvPr/>
        </p:nvSpPr>
        <p:spPr bwMode="auto">
          <a:xfrm>
            <a:off x="6138863" y="3048000"/>
            <a:ext cx="2514600" cy="4572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Goal: Buy TV set</a:t>
            </a:r>
          </a:p>
        </p:txBody>
      </p:sp>
      <p:sp>
        <p:nvSpPr>
          <p:cNvPr id="41996" name="Rectangle 18"/>
          <p:cNvSpPr>
            <a:spLocks noChangeArrowheads="1"/>
          </p:cNvSpPr>
          <p:nvPr/>
        </p:nvSpPr>
        <p:spPr bwMode="auto">
          <a:xfrm>
            <a:off x="685800" y="4876800"/>
            <a:ext cx="7813675" cy="457200"/>
          </a:xfrm>
          <a:prstGeom prst="rect">
            <a:avLst/>
          </a:prstGeom>
          <a:noFill/>
          <a:ln w="9525">
            <a:noFill/>
            <a:miter lim="800000"/>
            <a:headEnd/>
            <a:tailEnd/>
          </a:ln>
          <a:effectLst/>
        </p:spPr>
        <p:txBody>
          <a:bodyPr wrap="none">
            <a:spAutoFit/>
          </a:bodyPr>
          <a:lstStyle/>
          <a:p>
            <a:r>
              <a:rPr lang="en-GB">
                <a:latin typeface="Arial Unicode MS" pitchFamily="34" charset="-128"/>
              </a:rPr>
              <a:t>Algorithm AO* (Martelli &amp; Montanari 1973, Nilsson 1980)</a:t>
            </a:r>
          </a:p>
        </p:txBody>
      </p:sp>
      <p:sp>
        <p:nvSpPr>
          <p:cNvPr id="41997" name="Freeform 19"/>
          <p:cNvSpPr>
            <a:spLocks/>
          </p:cNvSpPr>
          <p:nvPr/>
        </p:nvSpPr>
        <p:spPr bwMode="auto">
          <a:xfrm>
            <a:off x="4595813" y="2438400"/>
            <a:ext cx="287337" cy="282575"/>
          </a:xfrm>
          <a:custGeom>
            <a:avLst/>
            <a:gdLst>
              <a:gd name="T0" fmla="*/ 20637 w 181"/>
              <a:gd name="T1" fmla="*/ 0 h 178"/>
              <a:gd name="T2" fmla="*/ 0 w 181"/>
              <a:gd name="T3" fmla="*/ 282575 h 178"/>
              <a:gd name="T4" fmla="*/ 287337 w 181"/>
              <a:gd name="T5" fmla="*/ 66675 h 178"/>
              <a:gd name="T6" fmla="*/ 20637 w 181"/>
              <a:gd name="T7" fmla="*/ 0 h 1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1" h="178">
                <a:moveTo>
                  <a:pt x="13" y="0"/>
                </a:moveTo>
                <a:lnTo>
                  <a:pt x="0" y="178"/>
                </a:lnTo>
                <a:lnTo>
                  <a:pt x="181" y="42"/>
                </a:lnTo>
                <a:lnTo>
                  <a:pt x="13" y="0"/>
                </a:lnTo>
                <a:close/>
              </a:path>
            </a:pathLst>
          </a:custGeom>
          <a:solidFill>
            <a:srgbClr val="FF0000"/>
          </a:solidFill>
          <a:ln w="9525">
            <a:solidFill>
              <a:schemeClr val="tx1"/>
            </a:solidFill>
            <a:round/>
            <a:headEnd/>
            <a:tailEnd/>
          </a:ln>
          <a:effectLst/>
        </p:spPr>
        <p:txBody>
          <a:bodyPr/>
          <a:lstStyle/>
          <a:p>
            <a:endParaRPr lang="en-US"/>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a:ln>
            <a:miter lim="800000"/>
            <a:headEnd/>
            <a:tailEnd/>
          </a:ln>
        </p:spPr>
        <p:txBody>
          <a:bodyPr/>
          <a:lstStyle/>
          <a:p>
            <a:fld id="{8F18F673-78BC-49FF-8D1B-7B2759E27EB4}" type="slidenum">
              <a:rPr lang="en-GB"/>
              <a:pPr/>
              <a:t>219</a:t>
            </a:fld>
            <a:endParaRPr lang="en-GB"/>
          </a:p>
        </p:txBody>
      </p:sp>
      <p:sp>
        <p:nvSpPr>
          <p:cNvPr id="43011" name="Rectangle 2"/>
          <p:cNvSpPr>
            <a:spLocks noGrp="1" noChangeArrowheads="1"/>
          </p:cNvSpPr>
          <p:nvPr>
            <p:ph type="title"/>
          </p:nvPr>
        </p:nvSpPr>
        <p:spPr/>
        <p:txBody>
          <a:bodyPr/>
          <a:lstStyle/>
          <a:p>
            <a:pPr eaLnBrk="1" hangingPunct="1"/>
            <a:r>
              <a:rPr lang="en-GB"/>
              <a:t>Problem Reduction: AO*</a:t>
            </a:r>
          </a:p>
        </p:txBody>
      </p:sp>
      <p:sp>
        <p:nvSpPr>
          <p:cNvPr id="43012" name="Rectangle 63"/>
          <p:cNvSpPr>
            <a:spLocks noChangeArrowheads="1"/>
          </p:cNvSpPr>
          <p:nvPr/>
        </p:nvSpPr>
        <p:spPr bwMode="auto">
          <a:xfrm>
            <a:off x="6019800" y="18288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A</a:t>
            </a:r>
          </a:p>
        </p:txBody>
      </p:sp>
      <p:sp>
        <p:nvSpPr>
          <p:cNvPr id="43013" name="Rectangle 64"/>
          <p:cNvSpPr>
            <a:spLocks noChangeArrowheads="1"/>
          </p:cNvSpPr>
          <p:nvPr/>
        </p:nvSpPr>
        <p:spPr bwMode="auto">
          <a:xfrm>
            <a:off x="7162800" y="2438400"/>
            <a:ext cx="304800" cy="304800"/>
          </a:xfrm>
          <a:prstGeom prst="rect">
            <a:avLst/>
          </a:prstGeom>
          <a:solidFill>
            <a:srgbClr val="B2B2B2"/>
          </a:solidFill>
          <a:ln w="12700">
            <a:solidFill>
              <a:schemeClr val="tx1"/>
            </a:solidFill>
            <a:miter lim="800000"/>
            <a:headEnd/>
            <a:tailEnd/>
          </a:ln>
          <a:effectLst/>
        </p:spPr>
        <p:txBody>
          <a:bodyPr wrap="none" anchor="ctr"/>
          <a:lstStyle/>
          <a:p>
            <a:pPr algn="ctr"/>
            <a:r>
              <a:rPr lang="en-GB" sz="2000">
                <a:latin typeface="Arial Unicode MS" pitchFamily="34" charset="-128"/>
              </a:rPr>
              <a:t>D</a:t>
            </a:r>
          </a:p>
        </p:txBody>
      </p:sp>
      <p:sp>
        <p:nvSpPr>
          <p:cNvPr id="43014" name="Rectangle 65"/>
          <p:cNvSpPr>
            <a:spLocks noChangeArrowheads="1"/>
          </p:cNvSpPr>
          <p:nvPr/>
        </p:nvSpPr>
        <p:spPr bwMode="auto">
          <a:xfrm>
            <a:off x="6019800" y="24384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C</a:t>
            </a:r>
          </a:p>
        </p:txBody>
      </p:sp>
      <p:sp>
        <p:nvSpPr>
          <p:cNvPr id="43015" name="Rectangle 66"/>
          <p:cNvSpPr>
            <a:spLocks noChangeArrowheads="1"/>
          </p:cNvSpPr>
          <p:nvPr/>
        </p:nvSpPr>
        <p:spPr bwMode="auto">
          <a:xfrm>
            <a:off x="4876800" y="24384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B</a:t>
            </a:r>
          </a:p>
        </p:txBody>
      </p:sp>
      <p:cxnSp>
        <p:nvCxnSpPr>
          <p:cNvPr id="43016" name="AutoShape 67"/>
          <p:cNvCxnSpPr>
            <a:cxnSpLocks noChangeShapeType="1"/>
            <a:stCxn id="43015" idx="0"/>
            <a:endCxn id="43012" idx="2"/>
          </p:cNvCxnSpPr>
          <p:nvPr/>
        </p:nvCxnSpPr>
        <p:spPr bwMode="auto">
          <a:xfrm flipV="1">
            <a:off x="5029200" y="2133600"/>
            <a:ext cx="1143000" cy="304800"/>
          </a:xfrm>
          <a:prstGeom prst="straightConnector1">
            <a:avLst/>
          </a:prstGeom>
          <a:noFill/>
          <a:ln w="12700">
            <a:solidFill>
              <a:schemeClr val="tx1"/>
            </a:solidFill>
            <a:round/>
            <a:headEnd/>
            <a:tailEnd/>
          </a:ln>
          <a:effectLst/>
        </p:spPr>
      </p:cxnSp>
      <p:cxnSp>
        <p:nvCxnSpPr>
          <p:cNvPr id="43017" name="AutoShape 68"/>
          <p:cNvCxnSpPr>
            <a:cxnSpLocks noChangeShapeType="1"/>
            <a:stCxn id="43012" idx="2"/>
            <a:endCxn id="43014" idx="0"/>
          </p:cNvCxnSpPr>
          <p:nvPr/>
        </p:nvCxnSpPr>
        <p:spPr bwMode="auto">
          <a:xfrm>
            <a:off x="6172200" y="2133600"/>
            <a:ext cx="0" cy="304800"/>
          </a:xfrm>
          <a:prstGeom prst="straightConnector1">
            <a:avLst/>
          </a:prstGeom>
          <a:noFill/>
          <a:ln w="12700">
            <a:solidFill>
              <a:schemeClr val="tx1"/>
            </a:solidFill>
            <a:round/>
            <a:headEnd/>
            <a:tailEnd/>
          </a:ln>
          <a:effectLst/>
        </p:spPr>
      </p:cxnSp>
      <p:cxnSp>
        <p:nvCxnSpPr>
          <p:cNvPr id="43018" name="AutoShape 69"/>
          <p:cNvCxnSpPr>
            <a:cxnSpLocks noChangeShapeType="1"/>
            <a:stCxn id="43012" idx="2"/>
            <a:endCxn id="43013" idx="0"/>
          </p:cNvCxnSpPr>
          <p:nvPr/>
        </p:nvCxnSpPr>
        <p:spPr bwMode="auto">
          <a:xfrm>
            <a:off x="6172200" y="2133600"/>
            <a:ext cx="1143000" cy="304800"/>
          </a:xfrm>
          <a:prstGeom prst="straightConnector1">
            <a:avLst/>
          </a:prstGeom>
          <a:noFill/>
          <a:ln w="12700">
            <a:solidFill>
              <a:schemeClr val="tx1"/>
            </a:solidFill>
            <a:round/>
            <a:headEnd/>
            <a:tailEnd/>
          </a:ln>
          <a:effectLst/>
        </p:spPr>
      </p:cxnSp>
      <p:sp>
        <p:nvSpPr>
          <p:cNvPr id="43019" name="Text Box 70"/>
          <p:cNvSpPr txBox="1">
            <a:spLocks noChangeArrowheads="1"/>
          </p:cNvSpPr>
          <p:nvPr/>
        </p:nvSpPr>
        <p:spPr bwMode="auto">
          <a:xfrm>
            <a:off x="6019800" y="27432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4</a:t>
            </a:r>
          </a:p>
        </p:txBody>
      </p:sp>
      <p:sp>
        <p:nvSpPr>
          <p:cNvPr id="43020" name="Text Box 71"/>
          <p:cNvSpPr txBox="1">
            <a:spLocks noChangeArrowheads="1"/>
          </p:cNvSpPr>
          <p:nvPr/>
        </p:nvSpPr>
        <p:spPr bwMode="auto">
          <a:xfrm>
            <a:off x="4876800" y="2743200"/>
            <a:ext cx="381000" cy="396875"/>
          </a:xfrm>
          <a:prstGeom prst="rect">
            <a:avLst/>
          </a:prstGeom>
          <a:noFill/>
          <a:ln w="9525">
            <a:noFill/>
            <a:miter lim="800000"/>
            <a:headEnd/>
            <a:tailEnd/>
          </a:ln>
          <a:effectLst/>
        </p:spPr>
        <p:txBody>
          <a:bodyPr>
            <a:spAutoFit/>
          </a:bodyPr>
          <a:lstStyle/>
          <a:p>
            <a:pPr>
              <a:spcBef>
                <a:spcPct val="50000"/>
              </a:spcBef>
            </a:pPr>
            <a:r>
              <a:rPr lang="en-GB" sz="2000" dirty="0">
                <a:solidFill>
                  <a:srgbClr val="0000FF"/>
                </a:solidFill>
                <a:latin typeface="Arial Unicode MS" pitchFamily="34" charset="-128"/>
              </a:rPr>
              <a:t>3</a:t>
            </a:r>
          </a:p>
        </p:txBody>
      </p:sp>
      <p:sp>
        <p:nvSpPr>
          <p:cNvPr id="43021" name="Text Box 72"/>
          <p:cNvSpPr txBox="1">
            <a:spLocks noChangeArrowheads="1"/>
          </p:cNvSpPr>
          <p:nvPr/>
        </p:nvSpPr>
        <p:spPr bwMode="auto">
          <a:xfrm>
            <a:off x="7162800" y="27432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5</a:t>
            </a:r>
          </a:p>
        </p:txBody>
      </p:sp>
      <p:sp>
        <p:nvSpPr>
          <p:cNvPr id="43022" name="Rectangle 73"/>
          <p:cNvSpPr>
            <a:spLocks noChangeArrowheads="1"/>
          </p:cNvSpPr>
          <p:nvPr/>
        </p:nvSpPr>
        <p:spPr bwMode="auto">
          <a:xfrm>
            <a:off x="2057400" y="18288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A</a:t>
            </a:r>
          </a:p>
        </p:txBody>
      </p:sp>
      <p:sp>
        <p:nvSpPr>
          <p:cNvPr id="43023" name="Text Box 74"/>
          <p:cNvSpPr txBox="1">
            <a:spLocks noChangeArrowheads="1"/>
          </p:cNvSpPr>
          <p:nvPr/>
        </p:nvSpPr>
        <p:spPr bwMode="auto">
          <a:xfrm>
            <a:off x="2057400" y="21336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5</a:t>
            </a:r>
          </a:p>
        </p:txBody>
      </p:sp>
      <p:sp>
        <p:nvSpPr>
          <p:cNvPr id="43024" name="Text Box 75"/>
          <p:cNvSpPr txBox="1">
            <a:spLocks noChangeArrowheads="1"/>
          </p:cNvSpPr>
          <p:nvPr/>
        </p:nvSpPr>
        <p:spPr bwMode="auto">
          <a:xfrm>
            <a:off x="6324600" y="18288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6</a:t>
            </a:r>
          </a:p>
        </p:txBody>
      </p:sp>
      <p:sp>
        <p:nvSpPr>
          <p:cNvPr id="43025" name="Rectangle 76"/>
          <p:cNvSpPr>
            <a:spLocks noChangeArrowheads="1"/>
          </p:cNvSpPr>
          <p:nvPr/>
        </p:nvSpPr>
        <p:spPr bwMode="auto">
          <a:xfrm>
            <a:off x="3810000" y="48768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F</a:t>
            </a:r>
          </a:p>
        </p:txBody>
      </p:sp>
      <p:sp>
        <p:nvSpPr>
          <p:cNvPr id="43026" name="Rectangle 77"/>
          <p:cNvSpPr>
            <a:spLocks noChangeArrowheads="1"/>
          </p:cNvSpPr>
          <p:nvPr/>
        </p:nvSpPr>
        <p:spPr bwMode="auto">
          <a:xfrm>
            <a:off x="2819400" y="48768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E</a:t>
            </a:r>
          </a:p>
        </p:txBody>
      </p:sp>
      <p:cxnSp>
        <p:nvCxnSpPr>
          <p:cNvPr id="43027" name="AutoShape 78"/>
          <p:cNvCxnSpPr>
            <a:cxnSpLocks noChangeShapeType="1"/>
            <a:endCxn id="43026" idx="0"/>
          </p:cNvCxnSpPr>
          <p:nvPr/>
        </p:nvCxnSpPr>
        <p:spPr bwMode="auto">
          <a:xfrm flipH="1">
            <a:off x="2971800" y="4648200"/>
            <a:ext cx="457200" cy="228600"/>
          </a:xfrm>
          <a:prstGeom prst="straightConnector1">
            <a:avLst/>
          </a:prstGeom>
          <a:noFill/>
          <a:ln w="12700">
            <a:solidFill>
              <a:schemeClr val="tx1"/>
            </a:solidFill>
            <a:round/>
            <a:headEnd/>
            <a:tailEnd/>
          </a:ln>
          <a:effectLst/>
        </p:spPr>
      </p:cxnSp>
      <p:cxnSp>
        <p:nvCxnSpPr>
          <p:cNvPr id="43028" name="AutoShape 79"/>
          <p:cNvCxnSpPr>
            <a:cxnSpLocks noChangeShapeType="1"/>
            <a:stCxn id="43033" idx="2"/>
            <a:endCxn id="43025" idx="0"/>
          </p:cNvCxnSpPr>
          <p:nvPr/>
        </p:nvCxnSpPr>
        <p:spPr bwMode="auto">
          <a:xfrm>
            <a:off x="3429000" y="4648200"/>
            <a:ext cx="533400" cy="228600"/>
          </a:xfrm>
          <a:prstGeom prst="straightConnector1">
            <a:avLst/>
          </a:prstGeom>
          <a:noFill/>
          <a:ln w="12700">
            <a:solidFill>
              <a:schemeClr val="tx1"/>
            </a:solidFill>
            <a:round/>
            <a:headEnd/>
            <a:tailEnd/>
          </a:ln>
          <a:effectLst/>
        </p:spPr>
      </p:cxnSp>
      <p:sp>
        <p:nvSpPr>
          <p:cNvPr id="43029" name="Text Box 80"/>
          <p:cNvSpPr txBox="1">
            <a:spLocks noChangeArrowheads="1"/>
          </p:cNvSpPr>
          <p:nvPr/>
        </p:nvSpPr>
        <p:spPr bwMode="auto">
          <a:xfrm>
            <a:off x="3810000" y="51816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4</a:t>
            </a:r>
          </a:p>
        </p:txBody>
      </p:sp>
      <p:sp>
        <p:nvSpPr>
          <p:cNvPr id="43030" name="Text Box 81"/>
          <p:cNvSpPr txBox="1">
            <a:spLocks noChangeArrowheads="1"/>
          </p:cNvSpPr>
          <p:nvPr/>
        </p:nvSpPr>
        <p:spPr bwMode="auto">
          <a:xfrm>
            <a:off x="2819400" y="51816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4</a:t>
            </a:r>
          </a:p>
        </p:txBody>
      </p:sp>
      <p:sp>
        <p:nvSpPr>
          <p:cNvPr id="43031" name="Freeform 82"/>
          <p:cNvSpPr>
            <a:spLocks/>
          </p:cNvSpPr>
          <p:nvPr/>
        </p:nvSpPr>
        <p:spPr bwMode="auto">
          <a:xfrm>
            <a:off x="5867400" y="2133600"/>
            <a:ext cx="304800" cy="152400"/>
          </a:xfrm>
          <a:custGeom>
            <a:avLst/>
            <a:gdLst>
              <a:gd name="T0" fmla="*/ 304800 w 192"/>
              <a:gd name="T1" fmla="*/ 0 h 96"/>
              <a:gd name="T2" fmla="*/ 0 w 192"/>
              <a:gd name="T3" fmla="*/ 76200 h 96"/>
              <a:gd name="T4" fmla="*/ 304800 w 192"/>
              <a:gd name="T5" fmla="*/ 152400 h 96"/>
              <a:gd name="T6" fmla="*/ 304800 w 192"/>
              <a:gd name="T7" fmla="*/ 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96">
                <a:moveTo>
                  <a:pt x="192" y="0"/>
                </a:moveTo>
                <a:lnTo>
                  <a:pt x="0" y="48"/>
                </a:lnTo>
                <a:lnTo>
                  <a:pt x="192" y="96"/>
                </a:lnTo>
                <a:lnTo>
                  <a:pt x="192" y="0"/>
                </a:lnTo>
                <a:close/>
              </a:path>
            </a:pathLst>
          </a:custGeom>
          <a:solidFill>
            <a:srgbClr val="FF9900"/>
          </a:solidFill>
          <a:ln w="9525">
            <a:solidFill>
              <a:schemeClr val="tx1"/>
            </a:solidFill>
            <a:round/>
            <a:headEnd/>
            <a:tailEnd/>
          </a:ln>
          <a:effectLst/>
        </p:spPr>
        <p:txBody>
          <a:bodyPr/>
          <a:lstStyle/>
          <a:p>
            <a:endParaRPr lang="en-US"/>
          </a:p>
        </p:txBody>
      </p:sp>
      <p:sp>
        <p:nvSpPr>
          <p:cNvPr id="43032" name="Rectangle 83"/>
          <p:cNvSpPr>
            <a:spLocks noChangeArrowheads="1"/>
          </p:cNvSpPr>
          <p:nvPr/>
        </p:nvSpPr>
        <p:spPr bwMode="auto">
          <a:xfrm>
            <a:off x="2133600" y="37338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A</a:t>
            </a:r>
          </a:p>
        </p:txBody>
      </p:sp>
      <p:sp>
        <p:nvSpPr>
          <p:cNvPr id="43033" name="Rectangle 84"/>
          <p:cNvSpPr>
            <a:spLocks noChangeArrowheads="1"/>
          </p:cNvSpPr>
          <p:nvPr/>
        </p:nvSpPr>
        <p:spPr bwMode="auto">
          <a:xfrm>
            <a:off x="3276600" y="43434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D</a:t>
            </a:r>
          </a:p>
        </p:txBody>
      </p:sp>
      <p:sp>
        <p:nvSpPr>
          <p:cNvPr id="43034" name="Rectangle 85"/>
          <p:cNvSpPr>
            <a:spLocks noChangeArrowheads="1"/>
          </p:cNvSpPr>
          <p:nvPr/>
        </p:nvSpPr>
        <p:spPr bwMode="auto">
          <a:xfrm>
            <a:off x="2133600" y="4343400"/>
            <a:ext cx="304800" cy="304800"/>
          </a:xfrm>
          <a:prstGeom prst="rect">
            <a:avLst/>
          </a:prstGeom>
          <a:solidFill>
            <a:srgbClr val="B2B2B2"/>
          </a:solidFill>
          <a:ln w="12700">
            <a:solidFill>
              <a:schemeClr val="tx1"/>
            </a:solidFill>
            <a:miter lim="800000"/>
            <a:headEnd/>
            <a:tailEnd/>
          </a:ln>
          <a:effectLst/>
        </p:spPr>
        <p:txBody>
          <a:bodyPr wrap="none" anchor="ctr"/>
          <a:lstStyle/>
          <a:p>
            <a:pPr algn="ctr"/>
            <a:r>
              <a:rPr lang="en-GB" sz="2000">
                <a:latin typeface="Arial Unicode MS" pitchFamily="34" charset="-128"/>
              </a:rPr>
              <a:t>C</a:t>
            </a:r>
          </a:p>
        </p:txBody>
      </p:sp>
      <p:sp>
        <p:nvSpPr>
          <p:cNvPr id="43035" name="Rectangle 86"/>
          <p:cNvSpPr>
            <a:spLocks noChangeArrowheads="1"/>
          </p:cNvSpPr>
          <p:nvPr/>
        </p:nvSpPr>
        <p:spPr bwMode="auto">
          <a:xfrm>
            <a:off x="990600" y="4343400"/>
            <a:ext cx="304800" cy="304800"/>
          </a:xfrm>
          <a:prstGeom prst="rect">
            <a:avLst/>
          </a:prstGeom>
          <a:solidFill>
            <a:srgbClr val="B2B2B2"/>
          </a:solidFill>
          <a:ln w="12700">
            <a:solidFill>
              <a:schemeClr val="tx1"/>
            </a:solidFill>
            <a:miter lim="800000"/>
            <a:headEnd/>
            <a:tailEnd/>
          </a:ln>
          <a:effectLst/>
        </p:spPr>
        <p:txBody>
          <a:bodyPr wrap="none" anchor="ctr"/>
          <a:lstStyle/>
          <a:p>
            <a:pPr algn="ctr"/>
            <a:r>
              <a:rPr lang="en-GB" sz="2000">
                <a:latin typeface="Arial Unicode MS" pitchFamily="34" charset="-128"/>
              </a:rPr>
              <a:t>B</a:t>
            </a:r>
          </a:p>
        </p:txBody>
      </p:sp>
      <p:cxnSp>
        <p:nvCxnSpPr>
          <p:cNvPr id="43036" name="AutoShape 87"/>
          <p:cNvCxnSpPr>
            <a:cxnSpLocks noChangeShapeType="1"/>
            <a:stCxn id="43035" idx="0"/>
            <a:endCxn id="43032" idx="2"/>
          </p:cNvCxnSpPr>
          <p:nvPr/>
        </p:nvCxnSpPr>
        <p:spPr bwMode="auto">
          <a:xfrm flipV="1">
            <a:off x="1143000" y="4038600"/>
            <a:ext cx="1143000" cy="304800"/>
          </a:xfrm>
          <a:prstGeom prst="straightConnector1">
            <a:avLst/>
          </a:prstGeom>
          <a:noFill/>
          <a:ln w="12700">
            <a:solidFill>
              <a:schemeClr val="tx1"/>
            </a:solidFill>
            <a:round/>
            <a:headEnd/>
            <a:tailEnd/>
          </a:ln>
          <a:effectLst/>
        </p:spPr>
      </p:cxnSp>
      <p:cxnSp>
        <p:nvCxnSpPr>
          <p:cNvPr id="43037" name="AutoShape 88"/>
          <p:cNvCxnSpPr>
            <a:cxnSpLocks noChangeShapeType="1"/>
            <a:stCxn id="43032" idx="2"/>
            <a:endCxn id="43034" idx="0"/>
          </p:cNvCxnSpPr>
          <p:nvPr/>
        </p:nvCxnSpPr>
        <p:spPr bwMode="auto">
          <a:xfrm>
            <a:off x="2286000" y="4038600"/>
            <a:ext cx="0" cy="304800"/>
          </a:xfrm>
          <a:prstGeom prst="straightConnector1">
            <a:avLst/>
          </a:prstGeom>
          <a:noFill/>
          <a:ln w="12700">
            <a:solidFill>
              <a:schemeClr val="tx1"/>
            </a:solidFill>
            <a:round/>
            <a:headEnd/>
            <a:tailEnd/>
          </a:ln>
          <a:effectLst/>
        </p:spPr>
      </p:cxnSp>
      <p:cxnSp>
        <p:nvCxnSpPr>
          <p:cNvPr id="43038" name="AutoShape 89"/>
          <p:cNvCxnSpPr>
            <a:cxnSpLocks noChangeShapeType="1"/>
            <a:stCxn id="43032" idx="2"/>
            <a:endCxn id="43033" idx="0"/>
          </p:cNvCxnSpPr>
          <p:nvPr/>
        </p:nvCxnSpPr>
        <p:spPr bwMode="auto">
          <a:xfrm>
            <a:off x="2286000" y="4038600"/>
            <a:ext cx="1143000" cy="304800"/>
          </a:xfrm>
          <a:prstGeom prst="straightConnector1">
            <a:avLst/>
          </a:prstGeom>
          <a:noFill/>
          <a:ln w="12700">
            <a:solidFill>
              <a:schemeClr val="tx1"/>
            </a:solidFill>
            <a:round/>
            <a:headEnd/>
            <a:tailEnd/>
          </a:ln>
          <a:effectLst/>
        </p:spPr>
      </p:cxnSp>
      <p:sp>
        <p:nvSpPr>
          <p:cNvPr id="43039" name="Text Box 90"/>
          <p:cNvSpPr txBox="1">
            <a:spLocks noChangeArrowheads="1"/>
          </p:cNvSpPr>
          <p:nvPr/>
        </p:nvSpPr>
        <p:spPr bwMode="auto">
          <a:xfrm>
            <a:off x="2133600" y="46482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4</a:t>
            </a:r>
          </a:p>
        </p:txBody>
      </p:sp>
      <p:sp>
        <p:nvSpPr>
          <p:cNvPr id="43040" name="Text Box 91"/>
          <p:cNvSpPr txBox="1">
            <a:spLocks noChangeArrowheads="1"/>
          </p:cNvSpPr>
          <p:nvPr/>
        </p:nvSpPr>
        <p:spPr bwMode="auto">
          <a:xfrm>
            <a:off x="990600" y="46482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3</a:t>
            </a:r>
          </a:p>
        </p:txBody>
      </p:sp>
      <p:sp>
        <p:nvSpPr>
          <p:cNvPr id="43041" name="Text Box 92"/>
          <p:cNvSpPr txBox="1">
            <a:spLocks noChangeArrowheads="1"/>
          </p:cNvSpPr>
          <p:nvPr/>
        </p:nvSpPr>
        <p:spPr bwMode="auto">
          <a:xfrm>
            <a:off x="3581400" y="4343400"/>
            <a:ext cx="5334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10</a:t>
            </a:r>
          </a:p>
        </p:txBody>
      </p:sp>
      <p:sp>
        <p:nvSpPr>
          <p:cNvPr id="43042" name="Text Box 93"/>
          <p:cNvSpPr txBox="1">
            <a:spLocks noChangeArrowheads="1"/>
          </p:cNvSpPr>
          <p:nvPr/>
        </p:nvSpPr>
        <p:spPr bwMode="auto">
          <a:xfrm>
            <a:off x="2438400" y="37338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9</a:t>
            </a:r>
          </a:p>
        </p:txBody>
      </p:sp>
      <p:sp>
        <p:nvSpPr>
          <p:cNvPr id="43043" name="Freeform 94"/>
          <p:cNvSpPr>
            <a:spLocks/>
          </p:cNvSpPr>
          <p:nvPr/>
        </p:nvSpPr>
        <p:spPr bwMode="auto">
          <a:xfrm>
            <a:off x="1981200" y="4038600"/>
            <a:ext cx="304800" cy="152400"/>
          </a:xfrm>
          <a:custGeom>
            <a:avLst/>
            <a:gdLst>
              <a:gd name="T0" fmla="*/ 304800 w 192"/>
              <a:gd name="T1" fmla="*/ 0 h 96"/>
              <a:gd name="T2" fmla="*/ 0 w 192"/>
              <a:gd name="T3" fmla="*/ 76200 h 96"/>
              <a:gd name="T4" fmla="*/ 304800 w 192"/>
              <a:gd name="T5" fmla="*/ 152400 h 96"/>
              <a:gd name="T6" fmla="*/ 304800 w 192"/>
              <a:gd name="T7" fmla="*/ 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96">
                <a:moveTo>
                  <a:pt x="192" y="0"/>
                </a:moveTo>
                <a:lnTo>
                  <a:pt x="0" y="48"/>
                </a:lnTo>
                <a:lnTo>
                  <a:pt x="192" y="96"/>
                </a:lnTo>
                <a:lnTo>
                  <a:pt x="192" y="0"/>
                </a:lnTo>
                <a:close/>
              </a:path>
            </a:pathLst>
          </a:custGeom>
          <a:solidFill>
            <a:srgbClr val="FF9900"/>
          </a:solidFill>
          <a:ln w="9525">
            <a:solidFill>
              <a:schemeClr val="tx1"/>
            </a:solidFill>
            <a:round/>
            <a:headEnd/>
            <a:tailEnd/>
          </a:ln>
          <a:effectLst/>
        </p:spPr>
        <p:txBody>
          <a:bodyPr/>
          <a:lstStyle/>
          <a:p>
            <a:endParaRPr lang="en-US"/>
          </a:p>
        </p:txBody>
      </p:sp>
      <p:sp>
        <p:nvSpPr>
          <p:cNvPr id="43044" name="Text Box 95"/>
          <p:cNvSpPr txBox="1">
            <a:spLocks noChangeArrowheads="1"/>
          </p:cNvSpPr>
          <p:nvPr/>
        </p:nvSpPr>
        <p:spPr bwMode="auto">
          <a:xfrm>
            <a:off x="5715000" y="22098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9</a:t>
            </a:r>
          </a:p>
        </p:txBody>
      </p:sp>
      <p:sp>
        <p:nvSpPr>
          <p:cNvPr id="43045" name="Freeform 98"/>
          <p:cNvSpPr>
            <a:spLocks/>
          </p:cNvSpPr>
          <p:nvPr/>
        </p:nvSpPr>
        <p:spPr bwMode="auto">
          <a:xfrm>
            <a:off x="3179763" y="4648200"/>
            <a:ext cx="517525" cy="106363"/>
          </a:xfrm>
          <a:custGeom>
            <a:avLst/>
            <a:gdLst>
              <a:gd name="T0" fmla="*/ 0 w 326"/>
              <a:gd name="T1" fmla="*/ 106363 h 67"/>
              <a:gd name="T2" fmla="*/ 517525 w 326"/>
              <a:gd name="T3" fmla="*/ 106363 h 67"/>
              <a:gd name="T4" fmla="*/ 249238 w 326"/>
              <a:gd name="T5" fmla="*/ 0 h 67"/>
              <a:gd name="T6" fmla="*/ 0 w 326"/>
              <a:gd name="T7" fmla="*/ 106363 h 6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6" h="67">
                <a:moveTo>
                  <a:pt x="0" y="67"/>
                </a:moveTo>
                <a:lnTo>
                  <a:pt x="326" y="67"/>
                </a:lnTo>
                <a:lnTo>
                  <a:pt x="157" y="0"/>
                </a:lnTo>
                <a:lnTo>
                  <a:pt x="0" y="67"/>
                </a:lnTo>
                <a:close/>
              </a:path>
            </a:pathLst>
          </a:custGeom>
          <a:solidFill>
            <a:srgbClr val="FF9900"/>
          </a:solidFill>
          <a:ln w="9525">
            <a:solidFill>
              <a:schemeClr val="tx1"/>
            </a:solidFill>
            <a:round/>
            <a:headEnd/>
            <a:tailEnd/>
          </a:ln>
          <a:effectLst/>
        </p:spPr>
        <p:txBody>
          <a:bodyPr/>
          <a:lstStyle/>
          <a:p>
            <a:endParaRPr lang="en-US"/>
          </a:p>
        </p:txBody>
      </p:sp>
      <p:sp>
        <p:nvSpPr>
          <p:cNvPr id="43046" name="Text Box 99"/>
          <p:cNvSpPr txBox="1">
            <a:spLocks noChangeArrowheads="1"/>
          </p:cNvSpPr>
          <p:nvPr/>
        </p:nvSpPr>
        <p:spPr bwMode="auto">
          <a:xfrm>
            <a:off x="1828800" y="41148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9</a:t>
            </a:r>
          </a:p>
        </p:txBody>
      </p:sp>
      <p:sp>
        <p:nvSpPr>
          <p:cNvPr id="43047" name="Rectangle 100"/>
          <p:cNvSpPr>
            <a:spLocks noChangeArrowheads="1"/>
          </p:cNvSpPr>
          <p:nvPr/>
        </p:nvSpPr>
        <p:spPr bwMode="auto">
          <a:xfrm>
            <a:off x="7772400" y="4876800"/>
            <a:ext cx="304800" cy="304800"/>
          </a:xfrm>
          <a:prstGeom prst="rect">
            <a:avLst/>
          </a:prstGeom>
          <a:solidFill>
            <a:srgbClr val="B2B2B2"/>
          </a:solidFill>
          <a:ln w="12700">
            <a:solidFill>
              <a:schemeClr val="tx1"/>
            </a:solidFill>
            <a:miter lim="800000"/>
            <a:headEnd/>
            <a:tailEnd/>
          </a:ln>
          <a:effectLst/>
        </p:spPr>
        <p:txBody>
          <a:bodyPr wrap="none" anchor="ctr"/>
          <a:lstStyle/>
          <a:p>
            <a:pPr algn="ctr"/>
            <a:r>
              <a:rPr lang="en-GB" sz="2000">
                <a:latin typeface="Arial Unicode MS" pitchFamily="34" charset="-128"/>
              </a:rPr>
              <a:t>F</a:t>
            </a:r>
          </a:p>
        </p:txBody>
      </p:sp>
      <p:sp>
        <p:nvSpPr>
          <p:cNvPr id="43048" name="Rectangle 101"/>
          <p:cNvSpPr>
            <a:spLocks noChangeArrowheads="1"/>
          </p:cNvSpPr>
          <p:nvPr/>
        </p:nvSpPr>
        <p:spPr bwMode="auto">
          <a:xfrm>
            <a:off x="6781800" y="4876800"/>
            <a:ext cx="304800" cy="304800"/>
          </a:xfrm>
          <a:prstGeom prst="rect">
            <a:avLst/>
          </a:prstGeom>
          <a:solidFill>
            <a:srgbClr val="B2B2B2"/>
          </a:solidFill>
          <a:ln w="12700">
            <a:solidFill>
              <a:schemeClr val="tx1"/>
            </a:solidFill>
            <a:miter lim="800000"/>
            <a:headEnd/>
            <a:tailEnd/>
          </a:ln>
          <a:effectLst/>
        </p:spPr>
        <p:txBody>
          <a:bodyPr wrap="none" anchor="ctr"/>
          <a:lstStyle/>
          <a:p>
            <a:pPr algn="ctr"/>
            <a:r>
              <a:rPr lang="en-GB" sz="2000">
                <a:latin typeface="Arial Unicode MS" pitchFamily="34" charset="-128"/>
              </a:rPr>
              <a:t>E</a:t>
            </a:r>
          </a:p>
        </p:txBody>
      </p:sp>
      <p:cxnSp>
        <p:nvCxnSpPr>
          <p:cNvPr id="43049" name="AutoShape 102"/>
          <p:cNvCxnSpPr>
            <a:cxnSpLocks noChangeShapeType="1"/>
            <a:endCxn id="43048" idx="0"/>
          </p:cNvCxnSpPr>
          <p:nvPr/>
        </p:nvCxnSpPr>
        <p:spPr bwMode="auto">
          <a:xfrm flipH="1">
            <a:off x="6934200" y="4648200"/>
            <a:ext cx="457200" cy="228600"/>
          </a:xfrm>
          <a:prstGeom prst="straightConnector1">
            <a:avLst/>
          </a:prstGeom>
          <a:noFill/>
          <a:ln w="12700">
            <a:solidFill>
              <a:schemeClr val="tx1"/>
            </a:solidFill>
            <a:round/>
            <a:headEnd/>
            <a:tailEnd/>
          </a:ln>
          <a:effectLst/>
        </p:spPr>
      </p:cxnSp>
      <p:cxnSp>
        <p:nvCxnSpPr>
          <p:cNvPr id="43050" name="AutoShape 103"/>
          <p:cNvCxnSpPr>
            <a:cxnSpLocks noChangeShapeType="1"/>
            <a:stCxn id="43054" idx="2"/>
            <a:endCxn id="43047" idx="0"/>
          </p:cNvCxnSpPr>
          <p:nvPr/>
        </p:nvCxnSpPr>
        <p:spPr bwMode="auto">
          <a:xfrm>
            <a:off x="7391400" y="4648200"/>
            <a:ext cx="533400" cy="228600"/>
          </a:xfrm>
          <a:prstGeom prst="straightConnector1">
            <a:avLst/>
          </a:prstGeom>
          <a:noFill/>
          <a:ln w="12700">
            <a:solidFill>
              <a:schemeClr val="tx1"/>
            </a:solidFill>
            <a:round/>
            <a:headEnd/>
            <a:tailEnd/>
          </a:ln>
          <a:effectLst/>
        </p:spPr>
      </p:cxnSp>
      <p:sp>
        <p:nvSpPr>
          <p:cNvPr id="43051" name="Text Box 104"/>
          <p:cNvSpPr txBox="1">
            <a:spLocks noChangeArrowheads="1"/>
          </p:cNvSpPr>
          <p:nvPr/>
        </p:nvSpPr>
        <p:spPr bwMode="auto">
          <a:xfrm>
            <a:off x="7772400" y="51816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4</a:t>
            </a:r>
          </a:p>
        </p:txBody>
      </p:sp>
      <p:sp>
        <p:nvSpPr>
          <p:cNvPr id="43052" name="Text Box 105"/>
          <p:cNvSpPr txBox="1">
            <a:spLocks noChangeArrowheads="1"/>
          </p:cNvSpPr>
          <p:nvPr/>
        </p:nvSpPr>
        <p:spPr bwMode="auto">
          <a:xfrm>
            <a:off x="6781800" y="51816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4</a:t>
            </a:r>
          </a:p>
        </p:txBody>
      </p:sp>
      <p:sp>
        <p:nvSpPr>
          <p:cNvPr id="43053" name="Rectangle 106"/>
          <p:cNvSpPr>
            <a:spLocks noChangeArrowheads="1"/>
          </p:cNvSpPr>
          <p:nvPr/>
        </p:nvSpPr>
        <p:spPr bwMode="auto">
          <a:xfrm>
            <a:off x="6096000" y="37338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A</a:t>
            </a:r>
          </a:p>
        </p:txBody>
      </p:sp>
      <p:sp>
        <p:nvSpPr>
          <p:cNvPr id="43054" name="Rectangle 107"/>
          <p:cNvSpPr>
            <a:spLocks noChangeArrowheads="1"/>
          </p:cNvSpPr>
          <p:nvPr/>
        </p:nvSpPr>
        <p:spPr bwMode="auto">
          <a:xfrm>
            <a:off x="7239000" y="43434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D</a:t>
            </a:r>
          </a:p>
        </p:txBody>
      </p:sp>
      <p:sp>
        <p:nvSpPr>
          <p:cNvPr id="43055" name="Rectangle 108"/>
          <p:cNvSpPr>
            <a:spLocks noChangeArrowheads="1"/>
          </p:cNvSpPr>
          <p:nvPr/>
        </p:nvSpPr>
        <p:spPr bwMode="auto">
          <a:xfrm>
            <a:off x="6096000" y="43434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C</a:t>
            </a:r>
          </a:p>
        </p:txBody>
      </p:sp>
      <p:sp>
        <p:nvSpPr>
          <p:cNvPr id="43056" name="Rectangle 109"/>
          <p:cNvSpPr>
            <a:spLocks noChangeArrowheads="1"/>
          </p:cNvSpPr>
          <p:nvPr/>
        </p:nvSpPr>
        <p:spPr bwMode="auto">
          <a:xfrm>
            <a:off x="4953000" y="43434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B</a:t>
            </a:r>
          </a:p>
        </p:txBody>
      </p:sp>
      <p:cxnSp>
        <p:nvCxnSpPr>
          <p:cNvPr id="43057" name="AutoShape 110"/>
          <p:cNvCxnSpPr>
            <a:cxnSpLocks noChangeShapeType="1"/>
            <a:stCxn id="43056" idx="0"/>
            <a:endCxn id="43053" idx="2"/>
          </p:cNvCxnSpPr>
          <p:nvPr/>
        </p:nvCxnSpPr>
        <p:spPr bwMode="auto">
          <a:xfrm flipV="1">
            <a:off x="5105400" y="4038600"/>
            <a:ext cx="1143000" cy="304800"/>
          </a:xfrm>
          <a:prstGeom prst="straightConnector1">
            <a:avLst/>
          </a:prstGeom>
          <a:noFill/>
          <a:ln w="12700">
            <a:solidFill>
              <a:schemeClr val="tx1"/>
            </a:solidFill>
            <a:round/>
            <a:headEnd/>
            <a:tailEnd/>
          </a:ln>
          <a:effectLst/>
        </p:spPr>
      </p:cxnSp>
      <p:cxnSp>
        <p:nvCxnSpPr>
          <p:cNvPr id="43058" name="AutoShape 111"/>
          <p:cNvCxnSpPr>
            <a:cxnSpLocks noChangeShapeType="1"/>
            <a:stCxn id="43053" idx="2"/>
            <a:endCxn id="43055" idx="0"/>
          </p:cNvCxnSpPr>
          <p:nvPr/>
        </p:nvCxnSpPr>
        <p:spPr bwMode="auto">
          <a:xfrm>
            <a:off x="6248400" y="4038600"/>
            <a:ext cx="0" cy="304800"/>
          </a:xfrm>
          <a:prstGeom prst="straightConnector1">
            <a:avLst/>
          </a:prstGeom>
          <a:noFill/>
          <a:ln w="12700">
            <a:solidFill>
              <a:schemeClr val="tx1"/>
            </a:solidFill>
            <a:round/>
            <a:headEnd/>
            <a:tailEnd/>
          </a:ln>
          <a:effectLst/>
        </p:spPr>
      </p:cxnSp>
      <p:cxnSp>
        <p:nvCxnSpPr>
          <p:cNvPr id="43059" name="AutoShape 112"/>
          <p:cNvCxnSpPr>
            <a:cxnSpLocks noChangeShapeType="1"/>
            <a:stCxn id="43053" idx="2"/>
            <a:endCxn id="43054" idx="0"/>
          </p:cNvCxnSpPr>
          <p:nvPr/>
        </p:nvCxnSpPr>
        <p:spPr bwMode="auto">
          <a:xfrm>
            <a:off x="6248400" y="4038600"/>
            <a:ext cx="1143000" cy="304800"/>
          </a:xfrm>
          <a:prstGeom prst="straightConnector1">
            <a:avLst/>
          </a:prstGeom>
          <a:noFill/>
          <a:ln w="12700">
            <a:solidFill>
              <a:schemeClr val="tx1"/>
            </a:solidFill>
            <a:round/>
            <a:headEnd/>
            <a:tailEnd/>
          </a:ln>
          <a:effectLst/>
        </p:spPr>
      </p:cxnSp>
      <p:sp>
        <p:nvSpPr>
          <p:cNvPr id="43060" name="Text Box 113"/>
          <p:cNvSpPr txBox="1">
            <a:spLocks noChangeArrowheads="1"/>
          </p:cNvSpPr>
          <p:nvPr/>
        </p:nvSpPr>
        <p:spPr bwMode="auto">
          <a:xfrm>
            <a:off x="6096000" y="46482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4</a:t>
            </a:r>
          </a:p>
        </p:txBody>
      </p:sp>
      <p:sp>
        <p:nvSpPr>
          <p:cNvPr id="43061" name="Text Box 114"/>
          <p:cNvSpPr txBox="1">
            <a:spLocks noChangeArrowheads="1"/>
          </p:cNvSpPr>
          <p:nvPr/>
        </p:nvSpPr>
        <p:spPr bwMode="auto">
          <a:xfrm>
            <a:off x="5257800" y="43434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6</a:t>
            </a:r>
          </a:p>
        </p:txBody>
      </p:sp>
      <p:sp>
        <p:nvSpPr>
          <p:cNvPr id="43062" name="Text Box 115"/>
          <p:cNvSpPr txBox="1">
            <a:spLocks noChangeArrowheads="1"/>
          </p:cNvSpPr>
          <p:nvPr/>
        </p:nvSpPr>
        <p:spPr bwMode="auto">
          <a:xfrm>
            <a:off x="7543800" y="4343400"/>
            <a:ext cx="5334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10</a:t>
            </a:r>
          </a:p>
        </p:txBody>
      </p:sp>
      <p:sp>
        <p:nvSpPr>
          <p:cNvPr id="43063" name="Text Box 116"/>
          <p:cNvSpPr txBox="1">
            <a:spLocks noChangeArrowheads="1"/>
          </p:cNvSpPr>
          <p:nvPr/>
        </p:nvSpPr>
        <p:spPr bwMode="auto">
          <a:xfrm>
            <a:off x="6400800" y="3733800"/>
            <a:ext cx="5334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11</a:t>
            </a:r>
          </a:p>
        </p:txBody>
      </p:sp>
      <p:sp>
        <p:nvSpPr>
          <p:cNvPr id="43064" name="Freeform 117"/>
          <p:cNvSpPr>
            <a:spLocks/>
          </p:cNvSpPr>
          <p:nvPr/>
        </p:nvSpPr>
        <p:spPr bwMode="auto">
          <a:xfrm>
            <a:off x="5943600" y="4038600"/>
            <a:ext cx="304800" cy="152400"/>
          </a:xfrm>
          <a:custGeom>
            <a:avLst/>
            <a:gdLst>
              <a:gd name="T0" fmla="*/ 304800 w 192"/>
              <a:gd name="T1" fmla="*/ 0 h 96"/>
              <a:gd name="T2" fmla="*/ 0 w 192"/>
              <a:gd name="T3" fmla="*/ 76200 h 96"/>
              <a:gd name="T4" fmla="*/ 304800 w 192"/>
              <a:gd name="T5" fmla="*/ 152400 h 96"/>
              <a:gd name="T6" fmla="*/ 304800 w 192"/>
              <a:gd name="T7" fmla="*/ 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96">
                <a:moveTo>
                  <a:pt x="192" y="0"/>
                </a:moveTo>
                <a:lnTo>
                  <a:pt x="0" y="48"/>
                </a:lnTo>
                <a:lnTo>
                  <a:pt x="192" y="96"/>
                </a:lnTo>
                <a:lnTo>
                  <a:pt x="192" y="0"/>
                </a:lnTo>
                <a:close/>
              </a:path>
            </a:pathLst>
          </a:custGeom>
          <a:solidFill>
            <a:srgbClr val="FF9900"/>
          </a:solidFill>
          <a:ln w="9525">
            <a:solidFill>
              <a:schemeClr val="tx1"/>
            </a:solidFill>
            <a:round/>
            <a:headEnd/>
            <a:tailEnd/>
          </a:ln>
          <a:effectLst/>
        </p:spPr>
        <p:txBody>
          <a:bodyPr/>
          <a:lstStyle/>
          <a:p>
            <a:endParaRPr lang="en-US"/>
          </a:p>
        </p:txBody>
      </p:sp>
      <p:sp>
        <p:nvSpPr>
          <p:cNvPr id="43065" name="Freeform 118"/>
          <p:cNvSpPr>
            <a:spLocks/>
          </p:cNvSpPr>
          <p:nvPr/>
        </p:nvSpPr>
        <p:spPr bwMode="auto">
          <a:xfrm>
            <a:off x="7142163" y="4648200"/>
            <a:ext cx="517525" cy="106363"/>
          </a:xfrm>
          <a:custGeom>
            <a:avLst/>
            <a:gdLst>
              <a:gd name="T0" fmla="*/ 0 w 326"/>
              <a:gd name="T1" fmla="*/ 106363 h 67"/>
              <a:gd name="T2" fmla="*/ 517525 w 326"/>
              <a:gd name="T3" fmla="*/ 106363 h 67"/>
              <a:gd name="T4" fmla="*/ 249238 w 326"/>
              <a:gd name="T5" fmla="*/ 0 h 67"/>
              <a:gd name="T6" fmla="*/ 0 w 326"/>
              <a:gd name="T7" fmla="*/ 106363 h 6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6" h="67">
                <a:moveTo>
                  <a:pt x="0" y="67"/>
                </a:moveTo>
                <a:lnTo>
                  <a:pt x="326" y="67"/>
                </a:lnTo>
                <a:lnTo>
                  <a:pt x="157" y="0"/>
                </a:lnTo>
                <a:lnTo>
                  <a:pt x="0" y="67"/>
                </a:lnTo>
                <a:close/>
              </a:path>
            </a:pathLst>
          </a:custGeom>
          <a:solidFill>
            <a:srgbClr val="FF9900"/>
          </a:solidFill>
          <a:ln w="9525">
            <a:solidFill>
              <a:schemeClr val="tx1"/>
            </a:solidFill>
            <a:round/>
            <a:headEnd/>
            <a:tailEnd/>
          </a:ln>
          <a:effectLst/>
        </p:spPr>
        <p:txBody>
          <a:bodyPr/>
          <a:lstStyle/>
          <a:p>
            <a:endParaRPr lang="en-US"/>
          </a:p>
        </p:txBody>
      </p:sp>
      <p:sp>
        <p:nvSpPr>
          <p:cNvPr id="43066" name="Text Box 119"/>
          <p:cNvSpPr txBox="1">
            <a:spLocks noChangeArrowheads="1"/>
          </p:cNvSpPr>
          <p:nvPr/>
        </p:nvSpPr>
        <p:spPr bwMode="auto">
          <a:xfrm>
            <a:off x="5638800" y="4114800"/>
            <a:ext cx="5334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12</a:t>
            </a:r>
          </a:p>
        </p:txBody>
      </p:sp>
      <p:sp>
        <p:nvSpPr>
          <p:cNvPr id="43067" name="Rectangle 120"/>
          <p:cNvSpPr>
            <a:spLocks noChangeArrowheads="1"/>
          </p:cNvSpPr>
          <p:nvPr/>
        </p:nvSpPr>
        <p:spPr bwMode="auto">
          <a:xfrm>
            <a:off x="5507038" y="48768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H</a:t>
            </a:r>
          </a:p>
        </p:txBody>
      </p:sp>
      <p:sp>
        <p:nvSpPr>
          <p:cNvPr id="43068" name="Rectangle 121"/>
          <p:cNvSpPr>
            <a:spLocks noChangeArrowheads="1"/>
          </p:cNvSpPr>
          <p:nvPr/>
        </p:nvSpPr>
        <p:spPr bwMode="auto">
          <a:xfrm>
            <a:off x="4516438" y="48768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G</a:t>
            </a:r>
          </a:p>
        </p:txBody>
      </p:sp>
      <p:cxnSp>
        <p:nvCxnSpPr>
          <p:cNvPr id="43069" name="AutoShape 122"/>
          <p:cNvCxnSpPr>
            <a:cxnSpLocks noChangeShapeType="1"/>
            <a:stCxn id="43056" idx="2"/>
            <a:endCxn id="43068" idx="0"/>
          </p:cNvCxnSpPr>
          <p:nvPr/>
        </p:nvCxnSpPr>
        <p:spPr bwMode="auto">
          <a:xfrm flipH="1">
            <a:off x="4668838" y="4648200"/>
            <a:ext cx="436562" cy="228600"/>
          </a:xfrm>
          <a:prstGeom prst="straightConnector1">
            <a:avLst/>
          </a:prstGeom>
          <a:noFill/>
          <a:ln w="12700">
            <a:solidFill>
              <a:schemeClr val="tx1"/>
            </a:solidFill>
            <a:round/>
            <a:headEnd/>
            <a:tailEnd/>
          </a:ln>
          <a:effectLst/>
        </p:spPr>
      </p:cxnSp>
      <p:cxnSp>
        <p:nvCxnSpPr>
          <p:cNvPr id="43070" name="AutoShape 123"/>
          <p:cNvCxnSpPr>
            <a:cxnSpLocks noChangeShapeType="1"/>
            <a:stCxn id="43056" idx="2"/>
            <a:endCxn id="43067" idx="0"/>
          </p:cNvCxnSpPr>
          <p:nvPr/>
        </p:nvCxnSpPr>
        <p:spPr bwMode="auto">
          <a:xfrm>
            <a:off x="5105400" y="4648200"/>
            <a:ext cx="554038" cy="228600"/>
          </a:xfrm>
          <a:prstGeom prst="straightConnector1">
            <a:avLst/>
          </a:prstGeom>
          <a:noFill/>
          <a:ln w="12700">
            <a:solidFill>
              <a:schemeClr val="tx1"/>
            </a:solidFill>
            <a:round/>
            <a:headEnd/>
            <a:tailEnd/>
          </a:ln>
          <a:effectLst/>
        </p:spPr>
      </p:cxnSp>
      <p:sp>
        <p:nvSpPr>
          <p:cNvPr id="43071" name="Text Box 124"/>
          <p:cNvSpPr txBox="1">
            <a:spLocks noChangeArrowheads="1"/>
          </p:cNvSpPr>
          <p:nvPr/>
        </p:nvSpPr>
        <p:spPr bwMode="auto">
          <a:xfrm>
            <a:off x="5507038" y="51816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7</a:t>
            </a:r>
          </a:p>
        </p:txBody>
      </p:sp>
      <p:sp>
        <p:nvSpPr>
          <p:cNvPr id="43072" name="Text Box 125"/>
          <p:cNvSpPr txBox="1">
            <a:spLocks noChangeArrowheads="1"/>
          </p:cNvSpPr>
          <p:nvPr/>
        </p:nvSpPr>
        <p:spPr bwMode="auto">
          <a:xfrm>
            <a:off x="4516438" y="51816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5</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a:ln>
            <a:miter lim="800000"/>
            <a:headEnd/>
            <a:tailEnd/>
          </a:ln>
        </p:spPr>
        <p:txBody>
          <a:bodyPr/>
          <a:lstStyle/>
          <a:p>
            <a:fld id="{BBD58765-879F-4D94-99EB-696F55E14FE4}" type="slidenum">
              <a:rPr lang="en-GB"/>
              <a:pPr/>
              <a:t>220</a:t>
            </a:fld>
            <a:endParaRPr lang="en-GB"/>
          </a:p>
        </p:txBody>
      </p:sp>
      <p:sp>
        <p:nvSpPr>
          <p:cNvPr id="44035" name="Rectangle 2"/>
          <p:cNvSpPr>
            <a:spLocks noGrp="1" noChangeArrowheads="1"/>
          </p:cNvSpPr>
          <p:nvPr>
            <p:ph type="title"/>
          </p:nvPr>
        </p:nvSpPr>
        <p:spPr/>
        <p:txBody>
          <a:bodyPr/>
          <a:lstStyle/>
          <a:p>
            <a:pPr eaLnBrk="1" hangingPunct="1"/>
            <a:r>
              <a:rPr lang="en-GB"/>
              <a:t>Problem Reduction: AO*</a:t>
            </a:r>
          </a:p>
        </p:txBody>
      </p:sp>
      <p:sp>
        <p:nvSpPr>
          <p:cNvPr id="44036" name="Rectangle 23"/>
          <p:cNvSpPr>
            <a:spLocks noChangeArrowheads="1"/>
          </p:cNvSpPr>
          <p:nvPr/>
        </p:nvSpPr>
        <p:spPr bwMode="auto">
          <a:xfrm>
            <a:off x="2286000" y="20574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A</a:t>
            </a:r>
          </a:p>
        </p:txBody>
      </p:sp>
      <p:sp>
        <p:nvSpPr>
          <p:cNvPr id="44037" name="Rectangle 24"/>
          <p:cNvSpPr>
            <a:spLocks noChangeArrowheads="1"/>
          </p:cNvSpPr>
          <p:nvPr/>
        </p:nvSpPr>
        <p:spPr bwMode="auto">
          <a:xfrm>
            <a:off x="2819400" y="4267200"/>
            <a:ext cx="304800" cy="304800"/>
          </a:xfrm>
          <a:prstGeom prst="rect">
            <a:avLst/>
          </a:prstGeom>
          <a:solidFill>
            <a:srgbClr val="B2B2B2"/>
          </a:solidFill>
          <a:ln w="12700">
            <a:solidFill>
              <a:schemeClr val="tx1"/>
            </a:solidFill>
            <a:miter lim="800000"/>
            <a:headEnd/>
            <a:tailEnd/>
          </a:ln>
          <a:effectLst/>
        </p:spPr>
        <p:txBody>
          <a:bodyPr wrap="none" anchor="ctr"/>
          <a:lstStyle/>
          <a:p>
            <a:pPr algn="ctr"/>
            <a:r>
              <a:rPr lang="en-GB" sz="2000">
                <a:latin typeface="Arial Unicode MS" pitchFamily="34" charset="-128"/>
              </a:rPr>
              <a:t>G</a:t>
            </a:r>
          </a:p>
        </p:txBody>
      </p:sp>
      <p:sp>
        <p:nvSpPr>
          <p:cNvPr id="44038" name="Rectangle 25"/>
          <p:cNvSpPr>
            <a:spLocks noChangeArrowheads="1"/>
          </p:cNvSpPr>
          <p:nvPr/>
        </p:nvSpPr>
        <p:spPr bwMode="auto">
          <a:xfrm>
            <a:off x="2895600" y="27432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C</a:t>
            </a:r>
          </a:p>
        </p:txBody>
      </p:sp>
      <p:sp>
        <p:nvSpPr>
          <p:cNvPr id="44039" name="Rectangle 26"/>
          <p:cNvSpPr>
            <a:spLocks noChangeArrowheads="1"/>
          </p:cNvSpPr>
          <p:nvPr/>
        </p:nvSpPr>
        <p:spPr bwMode="auto">
          <a:xfrm>
            <a:off x="1752600" y="27432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B</a:t>
            </a:r>
          </a:p>
        </p:txBody>
      </p:sp>
      <p:cxnSp>
        <p:nvCxnSpPr>
          <p:cNvPr id="44040" name="AutoShape 27"/>
          <p:cNvCxnSpPr>
            <a:cxnSpLocks noChangeShapeType="1"/>
            <a:stCxn id="44039" idx="0"/>
            <a:endCxn id="44036" idx="2"/>
          </p:cNvCxnSpPr>
          <p:nvPr/>
        </p:nvCxnSpPr>
        <p:spPr bwMode="auto">
          <a:xfrm flipV="1">
            <a:off x="1905000" y="2362200"/>
            <a:ext cx="533400" cy="381000"/>
          </a:xfrm>
          <a:prstGeom prst="straightConnector1">
            <a:avLst/>
          </a:prstGeom>
          <a:noFill/>
          <a:ln w="12700">
            <a:solidFill>
              <a:schemeClr val="tx1"/>
            </a:solidFill>
            <a:round/>
            <a:headEnd/>
            <a:tailEnd/>
          </a:ln>
          <a:effectLst/>
        </p:spPr>
      </p:cxnSp>
      <p:cxnSp>
        <p:nvCxnSpPr>
          <p:cNvPr id="44041" name="AutoShape 28"/>
          <p:cNvCxnSpPr>
            <a:cxnSpLocks noChangeShapeType="1"/>
            <a:stCxn id="44036" idx="2"/>
            <a:endCxn id="44038" idx="0"/>
          </p:cNvCxnSpPr>
          <p:nvPr/>
        </p:nvCxnSpPr>
        <p:spPr bwMode="auto">
          <a:xfrm>
            <a:off x="2438400" y="2362200"/>
            <a:ext cx="609600" cy="381000"/>
          </a:xfrm>
          <a:prstGeom prst="straightConnector1">
            <a:avLst/>
          </a:prstGeom>
          <a:noFill/>
          <a:ln w="12700">
            <a:solidFill>
              <a:schemeClr val="tx1"/>
            </a:solidFill>
            <a:round/>
            <a:headEnd/>
            <a:tailEnd/>
          </a:ln>
          <a:effectLst/>
        </p:spPr>
      </p:cxnSp>
      <p:sp>
        <p:nvSpPr>
          <p:cNvPr id="44042" name="Text Box 30"/>
          <p:cNvSpPr txBox="1">
            <a:spLocks noChangeArrowheads="1"/>
          </p:cNvSpPr>
          <p:nvPr/>
        </p:nvSpPr>
        <p:spPr bwMode="auto">
          <a:xfrm>
            <a:off x="3200400" y="2743200"/>
            <a:ext cx="5334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10</a:t>
            </a:r>
          </a:p>
        </p:txBody>
      </p:sp>
      <p:sp>
        <p:nvSpPr>
          <p:cNvPr id="44043" name="Text Box 32"/>
          <p:cNvSpPr txBox="1">
            <a:spLocks noChangeArrowheads="1"/>
          </p:cNvSpPr>
          <p:nvPr/>
        </p:nvSpPr>
        <p:spPr bwMode="auto">
          <a:xfrm>
            <a:off x="3124200" y="42672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5</a:t>
            </a:r>
          </a:p>
        </p:txBody>
      </p:sp>
      <p:sp>
        <p:nvSpPr>
          <p:cNvPr id="44044" name="Text Box 33"/>
          <p:cNvSpPr txBox="1">
            <a:spLocks noChangeArrowheads="1"/>
          </p:cNvSpPr>
          <p:nvPr/>
        </p:nvSpPr>
        <p:spPr bwMode="auto">
          <a:xfrm>
            <a:off x="2590800" y="2057400"/>
            <a:ext cx="5334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11</a:t>
            </a:r>
          </a:p>
        </p:txBody>
      </p:sp>
      <p:sp>
        <p:nvSpPr>
          <p:cNvPr id="44045" name="Text Box 37"/>
          <p:cNvSpPr txBox="1">
            <a:spLocks noChangeArrowheads="1"/>
          </p:cNvSpPr>
          <p:nvPr/>
        </p:nvSpPr>
        <p:spPr bwMode="auto">
          <a:xfrm>
            <a:off x="2057400" y="2743200"/>
            <a:ext cx="5334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13</a:t>
            </a:r>
          </a:p>
        </p:txBody>
      </p:sp>
      <p:sp>
        <p:nvSpPr>
          <p:cNvPr id="44046" name="Rectangle 71"/>
          <p:cNvSpPr>
            <a:spLocks noChangeArrowheads="1"/>
          </p:cNvSpPr>
          <p:nvPr/>
        </p:nvSpPr>
        <p:spPr bwMode="auto">
          <a:xfrm>
            <a:off x="2362200" y="34290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E</a:t>
            </a:r>
          </a:p>
        </p:txBody>
      </p:sp>
      <p:sp>
        <p:nvSpPr>
          <p:cNvPr id="44047" name="Rectangle 72"/>
          <p:cNvSpPr>
            <a:spLocks noChangeArrowheads="1"/>
          </p:cNvSpPr>
          <p:nvPr/>
        </p:nvSpPr>
        <p:spPr bwMode="auto">
          <a:xfrm>
            <a:off x="1219200" y="34290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D</a:t>
            </a:r>
          </a:p>
        </p:txBody>
      </p:sp>
      <p:cxnSp>
        <p:nvCxnSpPr>
          <p:cNvPr id="44048" name="AutoShape 73"/>
          <p:cNvCxnSpPr>
            <a:cxnSpLocks noChangeShapeType="1"/>
            <a:stCxn id="44047" idx="0"/>
            <a:endCxn id="44052" idx="3"/>
          </p:cNvCxnSpPr>
          <p:nvPr/>
        </p:nvCxnSpPr>
        <p:spPr bwMode="auto">
          <a:xfrm flipV="1">
            <a:off x="1371600" y="3048000"/>
            <a:ext cx="533400" cy="381000"/>
          </a:xfrm>
          <a:prstGeom prst="straightConnector1">
            <a:avLst/>
          </a:prstGeom>
          <a:noFill/>
          <a:ln w="12700">
            <a:solidFill>
              <a:schemeClr val="tx1"/>
            </a:solidFill>
            <a:round/>
            <a:headEnd/>
            <a:tailEnd/>
          </a:ln>
          <a:effectLst/>
        </p:spPr>
      </p:cxnSp>
      <p:cxnSp>
        <p:nvCxnSpPr>
          <p:cNvPr id="44049" name="AutoShape 74"/>
          <p:cNvCxnSpPr>
            <a:cxnSpLocks noChangeShapeType="1"/>
            <a:stCxn id="44052" idx="3"/>
            <a:endCxn id="44046" idx="0"/>
          </p:cNvCxnSpPr>
          <p:nvPr/>
        </p:nvCxnSpPr>
        <p:spPr bwMode="auto">
          <a:xfrm>
            <a:off x="1905000" y="3048000"/>
            <a:ext cx="609600" cy="381000"/>
          </a:xfrm>
          <a:prstGeom prst="straightConnector1">
            <a:avLst/>
          </a:prstGeom>
          <a:noFill/>
          <a:ln w="12700">
            <a:solidFill>
              <a:schemeClr val="tx1"/>
            </a:solidFill>
            <a:round/>
            <a:headEnd/>
            <a:tailEnd/>
          </a:ln>
          <a:effectLst/>
        </p:spPr>
      </p:cxnSp>
      <p:sp>
        <p:nvSpPr>
          <p:cNvPr id="44050" name="Text Box 75"/>
          <p:cNvSpPr txBox="1">
            <a:spLocks noChangeArrowheads="1"/>
          </p:cNvSpPr>
          <p:nvPr/>
        </p:nvSpPr>
        <p:spPr bwMode="auto">
          <a:xfrm>
            <a:off x="2667000" y="34290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6</a:t>
            </a:r>
          </a:p>
        </p:txBody>
      </p:sp>
      <p:sp>
        <p:nvSpPr>
          <p:cNvPr id="44051" name="Text Box 76"/>
          <p:cNvSpPr txBox="1">
            <a:spLocks noChangeArrowheads="1"/>
          </p:cNvSpPr>
          <p:nvPr/>
        </p:nvSpPr>
        <p:spPr bwMode="auto">
          <a:xfrm>
            <a:off x="1524000" y="34290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5</a:t>
            </a:r>
          </a:p>
        </p:txBody>
      </p:sp>
      <p:sp>
        <p:nvSpPr>
          <p:cNvPr id="44052" name="Freeform 77"/>
          <p:cNvSpPr>
            <a:spLocks/>
          </p:cNvSpPr>
          <p:nvPr/>
        </p:nvSpPr>
        <p:spPr bwMode="auto">
          <a:xfrm>
            <a:off x="1743075" y="3048000"/>
            <a:ext cx="330200" cy="115888"/>
          </a:xfrm>
          <a:custGeom>
            <a:avLst/>
            <a:gdLst>
              <a:gd name="T0" fmla="*/ 161925 w 208"/>
              <a:gd name="T1" fmla="*/ 0 h 73"/>
              <a:gd name="T2" fmla="*/ 0 w 208"/>
              <a:gd name="T3" fmla="*/ 115888 h 73"/>
              <a:gd name="T4" fmla="*/ 330200 w 208"/>
              <a:gd name="T5" fmla="*/ 115888 h 73"/>
              <a:gd name="T6" fmla="*/ 161925 w 208"/>
              <a:gd name="T7" fmla="*/ 0 h 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8" h="73">
                <a:moveTo>
                  <a:pt x="102" y="0"/>
                </a:moveTo>
                <a:lnTo>
                  <a:pt x="0" y="73"/>
                </a:lnTo>
                <a:lnTo>
                  <a:pt x="208" y="73"/>
                </a:lnTo>
                <a:lnTo>
                  <a:pt x="102" y="0"/>
                </a:lnTo>
                <a:close/>
              </a:path>
            </a:pathLst>
          </a:custGeom>
          <a:solidFill>
            <a:srgbClr val="FF9900"/>
          </a:solidFill>
          <a:ln w="9525">
            <a:solidFill>
              <a:schemeClr val="tx1"/>
            </a:solidFill>
            <a:round/>
            <a:headEnd/>
            <a:tailEnd/>
          </a:ln>
          <a:effectLst/>
        </p:spPr>
        <p:txBody>
          <a:bodyPr/>
          <a:lstStyle/>
          <a:p>
            <a:endParaRPr lang="en-US"/>
          </a:p>
        </p:txBody>
      </p:sp>
      <p:sp>
        <p:nvSpPr>
          <p:cNvPr id="44053" name="Rectangle 79"/>
          <p:cNvSpPr>
            <a:spLocks noChangeArrowheads="1"/>
          </p:cNvSpPr>
          <p:nvPr/>
        </p:nvSpPr>
        <p:spPr bwMode="auto">
          <a:xfrm>
            <a:off x="3505200" y="3429000"/>
            <a:ext cx="304800" cy="304800"/>
          </a:xfrm>
          <a:prstGeom prst="rect">
            <a:avLst/>
          </a:prstGeom>
          <a:solidFill>
            <a:srgbClr val="B2B2B2"/>
          </a:solidFill>
          <a:ln w="12700">
            <a:solidFill>
              <a:schemeClr val="tx1"/>
            </a:solidFill>
            <a:miter lim="800000"/>
            <a:headEnd/>
            <a:tailEnd/>
          </a:ln>
          <a:effectLst/>
        </p:spPr>
        <p:txBody>
          <a:bodyPr wrap="none" anchor="ctr"/>
          <a:lstStyle/>
          <a:p>
            <a:pPr algn="ctr"/>
            <a:r>
              <a:rPr lang="en-GB" sz="2000">
                <a:latin typeface="Arial Unicode MS" pitchFamily="34" charset="-128"/>
              </a:rPr>
              <a:t>F</a:t>
            </a:r>
          </a:p>
        </p:txBody>
      </p:sp>
      <p:sp>
        <p:nvSpPr>
          <p:cNvPr id="44054" name="Text Box 80"/>
          <p:cNvSpPr txBox="1">
            <a:spLocks noChangeArrowheads="1"/>
          </p:cNvSpPr>
          <p:nvPr/>
        </p:nvSpPr>
        <p:spPr bwMode="auto">
          <a:xfrm>
            <a:off x="3810000" y="34290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3</a:t>
            </a:r>
          </a:p>
        </p:txBody>
      </p:sp>
      <p:cxnSp>
        <p:nvCxnSpPr>
          <p:cNvPr id="44055" name="AutoShape 81"/>
          <p:cNvCxnSpPr>
            <a:cxnSpLocks noChangeShapeType="1"/>
            <a:stCxn id="44037" idx="0"/>
            <a:endCxn id="44046" idx="2"/>
          </p:cNvCxnSpPr>
          <p:nvPr/>
        </p:nvCxnSpPr>
        <p:spPr bwMode="auto">
          <a:xfrm flipH="1" flipV="1">
            <a:off x="2514600" y="3733800"/>
            <a:ext cx="457200" cy="533400"/>
          </a:xfrm>
          <a:prstGeom prst="straightConnector1">
            <a:avLst/>
          </a:prstGeom>
          <a:noFill/>
          <a:ln w="12700">
            <a:solidFill>
              <a:schemeClr val="tx1"/>
            </a:solidFill>
            <a:round/>
            <a:headEnd/>
            <a:tailEnd/>
          </a:ln>
          <a:effectLst/>
        </p:spPr>
      </p:cxnSp>
      <p:cxnSp>
        <p:nvCxnSpPr>
          <p:cNvPr id="44056" name="AutoShape 82"/>
          <p:cNvCxnSpPr>
            <a:cxnSpLocks noChangeShapeType="1"/>
            <a:stCxn id="44037" idx="0"/>
            <a:endCxn id="44038" idx="2"/>
          </p:cNvCxnSpPr>
          <p:nvPr/>
        </p:nvCxnSpPr>
        <p:spPr bwMode="auto">
          <a:xfrm flipV="1">
            <a:off x="2971800" y="3048000"/>
            <a:ext cx="76200" cy="1219200"/>
          </a:xfrm>
          <a:prstGeom prst="straightConnector1">
            <a:avLst/>
          </a:prstGeom>
          <a:noFill/>
          <a:ln w="12700">
            <a:solidFill>
              <a:schemeClr val="tx1"/>
            </a:solidFill>
            <a:round/>
            <a:headEnd/>
            <a:tailEnd/>
          </a:ln>
          <a:effectLst/>
        </p:spPr>
      </p:cxnSp>
      <p:cxnSp>
        <p:nvCxnSpPr>
          <p:cNvPr id="44057" name="AutoShape 83"/>
          <p:cNvCxnSpPr>
            <a:cxnSpLocks noChangeShapeType="1"/>
            <a:stCxn id="44053" idx="0"/>
            <a:endCxn id="44038" idx="2"/>
          </p:cNvCxnSpPr>
          <p:nvPr/>
        </p:nvCxnSpPr>
        <p:spPr bwMode="auto">
          <a:xfrm flipH="1" flipV="1">
            <a:off x="3048000" y="3048000"/>
            <a:ext cx="609600" cy="381000"/>
          </a:xfrm>
          <a:prstGeom prst="straightConnector1">
            <a:avLst/>
          </a:prstGeom>
          <a:noFill/>
          <a:ln w="12700">
            <a:solidFill>
              <a:schemeClr val="tx1"/>
            </a:solidFill>
            <a:round/>
            <a:headEnd/>
            <a:tailEnd/>
          </a:ln>
          <a:effectLst/>
        </p:spPr>
      </p:cxnSp>
      <p:sp>
        <p:nvSpPr>
          <p:cNvPr id="44058" name="Freeform 84"/>
          <p:cNvSpPr>
            <a:spLocks/>
          </p:cNvSpPr>
          <p:nvPr/>
        </p:nvSpPr>
        <p:spPr bwMode="auto">
          <a:xfrm>
            <a:off x="3017838" y="3048000"/>
            <a:ext cx="207962" cy="252413"/>
          </a:xfrm>
          <a:custGeom>
            <a:avLst/>
            <a:gdLst>
              <a:gd name="T0" fmla="*/ 39687 w 131"/>
              <a:gd name="T1" fmla="*/ 0 h 159"/>
              <a:gd name="T2" fmla="*/ 0 w 131"/>
              <a:gd name="T3" fmla="*/ 252413 h 159"/>
              <a:gd name="T4" fmla="*/ 207962 w 131"/>
              <a:gd name="T5" fmla="*/ 115888 h 159"/>
              <a:gd name="T6" fmla="*/ 39687 w 131"/>
              <a:gd name="T7" fmla="*/ 0 h 1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1" h="159">
                <a:moveTo>
                  <a:pt x="25" y="0"/>
                </a:moveTo>
                <a:lnTo>
                  <a:pt x="0" y="159"/>
                </a:lnTo>
                <a:lnTo>
                  <a:pt x="131" y="73"/>
                </a:lnTo>
                <a:lnTo>
                  <a:pt x="25" y="0"/>
                </a:lnTo>
                <a:close/>
              </a:path>
            </a:pathLst>
          </a:custGeom>
          <a:solidFill>
            <a:srgbClr val="FF9900"/>
          </a:solidFill>
          <a:ln w="9525">
            <a:solidFill>
              <a:schemeClr val="tx1"/>
            </a:solidFill>
            <a:round/>
            <a:headEnd/>
            <a:tailEnd/>
          </a:ln>
          <a:effectLst/>
        </p:spPr>
        <p:txBody>
          <a:bodyPr/>
          <a:lstStyle/>
          <a:p>
            <a:endParaRPr lang="en-US"/>
          </a:p>
        </p:txBody>
      </p:sp>
      <p:sp>
        <p:nvSpPr>
          <p:cNvPr id="44059" name="Rectangle 85"/>
          <p:cNvSpPr>
            <a:spLocks noChangeArrowheads="1"/>
          </p:cNvSpPr>
          <p:nvPr/>
        </p:nvSpPr>
        <p:spPr bwMode="auto">
          <a:xfrm>
            <a:off x="6096000" y="20574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A</a:t>
            </a:r>
          </a:p>
        </p:txBody>
      </p:sp>
      <p:sp>
        <p:nvSpPr>
          <p:cNvPr id="44060" name="Rectangle 86"/>
          <p:cNvSpPr>
            <a:spLocks noChangeArrowheads="1"/>
          </p:cNvSpPr>
          <p:nvPr/>
        </p:nvSpPr>
        <p:spPr bwMode="auto">
          <a:xfrm>
            <a:off x="6629400" y="42672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G</a:t>
            </a:r>
          </a:p>
        </p:txBody>
      </p:sp>
      <p:sp>
        <p:nvSpPr>
          <p:cNvPr id="44061" name="Rectangle 87"/>
          <p:cNvSpPr>
            <a:spLocks noChangeArrowheads="1"/>
          </p:cNvSpPr>
          <p:nvPr/>
        </p:nvSpPr>
        <p:spPr bwMode="auto">
          <a:xfrm>
            <a:off x="6705600" y="27432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C</a:t>
            </a:r>
          </a:p>
        </p:txBody>
      </p:sp>
      <p:sp>
        <p:nvSpPr>
          <p:cNvPr id="44062" name="Rectangle 88"/>
          <p:cNvSpPr>
            <a:spLocks noChangeArrowheads="1"/>
          </p:cNvSpPr>
          <p:nvPr/>
        </p:nvSpPr>
        <p:spPr bwMode="auto">
          <a:xfrm>
            <a:off x="5562600" y="27432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B</a:t>
            </a:r>
          </a:p>
        </p:txBody>
      </p:sp>
      <p:cxnSp>
        <p:nvCxnSpPr>
          <p:cNvPr id="44063" name="AutoShape 89"/>
          <p:cNvCxnSpPr>
            <a:cxnSpLocks noChangeShapeType="1"/>
            <a:stCxn id="44062" idx="0"/>
            <a:endCxn id="44059" idx="2"/>
          </p:cNvCxnSpPr>
          <p:nvPr/>
        </p:nvCxnSpPr>
        <p:spPr bwMode="auto">
          <a:xfrm flipV="1">
            <a:off x="5715000" y="2362200"/>
            <a:ext cx="533400" cy="381000"/>
          </a:xfrm>
          <a:prstGeom prst="straightConnector1">
            <a:avLst/>
          </a:prstGeom>
          <a:noFill/>
          <a:ln w="12700">
            <a:solidFill>
              <a:schemeClr val="tx1"/>
            </a:solidFill>
            <a:round/>
            <a:headEnd/>
            <a:tailEnd/>
          </a:ln>
          <a:effectLst/>
        </p:spPr>
      </p:cxnSp>
      <p:cxnSp>
        <p:nvCxnSpPr>
          <p:cNvPr id="44064" name="AutoShape 90"/>
          <p:cNvCxnSpPr>
            <a:cxnSpLocks noChangeShapeType="1"/>
            <a:stCxn id="44059" idx="2"/>
            <a:endCxn id="44061" idx="0"/>
          </p:cNvCxnSpPr>
          <p:nvPr/>
        </p:nvCxnSpPr>
        <p:spPr bwMode="auto">
          <a:xfrm>
            <a:off x="6248400" y="2362200"/>
            <a:ext cx="609600" cy="381000"/>
          </a:xfrm>
          <a:prstGeom prst="straightConnector1">
            <a:avLst/>
          </a:prstGeom>
          <a:noFill/>
          <a:ln w="12700">
            <a:solidFill>
              <a:schemeClr val="tx1"/>
            </a:solidFill>
            <a:round/>
            <a:headEnd/>
            <a:tailEnd/>
          </a:ln>
          <a:effectLst/>
        </p:spPr>
      </p:cxnSp>
      <p:sp>
        <p:nvSpPr>
          <p:cNvPr id="44065" name="Text Box 91"/>
          <p:cNvSpPr txBox="1">
            <a:spLocks noChangeArrowheads="1"/>
          </p:cNvSpPr>
          <p:nvPr/>
        </p:nvSpPr>
        <p:spPr bwMode="auto">
          <a:xfrm>
            <a:off x="7010400" y="2743200"/>
            <a:ext cx="5334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15</a:t>
            </a:r>
          </a:p>
        </p:txBody>
      </p:sp>
      <p:sp>
        <p:nvSpPr>
          <p:cNvPr id="44066" name="Text Box 92"/>
          <p:cNvSpPr txBox="1">
            <a:spLocks noChangeArrowheads="1"/>
          </p:cNvSpPr>
          <p:nvPr/>
        </p:nvSpPr>
        <p:spPr bwMode="auto">
          <a:xfrm>
            <a:off x="6934200" y="4267200"/>
            <a:ext cx="6096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10</a:t>
            </a:r>
          </a:p>
        </p:txBody>
      </p:sp>
      <p:sp>
        <p:nvSpPr>
          <p:cNvPr id="44067" name="Text Box 93"/>
          <p:cNvSpPr txBox="1">
            <a:spLocks noChangeArrowheads="1"/>
          </p:cNvSpPr>
          <p:nvPr/>
        </p:nvSpPr>
        <p:spPr bwMode="auto">
          <a:xfrm>
            <a:off x="6400800" y="2057400"/>
            <a:ext cx="5334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14</a:t>
            </a:r>
          </a:p>
        </p:txBody>
      </p:sp>
      <p:sp>
        <p:nvSpPr>
          <p:cNvPr id="44068" name="Text Box 94"/>
          <p:cNvSpPr txBox="1">
            <a:spLocks noChangeArrowheads="1"/>
          </p:cNvSpPr>
          <p:nvPr/>
        </p:nvSpPr>
        <p:spPr bwMode="auto">
          <a:xfrm>
            <a:off x="5867400" y="2743200"/>
            <a:ext cx="5334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13</a:t>
            </a:r>
          </a:p>
        </p:txBody>
      </p:sp>
      <p:sp>
        <p:nvSpPr>
          <p:cNvPr id="44069" name="Rectangle 95"/>
          <p:cNvSpPr>
            <a:spLocks noChangeArrowheads="1"/>
          </p:cNvSpPr>
          <p:nvPr/>
        </p:nvSpPr>
        <p:spPr bwMode="auto">
          <a:xfrm>
            <a:off x="6172200" y="34290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E</a:t>
            </a:r>
          </a:p>
        </p:txBody>
      </p:sp>
      <p:sp>
        <p:nvSpPr>
          <p:cNvPr id="44070" name="Rectangle 96"/>
          <p:cNvSpPr>
            <a:spLocks noChangeArrowheads="1"/>
          </p:cNvSpPr>
          <p:nvPr/>
        </p:nvSpPr>
        <p:spPr bwMode="auto">
          <a:xfrm>
            <a:off x="5029200" y="34290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D</a:t>
            </a:r>
          </a:p>
        </p:txBody>
      </p:sp>
      <p:cxnSp>
        <p:nvCxnSpPr>
          <p:cNvPr id="44071" name="AutoShape 97"/>
          <p:cNvCxnSpPr>
            <a:cxnSpLocks noChangeShapeType="1"/>
            <a:stCxn id="44070" idx="0"/>
            <a:endCxn id="44075" idx="3"/>
          </p:cNvCxnSpPr>
          <p:nvPr/>
        </p:nvCxnSpPr>
        <p:spPr bwMode="auto">
          <a:xfrm flipV="1">
            <a:off x="5181600" y="3048000"/>
            <a:ext cx="533400" cy="381000"/>
          </a:xfrm>
          <a:prstGeom prst="straightConnector1">
            <a:avLst/>
          </a:prstGeom>
          <a:noFill/>
          <a:ln w="12700">
            <a:solidFill>
              <a:schemeClr val="tx1"/>
            </a:solidFill>
            <a:round/>
            <a:headEnd/>
            <a:tailEnd/>
          </a:ln>
          <a:effectLst/>
        </p:spPr>
      </p:cxnSp>
      <p:cxnSp>
        <p:nvCxnSpPr>
          <p:cNvPr id="44072" name="AutoShape 98"/>
          <p:cNvCxnSpPr>
            <a:cxnSpLocks noChangeShapeType="1"/>
            <a:stCxn id="44075" idx="3"/>
            <a:endCxn id="44069" idx="0"/>
          </p:cNvCxnSpPr>
          <p:nvPr/>
        </p:nvCxnSpPr>
        <p:spPr bwMode="auto">
          <a:xfrm>
            <a:off x="5715000" y="3048000"/>
            <a:ext cx="609600" cy="381000"/>
          </a:xfrm>
          <a:prstGeom prst="straightConnector1">
            <a:avLst/>
          </a:prstGeom>
          <a:noFill/>
          <a:ln w="12700">
            <a:solidFill>
              <a:schemeClr val="tx1"/>
            </a:solidFill>
            <a:round/>
            <a:headEnd/>
            <a:tailEnd/>
          </a:ln>
          <a:effectLst/>
        </p:spPr>
      </p:cxnSp>
      <p:sp>
        <p:nvSpPr>
          <p:cNvPr id="44073" name="Text Box 99"/>
          <p:cNvSpPr txBox="1">
            <a:spLocks noChangeArrowheads="1"/>
          </p:cNvSpPr>
          <p:nvPr/>
        </p:nvSpPr>
        <p:spPr bwMode="auto">
          <a:xfrm>
            <a:off x="6477000" y="34290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6</a:t>
            </a:r>
          </a:p>
        </p:txBody>
      </p:sp>
      <p:sp>
        <p:nvSpPr>
          <p:cNvPr id="44074" name="Text Box 100"/>
          <p:cNvSpPr txBox="1">
            <a:spLocks noChangeArrowheads="1"/>
          </p:cNvSpPr>
          <p:nvPr/>
        </p:nvSpPr>
        <p:spPr bwMode="auto">
          <a:xfrm>
            <a:off x="5334000" y="34290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5</a:t>
            </a:r>
          </a:p>
        </p:txBody>
      </p:sp>
      <p:sp>
        <p:nvSpPr>
          <p:cNvPr id="44075" name="Freeform 101"/>
          <p:cNvSpPr>
            <a:spLocks/>
          </p:cNvSpPr>
          <p:nvPr/>
        </p:nvSpPr>
        <p:spPr bwMode="auto">
          <a:xfrm>
            <a:off x="5553075" y="3048000"/>
            <a:ext cx="330200" cy="115888"/>
          </a:xfrm>
          <a:custGeom>
            <a:avLst/>
            <a:gdLst>
              <a:gd name="T0" fmla="*/ 161925 w 208"/>
              <a:gd name="T1" fmla="*/ 0 h 73"/>
              <a:gd name="T2" fmla="*/ 0 w 208"/>
              <a:gd name="T3" fmla="*/ 115888 h 73"/>
              <a:gd name="T4" fmla="*/ 330200 w 208"/>
              <a:gd name="T5" fmla="*/ 115888 h 73"/>
              <a:gd name="T6" fmla="*/ 161925 w 208"/>
              <a:gd name="T7" fmla="*/ 0 h 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8" h="73">
                <a:moveTo>
                  <a:pt x="102" y="0"/>
                </a:moveTo>
                <a:lnTo>
                  <a:pt x="0" y="73"/>
                </a:lnTo>
                <a:lnTo>
                  <a:pt x="208" y="73"/>
                </a:lnTo>
                <a:lnTo>
                  <a:pt x="102" y="0"/>
                </a:lnTo>
                <a:close/>
              </a:path>
            </a:pathLst>
          </a:custGeom>
          <a:solidFill>
            <a:srgbClr val="FF9900"/>
          </a:solidFill>
          <a:ln w="9525">
            <a:solidFill>
              <a:schemeClr val="tx1"/>
            </a:solidFill>
            <a:round/>
            <a:headEnd/>
            <a:tailEnd/>
          </a:ln>
          <a:effectLst/>
        </p:spPr>
        <p:txBody>
          <a:bodyPr/>
          <a:lstStyle/>
          <a:p>
            <a:endParaRPr lang="en-US"/>
          </a:p>
        </p:txBody>
      </p:sp>
      <p:sp>
        <p:nvSpPr>
          <p:cNvPr id="44076" name="Rectangle 102"/>
          <p:cNvSpPr>
            <a:spLocks noChangeArrowheads="1"/>
          </p:cNvSpPr>
          <p:nvPr/>
        </p:nvSpPr>
        <p:spPr bwMode="auto">
          <a:xfrm>
            <a:off x="7315200" y="34290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F</a:t>
            </a:r>
          </a:p>
        </p:txBody>
      </p:sp>
      <p:sp>
        <p:nvSpPr>
          <p:cNvPr id="44077" name="Text Box 103"/>
          <p:cNvSpPr txBox="1">
            <a:spLocks noChangeArrowheads="1"/>
          </p:cNvSpPr>
          <p:nvPr/>
        </p:nvSpPr>
        <p:spPr bwMode="auto">
          <a:xfrm>
            <a:off x="7620000" y="34290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3</a:t>
            </a:r>
          </a:p>
        </p:txBody>
      </p:sp>
      <p:cxnSp>
        <p:nvCxnSpPr>
          <p:cNvPr id="44078" name="AutoShape 104"/>
          <p:cNvCxnSpPr>
            <a:cxnSpLocks noChangeShapeType="1"/>
            <a:stCxn id="44060" idx="0"/>
            <a:endCxn id="44069" idx="2"/>
          </p:cNvCxnSpPr>
          <p:nvPr/>
        </p:nvCxnSpPr>
        <p:spPr bwMode="auto">
          <a:xfrm flipH="1" flipV="1">
            <a:off x="6324600" y="3733800"/>
            <a:ext cx="457200" cy="533400"/>
          </a:xfrm>
          <a:prstGeom prst="straightConnector1">
            <a:avLst/>
          </a:prstGeom>
          <a:noFill/>
          <a:ln w="12700">
            <a:solidFill>
              <a:schemeClr val="tx1"/>
            </a:solidFill>
            <a:round/>
            <a:headEnd/>
            <a:tailEnd/>
          </a:ln>
          <a:effectLst/>
        </p:spPr>
      </p:cxnSp>
      <p:cxnSp>
        <p:nvCxnSpPr>
          <p:cNvPr id="44079" name="AutoShape 105"/>
          <p:cNvCxnSpPr>
            <a:cxnSpLocks noChangeShapeType="1"/>
            <a:stCxn id="44060" idx="0"/>
            <a:endCxn id="44061" idx="2"/>
          </p:cNvCxnSpPr>
          <p:nvPr/>
        </p:nvCxnSpPr>
        <p:spPr bwMode="auto">
          <a:xfrm flipV="1">
            <a:off x="6781800" y="3048000"/>
            <a:ext cx="76200" cy="1219200"/>
          </a:xfrm>
          <a:prstGeom prst="straightConnector1">
            <a:avLst/>
          </a:prstGeom>
          <a:noFill/>
          <a:ln w="12700">
            <a:solidFill>
              <a:schemeClr val="tx1"/>
            </a:solidFill>
            <a:round/>
            <a:headEnd/>
            <a:tailEnd/>
          </a:ln>
          <a:effectLst/>
        </p:spPr>
      </p:cxnSp>
      <p:cxnSp>
        <p:nvCxnSpPr>
          <p:cNvPr id="44080" name="AutoShape 106"/>
          <p:cNvCxnSpPr>
            <a:cxnSpLocks noChangeShapeType="1"/>
            <a:stCxn id="44076" idx="0"/>
            <a:endCxn id="44061" idx="2"/>
          </p:cNvCxnSpPr>
          <p:nvPr/>
        </p:nvCxnSpPr>
        <p:spPr bwMode="auto">
          <a:xfrm flipH="1" flipV="1">
            <a:off x="6858000" y="3048000"/>
            <a:ext cx="609600" cy="381000"/>
          </a:xfrm>
          <a:prstGeom prst="straightConnector1">
            <a:avLst/>
          </a:prstGeom>
          <a:noFill/>
          <a:ln w="12700">
            <a:solidFill>
              <a:schemeClr val="tx1"/>
            </a:solidFill>
            <a:round/>
            <a:headEnd/>
            <a:tailEnd/>
          </a:ln>
          <a:effectLst/>
        </p:spPr>
      </p:cxnSp>
      <p:sp>
        <p:nvSpPr>
          <p:cNvPr id="44081" name="Freeform 107"/>
          <p:cNvSpPr>
            <a:spLocks/>
          </p:cNvSpPr>
          <p:nvPr/>
        </p:nvSpPr>
        <p:spPr bwMode="auto">
          <a:xfrm>
            <a:off x="6827838" y="3048000"/>
            <a:ext cx="207962" cy="252413"/>
          </a:xfrm>
          <a:custGeom>
            <a:avLst/>
            <a:gdLst>
              <a:gd name="T0" fmla="*/ 39687 w 131"/>
              <a:gd name="T1" fmla="*/ 0 h 159"/>
              <a:gd name="T2" fmla="*/ 0 w 131"/>
              <a:gd name="T3" fmla="*/ 252413 h 159"/>
              <a:gd name="T4" fmla="*/ 207962 w 131"/>
              <a:gd name="T5" fmla="*/ 115888 h 159"/>
              <a:gd name="T6" fmla="*/ 39687 w 131"/>
              <a:gd name="T7" fmla="*/ 0 h 1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1" h="159">
                <a:moveTo>
                  <a:pt x="25" y="0"/>
                </a:moveTo>
                <a:lnTo>
                  <a:pt x="0" y="159"/>
                </a:lnTo>
                <a:lnTo>
                  <a:pt x="131" y="73"/>
                </a:lnTo>
                <a:lnTo>
                  <a:pt x="25" y="0"/>
                </a:lnTo>
                <a:close/>
              </a:path>
            </a:pathLst>
          </a:custGeom>
          <a:solidFill>
            <a:srgbClr val="FF9900"/>
          </a:solidFill>
          <a:ln w="9525">
            <a:solidFill>
              <a:schemeClr val="tx1"/>
            </a:solidFill>
            <a:round/>
            <a:headEnd/>
            <a:tailEnd/>
          </a:ln>
          <a:effectLst/>
        </p:spPr>
        <p:txBody>
          <a:bodyPr/>
          <a:lstStyle/>
          <a:p>
            <a:endParaRPr lang="en-US"/>
          </a:p>
        </p:txBody>
      </p:sp>
      <p:sp>
        <p:nvSpPr>
          <p:cNvPr id="44082" name="Rectangle 108"/>
          <p:cNvSpPr>
            <a:spLocks noChangeArrowheads="1"/>
          </p:cNvSpPr>
          <p:nvPr/>
        </p:nvSpPr>
        <p:spPr bwMode="auto">
          <a:xfrm>
            <a:off x="6629400" y="5257800"/>
            <a:ext cx="304800" cy="304800"/>
          </a:xfrm>
          <a:prstGeom prst="rect">
            <a:avLst/>
          </a:prstGeom>
          <a:noFill/>
          <a:ln w="12700">
            <a:solidFill>
              <a:schemeClr val="tx1"/>
            </a:solidFill>
            <a:miter lim="800000"/>
            <a:headEnd/>
            <a:tailEnd/>
          </a:ln>
          <a:effectLst/>
        </p:spPr>
        <p:txBody>
          <a:bodyPr wrap="none" anchor="ctr"/>
          <a:lstStyle/>
          <a:p>
            <a:pPr algn="ctr"/>
            <a:r>
              <a:rPr lang="en-GB" sz="2000">
                <a:latin typeface="Arial Unicode MS" pitchFamily="34" charset="-128"/>
              </a:rPr>
              <a:t>H</a:t>
            </a:r>
          </a:p>
        </p:txBody>
      </p:sp>
      <p:sp>
        <p:nvSpPr>
          <p:cNvPr id="44083" name="Text Box 109"/>
          <p:cNvSpPr txBox="1">
            <a:spLocks noChangeArrowheads="1"/>
          </p:cNvSpPr>
          <p:nvPr/>
        </p:nvSpPr>
        <p:spPr bwMode="auto">
          <a:xfrm>
            <a:off x="6934200" y="5257800"/>
            <a:ext cx="3810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9</a:t>
            </a:r>
          </a:p>
        </p:txBody>
      </p:sp>
      <p:cxnSp>
        <p:nvCxnSpPr>
          <p:cNvPr id="44084" name="AutoShape 110"/>
          <p:cNvCxnSpPr>
            <a:cxnSpLocks noChangeShapeType="1"/>
            <a:stCxn id="44082" idx="0"/>
            <a:endCxn id="44060" idx="2"/>
          </p:cNvCxnSpPr>
          <p:nvPr/>
        </p:nvCxnSpPr>
        <p:spPr bwMode="auto">
          <a:xfrm flipV="1">
            <a:off x="6781800" y="4572000"/>
            <a:ext cx="0" cy="685800"/>
          </a:xfrm>
          <a:prstGeom prst="straightConnector1">
            <a:avLst/>
          </a:prstGeom>
          <a:noFill/>
          <a:ln w="12700">
            <a:solidFill>
              <a:schemeClr val="tx1"/>
            </a:solidFill>
            <a:round/>
            <a:headEnd/>
            <a:tailEnd/>
          </a:ln>
          <a:effectLst/>
        </p:spPr>
      </p:cxnSp>
      <p:sp>
        <p:nvSpPr>
          <p:cNvPr id="44085" name="Text Box 111"/>
          <p:cNvSpPr txBox="1">
            <a:spLocks noChangeArrowheads="1"/>
          </p:cNvSpPr>
          <p:nvPr/>
        </p:nvSpPr>
        <p:spPr bwMode="auto">
          <a:xfrm>
            <a:off x="1676400" y="5181600"/>
            <a:ext cx="4343400" cy="396875"/>
          </a:xfrm>
          <a:prstGeom prst="rect">
            <a:avLst/>
          </a:prstGeom>
          <a:noFill/>
          <a:ln w="9525">
            <a:noFill/>
            <a:miter lim="800000"/>
            <a:headEnd/>
            <a:tailEnd/>
          </a:ln>
          <a:effectLst/>
        </p:spPr>
        <p:txBody>
          <a:bodyPr>
            <a:spAutoFit/>
          </a:bodyPr>
          <a:lstStyle/>
          <a:p>
            <a:pPr>
              <a:spcBef>
                <a:spcPct val="50000"/>
              </a:spcBef>
            </a:pPr>
            <a:r>
              <a:rPr lang="en-GB" sz="2000">
                <a:solidFill>
                  <a:srgbClr val="0000FF"/>
                </a:solidFill>
                <a:latin typeface="Arial Unicode MS" pitchFamily="34" charset="-128"/>
              </a:rPr>
              <a:t>Necessary backward propagation</a:t>
            </a:r>
          </a:p>
        </p:txBody>
      </p:sp>
      <p:sp>
        <p:nvSpPr>
          <p:cNvPr id="44086" name="Line 112"/>
          <p:cNvSpPr>
            <a:spLocks noChangeShapeType="1"/>
          </p:cNvSpPr>
          <p:nvPr/>
        </p:nvSpPr>
        <p:spPr bwMode="auto">
          <a:xfrm flipV="1">
            <a:off x="4800600" y="3810000"/>
            <a:ext cx="1295400" cy="1295400"/>
          </a:xfrm>
          <a:prstGeom prst="line">
            <a:avLst/>
          </a:prstGeom>
          <a:noFill/>
          <a:ln w="76200">
            <a:solidFill>
              <a:schemeClr val="tx1"/>
            </a:solidFill>
            <a:round/>
            <a:headEnd/>
            <a:tailEnd type="triangle" w="med" len="med"/>
          </a:ln>
          <a:effectLst/>
        </p:spPr>
        <p:txBody>
          <a:bodyPr/>
          <a:lstStyle/>
          <a:p>
            <a:endParaRPr lang="en-US"/>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dirty="0"/>
              <a:t>Local Search Algorithms</a:t>
            </a:r>
          </a:p>
        </p:txBody>
      </p:sp>
      <p:sp>
        <p:nvSpPr>
          <p:cNvPr id="18435" name="Rectangle 3"/>
          <p:cNvSpPr>
            <a:spLocks noGrp="1" noChangeArrowheads="1"/>
          </p:cNvSpPr>
          <p:nvPr>
            <p:ph type="body" idx="1"/>
          </p:nvPr>
        </p:nvSpPr>
        <p:spPr>
          <a:xfrm>
            <a:off x="457200" y="1676400"/>
            <a:ext cx="8497888" cy="4456113"/>
          </a:xfrm>
        </p:spPr>
        <p:txBody>
          <a:bodyPr/>
          <a:lstStyle/>
          <a:p>
            <a:pPr eaLnBrk="1" hangingPunct="1">
              <a:lnSpc>
                <a:spcPct val="80000"/>
              </a:lnSpc>
            </a:pPr>
            <a:r>
              <a:rPr lang="en-US" sz="2800" dirty="0"/>
              <a:t>In many optimization problems, the </a:t>
            </a:r>
            <a:r>
              <a:rPr lang="en-US" sz="2800" dirty="0">
                <a:solidFill>
                  <a:srgbClr val="FF0000"/>
                </a:solidFill>
              </a:rPr>
              <a:t>path</a:t>
            </a:r>
            <a:r>
              <a:rPr lang="en-US" sz="2800" dirty="0"/>
              <a:t> to the goal is irrelevant; the goal state itself is the solution.</a:t>
            </a:r>
          </a:p>
          <a:p>
            <a:pPr eaLnBrk="1" hangingPunct="1">
              <a:lnSpc>
                <a:spcPct val="80000"/>
              </a:lnSpc>
            </a:pPr>
            <a:r>
              <a:rPr lang="en-US" sz="2800" dirty="0"/>
              <a:t>State space = set of "complete" configurations</a:t>
            </a:r>
          </a:p>
          <a:p>
            <a:pPr eaLnBrk="1" hangingPunct="1">
              <a:lnSpc>
                <a:spcPct val="80000"/>
              </a:lnSpc>
            </a:pPr>
            <a:r>
              <a:rPr lang="en-US" sz="2800" dirty="0"/>
              <a:t>Find configuration satisfying constraints, e.g., n-queens</a:t>
            </a:r>
          </a:p>
          <a:p>
            <a:pPr eaLnBrk="1" hangingPunct="1">
              <a:lnSpc>
                <a:spcPct val="80000"/>
              </a:lnSpc>
            </a:pPr>
            <a:r>
              <a:rPr lang="en-US" sz="2800" dirty="0"/>
              <a:t>In such cases, we can use </a:t>
            </a:r>
            <a:r>
              <a:rPr lang="en-US" sz="2800" dirty="0">
                <a:solidFill>
                  <a:srgbClr val="FF0000"/>
                </a:solidFill>
              </a:rPr>
              <a:t>local search algorithms</a:t>
            </a:r>
            <a:endParaRPr lang="en-US" sz="2800" dirty="0"/>
          </a:p>
          <a:p>
            <a:pPr eaLnBrk="1" hangingPunct="1">
              <a:lnSpc>
                <a:spcPct val="80000"/>
              </a:lnSpc>
            </a:pPr>
            <a:r>
              <a:rPr lang="en-US" sz="2800" dirty="0"/>
              <a:t>Keep a single "current" state, try to improve it.</a:t>
            </a:r>
          </a:p>
          <a:p>
            <a:pPr eaLnBrk="1" hangingPunct="1">
              <a:lnSpc>
                <a:spcPct val="80000"/>
              </a:lnSpc>
            </a:pPr>
            <a:r>
              <a:rPr lang="en-US" sz="2800" dirty="0"/>
              <a:t>Very memory efficient (only remember current state)</a:t>
            </a:r>
          </a:p>
          <a:p>
            <a:pPr eaLnBrk="1" hangingPunct="1">
              <a:lnSpc>
                <a:spcPct val="80000"/>
              </a:lnSpc>
            </a:pPr>
            <a:r>
              <a:rPr lang="en-US" sz="2800" dirty="0"/>
              <a:t>Based on the local view.</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Search Algorithms</a:t>
            </a:r>
          </a:p>
        </p:txBody>
      </p:sp>
      <p:sp>
        <p:nvSpPr>
          <p:cNvPr id="3" name="Content Placeholder 2"/>
          <p:cNvSpPr>
            <a:spLocks noGrp="1"/>
          </p:cNvSpPr>
          <p:nvPr>
            <p:ph sz="quarter" idx="1"/>
          </p:nvPr>
        </p:nvSpPr>
        <p:spPr>
          <a:xfrm>
            <a:off x="301752" y="1676400"/>
            <a:ext cx="8503920" cy="4422648"/>
          </a:xfrm>
        </p:spPr>
        <p:txBody>
          <a:bodyPr>
            <a:normAutofit fontScale="85000" lnSpcReduction="10000"/>
          </a:bodyPr>
          <a:lstStyle/>
          <a:p>
            <a:r>
              <a:rPr lang="en-US" b="1" dirty="0"/>
              <a:t>Local search algorithms work as follows:</a:t>
            </a:r>
          </a:p>
          <a:p>
            <a:endParaRPr lang="en-US" b="1" dirty="0"/>
          </a:p>
          <a:p>
            <a:r>
              <a:rPr lang="en-US" dirty="0"/>
              <a:t>Pick a solution from the search space and evaluate it. Define this as the current solution.</a:t>
            </a:r>
          </a:p>
          <a:p>
            <a:r>
              <a:rPr lang="en-US" dirty="0"/>
              <a:t> Apply a transformation to the current solution to generate and evaluate a new solution.</a:t>
            </a:r>
          </a:p>
          <a:p>
            <a:r>
              <a:rPr lang="en-US" dirty="0"/>
              <a:t>If the new solution is better than the current solution then</a:t>
            </a:r>
          </a:p>
          <a:p>
            <a:pPr>
              <a:buNone/>
            </a:pPr>
            <a:r>
              <a:rPr lang="en-US" dirty="0"/>
              <a:t>    exchange it with the current solution; otherwise discard the</a:t>
            </a:r>
          </a:p>
          <a:p>
            <a:pPr>
              <a:buNone/>
            </a:pPr>
            <a:r>
              <a:rPr lang="en-US" dirty="0"/>
              <a:t>    new solution.</a:t>
            </a:r>
          </a:p>
          <a:p>
            <a:r>
              <a:rPr lang="en-US" dirty="0"/>
              <a:t>Repeat steps 2 and 3 until no transformation in the given set</a:t>
            </a:r>
          </a:p>
          <a:p>
            <a:pPr>
              <a:buNone/>
            </a:pPr>
            <a:r>
              <a:rPr lang="en-US" dirty="0"/>
              <a:t>    improves the current solution.</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Search Algorithms</a:t>
            </a:r>
          </a:p>
        </p:txBody>
      </p:sp>
      <p:sp>
        <p:nvSpPr>
          <p:cNvPr id="3" name="Content Placeholder 2"/>
          <p:cNvSpPr>
            <a:spLocks noGrp="1"/>
          </p:cNvSpPr>
          <p:nvPr>
            <p:ph sz="quarter" idx="1"/>
          </p:nvPr>
        </p:nvSpPr>
        <p:spPr/>
        <p:txBody>
          <a:bodyPr/>
          <a:lstStyle/>
          <a:p>
            <a:r>
              <a:rPr lang="en-US" b="1" dirty="0"/>
              <a:t>Example: </a:t>
            </a:r>
            <a:r>
              <a:rPr lang="en-US" dirty="0"/>
              <a:t>Car driver driving a car on a road with a number of curve up the hill, with possibility of multiple junctions and routes.</a:t>
            </a:r>
          </a:p>
          <a:p>
            <a:endParaRPr lang="en-US" dirty="0"/>
          </a:p>
          <a:p>
            <a:r>
              <a:rPr lang="en-US" b="1" dirty="0"/>
              <a:t>Issue: </a:t>
            </a:r>
            <a:r>
              <a:rPr lang="en-US" dirty="0"/>
              <a:t>No one can assure that the best solution  is found.</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685800"/>
          </a:xfrm>
        </p:spPr>
        <p:txBody>
          <a:bodyPr>
            <a:normAutofit fontScale="90000"/>
          </a:bodyPr>
          <a:lstStyle/>
          <a:p>
            <a:r>
              <a:rPr lang="en-US" dirty="0"/>
              <a:t>Local Search(Iterative Improvement) Algorithms</a:t>
            </a:r>
          </a:p>
        </p:txBody>
      </p:sp>
      <p:pic>
        <p:nvPicPr>
          <p:cNvPr id="628738" name="Picture 2"/>
          <p:cNvPicPr>
            <a:picLocks noGrp="1" noChangeAspect="1" noChangeArrowheads="1"/>
          </p:cNvPicPr>
          <p:nvPr>
            <p:ph sz="quarter" idx="1"/>
          </p:nvPr>
        </p:nvPicPr>
        <p:blipFill>
          <a:blip r:embed="rId2"/>
          <a:srcRect/>
          <a:stretch>
            <a:fillRect/>
          </a:stretch>
        </p:blipFill>
        <p:spPr bwMode="auto">
          <a:xfrm>
            <a:off x="533400" y="2514600"/>
            <a:ext cx="7696200" cy="3810000"/>
          </a:xfrm>
          <a:prstGeom prst="rect">
            <a:avLst/>
          </a:prstGeom>
          <a:noFill/>
          <a:ln w="9525">
            <a:noFill/>
            <a:miter lim="800000"/>
            <a:headEnd/>
            <a:tailEnd/>
          </a:ln>
          <a:effectLst/>
        </p:spPr>
      </p:pic>
      <p:pic>
        <p:nvPicPr>
          <p:cNvPr id="628739" name="Picture 3"/>
          <p:cNvPicPr>
            <a:picLocks noChangeAspect="1" noChangeArrowheads="1"/>
          </p:cNvPicPr>
          <p:nvPr/>
        </p:nvPicPr>
        <p:blipFill>
          <a:blip r:embed="rId3"/>
          <a:srcRect/>
          <a:stretch>
            <a:fillRect/>
          </a:stretch>
        </p:blipFill>
        <p:spPr bwMode="auto">
          <a:xfrm>
            <a:off x="533400" y="1600200"/>
            <a:ext cx="7696200" cy="933450"/>
          </a:xfrm>
          <a:prstGeom prst="rect">
            <a:avLst/>
          </a:prstGeom>
          <a:noFill/>
          <a:ln w="9525">
            <a:noFill/>
            <a:miter lim="800000"/>
            <a:headEnd/>
            <a:tailEnd/>
          </a:ln>
          <a:effectLst/>
        </p:spPr>
      </p:pic>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r>
              <a:rPr lang="en-US" i="1" dirty="0"/>
              <a:t>n</a:t>
            </a:r>
            <a:r>
              <a:rPr lang="en-US" dirty="0"/>
              <a:t>-queens</a:t>
            </a:r>
          </a:p>
        </p:txBody>
      </p:sp>
      <p:pic>
        <p:nvPicPr>
          <p:cNvPr id="4" name="Picture 2"/>
          <p:cNvPicPr>
            <a:picLocks noGrp="1" noChangeAspect="1" noChangeArrowheads="1"/>
          </p:cNvPicPr>
          <p:nvPr>
            <p:ph sz="quarter" idx="1"/>
          </p:nvPr>
        </p:nvPicPr>
        <p:blipFill>
          <a:blip r:embed="rId3"/>
          <a:srcRect/>
          <a:stretch>
            <a:fillRect/>
          </a:stretch>
        </p:blipFill>
        <p:spPr bwMode="auto">
          <a:xfrm>
            <a:off x="533400" y="1646237"/>
            <a:ext cx="8077200" cy="4602163"/>
          </a:xfrm>
          <a:prstGeom prst="rect">
            <a:avLst/>
          </a:prstGeom>
          <a:noFill/>
          <a:ln w="9525">
            <a:noFill/>
            <a:miter lim="800000"/>
            <a:headEnd/>
            <a:tailEnd/>
          </a:ln>
          <a:effectLst/>
        </p:spPr>
      </p:pic>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TSP</a:t>
            </a:r>
          </a:p>
        </p:txBody>
      </p:sp>
      <p:sp>
        <p:nvSpPr>
          <p:cNvPr id="3" name="Content Placeholder 2"/>
          <p:cNvSpPr>
            <a:spLocks noGrp="1"/>
          </p:cNvSpPr>
          <p:nvPr>
            <p:ph sz="quarter" idx="1"/>
          </p:nvPr>
        </p:nvSpPr>
        <p:spPr>
          <a:xfrm>
            <a:off x="301752" y="1527048"/>
            <a:ext cx="8503920" cy="4645152"/>
          </a:xfrm>
        </p:spPr>
        <p:txBody>
          <a:bodyPr>
            <a:normAutofit lnSpcReduction="10000"/>
          </a:bodyPr>
          <a:lstStyle/>
          <a:p>
            <a:r>
              <a:rPr lang="en-US" b="1" dirty="0"/>
              <a:t>TSP: </a:t>
            </a:r>
            <a:r>
              <a:rPr lang="en-US" dirty="0"/>
              <a:t>Let G be a (directed or undirected) graph of n nodes with each edge assigned a non-negative cost. Find the lowest-cost path of G that visits each node only once and returns to a given initial node.</a:t>
            </a:r>
          </a:p>
          <a:p>
            <a:endParaRPr lang="en-US" b="1" dirty="0"/>
          </a:p>
          <a:p>
            <a:r>
              <a:rPr lang="en-US" b="1" dirty="0"/>
              <a:t>Solution set: </a:t>
            </a:r>
            <a:r>
              <a:rPr lang="en-US" dirty="0"/>
              <a:t>the set of permutations of the </a:t>
            </a:r>
            <a:r>
              <a:rPr lang="en-US" i="1" dirty="0"/>
              <a:t>n cities.</a:t>
            </a:r>
          </a:p>
          <a:p>
            <a:endParaRPr lang="en-US" i="1" dirty="0"/>
          </a:p>
          <a:p>
            <a:r>
              <a:rPr lang="en-US" dirty="0"/>
              <a:t>Any permutation yields an ordered list of the cities to be visited, starting at the salesman's home base, and continuing to the last location before returning home.</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for TSP</a:t>
            </a:r>
          </a:p>
        </p:txBody>
      </p:sp>
      <p:sp>
        <p:nvSpPr>
          <p:cNvPr id="3" name="Content Placeholder 2"/>
          <p:cNvSpPr>
            <a:spLocks noGrp="1"/>
          </p:cNvSpPr>
          <p:nvPr>
            <p:ph sz="quarter" idx="1"/>
          </p:nvPr>
        </p:nvSpPr>
        <p:spPr>
          <a:xfrm>
            <a:off x="301752" y="1828800"/>
            <a:ext cx="8503920" cy="4270248"/>
          </a:xfrm>
        </p:spPr>
        <p:txBody>
          <a:bodyPr>
            <a:normAutofit/>
          </a:bodyPr>
          <a:lstStyle/>
          <a:p>
            <a:pPr>
              <a:buNone/>
            </a:pPr>
            <a:r>
              <a:rPr lang="en-US" dirty="0"/>
              <a:t>1. Start with an arbitrary complete tour </a:t>
            </a:r>
            <a:r>
              <a:rPr lang="en-US" i="1" dirty="0"/>
              <a:t>T (i.e., a random </a:t>
            </a:r>
            <a:r>
              <a:rPr lang="en-US" dirty="0"/>
              <a:t>permutation).</a:t>
            </a:r>
          </a:p>
          <a:p>
            <a:pPr>
              <a:buNone/>
            </a:pPr>
            <a:r>
              <a:rPr lang="en-US" dirty="0"/>
              <a:t>2. Define the </a:t>
            </a:r>
            <a:r>
              <a:rPr lang="en-US" dirty="0" err="1"/>
              <a:t>neighbourhood</a:t>
            </a:r>
            <a:r>
              <a:rPr lang="en-US" dirty="0"/>
              <a:t> of </a:t>
            </a:r>
            <a:r>
              <a:rPr lang="en-US" i="1" dirty="0"/>
              <a:t>T as the set of all tours that </a:t>
            </a:r>
            <a:r>
              <a:rPr lang="en-US" dirty="0"/>
              <a:t>can be reached by a 2-interchange move.</a:t>
            </a:r>
          </a:p>
          <a:p>
            <a:pPr>
              <a:buNone/>
            </a:pPr>
            <a:r>
              <a:rPr lang="en-US" dirty="0"/>
              <a:t>3. Search in the </a:t>
            </a:r>
            <a:r>
              <a:rPr lang="en-US" dirty="0" err="1"/>
              <a:t>neighbourhood</a:t>
            </a:r>
            <a:r>
              <a:rPr lang="en-US" dirty="0"/>
              <a:t> of </a:t>
            </a:r>
            <a:r>
              <a:rPr lang="en-US" i="1" dirty="0"/>
              <a:t>T for a new tour T0. If this </a:t>
            </a:r>
            <a:r>
              <a:rPr lang="en-US" dirty="0"/>
              <a:t>tour is better than </a:t>
            </a:r>
            <a:r>
              <a:rPr lang="en-US" i="1" dirty="0"/>
              <a:t>T (i.e., it has lower cost), then replace T </a:t>
            </a:r>
            <a:r>
              <a:rPr lang="en-US" dirty="0"/>
              <a:t>with </a:t>
            </a:r>
            <a:r>
              <a:rPr lang="en-US" i="1" dirty="0"/>
              <a:t>T0.</a:t>
            </a:r>
          </a:p>
          <a:p>
            <a:pPr>
              <a:buNone/>
            </a:pPr>
            <a:r>
              <a:rPr lang="en-US" dirty="0"/>
              <a:t>If you cannot find a better tour, terminate.</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Search Algorithms</a:t>
            </a:r>
          </a:p>
        </p:txBody>
      </p:sp>
      <p:sp>
        <p:nvSpPr>
          <p:cNvPr id="3" name="Content Placeholder 2"/>
          <p:cNvSpPr>
            <a:spLocks noGrp="1"/>
          </p:cNvSpPr>
          <p:nvPr>
            <p:ph sz="quarter" idx="1"/>
          </p:nvPr>
        </p:nvSpPr>
        <p:spPr/>
        <p:txBody>
          <a:bodyPr>
            <a:noAutofit/>
          </a:bodyPr>
          <a:lstStyle/>
          <a:p>
            <a:r>
              <a:rPr lang="en-US" sz="2400" dirty="0"/>
              <a:t>Thus local search algorithms operate using a single current state(rather than multiple paths as e.g., A*) and generally move only to </a:t>
            </a:r>
            <a:r>
              <a:rPr lang="en-US" sz="2400" dirty="0" err="1"/>
              <a:t>neighbours</a:t>
            </a:r>
            <a:r>
              <a:rPr lang="en-US" sz="2400" dirty="0"/>
              <a:t> of that state.</a:t>
            </a:r>
          </a:p>
          <a:p>
            <a:r>
              <a:rPr lang="en-US" sz="2400" dirty="0"/>
              <a:t>At each step of a local search algorithm we have a complete but imperfect solution to a search problem. Other algorithms(e.g., A*) work with partial solutions and extend them to complete ones.</a:t>
            </a:r>
          </a:p>
          <a:p>
            <a:r>
              <a:rPr lang="en-US" sz="2400" b="1" dirty="0"/>
              <a:t>Good properties of local search algorithms:</a:t>
            </a:r>
          </a:p>
          <a:p>
            <a:r>
              <a:rPr lang="en-US" sz="2400" i="1" dirty="0"/>
              <a:t> Constant space</a:t>
            </a:r>
          </a:p>
          <a:p>
            <a:r>
              <a:rPr lang="en-US" sz="2400" i="1" dirty="0"/>
              <a:t>Suitable for on-line as well as off-line problems.</a:t>
            </a:r>
          </a:p>
          <a:p>
            <a:r>
              <a:rPr lang="en-US" sz="2400" i="1" dirty="0"/>
              <a:t>Can  find reasonable solutions in large solution spaces</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Hill-climbing search</a:t>
            </a:r>
            <a:endParaRPr lang="en-US" dirty="0"/>
          </a:p>
        </p:txBody>
      </p:sp>
      <p:sp>
        <p:nvSpPr>
          <p:cNvPr id="3" name="Content Placeholder 2"/>
          <p:cNvSpPr>
            <a:spLocks noGrp="1"/>
          </p:cNvSpPr>
          <p:nvPr>
            <p:ph sz="quarter" idx="1"/>
          </p:nvPr>
        </p:nvSpPr>
        <p:spPr>
          <a:xfrm>
            <a:off x="301752" y="1524000"/>
            <a:ext cx="8503920" cy="4575048"/>
          </a:xfrm>
        </p:spPr>
        <p:txBody>
          <a:bodyPr/>
          <a:lstStyle/>
          <a:p>
            <a:r>
              <a:rPr lang="en-US" dirty="0"/>
              <a:t>In a search methods, we continuously update the search space with reference to the goal state.</a:t>
            </a:r>
          </a:p>
          <a:p>
            <a:r>
              <a:rPr lang="en-US" b="1" dirty="0"/>
              <a:t>In hill climbing</a:t>
            </a:r>
            <a:r>
              <a:rPr lang="en-US" dirty="0"/>
              <a:t>, search begins with the random point in search space(always moves uphill).</a:t>
            </a:r>
          </a:p>
          <a:p>
            <a:r>
              <a:rPr lang="en-US" b="1" dirty="0"/>
              <a:t>Basic Idea: </a:t>
            </a:r>
            <a:r>
              <a:rPr lang="en-US" dirty="0"/>
              <a:t>Always head towards the state which is better than the current state. Always move to the neighbor with a better score. No neighbor better than the current state, then program stop.</a:t>
            </a:r>
          </a:p>
          <a:p>
            <a:r>
              <a:rPr lang="en-US" dirty="0"/>
              <a:t>Since it is always moving to the node which has better value, it is very greedy and can easily stuck. </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a:t>To determine whether current state is better or not, an evaluation function (heuristic) is used.</a:t>
            </a:r>
          </a:p>
          <a:p>
            <a:endParaRPr lang="en-US" dirty="0"/>
          </a:p>
          <a:p>
            <a:r>
              <a:rPr lang="en-US" dirty="0"/>
              <a:t>Generally better state means a higher value of evaluation function.</a:t>
            </a:r>
          </a:p>
          <a:p>
            <a:endParaRPr lang="en-US" dirty="0"/>
          </a:p>
          <a:p>
            <a:r>
              <a:rPr lang="en-US" dirty="0"/>
              <a:t>This algorithm make incremental changes in the optimal direction based on heuristics.</a:t>
            </a:r>
          </a:p>
        </p:txBody>
      </p:sp>
      <p:sp>
        <p:nvSpPr>
          <p:cNvPr id="4" name="Title 1"/>
          <p:cNvSpPr>
            <a:spLocks noGrp="1"/>
          </p:cNvSpPr>
          <p:nvPr>
            <p:ph type="title"/>
          </p:nvPr>
        </p:nvSpPr>
        <p:spPr/>
        <p:txBody>
          <a:bodyPr/>
          <a:lstStyle/>
          <a:p>
            <a:r>
              <a:rPr lang="en-US" sz="3200" dirty="0"/>
              <a:t>Hill-climbing search Algorithm</a:t>
            </a:r>
            <a:endParaRPr lang="en-US"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body" idx="1"/>
          </p:nvPr>
        </p:nvSpPr>
        <p:spPr>
          <a:xfrm>
            <a:off x="381000" y="1447800"/>
            <a:ext cx="8229600" cy="4221163"/>
          </a:xfrm>
        </p:spPr>
        <p:txBody>
          <a:bodyPr/>
          <a:lstStyle/>
          <a:p>
            <a:pPr eaLnBrk="1" hangingPunct="1"/>
            <a:r>
              <a:rPr lang="en-US" dirty="0"/>
              <a:t>"</a:t>
            </a:r>
            <a:r>
              <a:rPr lang="en-US" dirty="0">
                <a:solidFill>
                  <a:srgbClr val="FF0000"/>
                </a:solidFill>
              </a:rPr>
              <a:t>Like climbing Everest in thick fog with amnesia"</a:t>
            </a:r>
            <a:endParaRPr lang="en-US" dirty="0"/>
          </a:p>
          <a:p>
            <a:pPr eaLnBrk="1" hangingPunct="1"/>
            <a:endParaRPr lang="en-US" dirty="0"/>
          </a:p>
        </p:txBody>
      </p:sp>
      <p:pic>
        <p:nvPicPr>
          <p:cNvPr id="43012" name="Picture 4"/>
          <p:cNvPicPr>
            <a:picLocks noChangeAspect="1" noChangeArrowheads="1"/>
          </p:cNvPicPr>
          <p:nvPr/>
        </p:nvPicPr>
        <p:blipFill>
          <a:blip r:embed="rId3"/>
          <a:srcRect l="17969" t="27083" r="13281" b="36459"/>
          <a:stretch>
            <a:fillRect/>
          </a:stretch>
        </p:blipFill>
        <p:spPr bwMode="auto">
          <a:xfrm>
            <a:off x="457200" y="1981201"/>
            <a:ext cx="8229600" cy="3657600"/>
          </a:xfrm>
          <a:prstGeom prst="rect">
            <a:avLst/>
          </a:prstGeom>
          <a:noFill/>
          <a:ln w="9525">
            <a:noFill/>
            <a:miter lim="800000"/>
            <a:headEnd/>
            <a:tailEnd/>
          </a:ln>
        </p:spPr>
      </p:pic>
      <p:pic>
        <p:nvPicPr>
          <p:cNvPr id="632834" name="Picture 2"/>
          <p:cNvPicPr>
            <a:picLocks noChangeAspect="1" noChangeArrowheads="1"/>
          </p:cNvPicPr>
          <p:nvPr/>
        </p:nvPicPr>
        <p:blipFill>
          <a:blip r:embed="rId4"/>
          <a:srcRect/>
          <a:stretch>
            <a:fillRect/>
          </a:stretch>
        </p:blipFill>
        <p:spPr bwMode="auto">
          <a:xfrm>
            <a:off x="457200" y="5638800"/>
            <a:ext cx="8229600" cy="704850"/>
          </a:xfrm>
          <a:prstGeom prst="rect">
            <a:avLst/>
          </a:prstGeom>
          <a:noFill/>
          <a:ln w="9525">
            <a:noFill/>
            <a:miter lim="800000"/>
            <a:headEnd/>
            <a:tailEnd/>
          </a:ln>
          <a:effectLst/>
        </p:spPr>
      </p:pic>
      <p:sp>
        <p:nvSpPr>
          <p:cNvPr id="7" name="Title 1"/>
          <p:cNvSpPr>
            <a:spLocks noGrp="1"/>
          </p:cNvSpPr>
          <p:nvPr>
            <p:ph type="title"/>
          </p:nvPr>
        </p:nvSpPr>
        <p:spPr/>
        <p:txBody>
          <a:bodyPr/>
          <a:lstStyle/>
          <a:p>
            <a:r>
              <a:rPr lang="en-US" sz="3200" dirty="0"/>
              <a:t>Hill-climbing search</a:t>
            </a:r>
            <a:endParaRPr lang="en-US"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TSP</a:t>
            </a:r>
          </a:p>
        </p:txBody>
      </p:sp>
      <p:sp>
        <p:nvSpPr>
          <p:cNvPr id="3" name="Content Placeholder 2"/>
          <p:cNvSpPr>
            <a:spLocks noGrp="1"/>
          </p:cNvSpPr>
          <p:nvPr>
            <p:ph sz="quarter" idx="1"/>
          </p:nvPr>
        </p:nvSpPr>
        <p:spPr/>
        <p:txBody>
          <a:bodyPr/>
          <a:lstStyle/>
          <a:p>
            <a:r>
              <a:rPr lang="en-US" dirty="0"/>
              <a:t>Begin with the initial step.(a city salesman has visited)</a:t>
            </a:r>
          </a:p>
          <a:p>
            <a:r>
              <a:rPr lang="en-US" dirty="0"/>
              <a:t>Move in a direction so that city is not repeated, but additional city is visited(better state).</a:t>
            </a:r>
          </a:p>
          <a:p>
            <a:r>
              <a:rPr lang="en-US" dirty="0"/>
              <a:t>Heuristics can be number of cities visited.</a:t>
            </a:r>
          </a:p>
          <a:p>
            <a:r>
              <a:rPr lang="en-US" dirty="0"/>
              <a:t>Keep moving in the state that improves the number of cities with legal action.</a:t>
            </a:r>
          </a:p>
          <a:p>
            <a:r>
              <a:rPr lang="en-US" dirty="0"/>
              <a:t>When, there is no way to improve heuristic </a:t>
            </a:r>
            <a:r>
              <a:rPr lang="en-US" dirty="0" err="1"/>
              <a:t>function,stop</a:t>
            </a:r>
            <a:r>
              <a:rPr lang="en-US" dirty="0"/>
              <a:t>.</a:t>
            </a:r>
          </a:p>
          <a:p>
            <a:endParaRPr lang="en-US"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z="3600" dirty="0"/>
              <a:t>Hill-climbing search: 8-queens problem</a:t>
            </a:r>
          </a:p>
        </p:txBody>
      </p:sp>
      <p:sp>
        <p:nvSpPr>
          <p:cNvPr id="22531" name="Rectangle 3"/>
          <p:cNvSpPr>
            <a:spLocks noGrp="1" noChangeArrowheads="1"/>
          </p:cNvSpPr>
          <p:nvPr>
            <p:ph type="body" idx="1"/>
          </p:nvPr>
        </p:nvSpPr>
        <p:spPr>
          <a:xfrm>
            <a:off x="304800" y="5257800"/>
            <a:ext cx="8610600" cy="1204913"/>
          </a:xfrm>
        </p:spPr>
        <p:txBody>
          <a:bodyPr>
            <a:normAutofit/>
          </a:bodyPr>
          <a:lstStyle/>
          <a:p>
            <a:pPr eaLnBrk="1" hangingPunct="1">
              <a:lnSpc>
                <a:spcPct val="80000"/>
              </a:lnSpc>
              <a:buFont typeface="Wingdings" charset="2"/>
              <a:buNone/>
            </a:pPr>
            <a:endParaRPr lang="en-US" sz="2800" dirty="0"/>
          </a:p>
          <a:p>
            <a:pPr eaLnBrk="1" hangingPunct="1">
              <a:lnSpc>
                <a:spcPct val="80000"/>
              </a:lnSpc>
            </a:pPr>
            <a:r>
              <a:rPr lang="en-US" sz="2400" i="1" dirty="0"/>
              <a:t>h</a:t>
            </a:r>
            <a:r>
              <a:rPr lang="en-US" sz="2400" dirty="0"/>
              <a:t> = number of pairs of queens that are attacking each other, either directly or indirectly </a:t>
            </a:r>
          </a:p>
          <a:p>
            <a:pPr eaLnBrk="1" hangingPunct="1">
              <a:lnSpc>
                <a:spcPct val="80000"/>
              </a:lnSpc>
            </a:pPr>
            <a:endParaRPr lang="en-US" sz="1800" dirty="0"/>
          </a:p>
        </p:txBody>
      </p:sp>
      <p:pic>
        <p:nvPicPr>
          <p:cNvPr id="22532" name="Picture 5" descr="8queens-successors"/>
          <p:cNvPicPr>
            <a:picLocks noChangeAspect="1" noChangeArrowheads="1"/>
          </p:cNvPicPr>
          <p:nvPr/>
        </p:nvPicPr>
        <p:blipFill>
          <a:blip r:embed="rId3"/>
          <a:srcRect/>
          <a:stretch>
            <a:fillRect/>
          </a:stretch>
        </p:blipFill>
        <p:spPr bwMode="auto">
          <a:xfrm>
            <a:off x="3124200" y="1524000"/>
            <a:ext cx="5334000" cy="4038600"/>
          </a:xfrm>
          <a:prstGeom prst="rect">
            <a:avLst/>
          </a:prstGeom>
          <a:noFill/>
          <a:ln w="9525">
            <a:noFill/>
            <a:miter lim="800000"/>
            <a:headEnd/>
            <a:tailEnd/>
          </a:ln>
        </p:spPr>
      </p:pic>
      <p:sp>
        <p:nvSpPr>
          <p:cNvPr id="22533" name="Line 6"/>
          <p:cNvSpPr>
            <a:spLocks noChangeShapeType="1"/>
          </p:cNvSpPr>
          <p:nvPr/>
        </p:nvSpPr>
        <p:spPr bwMode="auto">
          <a:xfrm flipV="1">
            <a:off x="1600200" y="3200399"/>
            <a:ext cx="1828800" cy="76199"/>
          </a:xfrm>
          <a:prstGeom prst="line">
            <a:avLst/>
          </a:prstGeom>
          <a:noFill/>
          <a:ln w="9525">
            <a:solidFill>
              <a:srgbClr val="FF0000"/>
            </a:solidFill>
            <a:round/>
            <a:headEnd/>
            <a:tailEnd type="triangle" w="med" len="med"/>
          </a:ln>
        </p:spPr>
        <p:txBody>
          <a:bodyPr/>
          <a:lstStyle/>
          <a:p>
            <a:endParaRPr lang="en-US"/>
          </a:p>
        </p:txBody>
      </p:sp>
      <p:sp>
        <p:nvSpPr>
          <p:cNvPr id="22534" name="Text Box 7"/>
          <p:cNvSpPr txBox="1">
            <a:spLocks noChangeArrowheads="1"/>
          </p:cNvSpPr>
          <p:nvPr/>
        </p:nvSpPr>
        <p:spPr bwMode="auto">
          <a:xfrm>
            <a:off x="365125" y="2546350"/>
            <a:ext cx="2073275" cy="1754326"/>
          </a:xfrm>
          <a:prstGeom prst="rect">
            <a:avLst/>
          </a:prstGeom>
          <a:noFill/>
          <a:ln w="9525">
            <a:noFill/>
            <a:miter lim="800000"/>
            <a:headEnd/>
            <a:tailEnd/>
          </a:ln>
        </p:spPr>
        <p:txBody>
          <a:bodyPr wrap="square">
            <a:spAutoFit/>
          </a:bodyPr>
          <a:lstStyle/>
          <a:p>
            <a:r>
              <a:rPr lang="en-US" dirty="0">
                <a:solidFill>
                  <a:srgbClr val="FF0000"/>
                </a:solidFill>
              </a:rPr>
              <a:t>Each number indicates h if we move</a:t>
            </a:r>
          </a:p>
          <a:p>
            <a:r>
              <a:rPr lang="en-US" dirty="0">
                <a:solidFill>
                  <a:srgbClr val="FF0000"/>
                </a:solidFill>
              </a:rPr>
              <a:t>a queen in its corresponding column</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z="3600" dirty="0"/>
              <a:t>Hill-climbing search: 8-queens problem</a:t>
            </a:r>
          </a:p>
        </p:txBody>
      </p:sp>
      <p:pic>
        <p:nvPicPr>
          <p:cNvPr id="24579" name="Picture 4" descr="8queens-local-minimum"/>
          <p:cNvPicPr>
            <a:picLocks noChangeAspect="1" noChangeArrowheads="1"/>
          </p:cNvPicPr>
          <p:nvPr/>
        </p:nvPicPr>
        <p:blipFill>
          <a:blip r:embed="rId3"/>
          <a:srcRect/>
          <a:stretch>
            <a:fillRect/>
          </a:stretch>
        </p:blipFill>
        <p:spPr bwMode="auto">
          <a:xfrm>
            <a:off x="4419600" y="1676400"/>
            <a:ext cx="3962400" cy="4038600"/>
          </a:xfrm>
          <a:prstGeom prst="rect">
            <a:avLst/>
          </a:prstGeom>
          <a:noFill/>
          <a:ln w="9525">
            <a:noFill/>
            <a:miter lim="800000"/>
            <a:headEnd/>
            <a:tailEnd/>
          </a:ln>
        </p:spPr>
      </p:pic>
      <p:sp>
        <p:nvSpPr>
          <p:cNvPr id="24580" name="Rectangle 6"/>
          <p:cNvSpPr>
            <a:spLocks noChangeArrowheads="1"/>
          </p:cNvSpPr>
          <p:nvPr/>
        </p:nvSpPr>
        <p:spPr bwMode="auto">
          <a:xfrm>
            <a:off x="457200" y="1828800"/>
            <a:ext cx="3429000" cy="4297363"/>
          </a:xfrm>
          <a:prstGeom prst="rect">
            <a:avLst/>
          </a:prstGeom>
          <a:noFill/>
          <a:ln w="9525">
            <a:noFill/>
            <a:miter lim="800000"/>
            <a:headEnd/>
            <a:tailEnd/>
          </a:ln>
        </p:spPr>
        <p:txBody>
          <a:bodyPr/>
          <a:lstStyle/>
          <a:p>
            <a:pPr marL="342900" indent="-342900" eaLnBrk="1" hangingPunct="1">
              <a:lnSpc>
                <a:spcPct val="80000"/>
              </a:lnSpc>
              <a:spcBef>
                <a:spcPct val="20000"/>
              </a:spcBef>
              <a:buClr>
                <a:schemeClr val="folHlink"/>
              </a:buClr>
              <a:buSzPct val="60000"/>
              <a:buFont typeface="Wingdings" charset="2"/>
              <a:buChar char="n"/>
            </a:pPr>
            <a:endParaRPr lang="en-US" sz="2400" dirty="0"/>
          </a:p>
          <a:p>
            <a:pPr marL="342900" indent="-342900" eaLnBrk="1" hangingPunct="1">
              <a:spcBef>
                <a:spcPct val="20000"/>
              </a:spcBef>
              <a:buClr>
                <a:schemeClr val="folHlink"/>
              </a:buClr>
              <a:buSzPct val="60000"/>
              <a:buFont typeface="Wingdings" charset="2"/>
              <a:buChar char="n"/>
            </a:pPr>
            <a:r>
              <a:rPr lang="en-US" sz="2400" dirty="0"/>
              <a:t>A local minimum with </a:t>
            </a:r>
            <a:r>
              <a:rPr lang="en-US" sz="2400" i="1" dirty="0"/>
              <a:t>h = 1</a:t>
            </a:r>
            <a:endParaRPr lang="en-US" sz="2400" dirty="0"/>
          </a:p>
        </p:txBody>
      </p:sp>
      <p:sp>
        <p:nvSpPr>
          <p:cNvPr id="24581" name="Text Box 7"/>
          <p:cNvSpPr txBox="1">
            <a:spLocks noChangeArrowheads="1"/>
          </p:cNvSpPr>
          <p:nvPr/>
        </p:nvSpPr>
        <p:spPr bwMode="auto">
          <a:xfrm>
            <a:off x="746125" y="3352800"/>
            <a:ext cx="3140075" cy="646331"/>
          </a:xfrm>
          <a:prstGeom prst="rect">
            <a:avLst/>
          </a:prstGeom>
          <a:noFill/>
          <a:ln w="9525">
            <a:noFill/>
            <a:miter lim="800000"/>
            <a:headEnd/>
            <a:tailEnd/>
          </a:ln>
        </p:spPr>
        <p:txBody>
          <a:bodyPr wrap="square">
            <a:spAutoFit/>
          </a:bodyPr>
          <a:lstStyle/>
          <a:p>
            <a:r>
              <a:rPr lang="en-US" dirty="0"/>
              <a:t>What can you do to get out of this local minima?</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Hill-climbing search </a:t>
            </a:r>
            <a:r>
              <a:rPr lang="en-US" dirty="0"/>
              <a:t>Problems </a:t>
            </a:r>
          </a:p>
        </p:txBody>
      </p:sp>
      <p:sp>
        <p:nvSpPr>
          <p:cNvPr id="3" name="Content Placeholder 2"/>
          <p:cNvSpPr>
            <a:spLocks noGrp="1"/>
          </p:cNvSpPr>
          <p:nvPr>
            <p:ph sz="quarter" idx="1"/>
          </p:nvPr>
        </p:nvSpPr>
        <p:spPr>
          <a:xfrm>
            <a:off x="301752" y="1676400"/>
            <a:ext cx="8503920" cy="4422648"/>
          </a:xfrm>
        </p:spPr>
        <p:txBody>
          <a:bodyPr/>
          <a:lstStyle/>
          <a:p>
            <a:r>
              <a:rPr lang="en-US" dirty="0"/>
              <a:t>The process may reach a solution, where no other better solution is available in percept. In short, no transition improves the situations.</a:t>
            </a:r>
          </a:p>
          <a:p>
            <a:endParaRPr lang="en-US" dirty="0"/>
          </a:p>
          <a:p>
            <a:r>
              <a:rPr lang="en-US" dirty="0"/>
              <a:t>Typically it happens when it reaches a</a:t>
            </a:r>
            <a:r>
              <a:rPr lang="en-US" b="1" dirty="0"/>
              <a:t> local maximum, plateau, or ridge.</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p>
        </p:txBody>
      </p:sp>
      <p:sp>
        <p:nvSpPr>
          <p:cNvPr id="3" name="Content Placeholder 2"/>
          <p:cNvSpPr>
            <a:spLocks noGrp="1"/>
          </p:cNvSpPr>
          <p:nvPr>
            <p:ph sz="quarter" idx="1"/>
          </p:nvPr>
        </p:nvSpPr>
        <p:spPr/>
        <p:txBody>
          <a:bodyPr>
            <a:normAutofit lnSpcReduction="10000"/>
          </a:bodyPr>
          <a:lstStyle/>
          <a:p>
            <a:r>
              <a:rPr lang="en-US" b="1" dirty="0"/>
              <a:t>Local maxima: </a:t>
            </a:r>
            <a:r>
              <a:rPr lang="en-US" dirty="0"/>
              <a:t>This is a state better than the local region or neighboring states, but not a global maxima. This occurs since a better solution exit which is not in the vicinity of the present state.</a:t>
            </a:r>
          </a:p>
          <a:p>
            <a:r>
              <a:rPr lang="en-US" b="1" dirty="0"/>
              <a:t>Plateau: </a:t>
            </a:r>
            <a:r>
              <a:rPr lang="en-US" dirty="0"/>
              <a:t>This refers to a flat area or space where neighborhood states have the same value as the present state and hence fail to determine the best direction to move on.</a:t>
            </a:r>
          </a:p>
          <a:p>
            <a:r>
              <a:rPr lang="en-US" b="1" dirty="0"/>
              <a:t>Ridge: </a:t>
            </a:r>
            <a:r>
              <a:rPr lang="en-US" dirty="0"/>
              <a:t>It is a search space at a higher attitude than the surroundings. It cannot be traversed by single move.</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sz="3600"/>
              <a:t>Hill-climbing in Continuous Spaces</a:t>
            </a:r>
          </a:p>
        </p:txBody>
      </p:sp>
      <p:sp>
        <p:nvSpPr>
          <p:cNvPr id="26627" name="Rectangle 3"/>
          <p:cNvSpPr>
            <a:spLocks noGrp="1" noChangeArrowheads="1"/>
          </p:cNvSpPr>
          <p:nvPr>
            <p:ph type="body" idx="1"/>
          </p:nvPr>
        </p:nvSpPr>
        <p:spPr>
          <a:xfrm>
            <a:off x="152400" y="1524000"/>
            <a:ext cx="8763000" cy="4608513"/>
          </a:xfrm>
        </p:spPr>
        <p:txBody>
          <a:bodyPr/>
          <a:lstStyle/>
          <a:p>
            <a:pPr eaLnBrk="1" hangingPunct="1"/>
            <a:r>
              <a:rPr lang="en-US" sz="2400" b="1" dirty="0"/>
              <a:t>Problem: </a:t>
            </a:r>
            <a:r>
              <a:rPr lang="en-US" sz="2400" dirty="0"/>
              <a:t>depending on initial state, can get stuck in local maxima</a:t>
            </a:r>
          </a:p>
          <a:p>
            <a:pPr eaLnBrk="1" hangingPunct="1"/>
            <a:endParaRPr lang="en-US" sz="2400" dirty="0"/>
          </a:p>
        </p:txBody>
      </p:sp>
      <p:pic>
        <p:nvPicPr>
          <p:cNvPr id="5" name="Picture 2"/>
          <p:cNvPicPr>
            <a:picLocks noChangeAspect="1" noChangeArrowheads="1"/>
          </p:cNvPicPr>
          <p:nvPr/>
        </p:nvPicPr>
        <p:blipFill>
          <a:blip r:embed="rId3"/>
          <a:srcRect/>
          <a:stretch>
            <a:fillRect/>
          </a:stretch>
        </p:blipFill>
        <p:spPr bwMode="auto">
          <a:xfrm>
            <a:off x="457200" y="2362200"/>
            <a:ext cx="8153400" cy="3886200"/>
          </a:xfrm>
          <a:prstGeom prst="rect">
            <a:avLst/>
          </a:prstGeom>
          <a:noFill/>
          <a:ln w="9525">
            <a:noFill/>
            <a:miter lim="800000"/>
            <a:headEnd/>
            <a:tailEnd/>
          </a:ln>
          <a:effectLst/>
        </p:spPr>
      </p:pic>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Variations of Hill Climbing Search</a:t>
            </a:r>
          </a:p>
        </p:txBody>
      </p:sp>
      <p:sp>
        <p:nvSpPr>
          <p:cNvPr id="3" name="Content Placeholder 2"/>
          <p:cNvSpPr>
            <a:spLocks noGrp="1"/>
          </p:cNvSpPr>
          <p:nvPr>
            <p:ph sz="quarter" idx="1"/>
          </p:nvPr>
        </p:nvSpPr>
        <p:spPr>
          <a:xfrm>
            <a:off x="301752" y="1600200"/>
            <a:ext cx="8503920" cy="4498848"/>
          </a:xfrm>
        </p:spPr>
        <p:txBody>
          <a:bodyPr>
            <a:normAutofit fontScale="92500"/>
          </a:bodyPr>
          <a:lstStyle/>
          <a:p>
            <a:r>
              <a:rPr lang="en-US" dirty="0"/>
              <a:t>In </a:t>
            </a:r>
            <a:r>
              <a:rPr lang="en-US" b="1" dirty="0"/>
              <a:t>simple hill climbing</a:t>
            </a:r>
            <a:r>
              <a:rPr lang="en-US" dirty="0"/>
              <a:t>, the first closer node is chosen, whereas in </a:t>
            </a:r>
            <a:r>
              <a:rPr lang="en-US" b="1" dirty="0"/>
              <a:t>steepest ascent hill climbing</a:t>
            </a:r>
            <a:r>
              <a:rPr lang="en-US" dirty="0"/>
              <a:t> all successors are compared and the closest to the solution is chosen. Both forms fail if there is no closer node, which may happen if there are local maxima in the search space which are not solutions. </a:t>
            </a:r>
          </a:p>
          <a:p>
            <a:r>
              <a:rPr lang="en-US" b="1" dirty="0"/>
              <a:t>Stochastic Hill climbing </a:t>
            </a:r>
            <a:r>
              <a:rPr lang="en-US" dirty="0"/>
              <a:t>does not examine all neighbors before deciding how to move. Rather, it selects a neighbor at random, and decides (based on the amount of improvement in that neighbor) whether to move to that neighbor or to examine another.</a:t>
            </a:r>
          </a:p>
          <a:p>
            <a:endParaRPr lang="en-US"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Variations of Hill Climbing Search</a:t>
            </a:r>
          </a:p>
        </p:txBody>
      </p:sp>
      <p:sp>
        <p:nvSpPr>
          <p:cNvPr id="3" name="Content Placeholder 2"/>
          <p:cNvSpPr>
            <a:spLocks noGrp="1"/>
          </p:cNvSpPr>
          <p:nvPr>
            <p:ph sz="quarter" idx="1"/>
          </p:nvPr>
        </p:nvSpPr>
        <p:spPr/>
        <p:txBody>
          <a:bodyPr>
            <a:normAutofit fontScale="92500" lnSpcReduction="10000"/>
          </a:bodyPr>
          <a:lstStyle/>
          <a:p>
            <a:r>
              <a:rPr lang="en-US" b="1" dirty="0"/>
              <a:t>First Choice hill climbing </a:t>
            </a:r>
            <a:r>
              <a:rPr lang="en-US" dirty="0"/>
              <a:t>generates random successors until one is better. It is good for the states with high number of neighbors.</a:t>
            </a:r>
            <a:endParaRPr lang="en-US" b="1" dirty="0"/>
          </a:p>
          <a:p>
            <a:r>
              <a:rPr lang="en-US" b="1" dirty="0"/>
              <a:t>Random-restart hill climbing</a:t>
            </a:r>
            <a:r>
              <a:rPr lang="en-US" dirty="0"/>
              <a:t> is  iteratively does hill-climbing, each time with a random initial condition . The best  is kept: if a new run of hill climbing produces a better  than the stored state, it replaces the stored state.</a:t>
            </a:r>
          </a:p>
          <a:p>
            <a:r>
              <a:rPr lang="en-US" dirty="0"/>
              <a:t>Random-restart hill climbing is a surprisingly effective algorithm in many cases. </a:t>
            </a:r>
          </a:p>
          <a:p>
            <a:r>
              <a:rPr lang="en-US" b="1" dirty="0"/>
              <a:t>Evolutionary hill climbing </a:t>
            </a:r>
            <a:r>
              <a:rPr lang="en-US" dirty="0"/>
              <a:t>represents potential solutions as strings and perform random mutations. It keeps the mutations that are better states.</a:t>
            </a:r>
          </a:p>
          <a:p>
            <a:endParaRPr lang="en-US"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chemeClr val="bg1">
                    <a:lumMod val="65000"/>
                  </a:schemeClr>
                </a:solidFill>
              </a:rPr>
              <a:t>Simulated annealing search</a:t>
            </a:r>
            <a:endParaRPr lang="en-US" dirty="0">
              <a:solidFill>
                <a:schemeClr val="bg1">
                  <a:lumMod val="65000"/>
                </a:schemeClr>
              </a:solidFill>
            </a:endParaRPr>
          </a:p>
        </p:txBody>
      </p:sp>
      <p:sp>
        <p:nvSpPr>
          <p:cNvPr id="3" name="Content Placeholder 2"/>
          <p:cNvSpPr>
            <a:spLocks noGrp="1"/>
          </p:cNvSpPr>
          <p:nvPr>
            <p:ph sz="quarter" idx="1"/>
          </p:nvPr>
        </p:nvSpPr>
        <p:spPr>
          <a:xfrm>
            <a:off x="301752" y="1752600"/>
            <a:ext cx="8503920" cy="4346448"/>
          </a:xfrm>
        </p:spPr>
        <p:txBody>
          <a:bodyPr/>
          <a:lstStyle/>
          <a:p>
            <a:r>
              <a:rPr lang="en-US" dirty="0"/>
              <a:t>Based on </a:t>
            </a:r>
            <a:r>
              <a:rPr lang="en-US" b="1" dirty="0"/>
              <a:t>metallurgy concept of annealing</a:t>
            </a:r>
            <a:r>
              <a:rPr lang="en-US" dirty="0"/>
              <a:t>(a heat treatment that alters the microstructure of a material causing changes in properties such as strength, hardness, and ductility)</a:t>
            </a:r>
          </a:p>
          <a:p>
            <a:endParaRPr lang="en-US" dirty="0"/>
          </a:p>
          <a:p>
            <a:r>
              <a:rPr lang="en-US" sz="2400" b="1" dirty="0"/>
              <a:t>Idea: </a:t>
            </a:r>
            <a:r>
              <a:rPr lang="en-US" sz="2400" dirty="0"/>
              <a:t>escape local maxima by allowing some random and bad moves but </a:t>
            </a:r>
            <a:r>
              <a:rPr lang="en-US" sz="2400" dirty="0">
                <a:solidFill>
                  <a:srgbClr val="FF0000"/>
                </a:solidFill>
              </a:rPr>
              <a:t>gradually decrease</a:t>
            </a:r>
            <a:r>
              <a:rPr lang="en-US" sz="2400" dirty="0"/>
              <a:t> their frequency.</a:t>
            </a:r>
            <a:endParaRPr lang="en-US"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274638"/>
            <a:ext cx="8229600" cy="563562"/>
          </a:xfrm>
        </p:spPr>
        <p:txBody>
          <a:bodyPr>
            <a:normAutofit fontScale="90000"/>
          </a:bodyPr>
          <a:lstStyle/>
          <a:p>
            <a:pPr eaLnBrk="1" hangingPunct="1"/>
            <a:r>
              <a:rPr lang="en-US" sz="3600" dirty="0">
                <a:solidFill>
                  <a:schemeClr val="accent2"/>
                </a:solidFill>
              </a:rPr>
              <a:t>Simulated annealing search</a:t>
            </a:r>
          </a:p>
        </p:txBody>
      </p:sp>
      <p:pic>
        <p:nvPicPr>
          <p:cNvPr id="47108" name="Picture 4"/>
          <p:cNvPicPr>
            <a:picLocks noChangeAspect="1" noChangeArrowheads="1"/>
          </p:cNvPicPr>
          <p:nvPr/>
        </p:nvPicPr>
        <p:blipFill>
          <a:blip r:embed="rId3"/>
          <a:srcRect l="17969" t="31250" r="13281" b="17709"/>
          <a:stretch>
            <a:fillRect/>
          </a:stretch>
        </p:blipFill>
        <p:spPr bwMode="auto">
          <a:xfrm>
            <a:off x="304800" y="1600200"/>
            <a:ext cx="8458200" cy="4826000"/>
          </a:xfrm>
          <a:prstGeom prst="rect">
            <a:avLst/>
          </a:prstGeom>
          <a:noFill/>
          <a:ln w="9525">
            <a:noFill/>
            <a:miter lim="800000"/>
            <a:headEnd/>
            <a:tailEnd/>
          </a:ln>
        </p:spPr>
      </p:pic>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8-puzzle</a:t>
            </a:r>
          </a:p>
        </p:txBody>
      </p:sp>
      <p:sp>
        <p:nvSpPr>
          <p:cNvPr id="3" name="Content Placeholder 2"/>
          <p:cNvSpPr>
            <a:spLocks noGrp="1"/>
          </p:cNvSpPr>
          <p:nvPr>
            <p:ph sz="quarter" idx="1"/>
          </p:nvPr>
        </p:nvSpPr>
        <p:spPr/>
        <p:txBody>
          <a:bodyPr/>
          <a:lstStyle/>
          <a:p>
            <a:r>
              <a:rPr lang="en-US" dirty="0"/>
              <a:t>Tins is works on the principle of computing the energy. This energy is computed based on the distance measure.</a:t>
            </a:r>
          </a:p>
          <a:p>
            <a:endParaRPr lang="en-US" dirty="0"/>
          </a:p>
          <a:p>
            <a:r>
              <a:rPr lang="en-US" dirty="0"/>
              <a:t>Example: an </a:t>
            </a:r>
            <a:r>
              <a:rPr lang="en-US" b="1" dirty="0"/>
              <a:t>absolute distance</a:t>
            </a:r>
            <a:r>
              <a:rPr lang="en-US" dirty="0"/>
              <a:t>(position where the no. is –position where the no. should be)</a:t>
            </a:r>
          </a:p>
          <a:p>
            <a:endParaRPr lang="en-US" dirty="0"/>
          </a:p>
          <a:p>
            <a:r>
              <a:rPr lang="en-US" dirty="0"/>
              <a:t>The temperature is set to some value, which is decremented or revised at every iteration.</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8-puzzle</a:t>
            </a:r>
          </a:p>
        </p:txBody>
      </p:sp>
      <p:graphicFrame>
        <p:nvGraphicFramePr>
          <p:cNvPr id="4" name="Content Placeholder 3"/>
          <p:cNvGraphicFramePr>
            <a:graphicFrameLocks noGrp="1"/>
          </p:cNvGraphicFramePr>
          <p:nvPr>
            <p:ph sz="quarter" idx="1"/>
          </p:nvPr>
        </p:nvGraphicFramePr>
        <p:xfrm>
          <a:off x="301625" y="1527173"/>
          <a:ext cx="2289174" cy="1292226"/>
        </p:xfrm>
        <a:graphic>
          <a:graphicData uri="http://schemas.openxmlformats.org/drawingml/2006/table">
            <a:tbl>
              <a:tblPr firstRow="1" bandRow="1">
                <a:tableStyleId>{5940675A-B579-460E-94D1-54222C63F5DA}</a:tableStyleId>
              </a:tblPr>
              <a:tblGrid>
                <a:gridCol w="763058">
                  <a:extLst>
                    <a:ext uri="{9D8B030D-6E8A-4147-A177-3AD203B41FA5}">
                      <a16:colId xmlns:a16="http://schemas.microsoft.com/office/drawing/2014/main" val="20000"/>
                    </a:ext>
                  </a:extLst>
                </a:gridCol>
                <a:gridCol w="763058">
                  <a:extLst>
                    <a:ext uri="{9D8B030D-6E8A-4147-A177-3AD203B41FA5}">
                      <a16:colId xmlns:a16="http://schemas.microsoft.com/office/drawing/2014/main" val="20001"/>
                    </a:ext>
                  </a:extLst>
                </a:gridCol>
                <a:gridCol w="763058">
                  <a:extLst>
                    <a:ext uri="{9D8B030D-6E8A-4147-A177-3AD203B41FA5}">
                      <a16:colId xmlns:a16="http://schemas.microsoft.com/office/drawing/2014/main" val="20002"/>
                    </a:ext>
                  </a:extLst>
                </a:gridCol>
              </a:tblGrid>
              <a:tr h="430742">
                <a:tc>
                  <a:txBody>
                    <a:bodyPr/>
                    <a:lstStyle/>
                    <a:p>
                      <a:r>
                        <a:rPr lang="en-US" dirty="0"/>
                        <a:t>3</a:t>
                      </a:r>
                    </a:p>
                  </a:txBody>
                  <a:tcPr/>
                </a:tc>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10000"/>
                  </a:ext>
                </a:extLst>
              </a:tr>
              <a:tr h="430742">
                <a:tc>
                  <a:txBody>
                    <a:bodyPr/>
                    <a:lstStyle/>
                    <a:p>
                      <a:r>
                        <a:rPr lang="en-US" dirty="0"/>
                        <a:t>5</a:t>
                      </a:r>
                    </a:p>
                  </a:txBody>
                  <a:tcPr/>
                </a:tc>
                <a:tc>
                  <a:txBody>
                    <a:bodyPr/>
                    <a:lstStyle/>
                    <a:p>
                      <a:r>
                        <a:rPr lang="en-US" dirty="0"/>
                        <a:t>2</a:t>
                      </a:r>
                    </a:p>
                  </a:txBody>
                  <a:tcPr/>
                </a:tc>
                <a:tc>
                  <a:txBody>
                    <a:bodyPr/>
                    <a:lstStyle/>
                    <a:p>
                      <a:r>
                        <a:rPr lang="en-US" dirty="0"/>
                        <a:t>7</a:t>
                      </a:r>
                    </a:p>
                  </a:txBody>
                  <a:tcPr/>
                </a:tc>
                <a:extLst>
                  <a:ext uri="{0D108BD9-81ED-4DB2-BD59-A6C34878D82A}">
                    <a16:rowId xmlns:a16="http://schemas.microsoft.com/office/drawing/2014/main" val="10001"/>
                  </a:ext>
                </a:extLst>
              </a:tr>
              <a:tr h="430742">
                <a:tc>
                  <a:txBody>
                    <a:bodyPr/>
                    <a:lstStyle/>
                    <a:p>
                      <a:r>
                        <a:rPr lang="en-US" dirty="0"/>
                        <a:t>6</a:t>
                      </a:r>
                    </a:p>
                  </a:txBody>
                  <a:tcPr/>
                </a:tc>
                <a:tc>
                  <a:txBody>
                    <a:bodyPr/>
                    <a:lstStyle/>
                    <a:p>
                      <a:r>
                        <a:rPr lang="en-US" dirty="0"/>
                        <a:t>8</a:t>
                      </a:r>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nvGraphicFramePr>
        <p:xfrm>
          <a:off x="5410200" y="1447799"/>
          <a:ext cx="2209800" cy="1447800"/>
        </p:xfrm>
        <a:graphic>
          <a:graphicData uri="http://schemas.openxmlformats.org/drawingml/2006/table">
            <a:tbl>
              <a:tblPr firstRow="1" bandRow="1">
                <a:tableStyleId>{5940675A-B579-460E-94D1-54222C63F5DA}</a:tableStyleId>
              </a:tblPr>
              <a:tblGrid>
                <a:gridCol w="736600">
                  <a:extLst>
                    <a:ext uri="{9D8B030D-6E8A-4147-A177-3AD203B41FA5}">
                      <a16:colId xmlns:a16="http://schemas.microsoft.com/office/drawing/2014/main" val="20000"/>
                    </a:ext>
                  </a:extLst>
                </a:gridCol>
                <a:gridCol w="736600">
                  <a:extLst>
                    <a:ext uri="{9D8B030D-6E8A-4147-A177-3AD203B41FA5}">
                      <a16:colId xmlns:a16="http://schemas.microsoft.com/office/drawing/2014/main" val="20001"/>
                    </a:ext>
                  </a:extLst>
                </a:gridCol>
                <a:gridCol w="736600">
                  <a:extLst>
                    <a:ext uri="{9D8B030D-6E8A-4147-A177-3AD203B41FA5}">
                      <a16:colId xmlns:a16="http://schemas.microsoft.com/office/drawing/2014/main" val="20002"/>
                    </a:ext>
                  </a:extLst>
                </a:gridCol>
              </a:tblGrid>
              <a:tr h="482600">
                <a:tc>
                  <a:txBody>
                    <a:bodyPr/>
                    <a:lstStyle/>
                    <a:p>
                      <a:r>
                        <a:rPr lang="en-US" dirty="0"/>
                        <a:t>1</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10000"/>
                  </a:ext>
                </a:extLst>
              </a:tr>
              <a:tr h="482600">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10001"/>
                  </a:ext>
                </a:extLst>
              </a:tr>
              <a:tr h="482600">
                <a:tc>
                  <a:txBody>
                    <a:bodyPr/>
                    <a:lstStyle/>
                    <a:p>
                      <a:r>
                        <a:rPr lang="en-US" dirty="0"/>
                        <a:t>7</a:t>
                      </a:r>
                    </a:p>
                  </a:txBody>
                  <a:tcPr/>
                </a:tc>
                <a:tc>
                  <a:txBody>
                    <a:bodyPr/>
                    <a:lstStyle/>
                    <a:p>
                      <a:r>
                        <a:rPr lang="en-US" dirty="0"/>
                        <a:t>8</a:t>
                      </a:r>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sp>
        <p:nvSpPr>
          <p:cNvPr id="6" name="TextBox 5"/>
          <p:cNvSpPr txBox="1"/>
          <p:nvPr/>
        </p:nvSpPr>
        <p:spPr>
          <a:xfrm>
            <a:off x="533400" y="3048000"/>
            <a:ext cx="1752600" cy="369332"/>
          </a:xfrm>
          <a:prstGeom prst="rect">
            <a:avLst/>
          </a:prstGeom>
          <a:noFill/>
        </p:spPr>
        <p:txBody>
          <a:bodyPr wrap="square" rtlCol="0">
            <a:spAutoFit/>
          </a:bodyPr>
          <a:lstStyle/>
          <a:p>
            <a:r>
              <a:rPr lang="en-US" dirty="0"/>
              <a:t>Initial State</a:t>
            </a:r>
          </a:p>
        </p:txBody>
      </p:sp>
      <p:sp>
        <p:nvSpPr>
          <p:cNvPr id="7" name="TextBox 6"/>
          <p:cNvSpPr txBox="1"/>
          <p:nvPr/>
        </p:nvSpPr>
        <p:spPr>
          <a:xfrm>
            <a:off x="5486400" y="3048000"/>
            <a:ext cx="2895600" cy="369332"/>
          </a:xfrm>
          <a:prstGeom prst="rect">
            <a:avLst/>
          </a:prstGeom>
          <a:noFill/>
        </p:spPr>
        <p:txBody>
          <a:bodyPr wrap="square" rtlCol="0">
            <a:spAutoFit/>
          </a:bodyPr>
          <a:lstStyle/>
          <a:p>
            <a:r>
              <a:rPr lang="en-US" dirty="0"/>
              <a:t>Goal  State</a:t>
            </a:r>
          </a:p>
        </p:txBody>
      </p:sp>
      <p:sp>
        <p:nvSpPr>
          <p:cNvPr id="8" name="TextBox 7"/>
          <p:cNvSpPr txBox="1"/>
          <p:nvPr/>
        </p:nvSpPr>
        <p:spPr>
          <a:xfrm>
            <a:off x="609600" y="3581400"/>
            <a:ext cx="7696200" cy="923330"/>
          </a:xfrm>
          <a:prstGeom prst="rect">
            <a:avLst/>
          </a:prstGeom>
          <a:noFill/>
        </p:spPr>
        <p:txBody>
          <a:bodyPr wrap="square" rtlCol="0">
            <a:spAutoFit/>
          </a:bodyPr>
          <a:lstStyle/>
          <a:p>
            <a:r>
              <a:rPr lang="en-US" dirty="0"/>
              <a:t>Energy for the initial states is given as: </a:t>
            </a:r>
          </a:p>
          <a:p>
            <a:endParaRPr lang="en-US" dirty="0"/>
          </a:p>
          <a:p>
            <a:r>
              <a:rPr lang="en-US" dirty="0"/>
              <a:t>(2-1) + (5-2) + (3-1) + (4-3) + (5-4) + (7-6) + (7-6) + (8-8) = 10</a:t>
            </a:r>
          </a:p>
        </p:txBody>
      </p:sp>
      <p:sp>
        <p:nvSpPr>
          <p:cNvPr id="10" name="TextBox 9"/>
          <p:cNvSpPr txBox="1"/>
          <p:nvPr/>
        </p:nvSpPr>
        <p:spPr>
          <a:xfrm>
            <a:off x="533400" y="4800600"/>
            <a:ext cx="7543800" cy="1200329"/>
          </a:xfrm>
          <a:prstGeom prst="rect">
            <a:avLst/>
          </a:prstGeom>
          <a:noFill/>
        </p:spPr>
        <p:txBody>
          <a:bodyPr wrap="square" rtlCol="0">
            <a:spAutoFit/>
          </a:bodyPr>
          <a:lstStyle/>
          <a:p>
            <a:r>
              <a:rPr lang="en-US" dirty="0"/>
              <a:t>There are two different cases possible after this state.</a:t>
            </a:r>
          </a:p>
          <a:p>
            <a:r>
              <a:rPr lang="en-US" dirty="0"/>
              <a:t>Since Difference is not less than zero, we need to consider probabilities and select the next state. </a:t>
            </a:r>
          </a:p>
          <a:p>
            <a:r>
              <a:rPr lang="en-US" dirty="0"/>
              <a:t> </a:t>
            </a: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Beam Search</a:t>
            </a:r>
          </a:p>
        </p:txBody>
      </p:sp>
      <p:sp>
        <p:nvSpPr>
          <p:cNvPr id="3" name="Content Placeholder 2"/>
          <p:cNvSpPr>
            <a:spLocks noGrp="1"/>
          </p:cNvSpPr>
          <p:nvPr>
            <p:ph sz="quarter" idx="1"/>
          </p:nvPr>
        </p:nvSpPr>
        <p:spPr>
          <a:xfrm>
            <a:off x="301752" y="1527048"/>
            <a:ext cx="8503920" cy="4645152"/>
          </a:xfrm>
        </p:spPr>
        <p:txBody>
          <a:bodyPr>
            <a:normAutofit fontScale="92500" lnSpcReduction="10000"/>
          </a:bodyPr>
          <a:lstStyle/>
          <a:p>
            <a:r>
              <a:rPr lang="en-US" dirty="0"/>
              <a:t>It is a heuristic search algorithm.</a:t>
            </a:r>
          </a:p>
          <a:p>
            <a:endParaRPr lang="en-US" dirty="0"/>
          </a:p>
          <a:p>
            <a:r>
              <a:rPr lang="en-US" dirty="0"/>
              <a:t>This algorithm explores the states or graph by expanding the most promising nodes in a limited set.</a:t>
            </a:r>
          </a:p>
          <a:p>
            <a:endParaRPr lang="en-US" dirty="0"/>
          </a:p>
          <a:p>
            <a:r>
              <a:rPr lang="en-US" dirty="0"/>
              <a:t>At any level, it expands identified best node.</a:t>
            </a:r>
          </a:p>
          <a:p>
            <a:endParaRPr lang="en-US" dirty="0"/>
          </a:p>
          <a:p>
            <a:r>
              <a:rPr lang="en-US" dirty="0"/>
              <a:t>There can be more than one node identified at each level, say K.</a:t>
            </a:r>
          </a:p>
          <a:p>
            <a:endParaRPr lang="en-US" dirty="0"/>
          </a:p>
          <a:p>
            <a:r>
              <a:rPr lang="en-US" dirty="0"/>
              <a:t>Based on BFS to build search tree.</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dirty="0"/>
              <a:t>Local Beam Search Algorithm</a:t>
            </a:r>
          </a:p>
        </p:txBody>
      </p:sp>
      <p:sp>
        <p:nvSpPr>
          <p:cNvPr id="40963" name="Rectangle 3"/>
          <p:cNvSpPr>
            <a:spLocks noGrp="1" noChangeArrowheads="1"/>
          </p:cNvSpPr>
          <p:nvPr>
            <p:ph type="body" idx="1"/>
          </p:nvPr>
        </p:nvSpPr>
        <p:spPr>
          <a:xfrm>
            <a:off x="301752" y="1752600"/>
            <a:ext cx="8503920" cy="4346448"/>
          </a:xfrm>
        </p:spPr>
        <p:txBody>
          <a:bodyPr>
            <a:normAutofit/>
          </a:bodyPr>
          <a:lstStyle/>
          <a:p>
            <a:pPr>
              <a:lnSpc>
                <a:spcPct val="90000"/>
              </a:lnSpc>
            </a:pPr>
            <a:r>
              <a:rPr lang="en-US" sz="2800" dirty="0"/>
              <a:t>Keep track of </a:t>
            </a:r>
            <a:r>
              <a:rPr lang="en-US" sz="2800" i="1" dirty="0"/>
              <a:t>k</a:t>
            </a:r>
            <a:r>
              <a:rPr lang="en-US" sz="2800" dirty="0"/>
              <a:t> states rather than just one</a:t>
            </a:r>
          </a:p>
          <a:p>
            <a:pPr lvl="1">
              <a:lnSpc>
                <a:spcPct val="90000"/>
              </a:lnSpc>
            </a:pPr>
            <a:endParaRPr lang="en-US" sz="2400" dirty="0"/>
          </a:p>
          <a:p>
            <a:pPr>
              <a:lnSpc>
                <a:spcPct val="90000"/>
              </a:lnSpc>
            </a:pPr>
            <a:r>
              <a:rPr lang="en-US" sz="2800" dirty="0"/>
              <a:t>Start with </a:t>
            </a:r>
            <a:r>
              <a:rPr lang="en-US" sz="2800" i="1" dirty="0"/>
              <a:t>k</a:t>
            </a:r>
            <a:r>
              <a:rPr lang="en-US" sz="2800" dirty="0"/>
              <a:t> randomly generated states</a:t>
            </a:r>
          </a:p>
          <a:p>
            <a:pPr lvl="1">
              <a:lnSpc>
                <a:spcPct val="90000"/>
              </a:lnSpc>
            </a:pPr>
            <a:endParaRPr lang="en-US" sz="2400" dirty="0"/>
          </a:p>
          <a:p>
            <a:pPr>
              <a:lnSpc>
                <a:spcPct val="90000"/>
              </a:lnSpc>
            </a:pPr>
            <a:r>
              <a:rPr lang="en-US" sz="2800" dirty="0"/>
              <a:t>At each iteration, all the successors of all </a:t>
            </a:r>
            <a:r>
              <a:rPr lang="en-US" sz="2800" i="1" dirty="0"/>
              <a:t>k</a:t>
            </a:r>
            <a:r>
              <a:rPr lang="en-US" sz="2800" dirty="0"/>
              <a:t> states are generated.</a:t>
            </a:r>
          </a:p>
          <a:p>
            <a:pPr lvl="1">
              <a:lnSpc>
                <a:spcPct val="90000"/>
              </a:lnSpc>
            </a:pPr>
            <a:endParaRPr lang="en-US" sz="2400" dirty="0"/>
          </a:p>
          <a:p>
            <a:pPr>
              <a:lnSpc>
                <a:spcPct val="90000"/>
              </a:lnSpc>
            </a:pPr>
            <a:r>
              <a:rPr lang="en-US" sz="2800" dirty="0"/>
              <a:t>If any one is a goal state, stop; else select the </a:t>
            </a:r>
            <a:r>
              <a:rPr lang="en-US" sz="2800" i="1" dirty="0"/>
              <a:t>k</a:t>
            </a:r>
            <a:r>
              <a:rPr lang="en-US" sz="2800" dirty="0"/>
              <a:t> best successors from the complete list and repeat.</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Beam Search Example</a:t>
            </a:r>
          </a:p>
        </p:txBody>
      </p:sp>
      <p:sp>
        <p:nvSpPr>
          <p:cNvPr id="3" name="Content Placeholder 2"/>
          <p:cNvSpPr>
            <a:spLocks noGrp="1"/>
          </p:cNvSpPr>
          <p:nvPr>
            <p:ph sz="quarter" idx="1"/>
          </p:nvPr>
        </p:nvSpPr>
        <p:spPr/>
        <p:txBody>
          <a:bodyPr/>
          <a:lstStyle/>
          <a:p>
            <a:r>
              <a:rPr lang="en-US" b="1" dirty="0"/>
              <a:t>Example: </a:t>
            </a:r>
            <a:r>
              <a:rPr lang="en-US" dirty="0"/>
              <a:t>Select best </a:t>
            </a:r>
            <a:r>
              <a:rPr lang="en-US" dirty="0" err="1"/>
              <a:t>engg</a:t>
            </a:r>
            <a:r>
              <a:rPr lang="en-US" dirty="0"/>
              <a:t>. Student from country.</a:t>
            </a:r>
          </a:p>
          <a:p>
            <a:endParaRPr lang="en-US" dirty="0"/>
          </a:p>
          <a:p>
            <a:r>
              <a:rPr lang="en-US" dirty="0"/>
              <a:t>Country -&gt; Cities-&gt;Colleges -&gt; Courses-&gt; Divisions   -&gt; Students who scored maximum marks-&gt; select best student</a:t>
            </a:r>
          </a:p>
          <a:p>
            <a:endParaRPr lang="en-US" dirty="0"/>
          </a:p>
          <a:p>
            <a:r>
              <a:rPr lang="en-US" dirty="0"/>
              <a:t>We can used Search tree representation.</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Tabu</a:t>
            </a:r>
            <a:r>
              <a:rPr lang="en-US" dirty="0"/>
              <a:t> Search</a:t>
            </a:r>
          </a:p>
        </p:txBody>
      </p:sp>
      <p:sp>
        <p:nvSpPr>
          <p:cNvPr id="3" name="Content Placeholder 2"/>
          <p:cNvSpPr>
            <a:spLocks noGrp="1"/>
          </p:cNvSpPr>
          <p:nvPr>
            <p:ph sz="quarter" idx="1"/>
          </p:nvPr>
        </p:nvSpPr>
        <p:spPr/>
        <p:txBody>
          <a:bodyPr/>
          <a:lstStyle/>
          <a:p>
            <a:r>
              <a:rPr lang="en-US" dirty="0" err="1"/>
              <a:t>Tabulist</a:t>
            </a:r>
            <a:r>
              <a:rPr lang="en-US" dirty="0"/>
              <a:t> (list of recent history of search)is used for recently visited states and are temporarily excluded from being visited again.</a:t>
            </a:r>
          </a:p>
          <a:p>
            <a:endParaRPr lang="en-US" dirty="0"/>
          </a:p>
          <a:p>
            <a:r>
              <a:rPr lang="en-US" dirty="0"/>
              <a:t>It avoids getting stuck in local maxima.</a:t>
            </a:r>
          </a:p>
          <a:p>
            <a:endParaRPr lang="en-US"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t>Genetic algorithms</a:t>
            </a:r>
          </a:p>
        </p:txBody>
      </p:sp>
      <p:sp>
        <p:nvSpPr>
          <p:cNvPr id="41987" name="Rectangle 3"/>
          <p:cNvSpPr>
            <a:spLocks noGrp="1" noChangeArrowheads="1"/>
          </p:cNvSpPr>
          <p:nvPr>
            <p:ph type="body" idx="1"/>
          </p:nvPr>
        </p:nvSpPr>
        <p:spPr/>
        <p:txBody>
          <a:bodyPr>
            <a:normAutofit lnSpcReduction="10000"/>
          </a:bodyPr>
          <a:lstStyle/>
          <a:p>
            <a:pPr>
              <a:lnSpc>
                <a:spcPct val="80000"/>
              </a:lnSpc>
            </a:pPr>
            <a:r>
              <a:rPr lang="en-US" sz="2400" dirty="0"/>
              <a:t>A successor state is generated by combining two parent states</a:t>
            </a:r>
          </a:p>
          <a:p>
            <a:pPr>
              <a:lnSpc>
                <a:spcPct val="80000"/>
              </a:lnSpc>
            </a:pPr>
            <a:endParaRPr lang="en-US" sz="2400" dirty="0"/>
          </a:p>
          <a:p>
            <a:pPr>
              <a:lnSpc>
                <a:spcPct val="80000"/>
              </a:lnSpc>
            </a:pPr>
            <a:r>
              <a:rPr lang="en-US" sz="2400" dirty="0"/>
              <a:t>Start with </a:t>
            </a:r>
            <a:r>
              <a:rPr lang="en-US" sz="2400" i="1" dirty="0"/>
              <a:t>k</a:t>
            </a:r>
            <a:r>
              <a:rPr lang="en-US" sz="2400" dirty="0"/>
              <a:t> randomly generated states (</a:t>
            </a:r>
            <a:r>
              <a:rPr lang="en-US" sz="2400" dirty="0">
                <a:solidFill>
                  <a:srgbClr val="FF0000"/>
                </a:solidFill>
              </a:rPr>
              <a:t>population</a:t>
            </a:r>
            <a:r>
              <a:rPr lang="en-US" sz="2400" dirty="0"/>
              <a:t>)</a:t>
            </a:r>
          </a:p>
          <a:p>
            <a:pPr>
              <a:lnSpc>
                <a:spcPct val="80000"/>
              </a:lnSpc>
            </a:pPr>
            <a:endParaRPr lang="en-US" sz="2400" dirty="0"/>
          </a:p>
          <a:p>
            <a:pPr>
              <a:lnSpc>
                <a:spcPct val="80000"/>
              </a:lnSpc>
            </a:pPr>
            <a:r>
              <a:rPr lang="en-US" sz="2400" dirty="0"/>
              <a:t>A state is represented as a string over a finite alphabet</a:t>
            </a:r>
          </a:p>
          <a:p>
            <a:pPr>
              <a:lnSpc>
                <a:spcPct val="80000"/>
              </a:lnSpc>
              <a:buNone/>
            </a:pPr>
            <a:r>
              <a:rPr lang="en-US" sz="2400" dirty="0"/>
              <a:t>   (often a string of 0s and 1s)</a:t>
            </a:r>
          </a:p>
          <a:p>
            <a:pPr>
              <a:lnSpc>
                <a:spcPct val="80000"/>
              </a:lnSpc>
            </a:pPr>
            <a:endParaRPr lang="en-US" sz="2400" dirty="0"/>
          </a:p>
          <a:p>
            <a:pPr>
              <a:lnSpc>
                <a:spcPct val="80000"/>
              </a:lnSpc>
            </a:pPr>
            <a:r>
              <a:rPr lang="en-US" sz="2400" dirty="0"/>
              <a:t>Evaluation function (</a:t>
            </a:r>
            <a:r>
              <a:rPr lang="en-US" sz="2400" dirty="0">
                <a:solidFill>
                  <a:srgbClr val="FF0000"/>
                </a:solidFill>
              </a:rPr>
              <a:t>fitness function</a:t>
            </a:r>
            <a:r>
              <a:rPr lang="en-US" sz="2400" dirty="0"/>
              <a:t>). Higher values for     </a:t>
            </a:r>
          </a:p>
          <a:p>
            <a:pPr>
              <a:lnSpc>
                <a:spcPct val="80000"/>
              </a:lnSpc>
              <a:buNone/>
            </a:pPr>
            <a:r>
              <a:rPr lang="en-US" sz="2400" dirty="0"/>
              <a:t>    better states.</a:t>
            </a:r>
          </a:p>
          <a:p>
            <a:pPr>
              <a:lnSpc>
                <a:spcPct val="80000"/>
              </a:lnSpc>
            </a:pPr>
            <a:endParaRPr lang="en-US" sz="2400" dirty="0"/>
          </a:p>
          <a:p>
            <a:pPr>
              <a:lnSpc>
                <a:spcPct val="80000"/>
              </a:lnSpc>
            </a:pPr>
            <a:r>
              <a:rPr lang="en-US" sz="2400" dirty="0"/>
              <a:t>Produce the next generation of states by selection, </a:t>
            </a:r>
          </a:p>
          <a:p>
            <a:pPr>
              <a:lnSpc>
                <a:spcPct val="80000"/>
              </a:lnSpc>
              <a:buNone/>
            </a:pPr>
            <a:r>
              <a:rPr lang="en-US" sz="2400" dirty="0"/>
              <a:t>    crossover, and mutation
</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with nondeterministic actions</a:t>
            </a:r>
          </a:p>
        </p:txBody>
      </p:sp>
      <p:pic>
        <p:nvPicPr>
          <p:cNvPr id="445442" name="Picture 2"/>
          <p:cNvPicPr>
            <a:picLocks noGrp="1" noChangeAspect="1" noChangeArrowheads="1"/>
          </p:cNvPicPr>
          <p:nvPr>
            <p:ph sz="quarter" idx="1"/>
          </p:nvPr>
        </p:nvPicPr>
        <p:blipFill>
          <a:blip r:embed="rId2"/>
          <a:srcRect/>
          <a:stretch>
            <a:fillRect/>
          </a:stretch>
        </p:blipFill>
        <p:spPr bwMode="auto">
          <a:xfrm>
            <a:off x="990600" y="1905000"/>
            <a:ext cx="7364460" cy="3962400"/>
          </a:xfrm>
          <a:prstGeom prst="rect">
            <a:avLst/>
          </a:prstGeom>
          <a:noFill/>
          <a:ln w="9525">
            <a:noFill/>
            <a:miter lim="800000"/>
            <a:headEnd/>
            <a:tailEnd/>
          </a:ln>
          <a:effectLst/>
        </p:spPr>
      </p:pic>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AND OR SEARCH TREES</a:t>
            </a:r>
          </a:p>
        </p:txBody>
      </p:sp>
      <p:pic>
        <p:nvPicPr>
          <p:cNvPr id="446466" name="Picture 2"/>
          <p:cNvPicPr>
            <a:picLocks noGrp="1" noChangeAspect="1" noChangeArrowheads="1"/>
          </p:cNvPicPr>
          <p:nvPr>
            <p:ph sz="quarter" idx="1"/>
          </p:nvPr>
        </p:nvPicPr>
        <p:blipFill>
          <a:blip r:embed="rId2"/>
          <a:srcRect/>
          <a:stretch>
            <a:fillRect/>
          </a:stretch>
        </p:blipFill>
        <p:spPr bwMode="auto">
          <a:xfrm>
            <a:off x="1861554" y="1527175"/>
            <a:ext cx="5384380" cy="4572000"/>
          </a:xfrm>
          <a:prstGeom prst="rect">
            <a:avLst/>
          </a:prstGeom>
          <a:noFill/>
          <a:ln w="9525">
            <a:noFill/>
            <a:miter lim="800000"/>
            <a:headEnd/>
            <a:tailEnd/>
          </a:ln>
          <a:effectLst/>
        </p:spPr>
      </p:pic>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with partial observations</a:t>
            </a:r>
          </a:p>
        </p:txBody>
      </p:sp>
      <p:sp>
        <p:nvSpPr>
          <p:cNvPr id="3" name="Content Placeholder 2"/>
          <p:cNvSpPr>
            <a:spLocks noGrp="1"/>
          </p:cNvSpPr>
          <p:nvPr>
            <p:ph sz="quarter" idx="1"/>
          </p:nvPr>
        </p:nvSpPr>
        <p:spPr/>
        <p:txBody>
          <a:bodyPr/>
          <a:lstStyle/>
          <a:p>
            <a:r>
              <a:rPr lang="en-US" dirty="0"/>
              <a:t>Searching with No observation</a:t>
            </a:r>
          </a:p>
          <a:p>
            <a:r>
              <a:rPr lang="en-US" dirty="0"/>
              <a:t>Searching with observations</a:t>
            </a:r>
          </a:p>
          <a:p>
            <a:endParaRPr lang="en-US"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dirty="0"/>
          </a:p>
        </p:txBody>
      </p:sp>
      <p:pic>
        <p:nvPicPr>
          <p:cNvPr id="448514" name="Picture 2"/>
          <p:cNvPicPr>
            <a:picLocks noChangeAspect="1" noChangeArrowheads="1"/>
          </p:cNvPicPr>
          <p:nvPr/>
        </p:nvPicPr>
        <p:blipFill>
          <a:blip r:embed="rId2"/>
          <a:srcRect/>
          <a:stretch>
            <a:fillRect/>
          </a:stretch>
        </p:blipFill>
        <p:spPr bwMode="auto">
          <a:xfrm>
            <a:off x="1976438" y="2143125"/>
            <a:ext cx="5191125" cy="2571750"/>
          </a:xfrm>
          <a:prstGeom prst="rect">
            <a:avLst/>
          </a:prstGeom>
          <a:noFill/>
          <a:ln w="9525">
            <a:noFill/>
            <a:miter lim="800000"/>
            <a:headEnd/>
            <a:tailEnd/>
          </a:ln>
          <a:effectLst/>
        </p:spPr>
      </p:pic>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Online Search Agents and Unknown Environments</a:t>
            </a:r>
          </a:p>
        </p:txBody>
      </p:sp>
      <p:pic>
        <p:nvPicPr>
          <p:cNvPr id="449538" name="Picture 2"/>
          <p:cNvPicPr>
            <a:picLocks noGrp="1" noChangeAspect="1" noChangeArrowheads="1"/>
          </p:cNvPicPr>
          <p:nvPr>
            <p:ph sz="quarter" idx="1"/>
          </p:nvPr>
        </p:nvPicPr>
        <p:blipFill>
          <a:blip r:embed="rId2"/>
          <a:srcRect/>
          <a:stretch>
            <a:fillRect/>
          </a:stretch>
        </p:blipFill>
        <p:spPr bwMode="auto">
          <a:xfrm>
            <a:off x="304800" y="2590800"/>
            <a:ext cx="8610600" cy="1549400"/>
          </a:xfrm>
          <a:prstGeom prst="rect">
            <a:avLst/>
          </a:prstGeom>
          <a:noFill/>
          <a:ln w="9525">
            <a:noFill/>
            <a:miter lim="800000"/>
            <a:headEnd/>
            <a:tailEnd/>
          </a:ln>
          <a:effectLst/>
        </p:spPr>
      </p:pic>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450562" name="Picture 2"/>
          <p:cNvPicPr>
            <a:picLocks noChangeAspect="1" noChangeArrowheads="1"/>
          </p:cNvPicPr>
          <p:nvPr/>
        </p:nvPicPr>
        <p:blipFill>
          <a:blip r:embed="rId2"/>
          <a:srcRect/>
          <a:stretch>
            <a:fillRect/>
          </a:stretch>
        </p:blipFill>
        <p:spPr bwMode="auto">
          <a:xfrm>
            <a:off x="457200" y="228600"/>
            <a:ext cx="8153400" cy="6053138"/>
          </a:xfrm>
          <a:prstGeom prst="rect">
            <a:avLst/>
          </a:prstGeom>
          <a:noFill/>
          <a:ln w="9525">
            <a:noFill/>
            <a:miter lim="800000"/>
            <a:headEnd/>
            <a:tailEnd/>
          </a:ln>
          <a:effectLst/>
        </p:spPr>
      </p:pic>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Online Search Agents</a:t>
            </a:r>
          </a:p>
        </p:txBody>
      </p:sp>
      <p:pic>
        <p:nvPicPr>
          <p:cNvPr id="451586" name="Picture 2"/>
          <p:cNvPicPr>
            <a:picLocks noGrp="1" noChangeAspect="1" noChangeArrowheads="1"/>
          </p:cNvPicPr>
          <p:nvPr>
            <p:ph sz="quarter" idx="1"/>
          </p:nvPr>
        </p:nvPicPr>
        <p:blipFill>
          <a:blip r:embed="rId2"/>
          <a:srcRect/>
          <a:stretch>
            <a:fillRect/>
          </a:stretch>
        </p:blipFill>
        <p:spPr bwMode="auto">
          <a:xfrm>
            <a:off x="762000" y="2133600"/>
            <a:ext cx="7795620" cy="2068513"/>
          </a:xfrm>
          <a:prstGeom prst="rect">
            <a:avLst/>
          </a:prstGeom>
          <a:noFill/>
          <a:ln w="9525">
            <a:noFill/>
            <a:miter lim="800000"/>
            <a:headEnd/>
            <a:tailEnd/>
          </a:ln>
          <a:effectLst/>
        </p:spPr>
      </p:pic>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Adversarial search methods(Game Theory)</a:t>
            </a:r>
          </a:p>
        </p:txBody>
      </p:sp>
      <p:sp>
        <p:nvSpPr>
          <p:cNvPr id="3" name="Content Placeholder 2"/>
          <p:cNvSpPr>
            <a:spLocks noGrp="1"/>
          </p:cNvSpPr>
          <p:nvPr>
            <p:ph sz="quarter" idx="1"/>
          </p:nvPr>
        </p:nvSpPr>
        <p:spPr/>
        <p:txBody>
          <a:bodyPr>
            <a:normAutofit/>
          </a:bodyPr>
          <a:lstStyle/>
          <a:p>
            <a:r>
              <a:rPr lang="en-US" sz="2400" dirty="0"/>
              <a:t>A game is any situation involving interdependence amongst ‘players’.</a:t>
            </a:r>
          </a:p>
          <a:p>
            <a:r>
              <a:rPr lang="en-US" sz="2400" dirty="0"/>
              <a:t>A game consists of</a:t>
            </a:r>
          </a:p>
          <a:p>
            <a:pPr lvl="1"/>
            <a:r>
              <a:rPr lang="en-US" sz="2400" dirty="0">
                <a:solidFill>
                  <a:schemeClr val="tx1"/>
                </a:solidFill>
              </a:rPr>
              <a:t>a set of players</a:t>
            </a:r>
          </a:p>
          <a:p>
            <a:pPr lvl="1"/>
            <a:r>
              <a:rPr lang="en-US" sz="2400" dirty="0">
                <a:solidFill>
                  <a:schemeClr val="tx1"/>
                </a:solidFill>
              </a:rPr>
              <a:t>a set of strategies for each player</a:t>
            </a:r>
          </a:p>
          <a:p>
            <a:pPr lvl="1"/>
            <a:r>
              <a:rPr lang="en-US" sz="2400" dirty="0">
                <a:solidFill>
                  <a:schemeClr val="tx1"/>
                </a:solidFill>
              </a:rPr>
              <a:t>the payoffs to each player for every possible list of strategy choices by the players.</a:t>
            </a:r>
          </a:p>
          <a:p>
            <a:r>
              <a:rPr lang="en-US" sz="2400" b="1" dirty="0"/>
              <a:t>Game theory</a:t>
            </a:r>
            <a:r>
              <a:rPr lang="en-US" sz="2400" dirty="0"/>
              <a:t> is the study of strategic decision making.</a:t>
            </a:r>
          </a:p>
          <a:p>
            <a:r>
              <a:rPr lang="en-US" sz="2400" dirty="0"/>
              <a:t>Game theory models strategic behavior by agents who understand that their actions affect the actions of other agents. </a:t>
            </a:r>
          </a:p>
          <a:p>
            <a:endParaRPr lang="en-US" sz="24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85800" y="304800"/>
            <a:ext cx="7772400" cy="685800"/>
          </a:xfrm>
        </p:spPr>
        <p:txBody>
          <a:bodyPr/>
          <a:lstStyle/>
          <a:p>
            <a:pPr eaLnBrk="1" hangingPunct="1"/>
            <a:r>
              <a:rPr lang="en-US" dirty="0">
                <a:solidFill>
                  <a:schemeClr val="bg1">
                    <a:lumMod val="65000"/>
                  </a:schemeClr>
                </a:solidFill>
              </a:rPr>
              <a:t>Game Playing</a:t>
            </a:r>
          </a:p>
        </p:txBody>
      </p:sp>
      <p:sp>
        <p:nvSpPr>
          <p:cNvPr id="43011" name="Rectangle 3"/>
          <p:cNvSpPr>
            <a:spLocks noGrp="1" noChangeArrowheads="1"/>
          </p:cNvSpPr>
          <p:nvPr>
            <p:ph sz="quarter" idx="1"/>
          </p:nvPr>
        </p:nvSpPr>
        <p:spPr>
          <a:xfrm>
            <a:off x="304800" y="1524000"/>
            <a:ext cx="8153400" cy="5029200"/>
          </a:xfrm>
        </p:spPr>
        <p:txBody>
          <a:bodyPr>
            <a:normAutofit lnSpcReduction="10000"/>
          </a:bodyPr>
          <a:lstStyle/>
          <a:p>
            <a:pPr algn="just">
              <a:lnSpc>
                <a:spcPct val="80000"/>
              </a:lnSpc>
            </a:pPr>
            <a:r>
              <a:rPr lang="en-US" sz="2400" b="1" dirty="0"/>
              <a:t>Game playing </a:t>
            </a:r>
            <a:r>
              <a:rPr lang="en-US" sz="2400" dirty="0"/>
              <a:t>is most practical and direct application of the heuristic search problem solving paradigm.</a:t>
            </a:r>
          </a:p>
          <a:p>
            <a:pPr algn="just" eaLnBrk="1" hangingPunct="1">
              <a:lnSpc>
                <a:spcPct val="80000"/>
              </a:lnSpc>
            </a:pPr>
            <a:r>
              <a:rPr lang="en-US" sz="2400" dirty="0"/>
              <a:t>Games require different search procedures.  </a:t>
            </a:r>
          </a:p>
          <a:p>
            <a:pPr algn="just" eaLnBrk="1" hangingPunct="1">
              <a:lnSpc>
                <a:spcPct val="80000"/>
              </a:lnSpc>
            </a:pPr>
            <a:r>
              <a:rPr lang="en-US" sz="2400" dirty="0"/>
              <a:t>Basically they are based on generate and test philosophy.</a:t>
            </a:r>
          </a:p>
          <a:p>
            <a:pPr algn="just">
              <a:lnSpc>
                <a:spcPct val="80000"/>
              </a:lnSpc>
            </a:pPr>
            <a:r>
              <a:rPr lang="en-US" sz="2400" dirty="0"/>
              <a:t>Typical characteristic of the games is to ‘look ahead’ at future positions in order to succeed.</a:t>
            </a:r>
          </a:p>
          <a:p>
            <a:pPr algn="just" eaLnBrk="1" hangingPunct="1">
              <a:lnSpc>
                <a:spcPct val="80000"/>
              </a:lnSpc>
            </a:pPr>
            <a:r>
              <a:rPr lang="en-US" sz="2400" dirty="0"/>
              <a:t>The generator generates individual move in the search space, each of which is then evaluated by the tester and the most promising one is chosen.</a:t>
            </a:r>
          </a:p>
          <a:p>
            <a:pPr eaLnBrk="1" hangingPunct="1">
              <a:lnSpc>
                <a:spcPct val="80000"/>
              </a:lnSpc>
            </a:pPr>
            <a:r>
              <a:rPr lang="en-US" sz="2400" dirty="0"/>
              <a:t>It is clear that to improve the effectiveness of a search for problem solving programs, there are two things that can be done:</a:t>
            </a:r>
          </a:p>
          <a:p>
            <a:pPr lvl="1" eaLnBrk="1" hangingPunct="1">
              <a:lnSpc>
                <a:spcPct val="80000"/>
              </a:lnSpc>
              <a:buClr>
                <a:schemeClr val="tx1"/>
              </a:buClr>
              <a:buSzPct val="90000"/>
              <a:buFont typeface="Wingdings" charset="2"/>
              <a:buChar char="§"/>
            </a:pPr>
            <a:r>
              <a:rPr lang="en-US" sz="2400" dirty="0"/>
              <a:t>Improve the generate procedure so that only good moves (paths) are generated.</a:t>
            </a:r>
          </a:p>
          <a:p>
            <a:pPr lvl="1" eaLnBrk="1" hangingPunct="1">
              <a:lnSpc>
                <a:spcPct val="80000"/>
              </a:lnSpc>
              <a:buClr>
                <a:schemeClr val="tx1"/>
              </a:buClr>
              <a:buSzPct val="90000"/>
              <a:buFont typeface="Wingdings" charset="2"/>
              <a:buChar char="§"/>
            </a:pPr>
            <a:r>
              <a:rPr lang="en-US" sz="2400" dirty="0"/>
              <a:t>Improve the test procedure so that the best moves (paths) will be recognized and explored first.</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1219200"/>
          </a:xfrm>
        </p:spPr>
        <p:txBody>
          <a:bodyPr>
            <a:normAutofit fontScale="90000"/>
          </a:bodyPr>
          <a:lstStyle/>
          <a:p>
            <a:r>
              <a:rPr lang="en-US" altLang="en-US" sz="3600" dirty="0"/>
              <a:t>Formal definition game as a search problem</a:t>
            </a:r>
            <a:br>
              <a:rPr lang="en-US" altLang="en-US" sz="3600" dirty="0"/>
            </a:br>
            <a:endParaRPr lang="en-US" dirty="0"/>
          </a:p>
        </p:txBody>
      </p:sp>
      <p:sp>
        <p:nvSpPr>
          <p:cNvPr id="3" name="Content Placeholder 2"/>
          <p:cNvSpPr>
            <a:spLocks noGrp="1"/>
          </p:cNvSpPr>
          <p:nvPr>
            <p:ph sz="quarter" idx="1"/>
          </p:nvPr>
        </p:nvSpPr>
        <p:spPr/>
        <p:txBody>
          <a:bodyPr>
            <a:normAutofit/>
          </a:bodyPr>
          <a:lstStyle/>
          <a:p>
            <a:pPr lvl="1"/>
            <a:r>
              <a:rPr lang="en-US" altLang="en-US" sz="2000" b="1" dirty="0"/>
              <a:t>Initial state: </a:t>
            </a:r>
            <a:r>
              <a:rPr lang="en-US" altLang="en-US" sz="2000" dirty="0"/>
              <a:t>Set-up specified by the rules, e.g., initial board configuration of chess.</a:t>
            </a:r>
          </a:p>
          <a:p>
            <a:pPr lvl="1"/>
            <a:r>
              <a:rPr lang="en-US" altLang="en-US" sz="2000" b="1" dirty="0"/>
              <a:t>Player(s):</a:t>
            </a:r>
            <a:r>
              <a:rPr lang="en-US" altLang="en-US" sz="2000" dirty="0"/>
              <a:t> Defines which player has the move in a state.</a:t>
            </a:r>
          </a:p>
          <a:p>
            <a:pPr lvl="1"/>
            <a:r>
              <a:rPr lang="en-US" altLang="en-US" sz="2000" b="1" dirty="0"/>
              <a:t>Actions(s):</a:t>
            </a:r>
            <a:r>
              <a:rPr lang="en-US" altLang="en-US" sz="2000" dirty="0"/>
              <a:t> Returns the set of legal moves in a state.</a:t>
            </a:r>
          </a:p>
          <a:p>
            <a:pPr lvl="1"/>
            <a:r>
              <a:rPr lang="en-US" altLang="en-US" sz="2000" b="1" dirty="0"/>
              <a:t>Result(</a:t>
            </a:r>
            <a:r>
              <a:rPr lang="en-US" altLang="en-US" sz="2000" b="1" dirty="0" err="1"/>
              <a:t>s,a</a:t>
            </a:r>
            <a:r>
              <a:rPr lang="en-US" altLang="en-US" sz="2000" b="1" dirty="0"/>
              <a:t>):</a:t>
            </a:r>
            <a:r>
              <a:rPr lang="en-US" altLang="en-US" sz="2000" dirty="0"/>
              <a:t> Transition model defines the result of a move.</a:t>
            </a:r>
          </a:p>
          <a:p>
            <a:pPr lvl="1"/>
            <a:r>
              <a:rPr lang="en-US" altLang="en-US" sz="2000" b="1" dirty="0"/>
              <a:t>Successor function: </a:t>
            </a:r>
            <a:r>
              <a:rPr lang="en-US" altLang="en-US" sz="2000" dirty="0"/>
              <a:t>list of (</a:t>
            </a:r>
            <a:r>
              <a:rPr lang="en-US" altLang="en-US" sz="2000" dirty="0" err="1"/>
              <a:t>move,state</a:t>
            </a:r>
            <a:r>
              <a:rPr lang="en-US" altLang="en-US" sz="2000" dirty="0"/>
              <a:t>) pairs specifying legal moves.</a:t>
            </a:r>
          </a:p>
          <a:p>
            <a:pPr lvl="1"/>
            <a:r>
              <a:rPr lang="en-US" altLang="en-US" sz="2000" b="1" dirty="0"/>
              <a:t>Terminal-Test(s):</a:t>
            </a:r>
            <a:r>
              <a:rPr lang="en-US" altLang="en-US" sz="2000" dirty="0"/>
              <a:t> Is the game finished?  True if finished, false otherwise.</a:t>
            </a:r>
          </a:p>
          <a:p>
            <a:pPr lvl="1"/>
            <a:r>
              <a:rPr lang="en-US" altLang="en-US" sz="2000" b="1" dirty="0"/>
              <a:t>Utility function(</a:t>
            </a:r>
            <a:r>
              <a:rPr lang="en-US" altLang="en-US" sz="2000" b="1" dirty="0" err="1"/>
              <a:t>s,p</a:t>
            </a:r>
            <a:r>
              <a:rPr lang="en-US" altLang="en-US" sz="2000" b="1" dirty="0"/>
              <a:t>): </a:t>
            </a:r>
            <a:r>
              <a:rPr lang="en-US" altLang="en-US" sz="2000" dirty="0"/>
              <a:t>Gives numerical value of terminal state s for player p.</a:t>
            </a:r>
          </a:p>
          <a:p>
            <a:pPr lvl="2"/>
            <a:r>
              <a:rPr lang="en-US" altLang="en-US" dirty="0"/>
              <a:t>E.g., win (+1), lose (-1), and draw (0) in tic-tac-toe.</a:t>
            </a:r>
          </a:p>
          <a:p>
            <a:pPr lvl="2"/>
            <a:r>
              <a:rPr lang="en-US" altLang="en-US" dirty="0"/>
              <a:t>E.g., win (+1), lose (0), and draw (1/2) in  chess.</a:t>
            </a:r>
          </a:p>
          <a:p>
            <a:endParaRPr lang="en-US"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a:t>Types of Games</a:t>
            </a:r>
          </a:p>
        </p:txBody>
      </p:sp>
      <p:pic>
        <p:nvPicPr>
          <p:cNvPr id="5123" name="Picture 3"/>
          <p:cNvPicPr>
            <a:picLocks noChangeAspect="1" noChangeArrowheads="1"/>
          </p:cNvPicPr>
          <p:nvPr/>
        </p:nvPicPr>
        <p:blipFill>
          <a:blip r:embed="rId3"/>
          <a:srcRect/>
          <a:stretch>
            <a:fillRect/>
          </a:stretch>
        </p:blipFill>
        <p:spPr bwMode="auto">
          <a:xfrm>
            <a:off x="304801" y="1676400"/>
            <a:ext cx="8077200" cy="2230438"/>
          </a:xfrm>
          <a:prstGeom prst="rect">
            <a:avLst/>
          </a:prstGeom>
          <a:noFill/>
          <a:ln w="12700">
            <a:noFill/>
            <a:miter lim="800000"/>
            <a:headEnd type="none" w="sm" len="sm"/>
            <a:tailEnd type="none" w="sm" len="sm"/>
          </a:ln>
        </p:spPr>
      </p:pic>
      <p:sp>
        <p:nvSpPr>
          <p:cNvPr id="5124" name="Rectangle 4"/>
          <p:cNvSpPr>
            <a:spLocks noChangeArrowheads="1"/>
          </p:cNvSpPr>
          <p:nvPr/>
        </p:nvSpPr>
        <p:spPr bwMode="auto">
          <a:xfrm>
            <a:off x="3124200" y="2133600"/>
            <a:ext cx="2209800" cy="685800"/>
          </a:xfrm>
          <a:prstGeom prst="rect">
            <a:avLst/>
          </a:prstGeom>
          <a:noFill/>
          <a:ln w="41275">
            <a:solidFill>
              <a:srgbClr val="FF0000"/>
            </a:solidFill>
            <a:miter lim="800000"/>
            <a:headEnd type="none" w="sm" len="sm"/>
            <a:tailEnd type="none" w="sm" len="sm"/>
          </a:ln>
        </p:spPr>
        <p:txBody>
          <a:bodyPr wrap="none" anchor="ctr"/>
          <a:lstStyle/>
          <a:p>
            <a:endParaRPr lang="en-US" altLang="en-US"/>
          </a:p>
        </p:txBody>
      </p:sp>
      <p:sp>
        <p:nvSpPr>
          <p:cNvPr id="5125" name="TextBox 4"/>
          <p:cNvSpPr txBox="1">
            <a:spLocks noChangeArrowheads="1"/>
          </p:cNvSpPr>
          <p:nvPr/>
        </p:nvSpPr>
        <p:spPr bwMode="auto">
          <a:xfrm>
            <a:off x="3124200" y="2971800"/>
            <a:ext cx="1981200" cy="708025"/>
          </a:xfrm>
          <a:prstGeom prst="rect">
            <a:avLst/>
          </a:prstGeom>
          <a:noFill/>
          <a:ln w="9525">
            <a:noFill/>
            <a:miter lim="800000"/>
            <a:headEnd/>
            <a:tailEnd/>
          </a:ln>
        </p:spPr>
        <p:txBody>
          <a:bodyPr>
            <a:spAutoFit/>
          </a:bodyPr>
          <a:lstStyle/>
          <a:p>
            <a:r>
              <a:rPr lang="en-US" altLang="en-US" sz="2000" b="1" dirty="0">
                <a:latin typeface="Calibri" pitchFamily="34" charset="0"/>
              </a:rPr>
              <a:t>battleship</a:t>
            </a:r>
          </a:p>
          <a:p>
            <a:r>
              <a:rPr lang="en-US" altLang="en-US" sz="2000" b="1" dirty="0" err="1">
                <a:latin typeface="Calibri" pitchFamily="34" charset="0"/>
              </a:rPr>
              <a:t>Kriegspiel</a:t>
            </a:r>
            <a:endParaRPr lang="en-US" altLang="en-US" sz="2000" b="1" dirty="0">
              <a:latin typeface="Calibri" pitchFamily="34" charset="0"/>
            </a:endParaRPr>
          </a:p>
        </p:txBody>
      </p:sp>
      <p:sp>
        <p:nvSpPr>
          <p:cNvPr id="6" name="Rectangle 5"/>
          <p:cNvSpPr/>
          <p:nvPr/>
        </p:nvSpPr>
        <p:spPr>
          <a:xfrm>
            <a:off x="-304800" y="3886200"/>
            <a:ext cx="9753600" cy="2308324"/>
          </a:xfrm>
          <a:prstGeom prst="rect">
            <a:avLst/>
          </a:prstGeom>
        </p:spPr>
        <p:txBody>
          <a:bodyPr wrap="square">
            <a:spAutoFit/>
          </a:bodyPr>
          <a:lstStyle/>
          <a:p>
            <a:pPr lvl="1">
              <a:lnSpc>
                <a:spcPct val="90000"/>
              </a:lnSpc>
            </a:pPr>
            <a:r>
              <a:rPr lang="en-US" sz="2200" dirty="0"/>
              <a:t>.</a:t>
            </a:r>
          </a:p>
          <a:p>
            <a:pPr lvl="1">
              <a:lnSpc>
                <a:spcPct val="90000"/>
              </a:lnSpc>
            </a:pPr>
            <a:r>
              <a:rPr lang="en-US" sz="2400" b="1" dirty="0"/>
              <a:t>Zero-sum</a:t>
            </a:r>
            <a:r>
              <a:rPr lang="en-US" sz="2400" dirty="0"/>
              <a:t>: one player’s loss is the other’s gain</a:t>
            </a:r>
          </a:p>
          <a:p>
            <a:pPr lvl="1">
              <a:lnSpc>
                <a:spcPct val="90000"/>
              </a:lnSpc>
            </a:pPr>
            <a:endParaRPr lang="en-US" sz="2200" dirty="0"/>
          </a:p>
          <a:p>
            <a:pPr lvl="1">
              <a:lnSpc>
                <a:spcPct val="90000"/>
              </a:lnSpc>
            </a:pPr>
            <a:r>
              <a:rPr lang="en-US" sz="2200" b="1" dirty="0"/>
              <a:t>Perfect-information</a:t>
            </a:r>
            <a:r>
              <a:rPr lang="en-US" sz="2200" dirty="0"/>
              <a:t> because both players have access to the same information about the game in progress (card games are not perfect - information games).</a:t>
            </a:r>
            <a:r>
              <a:rPr lang="en-US" sz="2400" dirty="0"/>
              <a:t> No information is hidden from either player</a:t>
            </a:r>
          </a:p>
          <a:p>
            <a:pPr lvl="1">
              <a:lnSpc>
                <a:spcPct val="90000"/>
              </a:lnSpc>
            </a:pPr>
            <a:endParaRPr lang="en-US" sz="24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a:t>Search versus Games</a:t>
            </a:r>
          </a:p>
        </p:txBody>
      </p:sp>
      <p:sp>
        <p:nvSpPr>
          <p:cNvPr id="8195" name="Rectangle 3"/>
          <p:cNvSpPr>
            <a:spLocks noGrp="1" noChangeArrowheads="1"/>
          </p:cNvSpPr>
          <p:nvPr>
            <p:ph type="body" idx="1"/>
          </p:nvPr>
        </p:nvSpPr>
        <p:spPr>
          <a:xfrm>
            <a:off x="381000" y="1600200"/>
            <a:ext cx="8305800" cy="4648200"/>
          </a:xfrm>
        </p:spPr>
        <p:txBody>
          <a:bodyPr/>
          <a:lstStyle/>
          <a:p>
            <a:r>
              <a:rPr lang="en-US" altLang="en-US" sz="1800" b="1" dirty="0"/>
              <a:t>Search – no adversary</a:t>
            </a:r>
          </a:p>
          <a:p>
            <a:pPr lvl="1"/>
            <a:r>
              <a:rPr lang="en-US" altLang="en-US" sz="1800" dirty="0">
                <a:solidFill>
                  <a:schemeClr val="tx1"/>
                </a:solidFill>
              </a:rPr>
              <a:t>Solution is (heuristic) method for finding goal</a:t>
            </a:r>
          </a:p>
          <a:p>
            <a:pPr lvl="1"/>
            <a:r>
              <a:rPr lang="en-US" altLang="en-US" sz="1800" dirty="0">
                <a:solidFill>
                  <a:schemeClr val="tx1"/>
                </a:solidFill>
              </a:rPr>
              <a:t>Heuristics and CSP techniques can find </a:t>
            </a:r>
            <a:r>
              <a:rPr lang="en-US" altLang="en-US" sz="1800" i="1" dirty="0">
                <a:solidFill>
                  <a:schemeClr val="tx1"/>
                </a:solidFill>
              </a:rPr>
              <a:t>optimal</a:t>
            </a:r>
            <a:r>
              <a:rPr lang="en-US" altLang="en-US" sz="1800" dirty="0">
                <a:solidFill>
                  <a:schemeClr val="tx1"/>
                </a:solidFill>
              </a:rPr>
              <a:t> solution</a:t>
            </a:r>
          </a:p>
          <a:p>
            <a:pPr lvl="1"/>
            <a:r>
              <a:rPr lang="en-US" altLang="en-US" sz="1800" dirty="0">
                <a:solidFill>
                  <a:schemeClr val="tx1"/>
                </a:solidFill>
              </a:rPr>
              <a:t>Evaluation function: estimate of cost from start to goal through given node</a:t>
            </a:r>
          </a:p>
          <a:p>
            <a:pPr lvl="1"/>
            <a:r>
              <a:rPr lang="en-US" altLang="en-US" sz="1800" dirty="0">
                <a:solidFill>
                  <a:schemeClr val="tx1"/>
                </a:solidFill>
              </a:rPr>
              <a:t>Examples: path planning, scheduling activities</a:t>
            </a:r>
          </a:p>
          <a:p>
            <a:pPr lvl="1"/>
            <a:endParaRPr lang="en-US" altLang="en-US" sz="1800" b="1" dirty="0">
              <a:solidFill>
                <a:schemeClr val="tx1"/>
              </a:solidFill>
            </a:endParaRPr>
          </a:p>
          <a:p>
            <a:r>
              <a:rPr lang="en-US" altLang="en-US" sz="1800" b="1" dirty="0"/>
              <a:t>Games – adversary</a:t>
            </a:r>
          </a:p>
          <a:p>
            <a:pPr lvl="1"/>
            <a:r>
              <a:rPr lang="en-US" altLang="en-US" sz="1800" dirty="0">
                <a:solidFill>
                  <a:schemeClr val="tx1"/>
                </a:solidFill>
              </a:rPr>
              <a:t>Solution is strategy </a:t>
            </a:r>
          </a:p>
          <a:p>
            <a:pPr lvl="2"/>
            <a:r>
              <a:rPr lang="en-US" altLang="en-US" sz="1800" dirty="0"/>
              <a:t>strategy specifies move for every possible opponent reply.</a:t>
            </a:r>
          </a:p>
          <a:p>
            <a:pPr lvl="1"/>
            <a:r>
              <a:rPr lang="en-US" altLang="en-US" sz="1800" dirty="0">
                <a:solidFill>
                  <a:schemeClr val="tx1"/>
                </a:solidFill>
              </a:rPr>
              <a:t>Time limits force an </a:t>
            </a:r>
            <a:r>
              <a:rPr lang="en-US" altLang="en-US" sz="1800" i="1" dirty="0">
                <a:solidFill>
                  <a:schemeClr val="tx1"/>
                </a:solidFill>
              </a:rPr>
              <a:t>approximate</a:t>
            </a:r>
            <a:r>
              <a:rPr lang="en-US" altLang="en-US" sz="1800" dirty="0">
                <a:solidFill>
                  <a:schemeClr val="tx1"/>
                </a:solidFill>
              </a:rPr>
              <a:t> solution</a:t>
            </a:r>
          </a:p>
          <a:p>
            <a:pPr lvl="1"/>
            <a:r>
              <a:rPr lang="en-US" altLang="en-US" sz="1800" dirty="0">
                <a:solidFill>
                  <a:schemeClr val="tx1"/>
                </a:solidFill>
              </a:rPr>
              <a:t>Evaluation function: evaluate “goodness” of game position</a:t>
            </a:r>
          </a:p>
          <a:p>
            <a:pPr lvl="1"/>
            <a:r>
              <a:rPr lang="en-US" altLang="en-US" sz="1800" dirty="0">
                <a:solidFill>
                  <a:schemeClr val="tx1"/>
                </a:solidFill>
              </a:rPr>
              <a:t>Examples: chess, checkers, Othello, backgammon </a:t>
            </a:r>
          </a:p>
          <a:p>
            <a:endParaRPr lang="en-US" altLang="en-US" sz="18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Game tree</a:t>
            </a:r>
          </a:p>
        </p:txBody>
      </p:sp>
      <p:sp>
        <p:nvSpPr>
          <p:cNvPr id="3" name="Content Placeholder 2"/>
          <p:cNvSpPr>
            <a:spLocks noGrp="1"/>
          </p:cNvSpPr>
          <p:nvPr>
            <p:ph sz="quarter" idx="1"/>
          </p:nvPr>
        </p:nvSpPr>
        <p:spPr/>
        <p:txBody>
          <a:bodyPr>
            <a:normAutofit fontScale="92500" lnSpcReduction="10000"/>
          </a:bodyPr>
          <a:lstStyle/>
          <a:p>
            <a:r>
              <a:rPr lang="en-US" b="1" dirty="0"/>
              <a:t>Game tree for the game</a:t>
            </a:r>
            <a:r>
              <a:rPr lang="en-US" dirty="0"/>
              <a:t>—a tree where the nodes are game states and the edges are moves.</a:t>
            </a:r>
          </a:p>
          <a:p>
            <a:endParaRPr lang="en-US" dirty="0"/>
          </a:p>
          <a:p>
            <a:r>
              <a:rPr lang="en-US" dirty="0"/>
              <a:t>Game Tree is a structure for organizing all possible (legal) game states by the moves which allow you to transition from one game state to the next. </a:t>
            </a:r>
          </a:p>
          <a:p>
            <a:endParaRPr lang="en-US" dirty="0"/>
          </a:p>
          <a:p>
            <a:r>
              <a:rPr lang="en-US" dirty="0"/>
              <a:t>This structure is ideal for allowing the computer to evaluate which moves to make because, by traversing the game tree, a computer can easily “foresee” the outcome of a move and thus “decide” whether to take it.</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762000"/>
          </a:xfrm>
        </p:spPr>
        <p:txBody>
          <a:bodyPr/>
          <a:lstStyle/>
          <a:p>
            <a:pPr eaLnBrk="1" hangingPunct="1"/>
            <a:r>
              <a:rPr lang="en-US" dirty="0"/>
              <a:t>Game Tree</a:t>
            </a:r>
          </a:p>
        </p:txBody>
      </p:sp>
      <p:sp>
        <p:nvSpPr>
          <p:cNvPr id="46083" name="Rectangle 3"/>
          <p:cNvSpPr>
            <a:spLocks noGrp="1" noChangeArrowheads="1"/>
          </p:cNvSpPr>
          <p:nvPr>
            <p:ph sz="quarter" idx="1"/>
          </p:nvPr>
        </p:nvSpPr>
        <p:spPr>
          <a:xfrm>
            <a:off x="457200" y="1600200"/>
            <a:ext cx="8001000" cy="4495800"/>
          </a:xfrm>
        </p:spPr>
        <p:txBody>
          <a:bodyPr/>
          <a:lstStyle/>
          <a:p>
            <a:pPr algn="just" eaLnBrk="1" hangingPunct="1">
              <a:lnSpc>
                <a:spcPct val="90000"/>
              </a:lnSpc>
            </a:pPr>
            <a:r>
              <a:rPr lang="en-US" sz="2100" dirty="0"/>
              <a:t>The game begins from a specified initial state and ends in position that can be declared </a:t>
            </a:r>
            <a:r>
              <a:rPr lang="en-US" sz="2100" b="1" dirty="0"/>
              <a:t>win </a:t>
            </a:r>
            <a:r>
              <a:rPr lang="en-US" sz="2100" dirty="0"/>
              <a:t>for one, </a:t>
            </a:r>
            <a:r>
              <a:rPr lang="en-US" sz="2100" b="1" dirty="0"/>
              <a:t>loss</a:t>
            </a:r>
            <a:r>
              <a:rPr lang="en-US" sz="2100" dirty="0"/>
              <a:t> for other or possibly a </a:t>
            </a:r>
            <a:r>
              <a:rPr lang="en-US" sz="2100" b="1" dirty="0"/>
              <a:t>draw</a:t>
            </a:r>
            <a:r>
              <a:rPr lang="en-US" sz="2100" dirty="0"/>
              <a:t>.</a:t>
            </a:r>
          </a:p>
          <a:p>
            <a:pPr algn="just" eaLnBrk="1" hangingPunct="1">
              <a:lnSpc>
                <a:spcPct val="90000"/>
              </a:lnSpc>
            </a:pPr>
            <a:r>
              <a:rPr lang="en-US" sz="2100" dirty="0"/>
              <a:t>Game tree is an explicit representation of all possible plays of the game.  </a:t>
            </a:r>
          </a:p>
          <a:p>
            <a:pPr lvl="1" algn="just" eaLnBrk="1" hangingPunct="1">
              <a:lnSpc>
                <a:spcPct val="90000"/>
              </a:lnSpc>
              <a:buClr>
                <a:schemeClr val="tx1"/>
              </a:buClr>
              <a:buSzPct val="85000"/>
              <a:buFont typeface="Wingdings" charset="2"/>
              <a:buChar char="§"/>
            </a:pPr>
            <a:r>
              <a:rPr lang="en-US" sz="2000" dirty="0"/>
              <a:t>The root node is an initial position of the game.</a:t>
            </a:r>
          </a:p>
          <a:p>
            <a:pPr lvl="1" algn="just" eaLnBrk="1" hangingPunct="1">
              <a:lnSpc>
                <a:spcPct val="90000"/>
              </a:lnSpc>
              <a:buClr>
                <a:schemeClr val="tx1"/>
              </a:buClr>
              <a:buSzPct val="85000"/>
              <a:buFont typeface="Wingdings" charset="2"/>
              <a:buChar char="§"/>
            </a:pPr>
            <a:r>
              <a:rPr lang="en-US" sz="2000" dirty="0"/>
              <a:t>Its successors are the positions that the first player  can reach in one move, and</a:t>
            </a:r>
          </a:p>
          <a:p>
            <a:pPr lvl="1" algn="just" eaLnBrk="1" hangingPunct="1">
              <a:lnSpc>
                <a:spcPct val="90000"/>
              </a:lnSpc>
              <a:buClr>
                <a:schemeClr val="tx1"/>
              </a:buClr>
              <a:buSzPct val="85000"/>
              <a:buFont typeface="Wingdings" charset="2"/>
              <a:buChar char="§"/>
            </a:pPr>
            <a:r>
              <a:rPr lang="en-US" sz="2000" dirty="0"/>
              <a:t>Their successors are the positions resulting from the second player's replies and so on.</a:t>
            </a:r>
          </a:p>
          <a:p>
            <a:pPr lvl="1" algn="just" eaLnBrk="1" hangingPunct="1">
              <a:lnSpc>
                <a:spcPct val="90000"/>
              </a:lnSpc>
              <a:buClr>
                <a:schemeClr val="tx1"/>
              </a:buClr>
              <a:buSzPct val="85000"/>
              <a:buFont typeface="Wingdings" charset="2"/>
              <a:buChar char="§"/>
            </a:pPr>
            <a:r>
              <a:rPr lang="en-US" sz="2000" dirty="0"/>
              <a:t>Terminal or leaf nodes are represented by WIN, LOSS or DRAW.</a:t>
            </a:r>
          </a:p>
          <a:p>
            <a:pPr lvl="1" algn="just" eaLnBrk="1" hangingPunct="1">
              <a:lnSpc>
                <a:spcPct val="90000"/>
              </a:lnSpc>
              <a:buClr>
                <a:schemeClr val="tx1"/>
              </a:buClr>
              <a:buSzPct val="85000"/>
              <a:buFont typeface="Wingdings" charset="2"/>
              <a:buChar char="§"/>
            </a:pPr>
            <a:r>
              <a:rPr lang="en-US" sz="2000" dirty="0"/>
              <a:t>Each path from the root to a terminal node represents a different complete play of the game.</a:t>
            </a: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Game Tree</a:t>
            </a:r>
          </a:p>
        </p:txBody>
      </p:sp>
      <p:sp>
        <p:nvSpPr>
          <p:cNvPr id="3" name="Content Placeholder 2"/>
          <p:cNvSpPr>
            <a:spLocks noGrp="1"/>
          </p:cNvSpPr>
          <p:nvPr>
            <p:ph sz="quarter" idx="1"/>
          </p:nvPr>
        </p:nvSpPr>
        <p:spPr>
          <a:xfrm>
            <a:off x="301752" y="1219200"/>
            <a:ext cx="8503920" cy="4879848"/>
          </a:xfrm>
        </p:spPr>
        <p:txBody>
          <a:bodyPr>
            <a:normAutofit fontScale="92500" lnSpcReduction="10000"/>
          </a:bodyPr>
          <a:lstStyle/>
          <a:p>
            <a:endParaRPr lang="en-US" dirty="0"/>
          </a:p>
          <a:p>
            <a:r>
              <a:rPr lang="en-US" dirty="0"/>
              <a:t>We look at techniques for choosing a good move when time is limited. </a:t>
            </a:r>
          </a:p>
          <a:p>
            <a:r>
              <a:rPr lang="en-US" dirty="0"/>
              <a:t>Heuristic </a:t>
            </a:r>
            <a:r>
              <a:rPr lang="en-US" b="1" dirty="0"/>
              <a:t>evaluation functions </a:t>
            </a:r>
            <a:r>
              <a:rPr lang="en-US" dirty="0"/>
              <a:t>allow us to approximate the true utility of a state without doing a complete search.</a:t>
            </a:r>
          </a:p>
          <a:p>
            <a:r>
              <a:rPr lang="en-US" dirty="0"/>
              <a:t>We first </a:t>
            </a:r>
            <a:r>
              <a:rPr lang="en-US" b="1" dirty="0"/>
              <a:t>consider games with two players</a:t>
            </a:r>
            <a:r>
              <a:rPr lang="en-US" dirty="0"/>
              <a:t>, whom we call </a:t>
            </a:r>
            <a:r>
              <a:rPr lang="en-US" b="1" dirty="0"/>
              <a:t>MAX and MIN</a:t>
            </a:r>
            <a:r>
              <a:rPr lang="en-US" dirty="0"/>
              <a:t>.</a:t>
            </a:r>
          </a:p>
          <a:p>
            <a:r>
              <a:rPr lang="en-US" dirty="0"/>
              <a:t>MAX moves first, and then they take turns moving until the game is over. At the end of the game, points are awarded to the winning player and penalties are given to the loser. </a:t>
            </a: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Game tree</a:t>
            </a:r>
          </a:p>
        </p:txBody>
      </p:sp>
      <p:sp>
        <p:nvSpPr>
          <p:cNvPr id="3" name="Content Placeholder 2"/>
          <p:cNvSpPr>
            <a:spLocks noGrp="1"/>
          </p:cNvSpPr>
          <p:nvPr>
            <p:ph sz="quarter" idx="1"/>
          </p:nvPr>
        </p:nvSpPr>
        <p:spPr>
          <a:xfrm>
            <a:off x="301752" y="1219200"/>
            <a:ext cx="8503920" cy="4879848"/>
          </a:xfrm>
        </p:spPr>
        <p:txBody>
          <a:bodyPr>
            <a:normAutofit fontScale="92500" lnSpcReduction="20000"/>
          </a:bodyPr>
          <a:lstStyle/>
          <a:p>
            <a:endParaRPr lang="en-US" dirty="0"/>
          </a:p>
          <a:p>
            <a:r>
              <a:rPr lang="en-US" sz="2800" dirty="0"/>
              <a:t>Let us consider only two player discrete, perfect information games, such as tic-tac-toe.</a:t>
            </a:r>
          </a:p>
          <a:p>
            <a:endParaRPr lang="en-US" dirty="0"/>
          </a:p>
          <a:p>
            <a:r>
              <a:rPr lang="en-US" dirty="0"/>
              <a:t>From the initial state, MAX has nine possible moves. Play alternates between MAX 's placing an X and MIN's placing an 0 until we reach leaf nodes corresponding to terminal states such that one player has three in a row or all the squares arc filled.</a:t>
            </a:r>
          </a:p>
          <a:p>
            <a:endParaRPr lang="en-US" dirty="0"/>
          </a:p>
          <a:p>
            <a:r>
              <a:rPr lang="en-US" dirty="0"/>
              <a:t>The number on each leaf node indicates the utility value of the terminal state from the point of view of MAX; high values are assumed to be good for MAX and bad for MIN (which is how the players get their names).</a:t>
            </a: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a:xfrm>
            <a:off x="617760" y="83529"/>
            <a:ext cx="7809120" cy="907071"/>
          </a:xfrm>
        </p:spPr>
        <p:txBody>
          <a:bodyPr lIns="82945" tIns="4147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Lst>
            </a:pPr>
            <a:r>
              <a:rPr lang="en-GB" dirty="0"/>
              <a:t>Partial Game Tree for Tic-</a:t>
            </a:r>
            <a:r>
              <a:rPr lang="en-GB" dirty="0" err="1"/>
              <a:t>Tac</a:t>
            </a:r>
            <a:r>
              <a:rPr lang="en-GB" dirty="0"/>
              <a:t>-Toe</a:t>
            </a:r>
          </a:p>
        </p:txBody>
      </p:sp>
      <p:pic>
        <p:nvPicPr>
          <p:cNvPr id="7171" name="Picture 2"/>
          <p:cNvPicPr>
            <a:picLocks noChangeAspect="1" noChangeArrowheads="1"/>
          </p:cNvPicPr>
          <p:nvPr/>
        </p:nvPicPr>
        <p:blipFill>
          <a:blip r:embed="rId3"/>
          <a:srcRect/>
          <a:stretch>
            <a:fillRect/>
          </a:stretch>
        </p:blipFill>
        <p:spPr bwMode="auto">
          <a:xfrm>
            <a:off x="2600640" y="1391186"/>
            <a:ext cx="5166720" cy="4095790"/>
          </a:xfrm>
          <a:prstGeom prst="rect">
            <a:avLst/>
          </a:prstGeom>
          <a:noFill/>
          <a:ln w="9525">
            <a:noFill/>
            <a:miter lim="800000"/>
            <a:headEnd/>
            <a:tailEnd/>
          </a:ln>
        </p:spPr>
      </p:pic>
      <p:sp>
        <p:nvSpPr>
          <p:cNvPr id="7172" name="Line 3"/>
          <p:cNvSpPr>
            <a:spLocks noChangeShapeType="1"/>
          </p:cNvSpPr>
          <p:nvPr/>
        </p:nvSpPr>
        <p:spPr bwMode="auto">
          <a:xfrm>
            <a:off x="2610721" y="5499938"/>
            <a:ext cx="5139360" cy="1440"/>
          </a:xfrm>
          <a:prstGeom prst="line">
            <a:avLst/>
          </a:prstGeom>
          <a:noFill/>
          <a:ln w="9525">
            <a:solidFill>
              <a:srgbClr val="000000"/>
            </a:solidFill>
            <a:round/>
            <a:headEnd/>
            <a:tailEnd/>
          </a:ln>
        </p:spPr>
        <p:txBody>
          <a:bodyPr lIns="82945" tIns="41473" rIns="82945" bIns="41473"/>
          <a:lstStyle/>
          <a:p>
            <a:endParaRPr lang="en-US"/>
          </a:p>
        </p:txBody>
      </p:sp>
      <p:sp>
        <p:nvSpPr>
          <p:cNvPr id="7173" name="Text Box 4"/>
          <p:cNvSpPr txBox="1">
            <a:spLocks noChangeArrowheads="1"/>
          </p:cNvSpPr>
          <p:nvPr/>
        </p:nvSpPr>
        <p:spPr bwMode="auto">
          <a:xfrm>
            <a:off x="1412640" y="1611530"/>
            <a:ext cx="807913" cy="257635"/>
          </a:xfrm>
          <a:prstGeom prst="rect">
            <a:avLst/>
          </a:prstGeom>
          <a:noFill/>
          <a:ln w="9525">
            <a:noFill/>
            <a:miter lim="800000"/>
            <a:headEnd/>
            <a:tailEnd/>
          </a:ln>
        </p:spPr>
        <p:txBody>
          <a:bodyPr wrap="none" lIns="0" tIns="0" rIns="0" bIns="0">
            <a:spAutoFit/>
          </a:bodyPr>
          <a:lstStyle/>
          <a:p>
            <a:pPr>
              <a:lnSpc>
                <a:spcPct val="93000"/>
              </a:lnSpc>
              <a:buClr>
                <a:srgbClr val="000000"/>
              </a:buClr>
              <a:buSzPct val="45000"/>
              <a:tabLst>
                <a:tab pos="656650" algn="l"/>
              </a:tabLst>
            </a:pPr>
            <a:r>
              <a:rPr lang="en-GB" dirty="0">
                <a:solidFill>
                  <a:schemeClr val="tx1"/>
                </a:solidFill>
                <a:latin typeface="times" pitchFamily="16" charset="0"/>
              </a:rPr>
              <a:t>MAX(X)</a:t>
            </a:r>
          </a:p>
        </p:txBody>
      </p:sp>
      <p:sp>
        <p:nvSpPr>
          <p:cNvPr id="7174" name="Text Box 5"/>
          <p:cNvSpPr txBox="1">
            <a:spLocks noChangeArrowheads="1"/>
          </p:cNvSpPr>
          <p:nvPr/>
        </p:nvSpPr>
        <p:spPr bwMode="auto">
          <a:xfrm>
            <a:off x="1458720" y="2204872"/>
            <a:ext cx="756617" cy="257635"/>
          </a:xfrm>
          <a:prstGeom prst="rect">
            <a:avLst/>
          </a:prstGeom>
          <a:noFill/>
          <a:ln w="9525">
            <a:noFill/>
            <a:miter lim="800000"/>
            <a:headEnd/>
            <a:tailEnd/>
          </a:ln>
        </p:spPr>
        <p:txBody>
          <a:bodyPr wrap="none" lIns="0" tIns="0" rIns="0" bIns="0">
            <a:spAutoFit/>
          </a:bodyPr>
          <a:lstStyle/>
          <a:p>
            <a:pPr>
              <a:lnSpc>
                <a:spcPct val="93000"/>
              </a:lnSpc>
              <a:buClr>
                <a:srgbClr val="000000"/>
              </a:buClr>
              <a:buSzPct val="45000"/>
              <a:tabLst>
                <a:tab pos="656650" algn="l"/>
              </a:tabLst>
            </a:pPr>
            <a:r>
              <a:rPr lang="en-GB" dirty="0">
                <a:solidFill>
                  <a:schemeClr val="tx1"/>
                </a:solidFill>
                <a:latin typeface="times" pitchFamily="16" charset="0"/>
              </a:rPr>
              <a:t>MIN(O)</a:t>
            </a:r>
          </a:p>
        </p:txBody>
      </p:sp>
      <p:sp>
        <p:nvSpPr>
          <p:cNvPr id="7175" name="Text Box 6"/>
          <p:cNvSpPr txBox="1">
            <a:spLocks noChangeArrowheads="1"/>
          </p:cNvSpPr>
          <p:nvPr/>
        </p:nvSpPr>
        <p:spPr bwMode="auto">
          <a:xfrm>
            <a:off x="1448641" y="2943669"/>
            <a:ext cx="807913" cy="257635"/>
          </a:xfrm>
          <a:prstGeom prst="rect">
            <a:avLst/>
          </a:prstGeom>
          <a:noFill/>
          <a:ln w="9525">
            <a:noFill/>
            <a:miter lim="800000"/>
            <a:headEnd/>
            <a:tailEnd/>
          </a:ln>
        </p:spPr>
        <p:txBody>
          <a:bodyPr wrap="none" lIns="0" tIns="0" rIns="0" bIns="0">
            <a:spAutoFit/>
          </a:bodyPr>
          <a:lstStyle/>
          <a:p>
            <a:pPr>
              <a:lnSpc>
                <a:spcPct val="93000"/>
              </a:lnSpc>
              <a:buClr>
                <a:srgbClr val="000000"/>
              </a:buClr>
              <a:buSzPct val="45000"/>
              <a:tabLst>
                <a:tab pos="656650" algn="l"/>
              </a:tabLst>
            </a:pPr>
            <a:r>
              <a:rPr lang="en-GB" dirty="0">
                <a:solidFill>
                  <a:schemeClr val="tx1"/>
                </a:solidFill>
                <a:latin typeface="times" pitchFamily="16" charset="0"/>
              </a:rPr>
              <a:t>MAX(X)</a:t>
            </a:r>
          </a:p>
        </p:txBody>
      </p:sp>
      <p:sp>
        <p:nvSpPr>
          <p:cNvPr id="7176" name="Text Box 7"/>
          <p:cNvSpPr txBox="1">
            <a:spLocks noChangeArrowheads="1"/>
          </p:cNvSpPr>
          <p:nvPr/>
        </p:nvSpPr>
        <p:spPr bwMode="auto">
          <a:xfrm>
            <a:off x="1493280" y="3645023"/>
            <a:ext cx="756617" cy="257635"/>
          </a:xfrm>
          <a:prstGeom prst="rect">
            <a:avLst/>
          </a:prstGeom>
          <a:noFill/>
          <a:ln w="9525">
            <a:noFill/>
            <a:miter lim="800000"/>
            <a:headEnd/>
            <a:tailEnd/>
          </a:ln>
        </p:spPr>
        <p:txBody>
          <a:bodyPr wrap="none" lIns="0" tIns="0" rIns="0" bIns="0">
            <a:spAutoFit/>
          </a:bodyPr>
          <a:lstStyle/>
          <a:p>
            <a:pPr>
              <a:lnSpc>
                <a:spcPct val="93000"/>
              </a:lnSpc>
              <a:buClr>
                <a:srgbClr val="000000"/>
              </a:buClr>
              <a:buSzPct val="45000"/>
              <a:tabLst>
                <a:tab pos="656650" algn="l"/>
              </a:tabLst>
            </a:pPr>
            <a:r>
              <a:rPr lang="en-GB" dirty="0">
                <a:solidFill>
                  <a:schemeClr val="tx1"/>
                </a:solidFill>
                <a:latin typeface="times" pitchFamily="16" charset="0"/>
              </a:rPr>
              <a:t>MIN(O)</a:t>
            </a:r>
          </a:p>
        </p:txBody>
      </p:sp>
      <p:sp>
        <p:nvSpPr>
          <p:cNvPr id="7177" name="Text Box 8"/>
          <p:cNvSpPr txBox="1">
            <a:spLocks noChangeArrowheads="1"/>
          </p:cNvSpPr>
          <p:nvPr/>
        </p:nvSpPr>
        <p:spPr bwMode="auto">
          <a:xfrm>
            <a:off x="1385281" y="4923878"/>
            <a:ext cx="872098" cy="515269"/>
          </a:xfrm>
          <a:prstGeom prst="rect">
            <a:avLst/>
          </a:prstGeom>
          <a:noFill/>
          <a:ln w="9525">
            <a:noFill/>
            <a:miter lim="800000"/>
            <a:headEnd/>
            <a:tailEnd/>
          </a:ln>
        </p:spPr>
        <p:txBody>
          <a:bodyPr wrap="none" lIns="0" tIns="0" rIns="0" bIns="0">
            <a:spAutoFit/>
          </a:bodyPr>
          <a:lstStyle/>
          <a:p>
            <a:pPr>
              <a:lnSpc>
                <a:spcPct val="93000"/>
              </a:lnSpc>
              <a:buClr>
                <a:srgbClr val="000000"/>
              </a:buClr>
              <a:buSzPct val="45000"/>
              <a:tabLst>
                <a:tab pos="656650" algn="l"/>
              </a:tabLst>
            </a:pPr>
            <a:r>
              <a:rPr lang="en-GB" dirty="0">
                <a:solidFill>
                  <a:schemeClr val="tx1"/>
                </a:solidFill>
                <a:latin typeface="times" pitchFamily="16" charset="0"/>
              </a:rPr>
              <a:t>Terminal</a:t>
            </a:r>
          </a:p>
          <a:p>
            <a:pPr>
              <a:lnSpc>
                <a:spcPct val="93000"/>
              </a:lnSpc>
              <a:buClr>
                <a:srgbClr val="000000"/>
              </a:buClr>
              <a:buSzPct val="45000"/>
              <a:tabLst>
                <a:tab pos="656650" algn="l"/>
              </a:tabLst>
            </a:pPr>
            <a:r>
              <a:rPr lang="en-GB" dirty="0">
                <a:solidFill>
                  <a:schemeClr val="tx1"/>
                </a:solidFill>
                <a:latin typeface="times" pitchFamily="16" charset="0"/>
              </a:rPr>
              <a:t>     utility</a:t>
            </a:r>
          </a:p>
        </p:txBody>
      </p:sp>
      <p:sp>
        <p:nvSpPr>
          <p:cNvPr id="7178" name="Line 9"/>
          <p:cNvSpPr>
            <a:spLocks noChangeShapeType="1"/>
          </p:cNvSpPr>
          <p:nvPr/>
        </p:nvSpPr>
        <p:spPr bwMode="auto">
          <a:xfrm>
            <a:off x="2484000" y="5400567"/>
            <a:ext cx="332640" cy="1441"/>
          </a:xfrm>
          <a:prstGeom prst="line">
            <a:avLst/>
          </a:prstGeom>
          <a:noFill/>
          <a:ln w="9525">
            <a:solidFill>
              <a:srgbClr val="000000"/>
            </a:solidFill>
            <a:round/>
            <a:headEnd/>
            <a:tailEnd type="triangle" w="lg" len="lg"/>
          </a:ln>
        </p:spPr>
        <p:txBody>
          <a:bodyPr lIns="82945" tIns="41473" rIns="82945" bIns="41473"/>
          <a:lstStyle/>
          <a:p>
            <a:endParaRPr lang="en-US"/>
          </a:p>
        </p:txBody>
      </p:sp>
      <p:sp>
        <p:nvSpPr>
          <p:cNvPr id="7179" name="Text Box 10"/>
          <p:cNvSpPr txBox="1">
            <a:spLocks noChangeArrowheads="1"/>
          </p:cNvSpPr>
          <p:nvPr/>
        </p:nvSpPr>
        <p:spPr bwMode="auto">
          <a:xfrm>
            <a:off x="1431360" y="6120643"/>
            <a:ext cx="1218282" cy="257635"/>
          </a:xfrm>
          <a:prstGeom prst="rect">
            <a:avLst/>
          </a:prstGeom>
          <a:noFill/>
          <a:ln w="9525">
            <a:noFill/>
            <a:miter lim="800000"/>
            <a:headEnd/>
            <a:tailEnd/>
          </a:ln>
        </p:spPr>
        <p:txBody>
          <a:bodyPr wrap="none" lIns="0" tIns="0" rIns="0" bIns="0">
            <a:spAutoFit/>
          </a:bodyPr>
          <a:lstStyle/>
          <a:p>
            <a:pPr>
              <a:lnSpc>
                <a:spcPct val="93000"/>
              </a:lnSpc>
              <a:buClr>
                <a:srgbClr val="000000"/>
              </a:buClr>
              <a:buSzPct val="45000"/>
              <a:tabLst>
                <a:tab pos="656650" algn="l"/>
                <a:tab pos="1313299" algn="l"/>
              </a:tabLst>
            </a:pPr>
            <a:r>
              <a:rPr lang="en-GB" dirty="0">
                <a:solidFill>
                  <a:schemeClr val="tx1"/>
                </a:solidFill>
                <a:latin typeface="times" pitchFamily="16" charset="0"/>
              </a:rPr>
              <a:t>Win for MIN</a:t>
            </a:r>
          </a:p>
        </p:txBody>
      </p:sp>
      <p:sp>
        <p:nvSpPr>
          <p:cNvPr id="7180" name="Text Box 11"/>
          <p:cNvSpPr txBox="1">
            <a:spLocks noChangeArrowheads="1"/>
          </p:cNvSpPr>
          <p:nvPr/>
        </p:nvSpPr>
        <p:spPr bwMode="auto">
          <a:xfrm>
            <a:off x="3510721" y="6112002"/>
            <a:ext cx="538609" cy="257635"/>
          </a:xfrm>
          <a:prstGeom prst="rect">
            <a:avLst/>
          </a:prstGeom>
          <a:noFill/>
          <a:ln w="9525">
            <a:noFill/>
            <a:miter lim="800000"/>
            <a:headEnd/>
            <a:tailEnd/>
          </a:ln>
        </p:spPr>
        <p:txBody>
          <a:bodyPr wrap="none" lIns="0" tIns="0" rIns="0" bIns="0">
            <a:spAutoFit/>
          </a:bodyPr>
          <a:lstStyle/>
          <a:p>
            <a:pPr eaLnBrk="1">
              <a:lnSpc>
                <a:spcPct val="93000"/>
              </a:lnSpc>
              <a:buClr>
                <a:srgbClr val="000000"/>
              </a:buClr>
              <a:buSzPct val="45000"/>
              <a:buFont typeface="StarSymbol" charset="0"/>
              <a:buNone/>
            </a:pPr>
            <a:r>
              <a:rPr lang="en-GB">
                <a:solidFill>
                  <a:schemeClr val="tx1"/>
                </a:solidFill>
                <a:latin typeface="times" pitchFamily="16" charset="0"/>
              </a:rPr>
              <a:t>Draw</a:t>
            </a:r>
          </a:p>
        </p:txBody>
      </p:sp>
      <p:sp>
        <p:nvSpPr>
          <p:cNvPr id="7181" name="Text Box 12"/>
          <p:cNvSpPr txBox="1">
            <a:spLocks noChangeArrowheads="1"/>
          </p:cNvSpPr>
          <p:nvPr/>
        </p:nvSpPr>
        <p:spPr bwMode="auto">
          <a:xfrm>
            <a:off x="4805280" y="6129284"/>
            <a:ext cx="1295226" cy="257635"/>
          </a:xfrm>
          <a:prstGeom prst="rect">
            <a:avLst/>
          </a:prstGeom>
          <a:noFill/>
          <a:ln w="9525">
            <a:noFill/>
            <a:miter lim="800000"/>
            <a:headEnd/>
            <a:tailEnd/>
          </a:ln>
        </p:spPr>
        <p:txBody>
          <a:bodyPr wrap="none" lIns="0" tIns="0" rIns="0" bIns="0">
            <a:spAutoFit/>
          </a:bodyPr>
          <a:lstStyle/>
          <a:p>
            <a:pPr>
              <a:lnSpc>
                <a:spcPct val="93000"/>
              </a:lnSpc>
              <a:buClr>
                <a:srgbClr val="000000"/>
              </a:buClr>
              <a:buSzPct val="45000"/>
              <a:tabLst>
                <a:tab pos="656650" algn="l"/>
                <a:tab pos="1313299" algn="l"/>
              </a:tabLst>
            </a:pPr>
            <a:r>
              <a:rPr lang="en-GB" dirty="0">
                <a:solidFill>
                  <a:schemeClr val="tx1"/>
                </a:solidFill>
                <a:latin typeface="times" pitchFamily="16" charset="0"/>
              </a:rPr>
              <a:t>Win for MAX</a:t>
            </a:r>
          </a:p>
        </p:txBody>
      </p:sp>
      <p:sp>
        <p:nvSpPr>
          <p:cNvPr id="7182" name="Line 13"/>
          <p:cNvSpPr>
            <a:spLocks noChangeShapeType="1"/>
          </p:cNvSpPr>
          <p:nvPr/>
        </p:nvSpPr>
        <p:spPr bwMode="auto">
          <a:xfrm flipV="1">
            <a:off x="2322721" y="5498497"/>
            <a:ext cx="567360" cy="570300"/>
          </a:xfrm>
          <a:prstGeom prst="line">
            <a:avLst/>
          </a:prstGeom>
          <a:noFill/>
          <a:ln w="9525">
            <a:solidFill>
              <a:srgbClr val="000000"/>
            </a:solidFill>
            <a:round/>
            <a:headEnd/>
            <a:tailEnd type="triangle" w="lg" len="lg"/>
          </a:ln>
        </p:spPr>
        <p:txBody>
          <a:bodyPr lIns="82945" tIns="41473" rIns="82945" bIns="41473"/>
          <a:lstStyle/>
          <a:p>
            <a:endParaRPr lang="en-US"/>
          </a:p>
        </p:txBody>
      </p:sp>
      <p:sp>
        <p:nvSpPr>
          <p:cNvPr id="7183" name="Line 14"/>
          <p:cNvSpPr>
            <a:spLocks noChangeShapeType="1"/>
          </p:cNvSpPr>
          <p:nvPr/>
        </p:nvSpPr>
        <p:spPr bwMode="auto">
          <a:xfrm flipH="1" flipV="1">
            <a:off x="3562561" y="5515779"/>
            <a:ext cx="246240" cy="570300"/>
          </a:xfrm>
          <a:prstGeom prst="line">
            <a:avLst/>
          </a:prstGeom>
          <a:noFill/>
          <a:ln w="9525">
            <a:solidFill>
              <a:srgbClr val="000000"/>
            </a:solidFill>
            <a:round/>
            <a:headEnd/>
            <a:tailEnd type="triangle" w="lg" len="lg"/>
          </a:ln>
        </p:spPr>
        <p:txBody>
          <a:bodyPr lIns="82945" tIns="41473" rIns="82945" bIns="41473"/>
          <a:lstStyle/>
          <a:p>
            <a:endParaRPr lang="en-US"/>
          </a:p>
        </p:txBody>
      </p:sp>
      <p:sp>
        <p:nvSpPr>
          <p:cNvPr id="7184" name="Line 15"/>
          <p:cNvSpPr>
            <a:spLocks noChangeShapeType="1"/>
          </p:cNvSpPr>
          <p:nvPr/>
        </p:nvSpPr>
        <p:spPr bwMode="auto">
          <a:xfrm flipH="1" flipV="1">
            <a:off x="4147200" y="5497058"/>
            <a:ext cx="1262880" cy="606303"/>
          </a:xfrm>
          <a:prstGeom prst="line">
            <a:avLst/>
          </a:prstGeom>
          <a:noFill/>
          <a:ln w="9525">
            <a:solidFill>
              <a:srgbClr val="000000"/>
            </a:solidFill>
            <a:round/>
            <a:headEnd/>
            <a:tailEnd type="triangle" w="lg" len="lg"/>
          </a:ln>
        </p:spPr>
        <p:txBody>
          <a:bodyPr lIns="82945" tIns="41473" rIns="82945" bIns="41473"/>
          <a:lstStyle/>
          <a:p>
            <a:endParaRPr lang="en-US"/>
          </a:p>
        </p:txBody>
      </p:sp>
      <p:sp>
        <p:nvSpPr>
          <p:cNvPr id="7185" name="Line 16"/>
          <p:cNvSpPr>
            <a:spLocks noChangeShapeType="1"/>
          </p:cNvSpPr>
          <p:nvPr/>
        </p:nvSpPr>
        <p:spPr bwMode="auto">
          <a:xfrm flipH="1">
            <a:off x="1203841" y="1395507"/>
            <a:ext cx="1398240" cy="1440"/>
          </a:xfrm>
          <a:prstGeom prst="line">
            <a:avLst/>
          </a:prstGeom>
          <a:noFill/>
          <a:ln w="9525">
            <a:solidFill>
              <a:srgbClr val="000000"/>
            </a:solidFill>
            <a:round/>
            <a:headEnd/>
            <a:tailEnd/>
          </a:ln>
        </p:spPr>
        <p:txBody>
          <a:bodyPr lIns="82945" tIns="41473" rIns="82945" bIns="41473"/>
          <a:lstStyle/>
          <a:p>
            <a:endParaRPr lang="en-US"/>
          </a:p>
        </p:txBody>
      </p:sp>
      <p:sp>
        <p:nvSpPr>
          <p:cNvPr id="7186" name="Line 17"/>
          <p:cNvSpPr>
            <a:spLocks noChangeShapeType="1"/>
          </p:cNvSpPr>
          <p:nvPr/>
        </p:nvSpPr>
        <p:spPr bwMode="auto">
          <a:xfrm>
            <a:off x="1196641" y="1395507"/>
            <a:ext cx="1440" cy="4123152"/>
          </a:xfrm>
          <a:prstGeom prst="line">
            <a:avLst/>
          </a:prstGeom>
          <a:noFill/>
          <a:ln w="9525">
            <a:solidFill>
              <a:srgbClr val="000000"/>
            </a:solidFill>
            <a:round/>
            <a:headEnd/>
            <a:tailEnd/>
          </a:ln>
        </p:spPr>
        <p:txBody>
          <a:bodyPr lIns="82945" tIns="41473" rIns="82945" bIns="41473"/>
          <a:lstStyle/>
          <a:p>
            <a:endParaRPr lang="en-US"/>
          </a:p>
        </p:txBody>
      </p:sp>
      <p:sp>
        <p:nvSpPr>
          <p:cNvPr id="7187" name="Line 18"/>
          <p:cNvSpPr>
            <a:spLocks noChangeShapeType="1"/>
          </p:cNvSpPr>
          <p:nvPr/>
        </p:nvSpPr>
        <p:spPr bwMode="auto">
          <a:xfrm flipH="1">
            <a:off x="1186560" y="5499938"/>
            <a:ext cx="1434240" cy="1440"/>
          </a:xfrm>
          <a:prstGeom prst="line">
            <a:avLst/>
          </a:prstGeom>
          <a:noFill/>
          <a:ln w="9525">
            <a:solidFill>
              <a:srgbClr val="000000"/>
            </a:solidFill>
            <a:round/>
            <a:headEnd/>
            <a:tailEnd/>
          </a:ln>
        </p:spPr>
        <p:txBody>
          <a:bodyPr lIns="82945" tIns="41473" rIns="82945" bIns="41473"/>
          <a:lstStyle/>
          <a:p>
            <a:endParaRPr lang="en-US"/>
          </a:p>
        </p:txBody>
      </p:sp>
      <p:sp>
        <p:nvSpPr>
          <p:cNvPr id="20" name="Text Box 4"/>
          <p:cNvSpPr txBox="1">
            <a:spLocks noChangeArrowheads="1"/>
          </p:cNvSpPr>
          <p:nvPr/>
        </p:nvSpPr>
        <p:spPr bwMode="auto">
          <a:xfrm>
            <a:off x="4876800" y="4267201"/>
            <a:ext cx="4267200" cy="1200329"/>
          </a:xfrm>
          <a:prstGeom prst="rect">
            <a:avLst/>
          </a:prstGeom>
          <a:noFill/>
          <a:ln w="9525">
            <a:noFill/>
            <a:miter lim="800000"/>
            <a:headEnd/>
            <a:tailEnd/>
          </a:ln>
        </p:spPr>
        <p:txBody>
          <a:bodyPr wrap="square">
            <a:spAutoFit/>
          </a:bodyPr>
          <a:lstStyle/>
          <a:p>
            <a:pPr marL="234950" indent="-234950" eaLnBrk="0" hangingPunct="0">
              <a:spcBef>
                <a:spcPct val="50000"/>
              </a:spcBef>
              <a:buFontTx/>
              <a:buChar char="•"/>
            </a:pPr>
            <a:r>
              <a:rPr lang="en-US" dirty="0">
                <a:latin typeface="Times New Roman" pitchFamily="16" charset="0"/>
              </a:rPr>
              <a:t>f(n) = +1 if the position is a win for X.</a:t>
            </a:r>
          </a:p>
          <a:p>
            <a:pPr marL="234950" indent="-234950" eaLnBrk="0" hangingPunct="0">
              <a:spcBef>
                <a:spcPct val="50000"/>
              </a:spcBef>
              <a:buFontTx/>
              <a:buChar char="•"/>
            </a:pPr>
            <a:r>
              <a:rPr lang="en-US" dirty="0">
                <a:latin typeface="Times New Roman" pitchFamily="16" charset="0"/>
              </a:rPr>
              <a:t>f(n) = -1 if the position is a win for O.</a:t>
            </a:r>
          </a:p>
          <a:p>
            <a:pPr marL="234950" indent="-234950" eaLnBrk="0" hangingPunct="0">
              <a:spcBef>
                <a:spcPct val="50000"/>
              </a:spcBef>
              <a:buFontTx/>
              <a:buChar char="•"/>
            </a:pPr>
            <a:r>
              <a:rPr lang="en-US" dirty="0">
                <a:latin typeface="Times New Roman" pitchFamily="16" charset="0"/>
              </a:rPr>
              <a:t>f(n) = 0 if the position is a draw.</a:t>
            </a:r>
          </a:p>
        </p:txBody>
      </p:sp>
    </p:spTree>
  </p:cSld>
  <p:clrMapOvr>
    <a:masterClrMapping/>
  </p:clrMapOvr>
  <p:transition spd="med"/>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685800" y="304800"/>
            <a:ext cx="7772400" cy="609600"/>
          </a:xfrm>
        </p:spPr>
        <p:txBody>
          <a:bodyPr>
            <a:normAutofit/>
          </a:bodyPr>
          <a:lstStyle/>
          <a:p>
            <a:pPr eaLnBrk="1" hangingPunct="1"/>
            <a:r>
              <a:rPr lang="en-US" sz="3400" dirty="0">
                <a:solidFill>
                  <a:schemeClr val="bg1">
                    <a:lumMod val="65000"/>
                  </a:schemeClr>
                </a:solidFill>
              </a:rPr>
              <a:t>Correspondence with AND/OR graph</a:t>
            </a:r>
          </a:p>
        </p:txBody>
      </p:sp>
      <p:sp>
        <p:nvSpPr>
          <p:cNvPr id="47107" name="Rectangle 3"/>
          <p:cNvSpPr>
            <a:spLocks noGrp="1" noChangeArrowheads="1"/>
          </p:cNvSpPr>
          <p:nvPr>
            <p:ph sz="quarter" idx="1"/>
          </p:nvPr>
        </p:nvSpPr>
        <p:spPr>
          <a:xfrm>
            <a:off x="381000" y="1676400"/>
            <a:ext cx="8534400" cy="4419600"/>
          </a:xfrm>
        </p:spPr>
        <p:txBody>
          <a:bodyPr>
            <a:normAutofit/>
          </a:bodyPr>
          <a:lstStyle/>
          <a:p>
            <a:pPr algn="just" eaLnBrk="1" hangingPunct="1">
              <a:lnSpc>
                <a:spcPct val="90000"/>
              </a:lnSpc>
            </a:pPr>
            <a:r>
              <a:rPr lang="en-US" sz="2400" dirty="0"/>
              <a:t>The correspondence between </a:t>
            </a:r>
            <a:r>
              <a:rPr lang="en-US" sz="2400" b="1" dirty="0"/>
              <a:t>game tree</a:t>
            </a:r>
            <a:r>
              <a:rPr lang="en-US" sz="2400" dirty="0"/>
              <a:t> and </a:t>
            </a:r>
            <a:r>
              <a:rPr lang="en-US" sz="2400" b="1" dirty="0"/>
              <a:t>AND/OR</a:t>
            </a:r>
            <a:r>
              <a:rPr lang="en-US" sz="2400" dirty="0"/>
              <a:t> tree is obvious.</a:t>
            </a:r>
          </a:p>
          <a:p>
            <a:pPr lvl="1" algn="just" eaLnBrk="1" hangingPunct="1">
              <a:lnSpc>
                <a:spcPct val="90000"/>
              </a:lnSpc>
              <a:buClr>
                <a:schemeClr val="tx1"/>
              </a:buClr>
              <a:buSzPct val="80000"/>
              <a:buFont typeface="Wingdings" charset="2"/>
              <a:buChar char="§"/>
            </a:pPr>
            <a:r>
              <a:rPr lang="en-US" sz="2400" dirty="0"/>
              <a:t>The moves available to one player from a given position can be represented by OR links.</a:t>
            </a:r>
          </a:p>
          <a:p>
            <a:pPr lvl="1" algn="just" eaLnBrk="1" hangingPunct="1">
              <a:lnSpc>
                <a:spcPct val="90000"/>
              </a:lnSpc>
              <a:buClr>
                <a:schemeClr val="tx1"/>
              </a:buClr>
              <a:buSzPct val="80000"/>
              <a:buFont typeface="Wingdings" charset="2"/>
              <a:buChar char="§"/>
            </a:pPr>
            <a:r>
              <a:rPr lang="en-US" sz="2400" dirty="0"/>
              <a:t>Whereas the moves available to his opponent are AND links.</a:t>
            </a:r>
          </a:p>
          <a:p>
            <a:pPr lvl="1" algn="just" eaLnBrk="1" hangingPunct="1">
              <a:lnSpc>
                <a:spcPct val="90000"/>
              </a:lnSpc>
              <a:buClr>
                <a:schemeClr val="tx1"/>
              </a:buClr>
              <a:buSzPct val="80000"/>
              <a:buFont typeface="Wingdings" charset="2"/>
              <a:buChar char="§"/>
            </a:pPr>
            <a:endParaRPr lang="en-US" sz="2400" dirty="0"/>
          </a:p>
          <a:p>
            <a:pPr algn="just" eaLnBrk="1" hangingPunct="1">
              <a:lnSpc>
                <a:spcPct val="90000"/>
              </a:lnSpc>
            </a:pPr>
            <a:r>
              <a:rPr lang="en-US" sz="2400" dirty="0"/>
              <a:t>The trees representing  games contain two types of nodes:</a:t>
            </a:r>
          </a:p>
          <a:p>
            <a:pPr lvl="1" algn="just" eaLnBrk="1" hangingPunct="1">
              <a:lnSpc>
                <a:spcPct val="90000"/>
              </a:lnSpc>
              <a:buClr>
                <a:schemeClr val="tx1"/>
              </a:buClr>
              <a:buSzPct val="85000"/>
              <a:buFont typeface="Wingdings" charset="2"/>
              <a:buChar char="§"/>
            </a:pPr>
            <a:r>
              <a:rPr lang="en-US" sz="2400" dirty="0"/>
              <a:t>MAX- nodes (nodes with OR links, maximizing its gain)</a:t>
            </a:r>
          </a:p>
          <a:p>
            <a:pPr lvl="1" algn="just" eaLnBrk="1" hangingPunct="1">
              <a:lnSpc>
                <a:spcPct val="90000"/>
              </a:lnSpc>
              <a:buClr>
                <a:schemeClr val="tx1"/>
              </a:buClr>
              <a:buSzPct val="85000"/>
              <a:buFont typeface="Wingdings" charset="2"/>
              <a:buChar char="§"/>
            </a:pPr>
            <a:r>
              <a:rPr lang="en-US" sz="2400" dirty="0"/>
              <a:t>MIN  - nodes (nodes with AND links, minimizing opponent’s its gain) </a:t>
            </a: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762000" y="0"/>
            <a:ext cx="7772400" cy="914400"/>
          </a:xfrm>
        </p:spPr>
        <p:txBody>
          <a:bodyPr/>
          <a:lstStyle/>
          <a:p>
            <a:r>
              <a:rPr lang="en-US" dirty="0"/>
              <a:t>Game tree</a:t>
            </a:r>
          </a:p>
        </p:txBody>
      </p:sp>
      <p:sp>
        <p:nvSpPr>
          <p:cNvPr id="48131" name="Rectangle 3"/>
          <p:cNvSpPr>
            <a:spLocks noGrp="1" noChangeArrowheads="1"/>
          </p:cNvSpPr>
          <p:nvPr>
            <p:ph sz="quarter" idx="1"/>
          </p:nvPr>
        </p:nvSpPr>
        <p:spPr>
          <a:xfrm>
            <a:off x="457200" y="1752600"/>
            <a:ext cx="8001000" cy="4343400"/>
          </a:xfrm>
        </p:spPr>
        <p:txBody>
          <a:bodyPr>
            <a:normAutofit/>
          </a:bodyPr>
          <a:lstStyle/>
          <a:p>
            <a:pPr algn="just" eaLnBrk="1" hangingPunct="1"/>
            <a:r>
              <a:rPr lang="en-US" sz="2400" dirty="0"/>
              <a:t>The leaf nodes are leveled WIN, LOSS or DRAW depending on </a:t>
            </a:r>
          </a:p>
          <a:p>
            <a:pPr lvl="1" algn="just" eaLnBrk="1" hangingPunct="1">
              <a:buClr>
                <a:schemeClr val="tx1"/>
              </a:buClr>
              <a:buSzPct val="85000"/>
              <a:buFont typeface="Wingdings" charset="2"/>
              <a:buChar char="§"/>
            </a:pPr>
            <a:r>
              <a:rPr lang="en-US" sz="2400" dirty="0"/>
              <a:t>Whether they represent a win, loss or draw position from MAX's view point.</a:t>
            </a:r>
          </a:p>
          <a:p>
            <a:pPr lvl="1" algn="just" eaLnBrk="1" hangingPunct="1">
              <a:buClr>
                <a:schemeClr val="tx1"/>
              </a:buClr>
              <a:buSzPct val="85000"/>
              <a:buNone/>
            </a:pPr>
            <a:endParaRPr lang="en-US" sz="2400" dirty="0"/>
          </a:p>
          <a:p>
            <a:pPr algn="just" eaLnBrk="1" hangingPunct="1"/>
            <a:r>
              <a:rPr lang="en-US" sz="2400" dirty="0"/>
              <a:t>Each non-terminal nodes in the game tree can be labeled WIN, LOSS or DRAW by a bottom up process similar to the "Solve" labeling procedure in AND/OR graph.</a:t>
            </a: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85800" y="228600"/>
            <a:ext cx="7772400" cy="762000"/>
          </a:xfrm>
        </p:spPr>
        <p:txBody>
          <a:bodyPr/>
          <a:lstStyle/>
          <a:p>
            <a:pPr eaLnBrk="1" hangingPunct="1"/>
            <a:r>
              <a:rPr lang="en-US" dirty="0">
                <a:solidFill>
                  <a:schemeClr val="bg1">
                    <a:lumMod val="65000"/>
                  </a:schemeClr>
                </a:solidFill>
              </a:rPr>
              <a:t>Status Labeling Procedure</a:t>
            </a:r>
          </a:p>
        </p:txBody>
      </p:sp>
      <p:sp>
        <p:nvSpPr>
          <p:cNvPr id="49155" name="Rectangle 3"/>
          <p:cNvSpPr>
            <a:spLocks noGrp="1" noChangeArrowheads="1"/>
          </p:cNvSpPr>
          <p:nvPr>
            <p:ph sz="quarter" idx="1"/>
          </p:nvPr>
        </p:nvSpPr>
        <p:spPr>
          <a:xfrm>
            <a:off x="609600" y="1676400"/>
            <a:ext cx="8196072" cy="4422648"/>
          </a:xfrm>
        </p:spPr>
        <p:txBody>
          <a:bodyPr/>
          <a:lstStyle/>
          <a:p>
            <a:pPr algn="just" eaLnBrk="1" hangingPunct="1">
              <a:spcBef>
                <a:spcPct val="0"/>
              </a:spcBef>
            </a:pPr>
            <a:r>
              <a:rPr lang="en-US" dirty="0"/>
              <a:t>If j is a non-terminal MAX node, then</a:t>
            </a:r>
          </a:p>
          <a:p>
            <a:pPr algn="just" eaLnBrk="1" hangingPunct="1">
              <a:spcBef>
                <a:spcPct val="0"/>
              </a:spcBef>
            </a:pPr>
            <a:endParaRPr lang="en-US" dirty="0"/>
          </a:p>
          <a:p>
            <a:pPr eaLnBrk="1" hangingPunct="1">
              <a:buFont typeface="Wingdings" charset="2"/>
              <a:buNone/>
            </a:pPr>
            <a:r>
              <a:rPr lang="en-US" dirty="0"/>
              <a:t>			        </a:t>
            </a:r>
            <a:r>
              <a:rPr lang="en-US" sz="2100" dirty="0"/>
              <a:t>WIN ,	   if any of </a:t>
            </a:r>
            <a:r>
              <a:rPr lang="en-US" sz="2100" dirty="0" err="1"/>
              <a:t>j's</a:t>
            </a:r>
            <a:r>
              <a:rPr lang="en-US" sz="2100" dirty="0"/>
              <a:t> successor is a WIN</a:t>
            </a:r>
          </a:p>
          <a:p>
            <a:pPr eaLnBrk="1" hangingPunct="1">
              <a:buFont typeface="Wingdings" charset="2"/>
              <a:buNone/>
            </a:pPr>
            <a:r>
              <a:rPr lang="en-US" sz="2100" dirty="0"/>
              <a:t>STATUS (j) =	          LOSS ,	   if all </a:t>
            </a:r>
            <a:r>
              <a:rPr lang="en-US" sz="2100" dirty="0" err="1"/>
              <a:t>j's</a:t>
            </a:r>
            <a:r>
              <a:rPr lang="en-US" sz="2100" dirty="0"/>
              <a:t> successor are LOSS</a:t>
            </a:r>
          </a:p>
          <a:p>
            <a:pPr eaLnBrk="1" hangingPunct="1">
              <a:buFont typeface="Wingdings" charset="2"/>
              <a:buNone/>
            </a:pPr>
            <a:r>
              <a:rPr lang="en-US" sz="2100" dirty="0"/>
              <a:t>			          DRAW,       if any of </a:t>
            </a:r>
            <a:r>
              <a:rPr lang="en-US" sz="2100" dirty="0" err="1"/>
              <a:t>j's</a:t>
            </a:r>
            <a:r>
              <a:rPr lang="en-US" sz="2100" dirty="0"/>
              <a:t> successor is a 					   DRAW and none is WIN</a:t>
            </a:r>
          </a:p>
          <a:p>
            <a:pPr eaLnBrk="1" hangingPunct="1"/>
            <a:endParaRPr lang="en-US" sz="2100" dirty="0"/>
          </a:p>
        </p:txBody>
      </p:sp>
      <p:sp>
        <p:nvSpPr>
          <p:cNvPr id="49156" name="AutoShape 4"/>
          <p:cNvSpPr>
            <a:spLocks/>
          </p:cNvSpPr>
          <p:nvPr/>
        </p:nvSpPr>
        <p:spPr bwMode="auto">
          <a:xfrm>
            <a:off x="2057400" y="2362200"/>
            <a:ext cx="914400" cy="2209800"/>
          </a:xfrm>
          <a:prstGeom prst="leftBrace">
            <a:avLst>
              <a:gd name="adj1" fmla="val 34524"/>
              <a:gd name="adj2" fmla="val 46180"/>
            </a:avLst>
          </a:prstGeom>
          <a:noFill/>
          <a:ln w="9525">
            <a:solidFill>
              <a:schemeClr val="tx1"/>
            </a:solidFill>
            <a:round/>
            <a:headEnd/>
            <a:tailEnd/>
          </a:ln>
        </p:spPr>
        <p:txBody>
          <a:bodyPr wrap="none" anchor="ctr"/>
          <a:lstStyle/>
          <a:p>
            <a:endParaRPr lang="en-US"/>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85800" y="381000"/>
            <a:ext cx="7772400" cy="609600"/>
          </a:xfrm>
        </p:spPr>
        <p:txBody>
          <a:bodyPr/>
          <a:lstStyle/>
          <a:p>
            <a:r>
              <a:rPr lang="en-US" dirty="0">
                <a:solidFill>
                  <a:schemeClr val="bg1">
                    <a:lumMod val="65000"/>
                  </a:schemeClr>
                </a:solidFill>
              </a:rPr>
              <a:t>Status Labeling Procedure</a:t>
            </a:r>
            <a:endParaRPr lang="en-US" b="1" dirty="0">
              <a:solidFill>
                <a:schemeClr val="tx1"/>
              </a:solidFill>
            </a:endParaRPr>
          </a:p>
        </p:txBody>
      </p:sp>
      <p:sp>
        <p:nvSpPr>
          <p:cNvPr id="50179" name="Rectangle 3"/>
          <p:cNvSpPr>
            <a:spLocks noGrp="1" noChangeArrowheads="1"/>
          </p:cNvSpPr>
          <p:nvPr>
            <p:ph sz="quarter" idx="1"/>
          </p:nvPr>
        </p:nvSpPr>
        <p:spPr>
          <a:xfrm>
            <a:off x="301752" y="1676400"/>
            <a:ext cx="8503920" cy="4422648"/>
          </a:xfrm>
        </p:spPr>
        <p:txBody>
          <a:bodyPr/>
          <a:lstStyle/>
          <a:p>
            <a:pPr algn="just" eaLnBrk="1" hangingPunct="1">
              <a:spcBef>
                <a:spcPct val="0"/>
              </a:spcBef>
            </a:pPr>
            <a:r>
              <a:rPr lang="en-US" dirty="0"/>
              <a:t>If j is a non-terminal MIN node, then</a:t>
            </a:r>
          </a:p>
          <a:p>
            <a:pPr algn="just" eaLnBrk="1" hangingPunct="1">
              <a:spcBef>
                <a:spcPct val="0"/>
              </a:spcBef>
            </a:pPr>
            <a:endParaRPr lang="en-US" dirty="0"/>
          </a:p>
          <a:p>
            <a:pPr eaLnBrk="1" hangingPunct="1">
              <a:buFont typeface="Wingdings" charset="2"/>
              <a:buNone/>
            </a:pPr>
            <a:r>
              <a:rPr lang="en-US" dirty="0"/>
              <a:t>			  	</a:t>
            </a:r>
            <a:r>
              <a:rPr lang="en-US" sz="2100" dirty="0"/>
              <a:t>WIN ,	       if all </a:t>
            </a:r>
            <a:r>
              <a:rPr lang="en-US" sz="2100" dirty="0" err="1"/>
              <a:t>j's</a:t>
            </a:r>
            <a:r>
              <a:rPr lang="en-US" sz="2100" dirty="0"/>
              <a:t> successor is a WIN</a:t>
            </a:r>
          </a:p>
          <a:p>
            <a:pPr eaLnBrk="1" hangingPunct="1">
              <a:buFont typeface="Wingdings" charset="2"/>
              <a:buNone/>
            </a:pPr>
            <a:r>
              <a:rPr lang="en-US" sz="2100" dirty="0"/>
              <a:t>STATUS (j) =		LOSS ,	       if any of </a:t>
            </a:r>
            <a:r>
              <a:rPr lang="en-US" sz="2100" dirty="0" err="1"/>
              <a:t>j's</a:t>
            </a:r>
            <a:r>
              <a:rPr lang="en-US" sz="2100" dirty="0"/>
              <a:t> successor are LOSS</a:t>
            </a:r>
          </a:p>
          <a:p>
            <a:pPr eaLnBrk="1" hangingPunct="1">
              <a:buFont typeface="Wingdings" charset="2"/>
              <a:buNone/>
            </a:pPr>
            <a:r>
              <a:rPr lang="en-US" sz="2100" dirty="0"/>
              <a:t>				DRAW,       if any of </a:t>
            </a:r>
            <a:r>
              <a:rPr lang="en-US" sz="2100" dirty="0" err="1"/>
              <a:t>j's</a:t>
            </a:r>
            <a:r>
              <a:rPr lang="en-US" sz="2100" dirty="0"/>
              <a:t> successor is a 					                     and none is LOSS</a:t>
            </a:r>
          </a:p>
          <a:p>
            <a:pPr eaLnBrk="1" hangingPunct="1"/>
            <a:endParaRPr lang="en-US" sz="2100" dirty="0"/>
          </a:p>
        </p:txBody>
      </p:sp>
      <p:sp>
        <p:nvSpPr>
          <p:cNvPr id="50180" name="AutoShape 4"/>
          <p:cNvSpPr>
            <a:spLocks/>
          </p:cNvSpPr>
          <p:nvPr/>
        </p:nvSpPr>
        <p:spPr bwMode="auto">
          <a:xfrm>
            <a:off x="2133600" y="2286000"/>
            <a:ext cx="914400" cy="2209800"/>
          </a:xfrm>
          <a:prstGeom prst="leftBrace">
            <a:avLst>
              <a:gd name="adj1" fmla="val 34524"/>
              <a:gd name="adj2" fmla="val 50000"/>
            </a:avLst>
          </a:prstGeom>
          <a:noFill/>
          <a:ln w="9525">
            <a:solidFill>
              <a:schemeClr val="tx1"/>
            </a:solidFill>
            <a:round/>
            <a:headEnd/>
            <a:tailEnd/>
          </a:ln>
        </p:spPr>
        <p:txBody>
          <a:bodyPr wrap="none" anchor="ctr"/>
          <a:lstStyle/>
          <a:p>
            <a:endParaRPr lang="en-US"/>
          </a:p>
        </p:txBody>
      </p:sp>
      <p:sp>
        <p:nvSpPr>
          <p:cNvPr id="5" name="Rectangle 4"/>
          <p:cNvSpPr/>
          <p:nvPr/>
        </p:nvSpPr>
        <p:spPr>
          <a:xfrm>
            <a:off x="609600" y="4800600"/>
            <a:ext cx="8001000" cy="757130"/>
          </a:xfrm>
          <a:prstGeom prst="rect">
            <a:avLst/>
          </a:prstGeom>
        </p:spPr>
        <p:txBody>
          <a:bodyPr wrap="square">
            <a:spAutoFit/>
          </a:bodyPr>
          <a:lstStyle/>
          <a:p>
            <a:pPr algn="just">
              <a:lnSpc>
                <a:spcPct val="80000"/>
              </a:lnSpc>
            </a:pPr>
            <a:r>
              <a:rPr lang="en-US" dirty="0"/>
              <a:t>The function STATUS(j) should be interpreted as the best terminal status</a:t>
            </a:r>
          </a:p>
          <a:p>
            <a:pPr algn="just">
              <a:lnSpc>
                <a:spcPct val="80000"/>
              </a:lnSpc>
            </a:pPr>
            <a:r>
              <a:rPr lang="en-US" dirty="0"/>
              <a:t> MAX can achieve from position j, if MAX plays optimally against a perfect opponent. </a:t>
            </a: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838200"/>
          </a:xfrm>
        </p:spPr>
        <p:txBody>
          <a:bodyPr/>
          <a:lstStyle/>
          <a:p>
            <a:r>
              <a:rPr lang="en-US" dirty="0"/>
              <a:t>How to play a game</a:t>
            </a:r>
          </a:p>
        </p:txBody>
      </p:sp>
      <p:sp>
        <p:nvSpPr>
          <p:cNvPr id="3" name="Content Placeholder 2"/>
          <p:cNvSpPr>
            <a:spLocks noGrp="1"/>
          </p:cNvSpPr>
          <p:nvPr>
            <p:ph sz="quarter" idx="1"/>
          </p:nvPr>
        </p:nvSpPr>
        <p:spPr>
          <a:xfrm>
            <a:off x="301752" y="1752600"/>
            <a:ext cx="8308848" cy="4346448"/>
          </a:xfrm>
        </p:spPr>
        <p:txBody>
          <a:bodyPr/>
          <a:lstStyle/>
          <a:p>
            <a:pPr>
              <a:lnSpc>
                <a:spcPct val="90000"/>
              </a:lnSpc>
            </a:pPr>
            <a:r>
              <a:rPr lang="en-US" sz="2800" dirty="0"/>
              <a:t>A way to play a game is to:</a:t>
            </a:r>
          </a:p>
          <a:p>
            <a:pPr lvl="1">
              <a:lnSpc>
                <a:spcPct val="90000"/>
              </a:lnSpc>
            </a:pPr>
            <a:r>
              <a:rPr lang="en-US" sz="2400" dirty="0"/>
              <a:t>Consider all the legal moves you can make</a:t>
            </a:r>
          </a:p>
          <a:p>
            <a:pPr lvl="1">
              <a:lnSpc>
                <a:spcPct val="90000"/>
              </a:lnSpc>
            </a:pPr>
            <a:r>
              <a:rPr lang="en-US" sz="2400" dirty="0"/>
              <a:t>Compute the new position resulting from each move</a:t>
            </a:r>
          </a:p>
          <a:p>
            <a:pPr lvl="1">
              <a:lnSpc>
                <a:spcPct val="90000"/>
              </a:lnSpc>
            </a:pPr>
            <a:r>
              <a:rPr lang="en-US" sz="2400" dirty="0"/>
              <a:t>Evaluate each resulting position and determine which is best</a:t>
            </a:r>
          </a:p>
          <a:p>
            <a:pPr lvl="1">
              <a:lnSpc>
                <a:spcPct val="90000"/>
              </a:lnSpc>
            </a:pPr>
            <a:r>
              <a:rPr lang="en-US" sz="2400" dirty="0"/>
              <a:t>Make that move</a:t>
            </a:r>
          </a:p>
          <a:p>
            <a:pPr lvl="1">
              <a:lnSpc>
                <a:spcPct val="90000"/>
              </a:lnSpc>
            </a:pPr>
            <a:r>
              <a:rPr lang="en-US" sz="2400" dirty="0"/>
              <a:t>Wait for your opponent to move and repeat</a:t>
            </a:r>
          </a:p>
          <a:p>
            <a:endParaRPr lang="en-US"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MiniMax</a:t>
            </a:r>
            <a:r>
              <a:rPr lang="en-US" dirty="0"/>
              <a:t>  Algorithm</a:t>
            </a:r>
          </a:p>
        </p:txBody>
      </p:sp>
      <p:sp>
        <p:nvSpPr>
          <p:cNvPr id="3" name="Content Placeholder 2"/>
          <p:cNvSpPr>
            <a:spLocks noGrp="1"/>
          </p:cNvSpPr>
          <p:nvPr>
            <p:ph sz="quarter" idx="1"/>
          </p:nvPr>
        </p:nvSpPr>
        <p:spPr/>
        <p:txBody>
          <a:bodyPr>
            <a:normAutofit fontScale="85000" lnSpcReduction="10000"/>
          </a:bodyPr>
          <a:lstStyle/>
          <a:p>
            <a:r>
              <a:rPr lang="en-US" dirty="0"/>
              <a:t>A </a:t>
            </a:r>
            <a:r>
              <a:rPr lang="en-US" b="1" dirty="0" err="1"/>
              <a:t>minimax</a:t>
            </a:r>
            <a:r>
              <a:rPr lang="en-US" b="1" dirty="0"/>
              <a:t> algorithm</a:t>
            </a:r>
            <a:r>
              <a:rPr lang="en-US" b="1" baseline="30000" dirty="0"/>
              <a:t> </a:t>
            </a:r>
            <a:r>
              <a:rPr lang="en-US" dirty="0"/>
              <a:t>is a recursive algorithm for choosing the next move in an n-player game, usually a two-player game. </a:t>
            </a:r>
          </a:p>
          <a:p>
            <a:r>
              <a:rPr lang="en-US" dirty="0"/>
              <a:t>The </a:t>
            </a:r>
            <a:r>
              <a:rPr lang="en-US" dirty="0" err="1"/>
              <a:t>minimax</a:t>
            </a:r>
            <a:r>
              <a:rPr lang="en-US" dirty="0"/>
              <a:t> algorithm is used to determine which moves a computer player makes in games like tic-tac-toe, checkers.</a:t>
            </a:r>
          </a:p>
          <a:p>
            <a:r>
              <a:rPr lang="en-US" dirty="0"/>
              <a:t>A value is associated with each position or state of the game. This value is computed by means of a </a:t>
            </a:r>
            <a:r>
              <a:rPr lang="en-US" b="1" dirty="0"/>
              <a:t>position evaluation function</a:t>
            </a:r>
            <a:r>
              <a:rPr lang="en-US" dirty="0"/>
              <a:t> and it indicates how good it would be for a player to reach that position. </a:t>
            </a:r>
          </a:p>
          <a:p>
            <a:r>
              <a:rPr lang="en-US" dirty="0"/>
              <a:t>The player then makes the move that maximizes the minimum value of the position resulting from the opponent's possible following moves. If it is </a:t>
            </a:r>
            <a:r>
              <a:rPr lang="en-US" b="1" dirty="0"/>
              <a:t>A</a:t>
            </a:r>
            <a:r>
              <a:rPr lang="en-US" dirty="0"/>
              <a:t>'s turn to move, </a:t>
            </a:r>
            <a:r>
              <a:rPr lang="en-US" b="1" dirty="0"/>
              <a:t>A</a:t>
            </a:r>
            <a:r>
              <a:rPr lang="en-US" dirty="0"/>
              <a:t> gives a value to each of his legal moves.</a:t>
            </a: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MiniMax</a:t>
            </a:r>
            <a:r>
              <a:rPr lang="en-US" dirty="0"/>
              <a:t>  Algorithm</a:t>
            </a:r>
          </a:p>
        </p:txBody>
      </p:sp>
      <p:sp>
        <p:nvSpPr>
          <p:cNvPr id="3" name="Content Placeholder 2"/>
          <p:cNvSpPr>
            <a:spLocks noGrp="1"/>
          </p:cNvSpPr>
          <p:nvPr>
            <p:ph sz="quarter" idx="1"/>
          </p:nvPr>
        </p:nvSpPr>
        <p:spPr/>
        <p:txBody>
          <a:bodyPr>
            <a:normAutofit fontScale="70000" lnSpcReduction="20000"/>
          </a:bodyPr>
          <a:lstStyle/>
          <a:p>
            <a:r>
              <a:rPr lang="en-US" dirty="0"/>
              <a:t>Uses a bottom-up approach.</a:t>
            </a:r>
            <a:br>
              <a:rPr lang="en-US" dirty="0"/>
            </a:br>
            <a:br>
              <a:rPr lang="en-US" dirty="0"/>
            </a:br>
            <a:r>
              <a:rPr lang="en-US" dirty="0"/>
              <a:t>Two players - </a:t>
            </a:r>
            <a:r>
              <a:rPr lang="en-US" b="1" dirty="0"/>
              <a:t>Max</a:t>
            </a:r>
            <a:r>
              <a:rPr lang="en-US" dirty="0"/>
              <a:t> and </a:t>
            </a:r>
            <a:r>
              <a:rPr lang="en-US" b="1" dirty="0"/>
              <a:t>Min</a:t>
            </a:r>
            <a:r>
              <a:rPr lang="en-US" dirty="0"/>
              <a:t>. We assume both Max and Min will play optimally.</a:t>
            </a:r>
          </a:p>
          <a:p>
            <a:pPr>
              <a:buNone/>
            </a:pPr>
            <a:br>
              <a:rPr lang="en-US" b="1" dirty="0"/>
            </a:br>
            <a:r>
              <a:rPr lang="en-US" b="1" dirty="0"/>
              <a:t> General Idea:</a:t>
            </a:r>
            <a:br>
              <a:rPr lang="en-US" dirty="0"/>
            </a:br>
            <a:br>
              <a:rPr lang="en-US" dirty="0"/>
            </a:br>
            <a:r>
              <a:rPr lang="en-US" dirty="0"/>
              <a:t>1. Start with the current position as a Max node.</a:t>
            </a:r>
            <a:br>
              <a:rPr lang="en-US" dirty="0"/>
            </a:br>
            <a:br>
              <a:rPr lang="en-US" dirty="0"/>
            </a:br>
            <a:r>
              <a:rPr lang="en-US" dirty="0"/>
              <a:t>2. Expand the game tree a fixed number of half-moves (known as a </a:t>
            </a:r>
            <a:r>
              <a:rPr lang="en-US" b="1" i="1" dirty="0"/>
              <a:t>ply</a:t>
            </a:r>
            <a:r>
              <a:rPr lang="en-US" dirty="0"/>
              <a:t>.) </a:t>
            </a:r>
            <a:br>
              <a:rPr lang="en-US" dirty="0"/>
            </a:br>
            <a:br>
              <a:rPr lang="en-US" dirty="0"/>
            </a:br>
            <a:r>
              <a:rPr lang="en-US" dirty="0"/>
              <a:t>3. Apply the evaluation function to the leaf nodes.</a:t>
            </a:r>
            <a:br>
              <a:rPr lang="en-US" dirty="0"/>
            </a:br>
            <a:br>
              <a:rPr lang="en-US" dirty="0"/>
            </a:br>
            <a:r>
              <a:rPr lang="en-US" dirty="0"/>
              <a:t>4. Calculate values back up the game tree according to Min-Max principle.</a:t>
            </a:r>
            <a:br>
              <a:rPr lang="en-US" dirty="0"/>
            </a:br>
            <a:br>
              <a:rPr lang="en-US" dirty="0"/>
            </a:br>
            <a:r>
              <a:rPr lang="en-US" dirty="0"/>
              <a:t>5. Pick the move that was chosen to give the Max value at the root.</a:t>
            </a:r>
            <a:br>
              <a:rPr lang="en-US" dirty="0"/>
            </a:br>
            <a:endParaRPr lang="en-US"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762000" y="152400"/>
            <a:ext cx="7772400" cy="762000"/>
          </a:xfrm>
        </p:spPr>
        <p:txBody>
          <a:bodyPr/>
          <a:lstStyle/>
          <a:p>
            <a:pPr eaLnBrk="1" hangingPunct="1"/>
            <a:r>
              <a:rPr lang="en-US" dirty="0" err="1"/>
              <a:t>Minimax</a:t>
            </a:r>
            <a:r>
              <a:rPr lang="en-US" dirty="0"/>
              <a:t> procedure</a:t>
            </a:r>
          </a:p>
        </p:txBody>
      </p:sp>
      <p:sp>
        <p:nvSpPr>
          <p:cNvPr id="24579" name="Rectangle 3" descr="Rectangle: Click to edit Master text styles&#10;Second level&#10;Third level&#10;Fourth level&#10;Fifth level"/>
          <p:cNvSpPr>
            <a:spLocks noGrp="1" noChangeArrowheads="1"/>
          </p:cNvSpPr>
          <p:nvPr>
            <p:ph type="body" idx="1"/>
          </p:nvPr>
        </p:nvSpPr>
        <p:spPr>
          <a:xfrm>
            <a:off x="304800" y="1676400"/>
            <a:ext cx="8839200" cy="4648200"/>
          </a:xfrm>
        </p:spPr>
        <p:txBody>
          <a:bodyPr>
            <a:normAutofit/>
          </a:bodyPr>
          <a:lstStyle/>
          <a:p>
            <a:pPr eaLnBrk="1" hangingPunct="1">
              <a:lnSpc>
                <a:spcPct val="90000"/>
              </a:lnSpc>
            </a:pPr>
            <a:r>
              <a:rPr lang="en-US" sz="2400" dirty="0"/>
              <a:t>Create start node as a MAX node  with current board configuration </a:t>
            </a:r>
          </a:p>
          <a:p>
            <a:pPr eaLnBrk="1" hangingPunct="1">
              <a:lnSpc>
                <a:spcPct val="90000"/>
              </a:lnSpc>
            </a:pPr>
            <a:r>
              <a:rPr lang="en-US" sz="2400" dirty="0"/>
              <a:t>Expand nodes down to some </a:t>
            </a:r>
            <a:r>
              <a:rPr lang="en-US" sz="2400" b="1" dirty="0">
                <a:solidFill>
                  <a:srgbClr val="FF0000"/>
                </a:solidFill>
              </a:rPr>
              <a:t>depth</a:t>
            </a:r>
            <a:r>
              <a:rPr lang="en-US" sz="2400" dirty="0"/>
              <a:t> of </a:t>
            </a:r>
            <a:r>
              <a:rPr lang="en-US" sz="2400" dirty="0" err="1"/>
              <a:t>lookahead</a:t>
            </a:r>
            <a:r>
              <a:rPr lang="en-US" sz="2400" dirty="0"/>
              <a:t> in the game.</a:t>
            </a:r>
          </a:p>
          <a:p>
            <a:pPr eaLnBrk="1" hangingPunct="1">
              <a:lnSpc>
                <a:spcPct val="90000"/>
              </a:lnSpc>
            </a:pPr>
            <a:r>
              <a:rPr lang="en-US" sz="2400" dirty="0"/>
              <a:t>Apply the evaluation function at each of the leaf nodes </a:t>
            </a:r>
          </a:p>
          <a:p>
            <a:pPr eaLnBrk="1" hangingPunct="1">
              <a:lnSpc>
                <a:spcPct val="90000"/>
              </a:lnSpc>
            </a:pPr>
            <a:r>
              <a:rPr lang="en-US" sz="2400" dirty="0"/>
              <a:t>“Back up” values for each of the non-leaf nodes until a value is computed for the root node</a:t>
            </a:r>
          </a:p>
          <a:p>
            <a:pPr lvl="1" eaLnBrk="1" hangingPunct="1">
              <a:lnSpc>
                <a:spcPct val="90000"/>
              </a:lnSpc>
            </a:pPr>
            <a:r>
              <a:rPr lang="en-US" sz="2000" dirty="0"/>
              <a:t>At MIN nodes, the backed-up value is the </a:t>
            </a:r>
            <a:r>
              <a:rPr lang="en-US" sz="2000" b="1" dirty="0"/>
              <a:t>minimum</a:t>
            </a:r>
            <a:r>
              <a:rPr lang="en-US" sz="2000" dirty="0"/>
              <a:t> of the values associated with its children. </a:t>
            </a:r>
          </a:p>
          <a:p>
            <a:pPr lvl="1" eaLnBrk="1" hangingPunct="1">
              <a:lnSpc>
                <a:spcPct val="90000"/>
              </a:lnSpc>
            </a:pPr>
            <a:r>
              <a:rPr lang="en-US" sz="2000" dirty="0"/>
              <a:t>At MAX nodes, the backed up value is the </a:t>
            </a:r>
            <a:r>
              <a:rPr lang="en-US" sz="2000" b="1" dirty="0"/>
              <a:t>maximum</a:t>
            </a:r>
            <a:r>
              <a:rPr lang="en-US" sz="2000" dirty="0"/>
              <a:t> of the values associated with its children. </a:t>
            </a:r>
          </a:p>
          <a:p>
            <a:pPr eaLnBrk="1" hangingPunct="1">
              <a:lnSpc>
                <a:spcPct val="90000"/>
              </a:lnSpc>
            </a:pPr>
            <a:r>
              <a:rPr lang="en-US" sz="2400" dirty="0"/>
              <a:t>Pick the operator associated with the child node whose backed-up value determined the value at the root </a:t>
            </a:r>
          </a:p>
          <a:p>
            <a:pPr eaLnBrk="1" hangingPunct="1">
              <a:lnSpc>
                <a:spcPct val="90000"/>
              </a:lnSpc>
            </a:pPr>
            <a:endParaRPr lang="en-US" sz="240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Example_1</a:t>
            </a:r>
          </a:p>
        </p:txBody>
      </p:sp>
      <p:pic>
        <p:nvPicPr>
          <p:cNvPr id="445442" name="Picture 2"/>
          <p:cNvPicPr>
            <a:picLocks noGrp="1" noChangeAspect="1" noChangeArrowheads="1"/>
          </p:cNvPicPr>
          <p:nvPr>
            <p:ph sz="quarter" idx="1"/>
          </p:nvPr>
        </p:nvPicPr>
        <p:blipFill>
          <a:blip r:embed="rId2"/>
          <a:srcRect/>
          <a:stretch>
            <a:fillRect/>
          </a:stretch>
        </p:blipFill>
        <p:spPr bwMode="auto">
          <a:xfrm>
            <a:off x="553244" y="1828800"/>
            <a:ext cx="8001000" cy="4191000"/>
          </a:xfrm>
          <a:prstGeom prst="rect">
            <a:avLst/>
          </a:prstGeom>
          <a:noFill/>
          <a:ln w="9525">
            <a:noFill/>
            <a:miter lim="800000"/>
            <a:headEnd/>
            <a:tailEnd/>
          </a:ln>
          <a:effectLst/>
        </p:spPr>
      </p:pic>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Example_2</a:t>
            </a:r>
          </a:p>
        </p:txBody>
      </p:sp>
      <p:pic>
        <p:nvPicPr>
          <p:cNvPr id="446466" name="Picture 2"/>
          <p:cNvPicPr>
            <a:picLocks noGrp="1" noChangeAspect="1" noChangeArrowheads="1"/>
          </p:cNvPicPr>
          <p:nvPr>
            <p:ph sz="quarter" idx="1"/>
          </p:nvPr>
        </p:nvPicPr>
        <p:blipFill>
          <a:blip r:embed="rId2"/>
          <a:srcRect/>
          <a:stretch>
            <a:fillRect/>
          </a:stretch>
        </p:blipFill>
        <p:spPr bwMode="auto">
          <a:xfrm>
            <a:off x="474893" y="1527175"/>
            <a:ext cx="8157702" cy="4572000"/>
          </a:xfrm>
          <a:prstGeom prst="rect">
            <a:avLst/>
          </a:prstGeom>
          <a:noFill/>
          <a:ln w="9525">
            <a:noFill/>
            <a:miter lim="800000"/>
            <a:headEnd/>
            <a:tailEnd/>
          </a:ln>
          <a:effectLst/>
        </p:spPr>
      </p:pic>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381000"/>
            <a:ext cx="7772400" cy="685800"/>
          </a:xfrm>
        </p:spPr>
        <p:txBody>
          <a:bodyPr/>
          <a:lstStyle/>
          <a:p>
            <a:pPr eaLnBrk="1" hangingPunct="1"/>
            <a:r>
              <a:rPr lang="en-US" dirty="0"/>
              <a:t>Evaluation function</a:t>
            </a:r>
          </a:p>
        </p:txBody>
      </p:sp>
      <p:sp>
        <p:nvSpPr>
          <p:cNvPr id="21507" name="Rectangle 3" descr="Rectangle: Click to edit Master text styles&#10;Second level&#10;Third level&#10;Fourth level&#10;Fifth level"/>
          <p:cNvSpPr>
            <a:spLocks noGrp="1" noChangeArrowheads="1"/>
          </p:cNvSpPr>
          <p:nvPr>
            <p:ph type="body" idx="1"/>
          </p:nvPr>
        </p:nvSpPr>
        <p:spPr>
          <a:xfrm>
            <a:off x="381000" y="1600200"/>
            <a:ext cx="8305800" cy="4953000"/>
          </a:xfrm>
        </p:spPr>
        <p:txBody>
          <a:bodyPr>
            <a:normAutofit/>
          </a:bodyPr>
          <a:lstStyle/>
          <a:p>
            <a:pPr eaLnBrk="1" hangingPunct="1"/>
            <a:r>
              <a:rPr lang="en-US" sz="2400" b="1" dirty="0"/>
              <a:t>Evaluation function</a:t>
            </a:r>
            <a:r>
              <a:rPr lang="en-US" sz="2400" dirty="0"/>
              <a:t> or </a:t>
            </a:r>
            <a:r>
              <a:rPr lang="en-US" sz="2400" b="1" dirty="0"/>
              <a:t>static evaluator</a:t>
            </a:r>
            <a:r>
              <a:rPr lang="en-US" sz="2400" dirty="0"/>
              <a:t> is used to evaluate the “goodness” of a game position.</a:t>
            </a:r>
          </a:p>
          <a:p>
            <a:pPr lvl="1" eaLnBrk="1" hangingPunct="1"/>
            <a:r>
              <a:rPr lang="en-US" sz="2000" dirty="0"/>
              <a:t>Contrast with heuristic search where the evaluation function was a non-negative estimate of the cost from the start node to a goal and passing through the given node</a:t>
            </a:r>
          </a:p>
          <a:p>
            <a:pPr eaLnBrk="1" hangingPunct="1"/>
            <a:r>
              <a:rPr lang="en-US" sz="2400" dirty="0"/>
              <a:t>The zero-sum assumption allows us to use a single evaluation function to describe the goodness of a board with respect to both players. </a:t>
            </a:r>
          </a:p>
          <a:p>
            <a:pPr lvl="1" eaLnBrk="1" hangingPunct="1"/>
            <a:r>
              <a:rPr lang="en-US" sz="2000" b="1" dirty="0"/>
              <a:t>f(n)  &gt;&gt; 0</a:t>
            </a:r>
            <a:r>
              <a:rPr lang="en-US" sz="2000" dirty="0"/>
              <a:t>: position n good for me and bad for you</a:t>
            </a:r>
          </a:p>
          <a:p>
            <a:pPr lvl="1" eaLnBrk="1" hangingPunct="1"/>
            <a:r>
              <a:rPr lang="en-US" sz="2000" b="1" dirty="0"/>
              <a:t>f(n) &lt;&lt; 0</a:t>
            </a:r>
            <a:r>
              <a:rPr lang="en-US" sz="2000" dirty="0"/>
              <a:t>:  position n bad for me and good for you</a:t>
            </a:r>
          </a:p>
          <a:p>
            <a:pPr lvl="1" eaLnBrk="1" hangingPunct="1"/>
            <a:r>
              <a:rPr lang="en-US" sz="2000" b="1" dirty="0"/>
              <a:t>f(n) near 0</a:t>
            </a:r>
            <a:r>
              <a:rPr lang="en-US" sz="2000" dirty="0"/>
              <a:t>: position n is a neutral position</a:t>
            </a:r>
          </a:p>
          <a:p>
            <a:pPr lvl="1" eaLnBrk="1" hangingPunct="1"/>
            <a:r>
              <a:rPr lang="en-US" sz="2000" b="1" dirty="0"/>
              <a:t>f(n) = +infinity</a:t>
            </a:r>
            <a:r>
              <a:rPr lang="en-US" sz="2000" dirty="0"/>
              <a:t>: win for  me</a:t>
            </a:r>
          </a:p>
          <a:p>
            <a:pPr lvl="1" eaLnBrk="1" hangingPunct="1"/>
            <a:r>
              <a:rPr lang="en-US" sz="2000" b="1" dirty="0"/>
              <a:t>f(n) = -infinity</a:t>
            </a:r>
            <a:r>
              <a:rPr lang="en-US" sz="2000" dirty="0"/>
              <a:t>: win for you  </a:t>
            </a: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Evaluation function examples</a:t>
            </a:r>
          </a:p>
        </p:txBody>
      </p:sp>
      <p:sp>
        <p:nvSpPr>
          <p:cNvPr id="310275" name="Rectangle 3" descr="Rectangle: Click to edit Master text styles&#10;Second level&#10;Third level&#10;Fourth level&#10;Fifth level"/>
          <p:cNvSpPr>
            <a:spLocks noGrp="1" noChangeArrowheads="1"/>
          </p:cNvSpPr>
          <p:nvPr>
            <p:ph type="body" idx="1"/>
          </p:nvPr>
        </p:nvSpPr>
        <p:spPr>
          <a:xfrm>
            <a:off x="381000" y="1676400"/>
            <a:ext cx="8305800" cy="4343400"/>
          </a:xfrm>
        </p:spPr>
        <p:txBody>
          <a:bodyPr>
            <a:normAutofit lnSpcReduction="10000"/>
          </a:bodyPr>
          <a:lstStyle/>
          <a:p>
            <a:pPr eaLnBrk="1" hangingPunct="1">
              <a:lnSpc>
                <a:spcPct val="90000"/>
              </a:lnSpc>
            </a:pPr>
            <a:r>
              <a:rPr lang="en-US" sz="2400" dirty="0"/>
              <a:t>Example of an evaluation function for </a:t>
            </a:r>
            <a:r>
              <a:rPr lang="en-US" sz="2400" b="1" dirty="0"/>
              <a:t>Tic-</a:t>
            </a:r>
            <a:r>
              <a:rPr lang="en-US" sz="2400" b="1" dirty="0" err="1"/>
              <a:t>Tac</a:t>
            </a:r>
            <a:r>
              <a:rPr lang="en-US" sz="2400" b="1" dirty="0"/>
              <a:t>-Toe</a:t>
            </a:r>
            <a:r>
              <a:rPr lang="en-US" sz="2400" dirty="0"/>
              <a:t> </a:t>
            </a:r>
          </a:p>
          <a:p>
            <a:pPr lvl="1" eaLnBrk="1" hangingPunct="1">
              <a:lnSpc>
                <a:spcPct val="90000"/>
              </a:lnSpc>
              <a:buFont typeface="Wingdings" pitchFamily="2" charset="2"/>
              <a:buNone/>
            </a:pPr>
            <a:r>
              <a:rPr lang="en-US" sz="2000" dirty="0"/>
              <a:t>f(n) = [# of 3-lengths open for me] - [# of 3-lengths open for you] </a:t>
            </a:r>
          </a:p>
          <a:p>
            <a:pPr lvl="1" eaLnBrk="1" hangingPunct="1">
              <a:lnSpc>
                <a:spcPct val="90000"/>
              </a:lnSpc>
              <a:buFont typeface="Wingdings" pitchFamily="2" charset="2"/>
              <a:buNone/>
            </a:pPr>
            <a:r>
              <a:rPr lang="en-US" sz="2000" dirty="0"/>
              <a:t>where a 3-length is a complete row, column, or diagonal</a:t>
            </a:r>
          </a:p>
          <a:p>
            <a:pPr lvl="1" eaLnBrk="1" hangingPunct="1">
              <a:lnSpc>
                <a:spcPct val="90000"/>
              </a:lnSpc>
              <a:buFont typeface="Wingdings" pitchFamily="2" charset="2"/>
              <a:buNone/>
            </a:pPr>
            <a:endParaRPr lang="en-US" sz="2000" dirty="0"/>
          </a:p>
          <a:p>
            <a:pPr lvl="1" eaLnBrk="1" hangingPunct="1">
              <a:lnSpc>
                <a:spcPct val="90000"/>
              </a:lnSpc>
              <a:buFont typeface="Wingdings" pitchFamily="2" charset="2"/>
              <a:buNone/>
            </a:pPr>
            <a:endParaRPr lang="en-US" sz="2000" dirty="0"/>
          </a:p>
          <a:p>
            <a:pPr eaLnBrk="1" hangingPunct="1">
              <a:lnSpc>
                <a:spcPct val="90000"/>
              </a:lnSpc>
            </a:pPr>
            <a:r>
              <a:rPr lang="en-US" sz="2400" dirty="0"/>
              <a:t>Alan Turing’s function for </a:t>
            </a:r>
            <a:r>
              <a:rPr lang="en-US" sz="2400" b="1" dirty="0"/>
              <a:t>chess</a:t>
            </a:r>
          </a:p>
          <a:p>
            <a:pPr lvl="1" eaLnBrk="1" hangingPunct="1">
              <a:lnSpc>
                <a:spcPct val="90000"/>
              </a:lnSpc>
            </a:pPr>
            <a:r>
              <a:rPr lang="en-US" sz="2000" b="1" dirty="0"/>
              <a:t>f(n) = w(n)/b(n)</a:t>
            </a:r>
            <a:r>
              <a:rPr lang="en-US" sz="2000" dirty="0"/>
              <a:t> where w(n) = sum of the point value of white’s pieces and b(n) = sum of black’s</a:t>
            </a:r>
          </a:p>
          <a:p>
            <a:pPr lvl="1" eaLnBrk="1" hangingPunct="1">
              <a:lnSpc>
                <a:spcPct val="90000"/>
              </a:lnSpc>
            </a:pPr>
            <a:endParaRPr lang="en-US" sz="2000" dirty="0"/>
          </a:p>
          <a:p>
            <a:pPr lvl="1" eaLnBrk="1" hangingPunct="1">
              <a:lnSpc>
                <a:spcPct val="90000"/>
              </a:lnSpc>
            </a:pPr>
            <a:endParaRPr lang="en-US" sz="2000" dirty="0"/>
          </a:p>
          <a:p>
            <a:pPr eaLnBrk="1" hangingPunct="1">
              <a:lnSpc>
                <a:spcPct val="90000"/>
              </a:lnSpc>
            </a:pPr>
            <a:r>
              <a:rPr lang="en-US" sz="2400" dirty="0"/>
              <a:t>Most evaluation functions are specified as a weighted sum of position features</a:t>
            </a:r>
          </a:p>
          <a:p>
            <a:pPr lvl="1" eaLnBrk="1" hangingPunct="1">
              <a:lnSpc>
                <a:spcPct val="90000"/>
              </a:lnSpc>
              <a:buFont typeface="Wingdings" pitchFamily="2" charset="2"/>
              <a:buNone/>
            </a:pPr>
            <a:r>
              <a:rPr lang="en-US" sz="2000" dirty="0"/>
              <a:t>f(n) = w</a:t>
            </a:r>
            <a:r>
              <a:rPr lang="en-US" sz="2000" baseline="-25000" dirty="0"/>
              <a:t>1</a:t>
            </a:r>
            <a:r>
              <a:rPr lang="en-US" sz="2000" dirty="0"/>
              <a:t>*feat</a:t>
            </a:r>
            <a:r>
              <a:rPr lang="en-US" sz="2000" baseline="-25000" dirty="0"/>
              <a:t>1</a:t>
            </a:r>
            <a:r>
              <a:rPr lang="en-US" sz="2000" dirty="0"/>
              <a:t>(n) + w</a:t>
            </a:r>
            <a:r>
              <a:rPr lang="en-US" sz="2000" baseline="-25000" dirty="0"/>
              <a:t>2</a:t>
            </a:r>
            <a:r>
              <a:rPr lang="en-US" sz="2000" dirty="0"/>
              <a:t>*feat</a:t>
            </a:r>
            <a:r>
              <a:rPr lang="en-US" sz="2000" baseline="-25000" dirty="0"/>
              <a:t>2</a:t>
            </a:r>
            <a:r>
              <a:rPr lang="en-US" sz="2000" dirty="0"/>
              <a:t>(n) + ... + </a:t>
            </a:r>
            <a:r>
              <a:rPr lang="en-US" sz="2000" dirty="0" err="1"/>
              <a:t>w</a:t>
            </a:r>
            <a:r>
              <a:rPr lang="en-US" sz="2000" baseline="-25000" dirty="0" err="1"/>
              <a:t>n</a:t>
            </a:r>
            <a:r>
              <a:rPr lang="en-US" sz="2000" dirty="0"/>
              <a:t>*</a:t>
            </a:r>
            <a:r>
              <a:rPr lang="en-US" sz="2000" dirty="0" err="1"/>
              <a:t>feat</a:t>
            </a:r>
            <a:r>
              <a:rPr lang="en-US" sz="2000" baseline="-25000" dirty="0" err="1"/>
              <a:t>k</a:t>
            </a:r>
            <a:r>
              <a:rPr lang="en-US" sz="2000" dirty="0"/>
              <a:t>(n) </a:t>
            </a:r>
          </a:p>
          <a:p>
            <a:pPr eaLnBrk="1" hangingPunct="1">
              <a:lnSpc>
                <a:spcPct val="90000"/>
              </a:lnSpc>
            </a:pPr>
            <a:endParaRPr lang="en-US" sz="240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ext Box 1"/>
          <p:cNvSpPr txBox="1">
            <a:spLocks noChangeArrowheads="1"/>
          </p:cNvSpPr>
          <p:nvPr/>
        </p:nvSpPr>
        <p:spPr bwMode="auto">
          <a:xfrm>
            <a:off x="457200" y="152400"/>
            <a:ext cx="8229600" cy="990600"/>
          </a:xfrm>
          <a:prstGeom prst="rect">
            <a:avLst/>
          </a:prstGeom>
          <a:noFill/>
          <a:ln w="9525" cap="flat">
            <a:noFill/>
            <a:round/>
            <a:headEnd/>
            <a:tailEnd/>
          </a:ln>
          <a:effectLst/>
        </p:spPr>
        <p:txBody>
          <a:bodyPr lIns="90000" tIns="46800" rIns="90000" bIns="46800" anchor="b"/>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200">
                <a:solidFill>
                  <a:srgbClr val="464653"/>
                </a:solidFill>
                <a:latin typeface="Bookman Old Style" pitchFamily="18" charset="0"/>
              </a:rPr>
              <a:t>Tic-Tac-Toe</a:t>
            </a:r>
          </a:p>
        </p:txBody>
      </p:sp>
      <p:sp>
        <p:nvSpPr>
          <p:cNvPr id="17410" name="Text Box 2"/>
          <p:cNvSpPr txBox="1">
            <a:spLocks noChangeArrowheads="1"/>
          </p:cNvSpPr>
          <p:nvPr/>
        </p:nvSpPr>
        <p:spPr bwMode="auto">
          <a:xfrm>
            <a:off x="457200" y="1219200"/>
            <a:ext cx="8229600" cy="4937125"/>
          </a:xfrm>
          <a:prstGeom prst="rect">
            <a:avLst/>
          </a:prstGeom>
          <a:noFill/>
          <a:ln w="9525" cap="flat">
            <a:noFill/>
            <a:round/>
            <a:headEnd/>
            <a:tailEnd/>
          </a:ln>
          <a:effectLst/>
        </p:spPr>
        <p:txBody>
          <a:bodyPr wrap="none" anchor="ctr"/>
          <a:lstStyle/>
          <a:p>
            <a:endParaRPr lang="en-US"/>
          </a:p>
        </p:txBody>
      </p:sp>
      <p:sp>
        <p:nvSpPr>
          <p:cNvPr id="17411" name="Line 3"/>
          <p:cNvSpPr>
            <a:spLocks noChangeShapeType="1"/>
          </p:cNvSpPr>
          <p:nvPr/>
        </p:nvSpPr>
        <p:spPr bwMode="auto">
          <a:xfrm flipH="1">
            <a:off x="1817688" y="1828800"/>
            <a:ext cx="17462" cy="990600"/>
          </a:xfrm>
          <a:prstGeom prst="line">
            <a:avLst/>
          </a:prstGeom>
          <a:noFill/>
          <a:ln w="9360" cap="sq">
            <a:solidFill>
              <a:srgbClr val="727CA3"/>
            </a:solidFill>
            <a:miter lim="800000"/>
            <a:headEnd/>
            <a:tailEnd/>
          </a:ln>
          <a:effectLst/>
        </p:spPr>
        <p:txBody>
          <a:bodyPr/>
          <a:lstStyle/>
          <a:p>
            <a:endParaRPr lang="en-US"/>
          </a:p>
        </p:txBody>
      </p:sp>
      <p:sp>
        <p:nvSpPr>
          <p:cNvPr id="17412" name="Line 4"/>
          <p:cNvSpPr>
            <a:spLocks noChangeShapeType="1"/>
          </p:cNvSpPr>
          <p:nvPr/>
        </p:nvSpPr>
        <p:spPr bwMode="auto">
          <a:xfrm flipH="1">
            <a:off x="2198688" y="1827213"/>
            <a:ext cx="17462" cy="990600"/>
          </a:xfrm>
          <a:prstGeom prst="line">
            <a:avLst/>
          </a:prstGeom>
          <a:noFill/>
          <a:ln w="9360" cap="sq">
            <a:solidFill>
              <a:srgbClr val="727CA3"/>
            </a:solidFill>
            <a:miter lim="800000"/>
            <a:headEnd/>
            <a:tailEnd/>
          </a:ln>
          <a:effectLst/>
        </p:spPr>
        <p:txBody>
          <a:bodyPr/>
          <a:lstStyle/>
          <a:p>
            <a:endParaRPr lang="en-US"/>
          </a:p>
        </p:txBody>
      </p:sp>
      <p:sp>
        <p:nvSpPr>
          <p:cNvPr id="17413" name="Line 5"/>
          <p:cNvSpPr>
            <a:spLocks noChangeShapeType="1"/>
          </p:cNvSpPr>
          <p:nvPr/>
        </p:nvSpPr>
        <p:spPr bwMode="auto">
          <a:xfrm flipH="1" flipV="1">
            <a:off x="1438275" y="2428875"/>
            <a:ext cx="1160463" cy="19050"/>
          </a:xfrm>
          <a:prstGeom prst="line">
            <a:avLst/>
          </a:prstGeom>
          <a:noFill/>
          <a:ln w="9360" cap="sq">
            <a:solidFill>
              <a:srgbClr val="727CA3"/>
            </a:solidFill>
            <a:miter lim="800000"/>
            <a:headEnd/>
            <a:tailEnd/>
          </a:ln>
          <a:effectLst/>
        </p:spPr>
        <p:txBody>
          <a:bodyPr/>
          <a:lstStyle/>
          <a:p>
            <a:endParaRPr lang="en-US"/>
          </a:p>
        </p:txBody>
      </p:sp>
      <p:sp>
        <p:nvSpPr>
          <p:cNvPr id="17414" name="Line 6"/>
          <p:cNvSpPr>
            <a:spLocks noChangeShapeType="1"/>
          </p:cNvSpPr>
          <p:nvPr/>
        </p:nvSpPr>
        <p:spPr bwMode="auto">
          <a:xfrm flipH="1" flipV="1">
            <a:off x="1438275" y="2124075"/>
            <a:ext cx="1160463" cy="19050"/>
          </a:xfrm>
          <a:prstGeom prst="line">
            <a:avLst/>
          </a:prstGeom>
          <a:noFill/>
          <a:ln w="9360" cap="sq">
            <a:solidFill>
              <a:srgbClr val="727CA3"/>
            </a:solidFill>
            <a:miter lim="800000"/>
            <a:headEnd/>
            <a:tailEnd/>
          </a:ln>
          <a:effectLst/>
        </p:spPr>
        <p:txBody>
          <a:bodyPr/>
          <a:lstStyle/>
          <a:p>
            <a:endParaRPr lang="en-US"/>
          </a:p>
        </p:txBody>
      </p:sp>
      <p:sp>
        <p:nvSpPr>
          <p:cNvPr id="17415" name="Text Box 7"/>
          <p:cNvSpPr txBox="1">
            <a:spLocks noChangeArrowheads="1"/>
          </p:cNvSpPr>
          <p:nvPr/>
        </p:nvSpPr>
        <p:spPr bwMode="auto">
          <a:xfrm>
            <a:off x="228600" y="1600200"/>
            <a:ext cx="13716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(MAX) Start</a:t>
            </a:r>
          </a:p>
        </p:txBody>
      </p:sp>
      <p:sp>
        <p:nvSpPr>
          <p:cNvPr id="17416" name="Text Box 8"/>
          <p:cNvSpPr txBox="1">
            <a:spLocks noChangeArrowheads="1"/>
          </p:cNvSpPr>
          <p:nvPr/>
        </p:nvSpPr>
        <p:spPr bwMode="auto">
          <a:xfrm>
            <a:off x="4648200" y="1447800"/>
            <a:ext cx="3200400" cy="1465263"/>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X : MAX player</a:t>
            </a:r>
          </a:p>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0 : MIN player</a:t>
            </a:r>
          </a:p>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solidFill>
                <a:srgbClr val="000000"/>
              </a:solidFill>
              <a:latin typeface="Calibri" pitchFamily="34" charset="0"/>
            </a:endParaRPr>
          </a:p>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e(p) = (rows + cols + diagonals open to ‘X’) – (Same to  ‘0’)</a:t>
            </a:r>
          </a:p>
        </p:txBody>
      </p:sp>
      <p:sp>
        <p:nvSpPr>
          <p:cNvPr id="17417" name="Text Box 9"/>
          <p:cNvSpPr txBox="1">
            <a:spLocks noChangeArrowheads="1"/>
          </p:cNvSpPr>
          <p:nvPr/>
        </p:nvSpPr>
        <p:spPr bwMode="auto">
          <a:xfrm>
            <a:off x="381000" y="2286000"/>
            <a:ext cx="19050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e(p) = 0</a:t>
            </a:r>
          </a:p>
        </p:txBody>
      </p:sp>
      <p:sp>
        <p:nvSpPr>
          <p:cNvPr id="17418" name="Line 10"/>
          <p:cNvSpPr>
            <a:spLocks noChangeShapeType="1"/>
          </p:cNvSpPr>
          <p:nvPr/>
        </p:nvSpPr>
        <p:spPr bwMode="auto">
          <a:xfrm flipH="1">
            <a:off x="1285875" y="3276600"/>
            <a:ext cx="17463" cy="990600"/>
          </a:xfrm>
          <a:prstGeom prst="line">
            <a:avLst/>
          </a:prstGeom>
          <a:noFill/>
          <a:ln w="9360" cap="sq">
            <a:solidFill>
              <a:srgbClr val="727CA3"/>
            </a:solidFill>
            <a:miter lim="800000"/>
            <a:headEnd/>
            <a:tailEnd/>
          </a:ln>
          <a:effectLst/>
        </p:spPr>
        <p:txBody>
          <a:bodyPr/>
          <a:lstStyle/>
          <a:p>
            <a:endParaRPr lang="en-US"/>
          </a:p>
        </p:txBody>
      </p:sp>
      <p:sp>
        <p:nvSpPr>
          <p:cNvPr id="17419" name="Line 11"/>
          <p:cNvSpPr>
            <a:spLocks noChangeShapeType="1"/>
          </p:cNvSpPr>
          <p:nvPr/>
        </p:nvSpPr>
        <p:spPr bwMode="auto">
          <a:xfrm flipH="1">
            <a:off x="1666875" y="3275013"/>
            <a:ext cx="17463" cy="990600"/>
          </a:xfrm>
          <a:prstGeom prst="line">
            <a:avLst/>
          </a:prstGeom>
          <a:noFill/>
          <a:ln w="9360" cap="sq">
            <a:solidFill>
              <a:srgbClr val="727CA3"/>
            </a:solidFill>
            <a:miter lim="800000"/>
            <a:headEnd/>
            <a:tailEnd/>
          </a:ln>
          <a:effectLst/>
        </p:spPr>
        <p:txBody>
          <a:bodyPr/>
          <a:lstStyle/>
          <a:p>
            <a:endParaRPr lang="en-US"/>
          </a:p>
        </p:txBody>
      </p:sp>
      <p:sp>
        <p:nvSpPr>
          <p:cNvPr id="17420" name="Line 12"/>
          <p:cNvSpPr>
            <a:spLocks noChangeShapeType="1"/>
          </p:cNvSpPr>
          <p:nvPr/>
        </p:nvSpPr>
        <p:spPr bwMode="auto">
          <a:xfrm flipH="1" flipV="1">
            <a:off x="906463" y="3876675"/>
            <a:ext cx="1160462" cy="19050"/>
          </a:xfrm>
          <a:prstGeom prst="line">
            <a:avLst/>
          </a:prstGeom>
          <a:noFill/>
          <a:ln w="9360" cap="sq">
            <a:solidFill>
              <a:srgbClr val="727CA3"/>
            </a:solidFill>
            <a:miter lim="800000"/>
            <a:headEnd/>
            <a:tailEnd/>
          </a:ln>
          <a:effectLst/>
        </p:spPr>
        <p:txBody>
          <a:bodyPr/>
          <a:lstStyle/>
          <a:p>
            <a:endParaRPr lang="en-US"/>
          </a:p>
        </p:txBody>
      </p:sp>
      <p:sp>
        <p:nvSpPr>
          <p:cNvPr id="17421" name="Line 13"/>
          <p:cNvSpPr>
            <a:spLocks noChangeShapeType="1"/>
          </p:cNvSpPr>
          <p:nvPr/>
        </p:nvSpPr>
        <p:spPr bwMode="auto">
          <a:xfrm flipH="1" flipV="1">
            <a:off x="906463" y="3571875"/>
            <a:ext cx="1160462" cy="19050"/>
          </a:xfrm>
          <a:prstGeom prst="line">
            <a:avLst/>
          </a:prstGeom>
          <a:noFill/>
          <a:ln w="9360" cap="sq">
            <a:solidFill>
              <a:srgbClr val="727CA3"/>
            </a:solidFill>
            <a:miter lim="800000"/>
            <a:headEnd/>
            <a:tailEnd/>
          </a:ln>
          <a:effectLst/>
        </p:spPr>
        <p:txBody>
          <a:bodyPr/>
          <a:lstStyle/>
          <a:p>
            <a:endParaRPr lang="en-US"/>
          </a:p>
        </p:txBody>
      </p:sp>
      <p:sp>
        <p:nvSpPr>
          <p:cNvPr id="17422" name="Line 14"/>
          <p:cNvSpPr>
            <a:spLocks noChangeShapeType="1"/>
          </p:cNvSpPr>
          <p:nvPr/>
        </p:nvSpPr>
        <p:spPr bwMode="auto">
          <a:xfrm flipH="1">
            <a:off x="2808288" y="3278188"/>
            <a:ext cx="17462" cy="990600"/>
          </a:xfrm>
          <a:prstGeom prst="line">
            <a:avLst/>
          </a:prstGeom>
          <a:noFill/>
          <a:ln w="9360" cap="sq">
            <a:solidFill>
              <a:srgbClr val="727CA3"/>
            </a:solidFill>
            <a:miter lim="800000"/>
            <a:headEnd/>
            <a:tailEnd/>
          </a:ln>
          <a:effectLst/>
        </p:spPr>
        <p:txBody>
          <a:bodyPr/>
          <a:lstStyle/>
          <a:p>
            <a:endParaRPr lang="en-US"/>
          </a:p>
        </p:txBody>
      </p:sp>
      <p:sp>
        <p:nvSpPr>
          <p:cNvPr id="17423" name="Line 15"/>
          <p:cNvSpPr>
            <a:spLocks noChangeShapeType="1"/>
          </p:cNvSpPr>
          <p:nvPr/>
        </p:nvSpPr>
        <p:spPr bwMode="auto">
          <a:xfrm flipH="1">
            <a:off x="3189288" y="3276600"/>
            <a:ext cx="17462" cy="990600"/>
          </a:xfrm>
          <a:prstGeom prst="line">
            <a:avLst/>
          </a:prstGeom>
          <a:noFill/>
          <a:ln w="9360" cap="sq">
            <a:solidFill>
              <a:srgbClr val="727CA3"/>
            </a:solidFill>
            <a:miter lim="800000"/>
            <a:headEnd/>
            <a:tailEnd/>
          </a:ln>
          <a:effectLst/>
        </p:spPr>
        <p:txBody>
          <a:bodyPr/>
          <a:lstStyle/>
          <a:p>
            <a:endParaRPr lang="en-US"/>
          </a:p>
        </p:txBody>
      </p:sp>
      <p:sp>
        <p:nvSpPr>
          <p:cNvPr id="17424" name="Line 16"/>
          <p:cNvSpPr>
            <a:spLocks noChangeShapeType="1"/>
          </p:cNvSpPr>
          <p:nvPr/>
        </p:nvSpPr>
        <p:spPr bwMode="auto">
          <a:xfrm flipH="1" flipV="1">
            <a:off x="2428875" y="3878263"/>
            <a:ext cx="1160463" cy="17462"/>
          </a:xfrm>
          <a:prstGeom prst="line">
            <a:avLst/>
          </a:prstGeom>
          <a:noFill/>
          <a:ln w="9360" cap="sq">
            <a:solidFill>
              <a:srgbClr val="727CA3"/>
            </a:solidFill>
            <a:miter lim="800000"/>
            <a:headEnd/>
            <a:tailEnd/>
          </a:ln>
          <a:effectLst/>
        </p:spPr>
        <p:txBody>
          <a:bodyPr/>
          <a:lstStyle/>
          <a:p>
            <a:endParaRPr lang="en-US"/>
          </a:p>
        </p:txBody>
      </p:sp>
      <p:sp>
        <p:nvSpPr>
          <p:cNvPr id="17425" name="Line 17"/>
          <p:cNvSpPr>
            <a:spLocks noChangeShapeType="1"/>
          </p:cNvSpPr>
          <p:nvPr/>
        </p:nvSpPr>
        <p:spPr bwMode="auto">
          <a:xfrm flipH="1" flipV="1">
            <a:off x="2428875" y="3573463"/>
            <a:ext cx="1160463" cy="17462"/>
          </a:xfrm>
          <a:prstGeom prst="line">
            <a:avLst/>
          </a:prstGeom>
          <a:noFill/>
          <a:ln w="9360" cap="sq">
            <a:solidFill>
              <a:srgbClr val="727CA3"/>
            </a:solidFill>
            <a:miter lim="800000"/>
            <a:headEnd/>
            <a:tailEnd/>
          </a:ln>
          <a:effectLst/>
        </p:spPr>
        <p:txBody>
          <a:bodyPr/>
          <a:lstStyle/>
          <a:p>
            <a:endParaRPr lang="en-US"/>
          </a:p>
        </p:txBody>
      </p:sp>
      <p:sp>
        <p:nvSpPr>
          <p:cNvPr id="17426" name="Line 18"/>
          <p:cNvSpPr>
            <a:spLocks noChangeShapeType="1"/>
          </p:cNvSpPr>
          <p:nvPr/>
        </p:nvSpPr>
        <p:spPr bwMode="auto">
          <a:xfrm flipH="1">
            <a:off x="4408488" y="3278188"/>
            <a:ext cx="17462" cy="990600"/>
          </a:xfrm>
          <a:prstGeom prst="line">
            <a:avLst/>
          </a:prstGeom>
          <a:noFill/>
          <a:ln w="9360" cap="sq">
            <a:solidFill>
              <a:srgbClr val="727CA3"/>
            </a:solidFill>
            <a:miter lim="800000"/>
            <a:headEnd/>
            <a:tailEnd/>
          </a:ln>
          <a:effectLst/>
        </p:spPr>
        <p:txBody>
          <a:bodyPr/>
          <a:lstStyle/>
          <a:p>
            <a:endParaRPr lang="en-US"/>
          </a:p>
        </p:txBody>
      </p:sp>
      <p:sp>
        <p:nvSpPr>
          <p:cNvPr id="17427" name="Line 19"/>
          <p:cNvSpPr>
            <a:spLocks noChangeShapeType="1"/>
          </p:cNvSpPr>
          <p:nvPr/>
        </p:nvSpPr>
        <p:spPr bwMode="auto">
          <a:xfrm flipH="1">
            <a:off x="4789488" y="3276600"/>
            <a:ext cx="17462" cy="990600"/>
          </a:xfrm>
          <a:prstGeom prst="line">
            <a:avLst/>
          </a:prstGeom>
          <a:noFill/>
          <a:ln w="9360" cap="sq">
            <a:solidFill>
              <a:srgbClr val="727CA3"/>
            </a:solidFill>
            <a:miter lim="800000"/>
            <a:headEnd/>
            <a:tailEnd/>
          </a:ln>
          <a:effectLst/>
        </p:spPr>
        <p:txBody>
          <a:bodyPr/>
          <a:lstStyle/>
          <a:p>
            <a:endParaRPr lang="en-US"/>
          </a:p>
        </p:txBody>
      </p:sp>
      <p:sp>
        <p:nvSpPr>
          <p:cNvPr id="17428" name="Line 20"/>
          <p:cNvSpPr>
            <a:spLocks noChangeShapeType="1"/>
          </p:cNvSpPr>
          <p:nvPr/>
        </p:nvSpPr>
        <p:spPr bwMode="auto">
          <a:xfrm flipH="1" flipV="1">
            <a:off x="4029075" y="3878263"/>
            <a:ext cx="1160463" cy="17462"/>
          </a:xfrm>
          <a:prstGeom prst="line">
            <a:avLst/>
          </a:prstGeom>
          <a:noFill/>
          <a:ln w="9360" cap="sq">
            <a:solidFill>
              <a:srgbClr val="727CA3"/>
            </a:solidFill>
            <a:miter lim="800000"/>
            <a:headEnd/>
            <a:tailEnd/>
          </a:ln>
          <a:effectLst/>
        </p:spPr>
        <p:txBody>
          <a:bodyPr/>
          <a:lstStyle/>
          <a:p>
            <a:endParaRPr lang="en-US"/>
          </a:p>
        </p:txBody>
      </p:sp>
      <p:sp>
        <p:nvSpPr>
          <p:cNvPr id="17429" name="Line 21"/>
          <p:cNvSpPr>
            <a:spLocks noChangeShapeType="1"/>
          </p:cNvSpPr>
          <p:nvPr/>
        </p:nvSpPr>
        <p:spPr bwMode="auto">
          <a:xfrm flipH="1" flipV="1">
            <a:off x="4029075" y="3573463"/>
            <a:ext cx="1160463" cy="17462"/>
          </a:xfrm>
          <a:prstGeom prst="line">
            <a:avLst/>
          </a:prstGeom>
          <a:noFill/>
          <a:ln w="9360" cap="sq">
            <a:solidFill>
              <a:srgbClr val="727CA3"/>
            </a:solidFill>
            <a:miter lim="800000"/>
            <a:headEnd/>
            <a:tailEnd/>
          </a:ln>
          <a:effectLst/>
        </p:spPr>
        <p:txBody>
          <a:bodyPr/>
          <a:lstStyle/>
          <a:p>
            <a:endParaRPr lang="en-US"/>
          </a:p>
        </p:txBody>
      </p:sp>
      <p:sp>
        <p:nvSpPr>
          <p:cNvPr id="17430" name="Line 22"/>
          <p:cNvSpPr>
            <a:spLocks noChangeShapeType="1"/>
          </p:cNvSpPr>
          <p:nvPr/>
        </p:nvSpPr>
        <p:spPr bwMode="auto">
          <a:xfrm flipH="1">
            <a:off x="1666875" y="5029200"/>
            <a:ext cx="17463" cy="990600"/>
          </a:xfrm>
          <a:prstGeom prst="line">
            <a:avLst/>
          </a:prstGeom>
          <a:noFill/>
          <a:ln w="9360" cap="sq">
            <a:solidFill>
              <a:srgbClr val="727CA3"/>
            </a:solidFill>
            <a:miter lim="800000"/>
            <a:headEnd/>
            <a:tailEnd/>
          </a:ln>
          <a:effectLst/>
        </p:spPr>
        <p:txBody>
          <a:bodyPr/>
          <a:lstStyle/>
          <a:p>
            <a:endParaRPr lang="en-US"/>
          </a:p>
        </p:txBody>
      </p:sp>
      <p:sp>
        <p:nvSpPr>
          <p:cNvPr id="17431" name="Line 23"/>
          <p:cNvSpPr>
            <a:spLocks noChangeShapeType="1"/>
          </p:cNvSpPr>
          <p:nvPr/>
        </p:nvSpPr>
        <p:spPr bwMode="auto">
          <a:xfrm flipH="1">
            <a:off x="2047875" y="5027613"/>
            <a:ext cx="17463" cy="990600"/>
          </a:xfrm>
          <a:prstGeom prst="line">
            <a:avLst/>
          </a:prstGeom>
          <a:noFill/>
          <a:ln w="9360" cap="sq">
            <a:solidFill>
              <a:srgbClr val="727CA3"/>
            </a:solidFill>
            <a:miter lim="800000"/>
            <a:headEnd/>
            <a:tailEnd/>
          </a:ln>
          <a:effectLst/>
        </p:spPr>
        <p:txBody>
          <a:bodyPr/>
          <a:lstStyle/>
          <a:p>
            <a:endParaRPr lang="en-US"/>
          </a:p>
        </p:txBody>
      </p:sp>
      <p:sp>
        <p:nvSpPr>
          <p:cNvPr id="17432" name="Line 24"/>
          <p:cNvSpPr>
            <a:spLocks noChangeShapeType="1"/>
          </p:cNvSpPr>
          <p:nvPr/>
        </p:nvSpPr>
        <p:spPr bwMode="auto">
          <a:xfrm flipH="1" flipV="1">
            <a:off x="1287463" y="5629275"/>
            <a:ext cx="1160462" cy="19050"/>
          </a:xfrm>
          <a:prstGeom prst="line">
            <a:avLst/>
          </a:prstGeom>
          <a:noFill/>
          <a:ln w="9360" cap="sq">
            <a:solidFill>
              <a:srgbClr val="727CA3"/>
            </a:solidFill>
            <a:miter lim="800000"/>
            <a:headEnd/>
            <a:tailEnd/>
          </a:ln>
          <a:effectLst/>
        </p:spPr>
        <p:txBody>
          <a:bodyPr/>
          <a:lstStyle/>
          <a:p>
            <a:endParaRPr lang="en-US"/>
          </a:p>
        </p:txBody>
      </p:sp>
      <p:sp>
        <p:nvSpPr>
          <p:cNvPr id="17433" name="Line 25"/>
          <p:cNvSpPr>
            <a:spLocks noChangeShapeType="1"/>
          </p:cNvSpPr>
          <p:nvPr/>
        </p:nvSpPr>
        <p:spPr bwMode="auto">
          <a:xfrm flipH="1" flipV="1">
            <a:off x="1287463" y="5324475"/>
            <a:ext cx="1160462" cy="19050"/>
          </a:xfrm>
          <a:prstGeom prst="line">
            <a:avLst/>
          </a:prstGeom>
          <a:noFill/>
          <a:ln w="9360" cap="sq">
            <a:solidFill>
              <a:srgbClr val="727CA3"/>
            </a:solidFill>
            <a:miter lim="800000"/>
            <a:headEnd/>
            <a:tailEnd/>
          </a:ln>
          <a:effectLst/>
        </p:spPr>
        <p:txBody>
          <a:bodyPr/>
          <a:lstStyle/>
          <a:p>
            <a:endParaRPr lang="en-US"/>
          </a:p>
        </p:txBody>
      </p:sp>
      <p:sp>
        <p:nvSpPr>
          <p:cNvPr id="17434" name="Line 26"/>
          <p:cNvSpPr>
            <a:spLocks noChangeShapeType="1"/>
          </p:cNvSpPr>
          <p:nvPr/>
        </p:nvSpPr>
        <p:spPr bwMode="auto">
          <a:xfrm flipH="1">
            <a:off x="3417888" y="5030788"/>
            <a:ext cx="17462" cy="990600"/>
          </a:xfrm>
          <a:prstGeom prst="line">
            <a:avLst/>
          </a:prstGeom>
          <a:noFill/>
          <a:ln w="9360" cap="sq">
            <a:solidFill>
              <a:srgbClr val="727CA3"/>
            </a:solidFill>
            <a:miter lim="800000"/>
            <a:headEnd/>
            <a:tailEnd/>
          </a:ln>
          <a:effectLst/>
        </p:spPr>
        <p:txBody>
          <a:bodyPr/>
          <a:lstStyle/>
          <a:p>
            <a:endParaRPr lang="en-US"/>
          </a:p>
        </p:txBody>
      </p:sp>
      <p:sp>
        <p:nvSpPr>
          <p:cNvPr id="17435" name="Line 27"/>
          <p:cNvSpPr>
            <a:spLocks noChangeShapeType="1"/>
          </p:cNvSpPr>
          <p:nvPr/>
        </p:nvSpPr>
        <p:spPr bwMode="auto">
          <a:xfrm flipH="1">
            <a:off x="3798888" y="5029200"/>
            <a:ext cx="17462" cy="990600"/>
          </a:xfrm>
          <a:prstGeom prst="line">
            <a:avLst/>
          </a:prstGeom>
          <a:noFill/>
          <a:ln w="9360" cap="sq">
            <a:solidFill>
              <a:srgbClr val="727CA3"/>
            </a:solidFill>
            <a:miter lim="800000"/>
            <a:headEnd/>
            <a:tailEnd/>
          </a:ln>
          <a:effectLst/>
        </p:spPr>
        <p:txBody>
          <a:bodyPr/>
          <a:lstStyle/>
          <a:p>
            <a:endParaRPr lang="en-US"/>
          </a:p>
        </p:txBody>
      </p:sp>
      <p:sp>
        <p:nvSpPr>
          <p:cNvPr id="17436" name="Line 28"/>
          <p:cNvSpPr>
            <a:spLocks noChangeShapeType="1"/>
          </p:cNvSpPr>
          <p:nvPr/>
        </p:nvSpPr>
        <p:spPr bwMode="auto">
          <a:xfrm flipH="1" flipV="1">
            <a:off x="3038475" y="5630863"/>
            <a:ext cx="1160463" cy="17462"/>
          </a:xfrm>
          <a:prstGeom prst="line">
            <a:avLst/>
          </a:prstGeom>
          <a:noFill/>
          <a:ln w="9360" cap="sq">
            <a:solidFill>
              <a:srgbClr val="727CA3"/>
            </a:solidFill>
            <a:miter lim="800000"/>
            <a:headEnd/>
            <a:tailEnd/>
          </a:ln>
          <a:effectLst/>
        </p:spPr>
        <p:txBody>
          <a:bodyPr/>
          <a:lstStyle/>
          <a:p>
            <a:endParaRPr lang="en-US"/>
          </a:p>
        </p:txBody>
      </p:sp>
      <p:sp>
        <p:nvSpPr>
          <p:cNvPr id="17437" name="Line 29"/>
          <p:cNvSpPr>
            <a:spLocks noChangeShapeType="1"/>
          </p:cNvSpPr>
          <p:nvPr/>
        </p:nvSpPr>
        <p:spPr bwMode="auto">
          <a:xfrm flipH="1" flipV="1">
            <a:off x="3038475" y="5326063"/>
            <a:ext cx="1160463" cy="17462"/>
          </a:xfrm>
          <a:prstGeom prst="line">
            <a:avLst/>
          </a:prstGeom>
          <a:noFill/>
          <a:ln w="9360" cap="sq">
            <a:solidFill>
              <a:srgbClr val="727CA3"/>
            </a:solidFill>
            <a:miter lim="800000"/>
            <a:headEnd/>
            <a:tailEnd/>
          </a:ln>
          <a:effectLst/>
        </p:spPr>
        <p:txBody>
          <a:bodyPr/>
          <a:lstStyle/>
          <a:p>
            <a:endParaRPr lang="en-US"/>
          </a:p>
        </p:txBody>
      </p:sp>
      <p:cxnSp>
        <p:nvCxnSpPr>
          <p:cNvPr id="17438" name="AutoShape 30"/>
          <p:cNvCxnSpPr>
            <a:cxnSpLocks noChangeShapeType="1"/>
          </p:cNvCxnSpPr>
          <p:nvPr/>
        </p:nvCxnSpPr>
        <p:spPr bwMode="auto">
          <a:xfrm flipH="1">
            <a:off x="1676400" y="2970213"/>
            <a:ext cx="304800" cy="228600"/>
          </a:xfrm>
          <a:prstGeom prst="straightConnector1">
            <a:avLst/>
          </a:prstGeom>
          <a:noFill/>
          <a:ln w="9360" cap="sq">
            <a:solidFill>
              <a:srgbClr val="727CA3"/>
            </a:solidFill>
            <a:miter lim="800000"/>
            <a:headEnd/>
            <a:tailEnd type="arrow" w="med" len="med"/>
          </a:ln>
          <a:effectLst/>
        </p:spPr>
      </p:cxnSp>
      <p:cxnSp>
        <p:nvCxnSpPr>
          <p:cNvPr id="17439" name="AutoShape 31"/>
          <p:cNvCxnSpPr>
            <a:cxnSpLocks noChangeShapeType="1"/>
          </p:cNvCxnSpPr>
          <p:nvPr/>
        </p:nvCxnSpPr>
        <p:spPr bwMode="auto">
          <a:xfrm>
            <a:off x="2286000" y="2895600"/>
            <a:ext cx="763588" cy="384175"/>
          </a:xfrm>
          <a:prstGeom prst="straightConnector1">
            <a:avLst/>
          </a:prstGeom>
          <a:noFill/>
          <a:ln w="9360" cap="sq">
            <a:solidFill>
              <a:srgbClr val="727CA3"/>
            </a:solidFill>
            <a:miter lim="800000"/>
            <a:headEnd/>
            <a:tailEnd type="arrow" w="med" len="med"/>
          </a:ln>
          <a:effectLst/>
        </p:spPr>
      </p:cxnSp>
      <p:cxnSp>
        <p:nvCxnSpPr>
          <p:cNvPr id="17440" name="AutoShape 32"/>
          <p:cNvCxnSpPr>
            <a:cxnSpLocks noChangeShapeType="1"/>
          </p:cNvCxnSpPr>
          <p:nvPr/>
        </p:nvCxnSpPr>
        <p:spPr bwMode="auto">
          <a:xfrm>
            <a:off x="2667000" y="2743200"/>
            <a:ext cx="1982788" cy="534988"/>
          </a:xfrm>
          <a:prstGeom prst="straightConnector1">
            <a:avLst/>
          </a:prstGeom>
          <a:noFill/>
          <a:ln w="9360" cap="sq">
            <a:solidFill>
              <a:srgbClr val="727CA3"/>
            </a:solidFill>
            <a:miter lim="800000"/>
            <a:headEnd/>
            <a:tailEnd type="arrow" w="med" len="med"/>
          </a:ln>
          <a:effectLst/>
        </p:spPr>
      </p:cxnSp>
      <p:cxnSp>
        <p:nvCxnSpPr>
          <p:cNvPr id="17441" name="AutoShape 33"/>
          <p:cNvCxnSpPr>
            <a:cxnSpLocks noChangeShapeType="1"/>
          </p:cNvCxnSpPr>
          <p:nvPr/>
        </p:nvCxnSpPr>
        <p:spPr bwMode="auto">
          <a:xfrm>
            <a:off x="1674813" y="4495800"/>
            <a:ext cx="228600" cy="534988"/>
          </a:xfrm>
          <a:prstGeom prst="straightConnector1">
            <a:avLst/>
          </a:prstGeom>
          <a:noFill/>
          <a:ln w="9360" cap="sq">
            <a:solidFill>
              <a:srgbClr val="727CA3"/>
            </a:solidFill>
            <a:miter lim="800000"/>
            <a:headEnd/>
            <a:tailEnd type="arrow" w="med" len="med"/>
          </a:ln>
          <a:effectLst/>
        </p:spPr>
      </p:cxnSp>
      <p:cxnSp>
        <p:nvCxnSpPr>
          <p:cNvPr id="17442" name="AutoShape 34"/>
          <p:cNvCxnSpPr>
            <a:cxnSpLocks noChangeShapeType="1"/>
          </p:cNvCxnSpPr>
          <p:nvPr/>
        </p:nvCxnSpPr>
        <p:spPr bwMode="auto">
          <a:xfrm>
            <a:off x="1752600" y="4419600"/>
            <a:ext cx="1828800" cy="533400"/>
          </a:xfrm>
          <a:prstGeom prst="straightConnector1">
            <a:avLst/>
          </a:prstGeom>
          <a:noFill/>
          <a:ln w="9360" cap="sq">
            <a:solidFill>
              <a:srgbClr val="727CA3"/>
            </a:solidFill>
            <a:miter lim="800000"/>
            <a:headEnd/>
            <a:tailEnd type="arrow" w="med" len="med"/>
          </a:ln>
          <a:effectLst/>
        </p:spPr>
      </p:cxnSp>
      <p:sp>
        <p:nvSpPr>
          <p:cNvPr id="17443" name="Text Box 35"/>
          <p:cNvSpPr txBox="1">
            <a:spLocks noChangeArrowheads="1"/>
          </p:cNvSpPr>
          <p:nvPr/>
        </p:nvSpPr>
        <p:spPr bwMode="auto">
          <a:xfrm>
            <a:off x="1371600" y="3581400"/>
            <a:ext cx="3048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X</a:t>
            </a:r>
          </a:p>
        </p:txBody>
      </p:sp>
      <p:sp>
        <p:nvSpPr>
          <p:cNvPr id="17444" name="Text Box 36"/>
          <p:cNvSpPr txBox="1">
            <a:spLocks noChangeArrowheads="1"/>
          </p:cNvSpPr>
          <p:nvPr/>
        </p:nvSpPr>
        <p:spPr bwMode="auto">
          <a:xfrm>
            <a:off x="3200400" y="3276600"/>
            <a:ext cx="3048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X</a:t>
            </a:r>
          </a:p>
        </p:txBody>
      </p:sp>
      <p:sp>
        <p:nvSpPr>
          <p:cNvPr id="17445" name="Text Box 37"/>
          <p:cNvSpPr txBox="1">
            <a:spLocks noChangeArrowheads="1"/>
          </p:cNvSpPr>
          <p:nvPr/>
        </p:nvSpPr>
        <p:spPr bwMode="auto">
          <a:xfrm>
            <a:off x="4800600" y="3581400"/>
            <a:ext cx="3048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X</a:t>
            </a:r>
          </a:p>
        </p:txBody>
      </p:sp>
      <p:sp>
        <p:nvSpPr>
          <p:cNvPr id="17446" name="Text Box 38"/>
          <p:cNvSpPr txBox="1">
            <a:spLocks noChangeArrowheads="1"/>
          </p:cNvSpPr>
          <p:nvPr/>
        </p:nvSpPr>
        <p:spPr bwMode="auto">
          <a:xfrm>
            <a:off x="304800" y="4191000"/>
            <a:ext cx="19050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e = 8 – 4 = 4</a:t>
            </a:r>
          </a:p>
        </p:txBody>
      </p:sp>
      <p:sp>
        <p:nvSpPr>
          <p:cNvPr id="17447" name="Text Box 39"/>
          <p:cNvSpPr txBox="1">
            <a:spLocks noChangeArrowheads="1"/>
          </p:cNvSpPr>
          <p:nvPr/>
        </p:nvSpPr>
        <p:spPr bwMode="auto">
          <a:xfrm>
            <a:off x="2514600" y="4343400"/>
            <a:ext cx="19050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e = 8 – 5 = 3</a:t>
            </a:r>
          </a:p>
        </p:txBody>
      </p:sp>
      <p:sp>
        <p:nvSpPr>
          <p:cNvPr id="17448" name="Text Box 40"/>
          <p:cNvSpPr txBox="1">
            <a:spLocks noChangeArrowheads="1"/>
          </p:cNvSpPr>
          <p:nvPr/>
        </p:nvSpPr>
        <p:spPr bwMode="auto">
          <a:xfrm>
            <a:off x="4038600" y="4267200"/>
            <a:ext cx="19050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e = 8 – 6 = 2</a:t>
            </a:r>
          </a:p>
        </p:txBody>
      </p:sp>
      <p:sp>
        <p:nvSpPr>
          <p:cNvPr id="17449" name="Text Box 41"/>
          <p:cNvSpPr txBox="1">
            <a:spLocks noChangeArrowheads="1"/>
          </p:cNvSpPr>
          <p:nvPr/>
        </p:nvSpPr>
        <p:spPr bwMode="auto">
          <a:xfrm>
            <a:off x="990600" y="6248400"/>
            <a:ext cx="19050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e = 4 – 2 = 2</a:t>
            </a:r>
          </a:p>
        </p:txBody>
      </p:sp>
      <p:sp>
        <p:nvSpPr>
          <p:cNvPr id="17450" name="Text Box 42"/>
          <p:cNvSpPr txBox="1">
            <a:spLocks noChangeArrowheads="1"/>
          </p:cNvSpPr>
          <p:nvPr/>
        </p:nvSpPr>
        <p:spPr bwMode="auto">
          <a:xfrm>
            <a:off x="2743200" y="6248400"/>
            <a:ext cx="19050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e = 4 – 3 = 1</a:t>
            </a:r>
          </a:p>
        </p:txBody>
      </p:sp>
      <p:sp>
        <p:nvSpPr>
          <p:cNvPr id="17451" name="Text Box 43"/>
          <p:cNvSpPr txBox="1">
            <a:spLocks noChangeArrowheads="1"/>
          </p:cNvSpPr>
          <p:nvPr/>
        </p:nvSpPr>
        <p:spPr bwMode="auto">
          <a:xfrm>
            <a:off x="1676400" y="5345113"/>
            <a:ext cx="3048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X</a:t>
            </a:r>
          </a:p>
        </p:txBody>
      </p:sp>
      <p:sp>
        <p:nvSpPr>
          <p:cNvPr id="17452" name="Text Box 44"/>
          <p:cNvSpPr txBox="1">
            <a:spLocks noChangeArrowheads="1"/>
          </p:cNvSpPr>
          <p:nvPr/>
        </p:nvSpPr>
        <p:spPr bwMode="auto">
          <a:xfrm>
            <a:off x="3429000" y="5334000"/>
            <a:ext cx="3048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X</a:t>
            </a:r>
          </a:p>
        </p:txBody>
      </p:sp>
      <p:sp>
        <p:nvSpPr>
          <p:cNvPr id="17453" name="Text Box 45"/>
          <p:cNvSpPr txBox="1">
            <a:spLocks noChangeArrowheads="1"/>
          </p:cNvSpPr>
          <p:nvPr/>
        </p:nvSpPr>
        <p:spPr bwMode="auto">
          <a:xfrm>
            <a:off x="1295400" y="5649913"/>
            <a:ext cx="3048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0</a:t>
            </a:r>
          </a:p>
        </p:txBody>
      </p:sp>
      <p:sp>
        <p:nvSpPr>
          <p:cNvPr id="17454" name="Text Box 46"/>
          <p:cNvSpPr txBox="1">
            <a:spLocks noChangeArrowheads="1"/>
          </p:cNvSpPr>
          <p:nvPr/>
        </p:nvSpPr>
        <p:spPr bwMode="auto">
          <a:xfrm>
            <a:off x="3429000" y="5638800"/>
            <a:ext cx="3048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0</a:t>
            </a:r>
          </a:p>
        </p:txBody>
      </p:sp>
      <p:sp>
        <p:nvSpPr>
          <p:cNvPr id="17455" name="Text Box 47"/>
          <p:cNvSpPr txBox="1">
            <a:spLocks noChangeArrowheads="1"/>
          </p:cNvSpPr>
          <p:nvPr/>
        </p:nvSpPr>
        <p:spPr bwMode="auto">
          <a:xfrm>
            <a:off x="6019800" y="3505200"/>
            <a:ext cx="27432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X’s Turn</a:t>
            </a:r>
          </a:p>
        </p:txBody>
      </p:sp>
      <p:sp>
        <p:nvSpPr>
          <p:cNvPr id="17456" name="Text Box 48"/>
          <p:cNvSpPr txBox="1">
            <a:spLocks noChangeArrowheads="1"/>
          </p:cNvSpPr>
          <p:nvPr/>
        </p:nvSpPr>
        <p:spPr bwMode="auto">
          <a:xfrm>
            <a:off x="5562600" y="5410200"/>
            <a:ext cx="2743200" cy="368300"/>
          </a:xfrm>
          <a:prstGeom prst="rect">
            <a:avLst/>
          </a:prstGeom>
          <a:noFill/>
          <a:ln w="9525" cap="flat">
            <a:noFill/>
            <a:round/>
            <a:headEnd/>
            <a:tailEnd/>
          </a:ln>
          <a:effectLst/>
        </p:spPr>
        <p:txBody>
          <a:bodyPr lIns="90000" tIns="46800" rIns="90000" bIns="46800">
            <a:spAutoFit/>
          </a:bodyPr>
          <a:lstStyle/>
          <a:p>
            <a: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000000"/>
                </a:solidFill>
                <a:latin typeface="Calibri" pitchFamily="34" charset="0"/>
              </a:rPr>
              <a:t>0’s Turn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1"/>
          <p:cNvSpPr txBox="1">
            <a:spLocks noChangeArrowheads="1"/>
          </p:cNvSpPr>
          <p:nvPr/>
        </p:nvSpPr>
        <p:spPr bwMode="auto">
          <a:xfrm>
            <a:off x="457200" y="152400"/>
            <a:ext cx="8229600" cy="990600"/>
          </a:xfrm>
          <a:prstGeom prst="rect">
            <a:avLst/>
          </a:prstGeom>
          <a:noFill/>
          <a:ln w="9525" cap="flat">
            <a:noFill/>
            <a:round/>
            <a:headEnd/>
            <a:tailEnd/>
          </a:ln>
          <a:effectLst/>
        </p:spPr>
        <p:txBody>
          <a:bodyPr wrap="none" anchor="ctr"/>
          <a:lstStyle/>
          <a:p>
            <a:endParaRPr lang="en-US"/>
          </a:p>
        </p:txBody>
      </p:sp>
      <p:pic>
        <p:nvPicPr>
          <p:cNvPr id="18434" name="Picture 2"/>
          <p:cNvPicPr>
            <a:picLocks noChangeAspect="1" noChangeArrowheads="1"/>
          </p:cNvPicPr>
          <p:nvPr/>
        </p:nvPicPr>
        <p:blipFill>
          <a:blip r:embed="rId3"/>
          <a:srcRect/>
          <a:stretch>
            <a:fillRect/>
          </a:stretch>
        </p:blipFill>
        <p:spPr bwMode="auto">
          <a:xfrm>
            <a:off x="336550" y="533400"/>
            <a:ext cx="8515350" cy="5334000"/>
          </a:xfrm>
          <a:prstGeom prst="rect">
            <a:avLst/>
          </a:prstGeom>
          <a:noFill/>
          <a:ln w="9525" cap="flat">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sz="4000" dirty="0"/>
              <a:t>Alpha-Beta Pruning</a:t>
            </a:r>
          </a:p>
        </p:txBody>
      </p:sp>
      <p:sp>
        <p:nvSpPr>
          <p:cNvPr id="349187" name="Rectangle 3" descr="Rectangle: Click to edit Master text styles&#10;Second level&#10;Third level&#10;Fourth level&#10;Fifth level"/>
          <p:cNvSpPr>
            <a:spLocks noGrp="1" noChangeArrowheads="1"/>
          </p:cNvSpPr>
          <p:nvPr>
            <p:ph type="body" idx="1"/>
          </p:nvPr>
        </p:nvSpPr>
        <p:spPr/>
        <p:txBody>
          <a:bodyPr>
            <a:normAutofit/>
          </a:bodyPr>
          <a:lstStyle/>
          <a:p>
            <a:r>
              <a:rPr lang="en-US" b="1" dirty="0"/>
              <a:t>Pruning </a:t>
            </a:r>
            <a:r>
              <a:rPr lang="en-US" dirty="0"/>
              <a:t>allows us to ignore portions of the search tree that make no difference to the final choice.</a:t>
            </a:r>
          </a:p>
          <a:p>
            <a:pPr eaLnBrk="1" hangingPunct="1"/>
            <a:endParaRPr lang="en-US" dirty="0"/>
          </a:p>
          <a:p>
            <a:pPr eaLnBrk="1" hangingPunct="1"/>
            <a:r>
              <a:rPr lang="en-US" dirty="0"/>
              <a:t>Generate the game tree to depth </a:t>
            </a:r>
            <a:r>
              <a:rPr lang="en-US" dirty="0">
                <a:solidFill>
                  <a:srgbClr val="990000"/>
                </a:solidFill>
              </a:rPr>
              <a:t>h</a:t>
            </a:r>
            <a:r>
              <a:rPr lang="en-US" dirty="0"/>
              <a:t> in </a:t>
            </a:r>
            <a:r>
              <a:rPr lang="en-US" dirty="0">
                <a:solidFill>
                  <a:srgbClr val="008000"/>
                </a:solidFill>
              </a:rPr>
              <a:t>depth-first</a:t>
            </a:r>
            <a:r>
              <a:rPr lang="en-US" dirty="0"/>
              <a:t> manner</a:t>
            </a:r>
          </a:p>
          <a:p>
            <a:pPr eaLnBrk="1" hangingPunct="1"/>
            <a:r>
              <a:rPr lang="en-US" dirty="0"/>
              <a:t>Back-up </a:t>
            </a:r>
            <a:r>
              <a:rPr lang="en-US" dirty="0">
                <a:solidFill>
                  <a:srgbClr val="008000"/>
                </a:solidFill>
              </a:rPr>
              <a:t>estimates (alpha and beta values) </a:t>
            </a:r>
            <a:r>
              <a:rPr lang="en-US" dirty="0"/>
              <a:t>of the evaluation functions whenever possible</a:t>
            </a:r>
          </a:p>
          <a:p>
            <a:pPr eaLnBrk="1" hangingPunct="1"/>
            <a:r>
              <a:rPr lang="en-US" dirty="0">
                <a:solidFill>
                  <a:srgbClr val="008000"/>
                </a:solidFill>
              </a:rPr>
              <a:t>Prune</a:t>
            </a:r>
            <a:r>
              <a:rPr lang="en-US" dirty="0"/>
              <a:t> branches that cannot lead to changing the final decision</a:t>
            </a: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t>Alpha-beta pruning</a:t>
            </a:r>
          </a:p>
        </p:txBody>
      </p:sp>
      <p:sp>
        <p:nvSpPr>
          <p:cNvPr id="30723" name="Rectangle 3" descr="Rectangle: Click to edit Master text styles&#10;Second level&#10;Third level&#10;Fourth level&#10;Fifth level"/>
          <p:cNvSpPr>
            <a:spLocks noGrp="1" noChangeArrowheads="1"/>
          </p:cNvSpPr>
          <p:nvPr>
            <p:ph type="body" idx="1"/>
          </p:nvPr>
        </p:nvSpPr>
        <p:spPr/>
        <p:txBody>
          <a:bodyPr/>
          <a:lstStyle/>
          <a:p>
            <a:pPr eaLnBrk="1" hangingPunct="1"/>
            <a:r>
              <a:rPr lang="en-US" sz="2400" dirty="0"/>
              <a:t>We can improve on the performance of the </a:t>
            </a:r>
            <a:r>
              <a:rPr lang="en-US" sz="2400" dirty="0" err="1"/>
              <a:t>minimax</a:t>
            </a:r>
            <a:r>
              <a:rPr lang="en-US" sz="2400" dirty="0"/>
              <a:t> algorithm through </a:t>
            </a:r>
            <a:r>
              <a:rPr lang="en-US" sz="2400" b="1" dirty="0">
                <a:solidFill>
                  <a:srgbClr val="FF0000"/>
                </a:solidFill>
              </a:rPr>
              <a:t>alpha-beta pruning.</a:t>
            </a:r>
            <a:endParaRPr lang="en-US" sz="2400" dirty="0">
              <a:solidFill>
                <a:srgbClr val="FF0000"/>
              </a:solidFill>
            </a:endParaRPr>
          </a:p>
          <a:p>
            <a:pPr eaLnBrk="1" hangingPunct="1"/>
            <a:r>
              <a:rPr lang="en-US" sz="2400" dirty="0"/>
              <a:t>Basic idea: </a:t>
            </a:r>
            <a:r>
              <a:rPr lang="en-US" sz="2400" i="1" dirty="0"/>
              <a:t>“If you have an idea that is surely bad, don't take the time to see how truly awful it is.”</a:t>
            </a:r>
            <a:r>
              <a:rPr lang="en-US" sz="2400" dirty="0"/>
              <a:t> -- Pat Winston </a:t>
            </a:r>
          </a:p>
        </p:txBody>
      </p:sp>
      <p:sp>
        <p:nvSpPr>
          <p:cNvPr id="30724" name="AutoShape 4"/>
          <p:cNvSpPr>
            <a:spLocks noChangeArrowheads="1"/>
          </p:cNvSpPr>
          <p:nvPr/>
        </p:nvSpPr>
        <p:spPr bwMode="auto">
          <a:xfrm>
            <a:off x="2057400" y="3962400"/>
            <a:ext cx="327025" cy="381000"/>
          </a:xfrm>
          <a:prstGeom prst="triangle">
            <a:avLst>
              <a:gd name="adj" fmla="val 50000"/>
            </a:avLst>
          </a:prstGeom>
          <a:solidFill>
            <a:schemeClr val="bg2"/>
          </a:solidFill>
          <a:ln w="9525">
            <a:solidFill>
              <a:schemeClr val="tx1"/>
            </a:solidFill>
            <a:miter lim="800000"/>
            <a:headEnd/>
            <a:tailEnd/>
          </a:ln>
        </p:spPr>
        <p:txBody>
          <a:bodyPr wrap="none" anchor="ctr"/>
          <a:lstStyle/>
          <a:p>
            <a:endParaRPr lang="en-US"/>
          </a:p>
        </p:txBody>
      </p:sp>
      <p:sp>
        <p:nvSpPr>
          <p:cNvPr id="30725" name="AutoShape 5"/>
          <p:cNvSpPr>
            <a:spLocks noChangeArrowheads="1"/>
          </p:cNvSpPr>
          <p:nvPr/>
        </p:nvSpPr>
        <p:spPr bwMode="auto">
          <a:xfrm flipV="1">
            <a:off x="2743200" y="4800600"/>
            <a:ext cx="327025" cy="381000"/>
          </a:xfrm>
          <a:prstGeom prst="triangle">
            <a:avLst>
              <a:gd name="adj" fmla="val 50000"/>
            </a:avLst>
          </a:prstGeom>
          <a:solidFill>
            <a:schemeClr val="bg2"/>
          </a:solidFill>
          <a:ln w="9525">
            <a:solidFill>
              <a:schemeClr val="tx1"/>
            </a:solidFill>
            <a:miter lim="800000"/>
            <a:headEnd/>
            <a:tailEnd/>
          </a:ln>
        </p:spPr>
        <p:txBody>
          <a:bodyPr wrap="none" anchor="ctr"/>
          <a:lstStyle/>
          <a:p>
            <a:endParaRPr lang="en-US"/>
          </a:p>
        </p:txBody>
      </p:sp>
      <p:sp>
        <p:nvSpPr>
          <p:cNvPr id="30726" name="AutoShape 6"/>
          <p:cNvSpPr>
            <a:spLocks noChangeArrowheads="1"/>
          </p:cNvSpPr>
          <p:nvPr/>
        </p:nvSpPr>
        <p:spPr bwMode="auto">
          <a:xfrm flipV="1">
            <a:off x="1447800" y="4800600"/>
            <a:ext cx="327025" cy="381000"/>
          </a:xfrm>
          <a:prstGeom prst="triangle">
            <a:avLst>
              <a:gd name="adj" fmla="val 50000"/>
            </a:avLst>
          </a:prstGeom>
          <a:solidFill>
            <a:schemeClr val="bg2"/>
          </a:solidFill>
          <a:ln w="9525">
            <a:solidFill>
              <a:schemeClr val="tx1"/>
            </a:solidFill>
            <a:miter lim="800000"/>
            <a:headEnd/>
            <a:tailEnd/>
          </a:ln>
        </p:spPr>
        <p:txBody>
          <a:bodyPr wrap="none" anchor="ctr"/>
          <a:lstStyle/>
          <a:p>
            <a:endParaRPr lang="en-US"/>
          </a:p>
        </p:txBody>
      </p:sp>
      <p:sp>
        <p:nvSpPr>
          <p:cNvPr id="30727" name="AutoShape 7"/>
          <p:cNvSpPr>
            <a:spLocks noChangeArrowheads="1"/>
          </p:cNvSpPr>
          <p:nvPr/>
        </p:nvSpPr>
        <p:spPr bwMode="auto">
          <a:xfrm>
            <a:off x="1752600" y="5867400"/>
            <a:ext cx="327025" cy="381000"/>
          </a:xfrm>
          <a:prstGeom prst="triangle">
            <a:avLst>
              <a:gd name="adj" fmla="val 50000"/>
            </a:avLst>
          </a:prstGeom>
          <a:solidFill>
            <a:schemeClr val="bg2"/>
          </a:solidFill>
          <a:ln w="9525">
            <a:solidFill>
              <a:schemeClr val="tx1"/>
            </a:solidFill>
            <a:miter lim="800000"/>
            <a:headEnd/>
            <a:tailEnd/>
          </a:ln>
        </p:spPr>
        <p:txBody>
          <a:bodyPr wrap="none" anchor="ctr"/>
          <a:lstStyle/>
          <a:p>
            <a:endParaRPr lang="en-US"/>
          </a:p>
        </p:txBody>
      </p:sp>
      <p:sp>
        <p:nvSpPr>
          <p:cNvPr id="30728" name="AutoShape 8"/>
          <p:cNvSpPr>
            <a:spLocks noChangeArrowheads="1"/>
          </p:cNvSpPr>
          <p:nvPr/>
        </p:nvSpPr>
        <p:spPr bwMode="auto">
          <a:xfrm>
            <a:off x="1143000" y="5867400"/>
            <a:ext cx="327025" cy="381000"/>
          </a:xfrm>
          <a:prstGeom prst="triangle">
            <a:avLst>
              <a:gd name="adj" fmla="val 50000"/>
            </a:avLst>
          </a:prstGeom>
          <a:solidFill>
            <a:schemeClr val="bg2"/>
          </a:solidFill>
          <a:ln w="9525">
            <a:solidFill>
              <a:schemeClr val="tx1"/>
            </a:solidFill>
            <a:miter lim="800000"/>
            <a:headEnd/>
            <a:tailEnd/>
          </a:ln>
        </p:spPr>
        <p:txBody>
          <a:bodyPr wrap="none" anchor="ctr"/>
          <a:lstStyle/>
          <a:p>
            <a:endParaRPr lang="en-US"/>
          </a:p>
        </p:txBody>
      </p:sp>
      <p:sp>
        <p:nvSpPr>
          <p:cNvPr id="30729" name="AutoShape 9"/>
          <p:cNvSpPr>
            <a:spLocks noChangeArrowheads="1"/>
          </p:cNvSpPr>
          <p:nvPr/>
        </p:nvSpPr>
        <p:spPr bwMode="auto">
          <a:xfrm>
            <a:off x="3124200" y="5867400"/>
            <a:ext cx="327025" cy="381000"/>
          </a:xfrm>
          <a:prstGeom prst="triangle">
            <a:avLst>
              <a:gd name="adj" fmla="val 50000"/>
            </a:avLst>
          </a:prstGeom>
          <a:solidFill>
            <a:schemeClr val="folHlink"/>
          </a:solidFill>
          <a:ln w="9525">
            <a:solidFill>
              <a:schemeClr val="tx1"/>
            </a:solidFill>
            <a:miter lim="800000"/>
            <a:headEnd/>
            <a:tailEnd/>
          </a:ln>
        </p:spPr>
        <p:txBody>
          <a:bodyPr wrap="none" anchor="ctr"/>
          <a:lstStyle/>
          <a:p>
            <a:endParaRPr lang="en-US"/>
          </a:p>
        </p:txBody>
      </p:sp>
      <p:sp>
        <p:nvSpPr>
          <p:cNvPr id="30730" name="AutoShape 10"/>
          <p:cNvSpPr>
            <a:spLocks noChangeArrowheads="1"/>
          </p:cNvSpPr>
          <p:nvPr/>
        </p:nvSpPr>
        <p:spPr bwMode="auto">
          <a:xfrm>
            <a:off x="2514600" y="5867400"/>
            <a:ext cx="327025" cy="381000"/>
          </a:xfrm>
          <a:prstGeom prst="triangle">
            <a:avLst>
              <a:gd name="adj" fmla="val 50000"/>
            </a:avLst>
          </a:prstGeom>
          <a:solidFill>
            <a:schemeClr val="bg2"/>
          </a:solidFill>
          <a:ln w="9525">
            <a:solidFill>
              <a:schemeClr val="tx1"/>
            </a:solidFill>
            <a:miter lim="800000"/>
            <a:headEnd/>
            <a:tailEnd/>
          </a:ln>
        </p:spPr>
        <p:txBody>
          <a:bodyPr wrap="none" anchor="ctr"/>
          <a:lstStyle/>
          <a:p>
            <a:endParaRPr lang="en-US"/>
          </a:p>
        </p:txBody>
      </p:sp>
      <p:sp>
        <p:nvSpPr>
          <p:cNvPr id="30731" name="Line 11"/>
          <p:cNvSpPr>
            <a:spLocks noChangeShapeType="1"/>
          </p:cNvSpPr>
          <p:nvPr/>
        </p:nvSpPr>
        <p:spPr bwMode="auto">
          <a:xfrm flipV="1">
            <a:off x="1600200" y="4343400"/>
            <a:ext cx="609600" cy="457200"/>
          </a:xfrm>
          <a:prstGeom prst="line">
            <a:avLst/>
          </a:prstGeom>
          <a:noFill/>
          <a:ln w="38100">
            <a:solidFill>
              <a:schemeClr val="tx1"/>
            </a:solidFill>
            <a:round/>
            <a:headEnd/>
            <a:tailEnd/>
          </a:ln>
        </p:spPr>
        <p:txBody>
          <a:bodyPr wrap="none" anchor="ctr"/>
          <a:lstStyle/>
          <a:p>
            <a:endParaRPr lang="en-US"/>
          </a:p>
        </p:txBody>
      </p:sp>
      <p:sp>
        <p:nvSpPr>
          <p:cNvPr id="30732" name="Line 12"/>
          <p:cNvSpPr>
            <a:spLocks noChangeShapeType="1"/>
          </p:cNvSpPr>
          <p:nvPr/>
        </p:nvSpPr>
        <p:spPr bwMode="auto">
          <a:xfrm flipH="1" flipV="1">
            <a:off x="2209800" y="4343400"/>
            <a:ext cx="685800" cy="457200"/>
          </a:xfrm>
          <a:prstGeom prst="line">
            <a:avLst/>
          </a:prstGeom>
          <a:noFill/>
          <a:ln w="38100">
            <a:solidFill>
              <a:schemeClr val="tx1"/>
            </a:solidFill>
            <a:round/>
            <a:headEnd/>
            <a:tailEnd/>
          </a:ln>
        </p:spPr>
        <p:txBody>
          <a:bodyPr wrap="none" anchor="ctr"/>
          <a:lstStyle/>
          <a:p>
            <a:endParaRPr lang="en-US"/>
          </a:p>
        </p:txBody>
      </p:sp>
      <p:sp>
        <p:nvSpPr>
          <p:cNvPr id="30733" name="Line 13"/>
          <p:cNvSpPr>
            <a:spLocks noChangeShapeType="1"/>
          </p:cNvSpPr>
          <p:nvPr/>
        </p:nvSpPr>
        <p:spPr bwMode="auto">
          <a:xfrm flipV="1">
            <a:off x="1295400" y="5181600"/>
            <a:ext cx="304800" cy="685800"/>
          </a:xfrm>
          <a:prstGeom prst="line">
            <a:avLst/>
          </a:prstGeom>
          <a:noFill/>
          <a:ln w="38100">
            <a:solidFill>
              <a:schemeClr val="tx1"/>
            </a:solidFill>
            <a:round/>
            <a:headEnd/>
            <a:tailEnd/>
          </a:ln>
        </p:spPr>
        <p:txBody>
          <a:bodyPr wrap="none" anchor="ctr"/>
          <a:lstStyle/>
          <a:p>
            <a:endParaRPr lang="en-US"/>
          </a:p>
        </p:txBody>
      </p:sp>
      <p:sp>
        <p:nvSpPr>
          <p:cNvPr id="30734" name="Line 14"/>
          <p:cNvSpPr>
            <a:spLocks noChangeShapeType="1"/>
          </p:cNvSpPr>
          <p:nvPr/>
        </p:nvSpPr>
        <p:spPr bwMode="auto">
          <a:xfrm flipH="1" flipV="1">
            <a:off x="1600200" y="5181600"/>
            <a:ext cx="304800" cy="685800"/>
          </a:xfrm>
          <a:prstGeom prst="line">
            <a:avLst/>
          </a:prstGeom>
          <a:noFill/>
          <a:ln w="38100">
            <a:solidFill>
              <a:schemeClr val="tx1"/>
            </a:solidFill>
            <a:round/>
            <a:headEnd/>
            <a:tailEnd/>
          </a:ln>
        </p:spPr>
        <p:txBody>
          <a:bodyPr wrap="none" anchor="ctr"/>
          <a:lstStyle/>
          <a:p>
            <a:endParaRPr lang="en-US"/>
          </a:p>
        </p:txBody>
      </p:sp>
      <p:sp>
        <p:nvSpPr>
          <p:cNvPr id="30735" name="Line 15"/>
          <p:cNvSpPr>
            <a:spLocks noChangeShapeType="1"/>
          </p:cNvSpPr>
          <p:nvPr/>
        </p:nvSpPr>
        <p:spPr bwMode="auto">
          <a:xfrm flipV="1">
            <a:off x="2667000" y="5181600"/>
            <a:ext cx="228600" cy="685800"/>
          </a:xfrm>
          <a:prstGeom prst="line">
            <a:avLst/>
          </a:prstGeom>
          <a:noFill/>
          <a:ln w="38100">
            <a:solidFill>
              <a:schemeClr val="tx1"/>
            </a:solidFill>
            <a:round/>
            <a:headEnd/>
            <a:tailEnd/>
          </a:ln>
        </p:spPr>
        <p:txBody>
          <a:bodyPr wrap="none" anchor="ctr"/>
          <a:lstStyle/>
          <a:p>
            <a:endParaRPr lang="en-US"/>
          </a:p>
        </p:txBody>
      </p:sp>
      <p:sp>
        <p:nvSpPr>
          <p:cNvPr id="30736" name="Line 16"/>
          <p:cNvSpPr>
            <a:spLocks noChangeShapeType="1"/>
          </p:cNvSpPr>
          <p:nvPr/>
        </p:nvSpPr>
        <p:spPr bwMode="auto">
          <a:xfrm flipH="1" flipV="1">
            <a:off x="2895600" y="5181600"/>
            <a:ext cx="381000" cy="685800"/>
          </a:xfrm>
          <a:prstGeom prst="line">
            <a:avLst/>
          </a:prstGeom>
          <a:noFill/>
          <a:ln w="38100">
            <a:solidFill>
              <a:schemeClr val="tx1"/>
            </a:solidFill>
            <a:round/>
            <a:headEnd/>
            <a:tailEnd/>
          </a:ln>
        </p:spPr>
        <p:txBody>
          <a:bodyPr wrap="none" anchor="ctr"/>
          <a:lstStyle/>
          <a:p>
            <a:endParaRPr lang="en-US"/>
          </a:p>
        </p:txBody>
      </p:sp>
      <p:sp>
        <p:nvSpPr>
          <p:cNvPr id="30737" name="Text Box 17"/>
          <p:cNvSpPr txBox="1">
            <a:spLocks noChangeArrowheads="1"/>
          </p:cNvSpPr>
          <p:nvPr/>
        </p:nvSpPr>
        <p:spPr bwMode="auto">
          <a:xfrm>
            <a:off x="1143000" y="6248400"/>
            <a:ext cx="311150" cy="396875"/>
          </a:xfrm>
          <a:prstGeom prst="rect">
            <a:avLst/>
          </a:prstGeom>
          <a:noFill/>
          <a:ln w="9525">
            <a:noFill/>
            <a:miter lim="800000"/>
            <a:headEnd/>
            <a:tailEnd/>
          </a:ln>
        </p:spPr>
        <p:txBody>
          <a:bodyPr wrap="none">
            <a:spAutoFit/>
          </a:bodyPr>
          <a:lstStyle/>
          <a:p>
            <a:pPr eaLnBrk="0" hangingPunct="0"/>
            <a:r>
              <a:rPr lang="en-US" sz="2000" b="1">
                <a:latin typeface="Times New Roman" pitchFamily="16" charset="0"/>
              </a:rPr>
              <a:t>2</a:t>
            </a:r>
          </a:p>
        </p:txBody>
      </p:sp>
      <p:sp>
        <p:nvSpPr>
          <p:cNvPr id="30738" name="Text Box 18"/>
          <p:cNvSpPr txBox="1">
            <a:spLocks noChangeArrowheads="1"/>
          </p:cNvSpPr>
          <p:nvPr/>
        </p:nvSpPr>
        <p:spPr bwMode="auto">
          <a:xfrm>
            <a:off x="1752600" y="6248400"/>
            <a:ext cx="311150" cy="396875"/>
          </a:xfrm>
          <a:prstGeom prst="rect">
            <a:avLst/>
          </a:prstGeom>
          <a:noFill/>
          <a:ln w="9525">
            <a:noFill/>
            <a:miter lim="800000"/>
            <a:headEnd/>
            <a:tailEnd/>
          </a:ln>
        </p:spPr>
        <p:txBody>
          <a:bodyPr wrap="none">
            <a:spAutoFit/>
          </a:bodyPr>
          <a:lstStyle/>
          <a:p>
            <a:pPr eaLnBrk="0" hangingPunct="0"/>
            <a:r>
              <a:rPr lang="en-US" sz="2000" b="1">
                <a:latin typeface="Times New Roman" pitchFamily="16" charset="0"/>
              </a:rPr>
              <a:t>7</a:t>
            </a:r>
          </a:p>
        </p:txBody>
      </p:sp>
      <p:sp>
        <p:nvSpPr>
          <p:cNvPr id="30739" name="Text Box 19"/>
          <p:cNvSpPr txBox="1">
            <a:spLocks noChangeArrowheads="1"/>
          </p:cNvSpPr>
          <p:nvPr/>
        </p:nvSpPr>
        <p:spPr bwMode="auto">
          <a:xfrm>
            <a:off x="2514600" y="6248400"/>
            <a:ext cx="312906" cy="400110"/>
          </a:xfrm>
          <a:prstGeom prst="rect">
            <a:avLst/>
          </a:prstGeom>
          <a:noFill/>
          <a:ln w="9525">
            <a:noFill/>
            <a:miter lim="800000"/>
            <a:headEnd/>
            <a:tailEnd/>
          </a:ln>
        </p:spPr>
        <p:txBody>
          <a:bodyPr wrap="none">
            <a:spAutoFit/>
          </a:bodyPr>
          <a:lstStyle/>
          <a:p>
            <a:pPr eaLnBrk="0" hangingPunct="0"/>
            <a:r>
              <a:rPr lang="en-US" sz="2000" b="1" dirty="0">
                <a:latin typeface="Times New Roman" pitchFamily="16" charset="0"/>
              </a:rPr>
              <a:t>0</a:t>
            </a:r>
          </a:p>
        </p:txBody>
      </p:sp>
      <p:sp>
        <p:nvSpPr>
          <p:cNvPr id="30740" name="Text Box 20"/>
          <p:cNvSpPr txBox="1">
            <a:spLocks noChangeArrowheads="1"/>
          </p:cNvSpPr>
          <p:nvPr/>
        </p:nvSpPr>
        <p:spPr bwMode="auto">
          <a:xfrm>
            <a:off x="1066800" y="4800600"/>
            <a:ext cx="455613" cy="396875"/>
          </a:xfrm>
          <a:prstGeom prst="rect">
            <a:avLst/>
          </a:prstGeom>
          <a:noFill/>
          <a:ln w="9525">
            <a:noFill/>
            <a:miter lim="800000"/>
            <a:headEnd/>
            <a:tailEnd/>
          </a:ln>
        </p:spPr>
        <p:txBody>
          <a:bodyPr wrap="none">
            <a:spAutoFit/>
          </a:bodyPr>
          <a:lstStyle/>
          <a:p>
            <a:pPr eaLnBrk="0" hangingPunct="0"/>
            <a:r>
              <a:rPr lang="en-US" sz="2000" b="1">
                <a:latin typeface="Times New Roman" pitchFamily="16" charset="0"/>
              </a:rPr>
              <a:t>=2</a:t>
            </a:r>
          </a:p>
        </p:txBody>
      </p:sp>
      <p:sp>
        <p:nvSpPr>
          <p:cNvPr id="30741" name="Text Box 21"/>
          <p:cNvSpPr txBox="1">
            <a:spLocks noChangeArrowheads="1"/>
          </p:cNvSpPr>
          <p:nvPr/>
        </p:nvSpPr>
        <p:spPr bwMode="auto">
          <a:xfrm>
            <a:off x="2438400" y="3962400"/>
            <a:ext cx="600075" cy="396875"/>
          </a:xfrm>
          <a:prstGeom prst="rect">
            <a:avLst/>
          </a:prstGeom>
          <a:noFill/>
          <a:ln w="9525">
            <a:noFill/>
            <a:miter lim="800000"/>
            <a:headEnd/>
            <a:tailEnd/>
          </a:ln>
        </p:spPr>
        <p:txBody>
          <a:bodyPr wrap="none">
            <a:spAutoFit/>
          </a:bodyPr>
          <a:lstStyle/>
          <a:p>
            <a:pPr eaLnBrk="0" hangingPunct="0"/>
            <a:r>
              <a:rPr lang="en-US" sz="2000" b="1">
                <a:latin typeface="Times New Roman" pitchFamily="16" charset="0"/>
              </a:rPr>
              <a:t>&gt;=2</a:t>
            </a:r>
          </a:p>
        </p:txBody>
      </p:sp>
      <p:sp>
        <p:nvSpPr>
          <p:cNvPr id="30742" name="Text Box 22"/>
          <p:cNvSpPr txBox="1">
            <a:spLocks noChangeArrowheads="1"/>
          </p:cNvSpPr>
          <p:nvPr/>
        </p:nvSpPr>
        <p:spPr bwMode="auto">
          <a:xfrm>
            <a:off x="3124200" y="4800600"/>
            <a:ext cx="604653" cy="400110"/>
          </a:xfrm>
          <a:prstGeom prst="rect">
            <a:avLst/>
          </a:prstGeom>
          <a:noFill/>
          <a:ln w="9525">
            <a:noFill/>
            <a:miter lim="800000"/>
            <a:headEnd/>
            <a:tailEnd/>
          </a:ln>
        </p:spPr>
        <p:txBody>
          <a:bodyPr wrap="none">
            <a:spAutoFit/>
          </a:bodyPr>
          <a:lstStyle/>
          <a:p>
            <a:pPr eaLnBrk="0" hangingPunct="0"/>
            <a:r>
              <a:rPr lang="en-US" sz="2000" b="1" dirty="0">
                <a:latin typeface="Times New Roman" pitchFamily="16" charset="0"/>
              </a:rPr>
              <a:t>&lt;=0</a:t>
            </a:r>
          </a:p>
        </p:txBody>
      </p:sp>
      <p:sp>
        <p:nvSpPr>
          <p:cNvPr id="30743" name="Text Box 23"/>
          <p:cNvSpPr txBox="1">
            <a:spLocks noChangeArrowheads="1"/>
          </p:cNvSpPr>
          <p:nvPr/>
        </p:nvSpPr>
        <p:spPr bwMode="auto">
          <a:xfrm>
            <a:off x="3124200" y="6248400"/>
            <a:ext cx="311150" cy="396875"/>
          </a:xfrm>
          <a:prstGeom prst="rect">
            <a:avLst/>
          </a:prstGeom>
          <a:noFill/>
          <a:ln w="9525">
            <a:noFill/>
            <a:miter lim="800000"/>
            <a:headEnd/>
            <a:tailEnd/>
          </a:ln>
        </p:spPr>
        <p:txBody>
          <a:bodyPr wrap="none">
            <a:spAutoFit/>
          </a:bodyPr>
          <a:lstStyle/>
          <a:p>
            <a:pPr eaLnBrk="0" hangingPunct="0"/>
            <a:r>
              <a:rPr lang="en-US" sz="2000" b="1">
                <a:latin typeface="Times New Roman" pitchFamily="16" charset="0"/>
              </a:rPr>
              <a:t>?</a:t>
            </a:r>
          </a:p>
        </p:txBody>
      </p:sp>
      <p:sp>
        <p:nvSpPr>
          <p:cNvPr id="30744" name="Text Box 24"/>
          <p:cNvSpPr txBox="1">
            <a:spLocks noChangeArrowheads="1"/>
          </p:cNvSpPr>
          <p:nvPr/>
        </p:nvSpPr>
        <p:spPr bwMode="auto">
          <a:xfrm>
            <a:off x="4800600" y="4038600"/>
            <a:ext cx="4038600" cy="2100263"/>
          </a:xfrm>
          <a:prstGeom prst="rect">
            <a:avLst/>
          </a:prstGeom>
          <a:noFill/>
          <a:ln w="9525">
            <a:noFill/>
            <a:miter lim="800000"/>
            <a:headEnd/>
            <a:tailEnd/>
          </a:ln>
        </p:spPr>
        <p:txBody>
          <a:bodyPr>
            <a:spAutoFit/>
          </a:bodyPr>
          <a:lstStyle/>
          <a:p>
            <a:pPr marL="234950" indent="-234950" eaLnBrk="0" hangingPunct="0">
              <a:spcBef>
                <a:spcPct val="50000"/>
              </a:spcBef>
              <a:buFontTx/>
              <a:buChar char="•"/>
            </a:pPr>
            <a:r>
              <a:rPr lang="en-US">
                <a:solidFill>
                  <a:srgbClr val="FF0000"/>
                </a:solidFill>
                <a:latin typeface="Times New Roman" pitchFamily="16" charset="0"/>
              </a:rPr>
              <a:t>We don’t need to compute the value at this node.</a:t>
            </a:r>
            <a:endParaRPr lang="en-US">
              <a:latin typeface="Times New Roman" pitchFamily="16" charset="0"/>
            </a:endParaRPr>
          </a:p>
          <a:p>
            <a:pPr marL="234950" indent="-234950" eaLnBrk="0" hangingPunct="0">
              <a:spcBef>
                <a:spcPct val="50000"/>
              </a:spcBef>
              <a:buFontTx/>
              <a:buChar char="•"/>
            </a:pPr>
            <a:r>
              <a:rPr lang="en-US">
                <a:latin typeface="Times New Roman" pitchFamily="16" charset="0"/>
              </a:rPr>
              <a:t>No matter what it is, it can’t affect the value of the root node.</a:t>
            </a:r>
          </a:p>
        </p:txBody>
      </p:sp>
      <p:sp>
        <p:nvSpPr>
          <p:cNvPr id="30745" name="Line 25"/>
          <p:cNvSpPr>
            <a:spLocks noChangeShapeType="1"/>
          </p:cNvSpPr>
          <p:nvPr/>
        </p:nvSpPr>
        <p:spPr bwMode="auto">
          <a:xfrm flipH="1">
            <a:off x="3505200" y="4419600"/>
            <a:ext cx="1371600" cy="1600200"/>
          </a:xfrm>
          <a:prstGeom prst="line">
            <a:avLst/>
          </a:prstGeom>
          <a:noFill/>
          <a:ln w="9525">
            <a:solidFill>
              <a:srgbClr val="FF0000"/>
            </a:solidFill>
            <a:round/>
            <a:headEnd/>
            <a:tailEnd type="triangle" w="med" len="med"/>
          </a:ln>
        </p:spPr>
        <p:txBody>
          <a:bodyPr wrap="none" anchor="ctr"/>
          <a:lstStyle/>
          <a:p>
            <a:endParaRPr lang="en-US"/>
          </a:p>
        </p:txBody>
      </p:sp>
      <p:sp>
        <p:nvSpPr>
          <p:cNvPr id="30746" name="Text Box 26"/>
          <p:cNvSpPr txBox="1">
            <a:spLocks noChangeArrowheads="1"/>
          </p:cNvSpPr>
          <p:nvPr/>
        </p:nvSpPr>
        <p:spPr bwMode="auto">
          <a:xfrm>
            <a:off x="746125" y="3900488"/>
            <a:ext cx="777875" cy="396875"/>
          </a:xfrm>
          <a:prstGeom prst="rect">
            <a:avLst/>
          </a:prstGeom>
          <a:noFill/>
          <a:ln w="9525">
            <a:noFill/>
            <a:miter lim="800000"/>
            <a:headEnd/>
            <a:tailEnd/>
          </a:ln>
        </p:spPr>
        <p:txBody>
          <a:bodyPr wrap="none">
            <a:spAutoFit/>
          </a:bodyPr>
          <a:lstStyle/>
          <a:p>
            <a:pPr eaLnBrk="0" hangingPunct="0"/>
            <a:r>
              <a:rPr lang="en-US" sz="2000">
                <a:latin typeface="Times New Roman" pitchFamily="16" charset="0"/>
              </a:rPr>
              <a:t>MAX</a:t>
            </a:r>
          </a:p>
        </p:txBody>
      </p:sp>
      <p:sp>
        <p:nvSpPr>
          <p:cNvPr id="30747" name="Text Box 27"/>
          <p:cNvSpPr txBox="1">
            <a:spLocks noChangeArrowheads="1"/>
          </p:cNvSpPr>
          <p:nvPr/>
        </p:nvSpPr>
        <p:spPr bwMode="auto">
          <a:xfrm>
            <a:off x="304800" y="5775325"/>
            <a:ext cx="777875" cy="396875"/>
          </a:xfrm>
          <a:prstGeom prst="rect">
            <a:avLst/>
          </a:prstGeom>
          <a:noFill/>
          <a:ln w="9525">
            <a:noFill/>
            <a:miter lim="800000"/>
            <a:headEnd/>
            <a:tailEnd/>
          </a:ln>
        </p:spPr>
        <p:txBody>
          <a:bodyPr wrap="none">
            <a:spAutoFit/>
          </a:bodyPr>
          <a:lstStyle/>
          <a:p>
            <a:pPr eaLnBrk="0" hangingPunct="0"/>
            <a:r>
              <a:rPr lang="en-US" sz="2000">
                <a:latin typeface="Times New Roman" pitchFamily="16" charset="0"/>
              </a:rPr>
              <a:t>MAX</a:t>
            </a:r>
          </a:p>
        </p:txBody>
      </p:sp>
      <p:sp>
        <p:nvSpPr>
          <p:cNvPr id="30748" name="Text Box 28"/>
          <p:cNvSpPr txBox="1">
            <a:spLocks noChangeArrowheads="1"/>
          </p:cNvSpPr>
          <p:nvPr/>
        </p:nvSpPr>
        <p:spPr bwMode="auto">
          <a:xfrm>
            <a:off x="228600" y="4800600"/>
            <a:ext cx="677863" cy="396875"/>
          </a:xfrm>
          <a:prstGeom prst="rect">
            <a:avLst/>
          </a:prstGeom>
          <a:noFill/>
          <a:ln w="9525">
            <a:noFill/>
            <a:miter lim="800000"/>
            <a:headEnd/>
            <a:tailEnd/>
          </a:ln>
        </p:spPr>
        <p:txBody>
          <a:bodyPr wrap="none">
            <a:spAutoFit/>
          </a:bodyPr>
          <a:lstStyle/>
          <a:p>
            <a:pPr eaLnBrk="0" hangingPunct="0"/>
            <a:r>
              <a:rPr lang="en-US" sz="2000">
                <a:latin typeface="Times New Roman" pitchFamily="16" charset="0"/>
              </a:rPr>
              <a:t>MIN</a:t>
            </a: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85800" y="228600"/>
            <a:ext cx="7772400" cy="762000"/>
          </a:xfrm>
        </p:spPr>
        <p:txBody>
          <a:bodyPr/>
          <a:lstStyle/>
          <a:p>
            <a:pPr eaLnBrk="1" hangingPunct="1"/>
            <a:r>
              <a:rPr lang="en-US" dirty="0"/>
              <a:t>Alpha-beta pruning</a:t>
            </a:r>
          </a:p>
        </p:txBody>
      </p:sp>
      <p:sp>
        <p:nvSpPr>
          <p:cNvPr id="31747" name="Rectangle 3" descr="Rectangle: Click to edit Master text styles&#10;Second level&#10;Third level&#10;Fourth level&#10;Fifth level"/>
          <p:cNvSpPr>
            <a:spLocks noGrp="1" noChangeArrowheads="1"/>
          </p:cNvSpPr>
          <p:nvPr>
            <p:ph type="body" idx="1"/>
          </p:nvPr>
        </p:nvSpPr>
        <p:spPr>
          <a:xfrm>
            <a:off x="381000" y="1600200"/>
            <a:ext cx="8229600" cy="4724400"/>
          </a:xfrm>
        </p:spPr>
        <p:txBody>
          <a:bodyPr/>
          <a:lstStyle/>
          <a:p>
            <a:pPr eaLnBrk="1" hangingPunct="1">
              <a:lnSpc>
                <a:spcPct val="90000"/>
              </a:lnSpc>
            </a:pPr>
            <a:r>
              <a:rPr lang="en-US" sz="2400" dirty="0"/>
              <a:t>Traverse the search tree in depth-first order </a:t>
            </a:r>
          </a:p>
          <a:p>
            <a:pPr eaLnBrk="1" hangingPunct="1">
              <a:lnSpc>
                <a:spcPct val="90000"/>
              </a:lnSpc>
            </a:pPr>
            <a:r>
              <a:rPr lang="en-US" sz="2400" dirty="0"/>
              <a:t>At each </a:t>
            </a:r>
            <a:r>
              <a:rPr lang="en-US" sz="2400" b="1" dirty="0"/>
              <a:t>MAX</a:t>
            </a:r>
            <a:r>
              <a:rPr lang="en-US" sz="2400" dirty="0"/>
              <a:t> node n, </a:t>
            </a:r>
            <a:r>
              <a:rPr lang="en-US" sz="2400" b="1" dirty="0"/>
              <a:t>alpha(n)</a:t>
            </a:r>
            <a:r>
              <a:rPr lang="en-US" sz="2400" dirty="0"/>
              <a:t> =  maximum value found so far</a:t>
            </a:r>
          </a:p>
          <a:p>
            <a:pPr eaLnBrk="1" hangingPunct="1">
              <a:lnSpc>
                <a:spcPct val="90000"/>
              </a:lnSpc>
            </a:pPr>
            <a:r>
              <a:rPr lang="en-US" sz="2400" dirty="0"/>
              <a:t>At each </a:t>
            </a:r>
            <a:r>
              <a:rPr lang="en-US" sz="2400" b="1" dirty="0"/>
              <a:t>MIN</a:t>
            </a:r>
            <a:r>
              <a:rPr lang="en-US" sz="2400" dirty="0"/>
              <a:t> node n, </a:t>
            </a:r>
            <a:r>
              <a:rPr lang="en-US" sz="2400" b="1" dirty="0"/>
              <a:t>beta(n)</a:t>
            </a:r>
            <a:r>
              <a:rPr lang="en-US" sz="2400" dirty="0"/>
              <a:t> =  minimum value found so far</a:t>
            </a:r>
          </a:p>
          <a:p>
            <a:pPr lvl="1" eaLnBrk="1" hangingPunct="1">
              <a:lnSpc>
                <a:spcPct val="90000"/>
              </a:lnSpc>
            </a:pPr>
            <a:r>
              <a:rPr lang="en-US" sz="2000" dirty="0"/>
              <a:t>Note: The alpha values start at -infinity and only increase, while beta values start at +infinity and only decrease. </a:t>
            </a:r>
          </a:p>
          <a:p>
            <a:pPr eaLnBrk="1" hangingPunct="1">
              <a:lnSpc>
                <a:spcPct val="90000"/>
              </a:lnSpc>
            </a:pPr>
            <a:r>
              <a:rPr lang="en-US" sz="2400" b="1" dirty="0"/>
              <a:t>Beta cutoff</a:t>
            </a:r>
            <a:r>
              <a:rPr lang="en-US" sz="2400" dirty="0"/>
              <a:t>: Given a MAX node n, cut off the search below n (i.e., don’t generate or examine any more of </a:t>
            </a:r>
            <a:r>
              <a:rPr lang="en-US" sz="2400" dirty="0" err="1"/>
              <a:t>n’s</a:t>
            </a:r>
            <a:r>
              <a:rPr lang="en-US" sz="2400" dirty="0"/>
              <a:t> children) if alpha(n) &gt;= beta(</a:t>
            </a:r>
            <a:r>
              <a:rPr lang="en-US" sz="2400" dirty="0" err="1"/>
              <a:t>i</a:t>
            </a:r>
            <a:r>
              <a:rPr lang="en-US" sz="2400" dirty="0"/>
              <a:t>) for some MIN node ancestor </a:t>
            </a:r>
            <a:r>
              <a:rPr lang="en-US" sz="2400" dirty="0" err="1"/>
              <a:t>i</a:t>
            </a:r>
            <a:r>
              <a:rPr lang="en-US" sz="2400" dirty="0"/>
              <a:t> of n. </a:t>
            </a:r>
          </a:p>
          <a:p>
            <a:pPr eaLnBrk="1" hangingPunct="1">
              <a:lnSpc>
                <a:spcPct val="90000"/>
              </a:lnSpc>
            </a:pPr>
            <a:r>
              <a:rPr lang="en-US" sz="2400" b="1" dirty="0"/>
              <a:t>Alpha cutoff:</a:t>
            </a:r>
            <a:r>
              <a:rPr lang="en-US" sz="2400" dirty="0"/>
              <a:t> stop searching below MIN node n if beta(n) &lt;= alpha(</a:t>
            </a:r>
            <a:r>
              <a:rPr lang="en-US" sz="2400" dirty="0" err="1"/>
              <a:t>i</a:t>
            </a:r>
            <a:r>
              <a:rPr lang="en-US" sz="2400" dirty="0"/>
              <a:t>) for some MAX node ancestor </a:t>
            </a:r>
            <a:r>
              <a:rPr lang="en-US" sz="2400" dirty="0" err="1"/>
              <a:t>i</a:t>
            </a:r>
            <a:r>
              <a:rPr lang="en-US" sz="2400" dirty="0"/>
              <a:t> of n. </a:t>
            </a: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normAutofit/>
          </a:bodyPr>
          <a:lstStyle/>
          <a:p>
            <a:pPr eaLnBrk="1" hangingPunct="1">
              <a:defRPr/>
            </a:pPr>
            <a:r>
              <a:rPr lang="en-US" sz="3600" dirty="0">
                <a:effectLst>
                  <a:outerShdw blurRad="38100" dist="38100" dir="2700000" algn="tl">
                    <a:srgbClr val="C0C0C0"/>
                  </a:outerShdw>
                </a:effectLst>
              </a:rPr>
              <a:t>Alpha-Beta Procedure</a:t>
            </a:r>
          </a:p>
        </p:txBody>
      </p:sp>
      <p:sp>
        <p:nvSpPr>
          <p:cNvPr id="34819" name="Rectangle 3" descr="Rectangle: Click to edit Master text styles&#10;Second level&#10;Third level&#10;Fourth level&#10;Fifth level"/>
          <p:cNvSpPr>
            <a:spLocks noGrp="1" noChangeArrowheads="1"/>
          </p:cNvSpPr>
          <p:nvPr>
            <p:ph type="body" idx="1"/>
          </p:nvPr>
        </p:nvSpPr>
        <p:spPr>
          <a:xfrm>
            <a:off x="301752" y="1143000"/>
            <a:ext cx="8503920" cy="4956048"/>
          </a:xfrm>
        </p:spPr>
        <p:txBody>
          <a:bodyPr>
            <a:normAutofit lnSpcReduction="10000"/>
          </a:bodyPr>
          <a:lstStyle/>
          <a:p>
            <a:pPr eaLnBrk="1" hangingPunct="1"/>
            <a:r>
              <a:rPr lang="en-US" sz="2000" dirty="0"/>
              <a:t> </a:t>
            </a:r>
          </a:p>
          <a:p>
            <a:pPr eaLnBrk="1" hangingPunct="1"/>
            <a:endParaRPr lang="en-US" sz="2000" dirty="0"/>
          </a:p>
          <a:p>
            <a:pPr eaLnBrk="1" hangingPunct="1"/>
            <a:r>
              <a:rPr lang="en-US" sz="2400" dirty="0"/>
              <a:t>Discontinue the search below a MAX node N </a:t>
            </a:r>
          </a:p>
          <a:p>
            <a:pPr eaLnBrk="1" hangingPunct="1">
              <a:buNone/>
            </a:pPr>
            <a:r>
              <a:rPr lang="en-US" sz="2400" dirty="0"/>
              <a:t>                           if its alpha is </a:t>
            </a:r>
            <a:r>
              <a:rPr lang="en-US" sz="2400" dirty="0">
                <a:latin typeface="Times New Roman" pitchFamily="16" charset="0"/>
                <a:cs typeface="Times New Roman" pitchFamily="16" charset="0"/>
                <a:sym typeface="Symbol" pitchFamily="18" charset="2"/>
              </a:rPr>
              <a:t></a:t>
            </a:r>
            <a:r>
              <a:rPr lang="en-US" sz="2400" dirty="0"/>
              <a:t> beta of a MIN ancestor of N</a:t>
            </a:r>
          </a:p>
          <a:p>
            <a:pPr eaLnBrk="1" hangingPunct="1"/>
            <a:r>
              <a:rPr lang="en-US" sz="2400" dirty="0"/>
              <a:t>Discontinue the search below a MIN node N </a:t>
            </a:r>
          </a:p>
          <a:p>
            <a:pPr eaLnBrk="1" hangingPunct="1">
              <a:buNone/>
            </a:pPr>
            <a:r>
              <a:rPr lang="en-US" sz="2400" dirty="0"/>
              <a:t>                           if its beta is </a:t>
            </a:r>
            <a:r>
              <a:rPr lang="en-US" sz="2400" dirty="0">
                <a:latin typeface="Times New Roman" pitchFamily="16" charset="0"/>
                <a:cs typeface="Times New Roman" pitchFamily="16" charset="0"/>
                <a:sym typeface="Symbol" pitchFamily="18" charset="2"/>
              </a:rPr>
              <a:t></a:t>
            </a:r>
            <a:r>
              <a:rPr lang="en-US" sz="2400" dirty="0"/>
              <a:t> alpha of a MAX ancestor of N</a:t>
            </a:r>
          </a:p>
          <a:p>
            <a:pPr eaLnBrk="1" hangingPunct="1"/>
            <a:endParaRPr lang="en-US" sz="2400" b="1" dirty="0"/>
          </a:p>
          <a:p>
            <a:r>
              <a:rPr lang="en-US" sz="2400" dirty="0"/>
              <a:t>The alpha of a MAX node is a lower bound on the backed-up value.</a:t>
            </a:r>
          </a:p>
          <a:p>
            <a:r>
              <a:rPr lang="en-US" sz="2400"/>
              <a:t>The </a:t>
            </a:r>
            <a:r>
              <a:rPr lang="en-US" sz="2400" dirty="0"/>
              <a:t>beta of a MIN node is a higher bound on the backed-up value.</a:t>
            </a:r>
          </a:p>
          <a:p>
            <a:r>
              <a:rPr lang="en-US" sz="2400" dirty="0"/>
              <a:t> Update the alpha/beta of the parent of a node N when all search below   N has been completed or discontinued</a:t>
            </a:r>
          </a:p>
          <a:p>
            <a:pPr eaLnBrk="1" hangingPunct="1"/>
            <a:endParaRPr lang="en-US" sz="2400" b="1"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Example_1</a:t>
            </a:r>
          </a:p>
        </p:txBody>
      </p:sp>
      <p:pic>
        <p:nvPicPr>
          <p:cNvPr id="447490" name="Picture 2"/>
          <p:cNvPicPr>
            <a:picLocks noGrp="1" noChangeAspect="1" noChangeArrowheads="1"/>
          </p:cNvPicPr>
          <p:nvPr>
            <p:ph sz="quarter" idx="1"/>
          </p:nvPr>
        </p:nvPicPr>
        <p:blipFill>
          <a:blip r:embed="rId2"/>
          <a:srcRect/>
          <a:stretch>
            <a:fillRect/>
          </a:stretch>
        </p:blipFill>
        <p:spPr bwMode="auto">
          <a:xfrm>
            <a:off x="457200" y="1600200"/>
            <a:ext cx="8229600" cy="4495800"/>
          </a:xfrm>
          <a:prstGeom prst="rect">
            <a:avLst/>
          </a:prstGeom>
          <a:noFill/>
          <a:ln w="9525">
            <a:noFill/>
            <a:miter lim="800000"/>
            <a:headEnd/>
            <a:tailEnd/>
          </a:ln>
          <a:effectLst/>
        </p:spPr>
      </p:pic>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48514" name="Picture 2"/>
          <p:cNvPicPr>
            <a:picLocks noGrp="1" noChangeAspect="1" noChangeArrowheads="1"/>
          </p:cNvPicPr>
          <p:nvPr>
            <p:ph sz="quarter" idx="1"/>
          </p:nvPr>
        </p:nvPicPr>
        <p:blipFill>
          <a:blip r:embed="rId2"/>
          <a:srcRect/>
          <a:stretch>
            <a:fillRect/>
          </a:stretch>
        </p:blipFill>
        <p:spPr bwMode="auto">
          <a:xfrm>
            <a:off x="381000" y="1600200"/>
            <a:ext cx="6273006" cy="2451100"/>
          </a:xfrm>
          <a:prstGeom prst="rect">
            <a:avLst/>
          </a:prstGeom>
          <a:noFill/>
          <a:ln w="9525">
            <a:noFill/>
            <a:miter lim="800000"/>
            <a:headEnd/>
            <a:tailEnd/>
          </a:ln>
          <a:effectLst/>
        </p:spPr>
      </p:pic>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Example_2</a:t>
            </a:r>
          </a:p>
        </p:txBody>
      </p:sp>
      <p:pic>
        <p:nvPicPr>
          <p:cNvPr id="450562" name="Picture 2"/>
          <p:cNvPicPr>
            <a:picLocks noGrp="1" noChangeAspect="1" noChangeArrowheads="1"/>
          </p:cNvPicPr>
          <p:nvPr>
            <p:ph sz="quarter" idx="1"/>
          </p:nvPr>
        </p:nvPicPr>
        <p:blipFill>
          <a:blip r:embed="rId3"/>
          <a:srcRect/>
          <a:stretch>
            <a:fillRect/>
          </a:stretch>
        </p:blipFill>
        <p:spPr bwMode="auto">
          <a:xfrm>
            <a:off x="1143000" y="1527174"/>
            <a:ext cx="6781800" cy="4721225"/>
          </a:xfrm>
          <a:prstGeom prst="rect">
            <a:avLst/>
          </a:prstGeom>
          <a:noFill/>
          <a:ln w="9525">
            <a:noFill/>
            <a:miter lim="800000"/>
            <a:headEnd/>
            <a:tailEnd/>
          </a:ln>
          <a:effectLst/>
        </p:spPr>
      </p:pic>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85800" y="304800"/>
            <a:ext cx="7772400" cy="609600"/>
          </a:xfrm>
        </p:spPr>
        <p:txBody>
          <a:bodyPr/>
          <a:lstStyle/>
          <a:p>
            <a:pPr eaLnBrk="1" hangingPunct="1"/>
            <a:r>
              <a:rPr lang="en-US" dirty="0"/>
              <a:t>Effectiveness of alpha-beta</a:t>
            </a:r>
          </a:p>
        </p:txBody>
      </p:sp>
      <p:sp>
        <p:nvSpPr>
          <p:cNvPr id="38915" name="Rectangle 3" descr="Rectangle: Click to edit Master text styles&#10;Second level&#10;Third level&#10;Fourth level&#10;Fifth level"/>
          <p:cNvSpPr>
            <a:spLocks noGrp="1" noChangeArrowheads="1"/>
          </p:cNvSpPr>
          <p:nvPr>
            <p:ph type="body" idx="1"/>
          </p:nvPr>
        </p:nvSpPr>
        <p:spPr>
          <a:xfrm>
            <a:off x="685800" y="1600200"/>
            <a:ext cx="7772400" cy="4724400"/>
          </a:xfrm>
        </p:spPr>
        <p:txBody>
          <a:bodyPr>
            <a:normAutofit lnSpcReduction="10000"/>
          </a:bodyPr>
          <a:lstStyle/>
          <a:p>
            <a:pPr eaLnBrk="1" hangingPunct="1">
              <a:lnSpc>
                <a:spcPct val="90000"/>
              </a:lnSpc>
            </a:pPr>
            <a:r>
              <a:rPr lang="en-US" sz="2400" dirty="0"/>
              <a:t>Alpha-beta is guaranteed to compute the same value for the root node as computed by </a:t>
            </a:r>
            <a:r>
              <a:rPr lang="en-US" sz="2400" dirty="0" err="1"/>
              <a:t>minimax</a:t>
            </a:r>
            <a:r>
              <a:rPr lang="en-US" sz="2400" dirty="0"/>
              <a:t>, with less or equal computation</a:t>
            </a:r>
          </a:p>
          <a:p>
            <a:pPr eaLnBrk="1" hangingPunct="1">
              <a:lnSpc>
                <a:spcPct val="90000"/>
              </a:lnSpc>
            </a:pPr>
            <a:r>
              <a:rPr lang="en-US" sz="2400" b="1" dirty="0"/>
              <a:t>Worst case:</a:t>
            </a:r>
            <a:r>
              <a:rPr lang="en-US" sz="2400" dirty="0"/>
              <a:t>  no pruning, examining </a:t>
            </a:r>
            <a:r>
              <a:rPr lang="en-US" sz="2400" dirty="0" err="1"/>
              <a:t>b^d</a:t>
            </a:r>
            <a:r>
              <a:rPr lang="en-US" sz="2400" dirty="0"/>
              <a:t> leaf nodes, where each node has b children and a d-ply search is performed </a:t>
            </a:r>
          </a:p>
          <a:p>
            <a:pPr eaLnBrk="1" hangingPunct="1">
              <a:lnSpc>
                <a:spcPct val="90000"/>
              </a:lnSpc>
            </a:pPr>
            <a:r>
              <a:rPr lang="en-US" sz="2400" b="1" dirty="0"/>
              <a:t>Best case:</a:t>
            </a:r>
            <a:r>
              <a:rPr lang="en-US" sz="2400" dirty="0"/>
              <a:t> examine only (b)^(d/2) leaf nodes. </a:t>
            </a:r>
          </a:p>
          <a:p>
            <a:pPr lvl="1" eaLnBrk="1" hangingPunct="1">
              <a:lnSpc>
                <a:spcPct val="90000"/>
              </a:lnSpc>
            </a:pPr>
            <a:r>
              <a:rPr lang="en-US" sz="2400" dirty="0"/>
              <a:t>Result is you can search twice as deep as </a:t>
            </a:r>
            <a:r>
              <a:rPr lang="en-US" sz="2400" dirty="0" err="1"/>
              <a:t>minimax</a:t>
            </a:r>
            <a:r>
              <a:rPr lang="en-US" sz="2400" dirty="0"/>
              <a:t>! </a:t>
            </a:r>
          </a:p>
          <a:p>
            <a:pPr eaLnBrk="1" hangingPunct="1">
              <a:lnSpc>
                <a:spcPct val="90000"/>
              </a:lnSpc>
            </a:pPr>
            <a:r>
              <a:rPr lang="en-US" sz="2400" b="1" dirty="0"/>
              <a:t>Best case</a:t>
            </a:r>
            <a:r>
              <a:rPr lang="en-US" sz="2400" dirty="0"/>
              <a:t> is when each player’s best move is the first alternative generated  </a:t>
            </a:r>
          </a:p>
          <a:p>
            <a:pPr eaLnBrk="1" hangingPunct="1">
              <a:lnSpc>
                <a:spcPct val="90000"/>
              </a:lnSpc>
            </a:pPr>
            <a:r>
              <a:rPr lang="en-US" sz="2400" dirty="0"/>
              <a:t>In Deep Blue, they found empirically that alpha-beta pruning meant that the average branching factor at each node was about 6 instead of about 35!</a:t>
            </a:r>
          </a:p>
          <a:p>
            <a:pPr eaLnBrk="1" hangingPunct="1">
              <a:lnSpc>
                <a:spcPct val="90000"/>
              </a:lnSpc>
            </a:pPr>
            <a:endParaRPr lang="en-US" sz="2400" dirty="0"/>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Games</a:t>
            </a:r>
          </a:p>
        </p:txBody>
      </p:sp>
      <p:sp>
        <p:nvSpPr>
          <p:cNvPr id="4" name="Rectangle 3"/>
          <p:cNvSpPr/>
          <p:nvPr/>
        </p:nvSpPr>
        <p:spPr>
          <a:xfrm>
            <a:off x="381000" y="1752601"/>
            <a:ext cx="8534400" cy="3416320"/>
          </a:xfrm>
          <a:prstGeom prst="rect">
            <a:avLst/>
          </a:prstGeom>
        </p:spPr>
        <p:txBody>
          <a:bodyPr wrap="square">
            <a:spAutoFit/>
          </a:bodyPr>
          <a:lstStyle/>
          <a:p>
            <a:r>
              <a:rPr lang="en-US" sz="2400" dirty="0"/>
              <a:t>In game theory, a </a:t>
            </a:r>
            <a:r>
              <a:rPr lang="en-US" sz="2400" b="1" dirty="0"/>
              <a:t>stochastic game </a:t>
            </a:r>
            <a:r>
              <a:rPr lang="en-US" sz="2400" dirty="0"/>
              <a:t>is a dynamic game with </a:t>
            </a:r>
            <a:r>
              <a:rPr lang="en-US" sz="2400" b="1" dirty="0"/>
              <a:t>probabilistic transitions</a:t>
            </a:r>
            <a:r>
              <a:rPr lang="en-US" sz="2400" dirty="0"/>
              <a:t> played by one or more players.</a:t>
            </a:r>
          </a:p>
          <a:p>
            <a:endParaRPr lang="en-US" sz="2400" dirty="0"/>
          </a:p>
          <a:p>
            <a:r>
              <a:rPr lang="en-US" sz="2400" dirty="0"/>
              <a:t>The game is played in a sequence of stages.</a:t>
            </a:r>
          </a:p>
          <a:p>
            <a:endParaRPr lang="en-US" sz="2400" dirty="0"/>
          </a:p>
          <a:p>
            <a:r>
              <a:rPr lang="en-US" sz="2400" dirty="0"/>
              <a:t>In a stochastic game the play proceeds by steps from position to position, according to transition probabilities controlled jointly by the two players.</a:t>
            </a: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 Satisfaction Problem</a:t>
            </a:r>
          </a:p>
        </p:txBody>
      </p:sp>
      <p:sp>
        <p:nvSpPr>
          <p:cNvPr id="3" name="Content Placeholder 2"/>
          <p:cNvSpPr>
            <a:spLocks noGrp="1"/>
          </p:cNvSpPr>
          <p:nvPr>
            <p:ph sz="quarter" idx="1"/>
          </p:nvPr>
        </p:nvSpPr>
        <p:spPr/>
        <p:txBody>
          <a:bodyPr/>
          <a:lstStyle/>
          <a:p>
            <a:pPr>
              <a:lnSpc>
                <a:spcPct val="90000"/>
              </a:lnSpc>
            </a:pPr>
            <a:r>
              <a:rPr lang="en-US" dirty="0"/>
              <a:t>A </a:t>
            </a:r>
            <a:r>
              <a:rPr lang="en-US" b="1" dirty="0"/>
              <a:t>constraint satisfaction problem</a:t>
            </a:r>
            <a:r>
              <a:rPr lang="en-US" dirty="0"/>
              <a:t> (or CSP) is a special kind of problem that satisfies some additional structural properties beyond the basic requirements for problems in general.</a:t>
            </a:r>
          </a:p>
          <a:p>
            <a:pPr>
              <a:lnSpc>
                <a:spcPct val="90000"/>
              </a:lnSpc>
            </a:pPr>
            <a:endParaRPr lang="en-US" dirty="0"/>
          </a:p>
          <a:p>
            <a:pPr>
              <a:lnSpc>
                <a:spcPct val="90000"/>
              </a:lnSpc>
            </a:pPr>
            <a:r>
              <a:rPr lang="en-US" dirty="0"/>
              <a:t>In a CSP, the states are defined by the values of a set of </a:t>
            </a:r>
            <a:r>
              <a:rPr lang="en-US" b="1" dirty="0"/>
              <a:t>variables</a:t>
            </a:r>
            <a:r>
              <a:rPr lang="en-US" dirty="0"/>
              <a:t> and the goal test specifies a set of </a:t>
            </a:r>
            <a:r>
              <a:rPr lang="en-US" b="1" dirty="0"/>
              <a:t>constraints</a:t>
            </a:r>
            <a:r>
              <a:rPr lang="en-US" dirty="0"/>
              <a:t> that the values have to obey.</a:t>
            </a:r>
          </a:p>
          <a:p>
            <a:endParaRPr lang="en-US"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 Satisfaction Problem</a:t>
            </a:r>
          </a:p>
        </p:txBody>
      </p:sp>
      <p:sp>
        <p:nvSpPr>
          <p:cNvPr id="3" name="Content Placeholder 2"/>
          <p:cNvSpPr>
            <a:spLocks noGrp="1"/>
          </p:cNvSpPr>
          <p:nvPr>
            <p:ph sz="quarter" idx="1"/>
          </p:nvPr>
        </p:nvSpPr>
        <p:spPr/>
        <p:txBody>
          <a:bodyPr>
            <a:normAutofit fontScale="85000" lnSpcReduction="10000"/>
          </a:bodyPr>
          <a:lstStyle/>
          <a:p>
            <a:r>
              <a:rPr lang="en-US" dirty="0"/>
              <a:t>CSP = {</a:t>
            </a:r>
            <a:r>
              <a:rPr lang="en-US" i="1" dirty="0"/>
              <a:t>V, D, C}</a:t>
            </a:r>
          </a:p>
          <a:p>
            <a:r>
              <a:rPr lang="en-US" b="1" i="1" dirty="0"/>
              <a:t>Variables: </a:t>
            </a:r>
            <a:r>
              <a:rPr lang="en-US" i="1" dirty="0"/>
              <a:t>V = {V1,..,VN}</a:t>
            </a:r>
          </a:p>
          <a:p>
            <a:r>
              <a:rPr lang="en-US" dirty="0"/>
              <a:t>Example: The values of the nodes in the graph</a:t>
            </a:r>
          </a:p>
          <a:p>
            <a:r>
              <a:rPr lang="en-US" b="1" i="1" dirty="0"/>
              <a:t>Domain: </a:t>
            </a:r>
            <a:r>
              <a:rPr lang="en-US" i="1" dirty="0"/>
              <a:t>The set of d values that each variable can take</a:t>
            </a:r>
          </a:p>
          <a:p>
            <a:r>
              <a:rPr lang="en-US" dirty="0"/>
              <a:t>Example: </a:t>
            </a:r>
            <a:r>
              <a:rPr lang="en-US" i="1" dirty="0"/>
              <a:t>D = {R, G, B}</a:t>
            </a:r>
          </a:p>
          <a:p>
            <a:r>
              <a:rPr lang="en-US" b="1" i="1" dirty="0"/>
              <a:t>Constraints: </a:t>
            </a:r>
            <a:r>
              <a:rPr lang="en-US" i="1" dirty="0"/>
              <a:t>C = {C1,..,CK}</a:t>
            </a:r>
          </a:p>
          <a:p>
            <a:r>
              <a:rPr lang="en-US" dirty="0"/>
              <a:t>Each constraint consists of a </a:t>
            </a:r>
            <a:r>
              <a:rPr lang="en-US" dirty="0" err="1"/>
              <a:t>tuple</a:t>
            </a:r>
            <a:r>
              <a:rPr lang="en-US" dirty="0"/>
              <a:t> of variables and a list of values that the </a:t>
            </a:r>
            <a:r>
              <a:rPr lang="en-US" dirty="0" err="1"/>
              <a:t>tuple</a:t>
            </a:r>
            <a:r>
              <a:rPr lang="en-US" dirty="0"/>
              <a:t> is allowed to take for this problem</a:t>
            </a:r>
          </a:p>
          <a:p>
            <a:r>
              <a:rPr lang="pt-BR" dirty="0"/>
              <a:t>Example: [(</a:t>
            </a:r>
            <a:r>
              <a:rPr lang="pt-BR" i="1" dirty="0"/>
              <a:t>V2,V3),{(R,B),(R,G),(B,R),(B,G),(G,R),(G,B)}]</a:t>
            </a:r>
          </a:p>
          <a:p>
            <a:r>
              <a:rPr lang="en-US" dirty="0"/>
              <a:t>Constraints are usually defined implicitly.  </a:t>
            </a:r>
          </a:p>
          <a:p>
            <a:r>
              <a:rPr lang="en-US" dirty="0"/>
              <a:t>A function is defined to test if a </a:t>
            </a:r>
            <a:r>
              <a:rPr lang="en-US" dirty="0" err="1"/>
              <a:t>tuple</a:t>
            </a:r>
            <a:r>
              <a:rPr lang="en-US" dirty="0"/>
              <a:t> of variables satisfies the constraint</a:t>
            </a: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CSP as search problem</a:t>
            </a:r>
          </a:p>
        </p:txBody>
      </p:sp>
      <p:sp>
        <p:nvSpPr>
          <p:cNvPr id="3" name="Content Placeholder 2"/>
          <p:cNvSpPr>
            <a:spLocks noGrp="1"/>
          </p:cNvSpPr>
          <p:nvPr>
            <p:ph sz="quarter" idx="1"/>
          </p:nvPr>
        </p:nvSpPr>
        <p:spPr/>
        <p:txBody>
          <a:bodyPr>
            <a:normAutofit/>
          </a:bodyPr>
          <a:lstStyle/>
          <a:p>
            <a:r>
              <a:rPr lang="en-US" dirty="0"/>
              <a:t>A CSP can be given an </a:t>
            </a:r>
            <a:r>
              <a:rPr lang="en-US" b="1" dirty="0"/>
              <a:t>incremental formulation as a standard </a:t>
            </a:r>
            <a:r>
              <a:rPr lang="en-US" dirty="0"/>
              <a:t>search problem as follows:</a:t>
            </a:r>
          </a:p>
          <a:p>
            <a:r>
              <a:rPr lang="en-US" b="1" dirty="0"/>
              <a:t>Initial state: </a:t>
            </a:r>
            <a:r>
              <a:rPr lang="en-US" dirty="0"/>
              <a:t>the empty assignment </a:t>
            </a:r>
            <a:r>
              <a:rPr lang="en-US" dirty="0" err="1"/>
              <a:t>fg</a:t>
            </a:r>
            <a:r>
              <a:rPr lang="en-US" dirty="0"/>
              <a:t>, in which all variables are unassigned.</a:t>
            </a:r>
          </a:p>
          <a:p>
            <a:r>
              <a:rPr lang="en-US" b="1" dirty="0"/>
              <a:t>Successor function: </a:t>
            </a:r>
            <a:r>
              <a:rPr lang="en-US" dirty="0"/>
              <a:t>a value can be assigned to any unassigned variable, provided that it does not conflict with previously assigned variables.</a:t>
            </a:r>
          </a:p>
          <a:p>
            <a:r>
              <a:rPr lang="en-US" b="1" dirty="0"/>
              <a:t>Goal test: </a:t>
            </a:r>
            <a:r>
              <a:rPr lang="en-US" dirty="0"/>
              <a:t>the current assignment is complete.</a:t>
            </a:r>
          </a:p>
          <a:p>
            <a:r>
              <a:rPr lang="en-US" b="1" dirty="0"/>
              <a:t>Path cost: </a:t>
            </a:r>
            <a:r>
              <a:rPr lang="en-US" dirty="0"/>
              <a:t>a constant cost (e.g., 1) for every step.</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18826</TotalTime>
  <Words>16835</Words>
  <Application>Microsoft Office PowerPoint</Application>
  <PresentationFormat>On-screen Show (4:3)</PresentationFormat>
  <Paragraphs>3548</Paragraphs>
  <Slides>291</Slides>
  <Notes>75</Notes>
  <HiddenSlides>1</HiddenSlides>
  <MMClips>0</MMClips>
  <ScaleCrop>false</ScaleCrop>
  <HeadingPairs>
    <vt:vector size="8" baseType="variant">
      <vt:variant>
        <vt:lpstr>Fonts Used</vt:lpstr>
      </vt:variant>
      <vt:variant>
        <vt:i4>23</vt:i4>
      </vt:variant>
      <vt:variant>
        <vt:lpstr>Theme</vt:lpstr>
      </vt:variant>
      <vt:variant>
        <vt:i4>1</vt:i4>
      </vt:variant>
      <vt:variant>
        <vt:lpstr>Embedded OLE Servers</vt:lpstr>
      </vt:variant>
      <vt:variant>
        <vt:i4>2</vt:i4>
      </vt:variant>
      <vt:variant>
        <vt:lpstr>Slide Titles</vt:lpstr>
      </vt:variant>
      <vt:variant>
        <vt:i4>291</vt:i4>
      </vt:variant>
    </vt:vector>
  </HeadingPairs>
  <TitlesOfParts>
    <vt:vector size="317" baseType="lpstr">
      <vt:lpstr>ＭＳ Ｐゴシック</vt:lpstr>
      <vt:lpstr>Arial</vt:lpstr>
      <vt:lpstr>Arial Bold</vt:lpstr>
      <vt:lpstr>Arial Italic</vt:lpstr>
      <vt:lpstr>Arial Narrow</vt:lpstr>
      <vt:lpstr>Arial Unicode MS</vt:lpstr>
      <vt:lpstr>Avant Garde</vt:lpstr>
      <vt:lpstr>Book Antiqua</vt:lpstr>
      <vt:lpstr>Bookman Old Style</vt:lpstr>
      <vt:lpstr>Calibri</vt:lpstr>
      <vt:lpstr>Courier</vt:lpstr>
      <vt:lpstr>Georgia</vt:lpstr>
      <vt:lpstr>Miriam</vt:lpstr>
      <vt:lpstr>r</vt:lpstr>
      <vt:lpstr>StarSymbol</vt:lpstr>
      <vt:lpstr>Symbol</vt:lpstr>
      <vt:lpstr>Tahoma</vt:lpstr>
      <vt:lpstr>Thonburi</vt:lpstr>
      <vt:lpstr>times</vt:lpstr>
      <vt:lpstr>Times New Roman</vt:lpstr>
      <vt:lpstr>Times New Roman Bold</vt:lpstr>
      <vt:lpstr>Wingdings</vt:lpstr>
      <vt:lpstr>Wingdings 2</vt:lpstr>
      <vt:lpstr>Civic</vt:lpstr>
      <vt:lpstr>Document</vt:lpstr>
      <vt:lpstr>Worksheet</vt:lpstr>
      <vt:lpstr>UNIT-II</vt:lpstr>
      <vt:lpstr>Contents</vt:lpstr>
      <vt:lpstr>Contents</vt:lpstr>
      <vt:lpstr>Monkey &amp; Bananas Problem </vt:lpstr>
      <vt:lpstr>Monkey &amp; Bananas Problem</vt:lpstr>
      <vt:lpstr>Planning</vt:lpstr>
      <vt:lpstr>Planning vs. Problem Solving</vt:lpstr>
      <vt:lpstr>Problem solving</vt:lpstr>
      <vt:lpstr>Problem-Solving Agents</vt:lpstr>
      <vt:lpstr>Problem Formulation</vt:lpstr>
      <vt:lpstr>Problem Types</vt:lpstr>
      <vt:lpstr>Problem representation and analysis</vt:lpstr>
      <vt:lpstr>Problem representation and analysis</vt:lpstr>
      <vt:lpstr>Example of a simple problem solving agent</vt:lpstr>
      <vt:lpstr>Problem Analysis and Representation</vt:lpstr>
      <vt:lpstr>Problem Analysis and Representation</vt:lpstr>
      <vt:lpstr>The Monkey &amp; Bananas Problem</vt:lpstr>
      <vt:lpstr>Example: 8-puzzle</vt:lpstr>
      <vt:lpstr>Example: 8-puzzle</vt:lpstr>
      <vt:lpstr>Example: n queens (n = 4, n = 8)</vt:lpstr>
      <vt:lpstr>Example: n queens (n = 4, n = 8)</vt:lpstr>
      <vt:lpstr>Example: holiday in Romania</vt:lpstr>
      <vt:lpstr>Romania</vt:lpstr>
      <vt:lpstr>Example </vt:lpstr>
      <vt:lpstr>More concrete problem definition</vt:lpstr>
      <vt:lpstr>Problem representation</vt:lpstr>
      <vt:lpstr>Example  Problems</vt:lpstr>
      <vt:lpstr>Toy Problems The vacuum world</vt:lpstr>
      <vt:lpstr>Toy Problems The vacuum world</vt:lpstr>
      <vt:lpstr>Simple Vacuum World</vt:lpstr>
      <vt:lpstr>Example: The 8-puzzle</vt:lpstr>
      <vt:lpstr>8-Puzzle</vt:lpstr>
      <vt:lpstr>Example: n-queens</vt:lpstr>
      <vt:lpstr>8-Queens</vt:lpstr>
      <vt:lpstr>Real-world problems</vt:lpstr>
      <vt:lpstr>Real-world problems</vt:lpstr>
      <vt:lpstr>Route Finding</vt:lpstr>
      <vt:lpstr>Traveling Salesperson</vt:lpstr>
      <vt:lpstr>VLSI Layout</vt:lpstr>
      <vt:lpstr>Robot Navigation</vt:lpstr>
      <vt:lpstr>Assembly Sequencing</vt:lpstr>
      <vt:lpstr>Problem space and search</vt:lpstr>
      <vt:lpstr>Tree-search algorithms</vt:lpstr>
      <vt:lpstr>Tree search example</vt:lpstr>
      <vt:lpstr>PowerPoint Presentation</vt:lpstr>
      <vt:lpstr>PowerPoint Presentation</vt:lpstr>
      <vt:lpstr>Implementation: states vs. nodes</vt:lpstr>
      <vt:lpstr>Implementation: general tree search</vt:lpstr>
      <vt:lpstr>Measuring  Problem Solving Performance </vt:lpstr>
      <vt:lpstr>Measuring  Problem Solving Performance </vt:lpstr>
      <vt:lpstr>Measuring  Problem Solving Performance </vt:lpstr>
      <vt:lpstr>PowerPoint Presentation</vt:lpstr>
      <vt:lpstr>PowerPoint Presentation</vt:lpstr>
      <vt:lpstr>State Space</vt:lpstr>
      <vt:lpstr>Problem Reduction Space</vt:lpstr>
      <vt:lpstr>Problem Reduction Space</vt:lpstr>
      <vt:lpstr>Problem Reduction Space</vt:lpstr>
      <vt:lpstr>Problem Reduction Space</vt:lpstr>
      <vt:lpstr>Problem Reduction Space</vt:lpstr>
      <vt:lpstr>Problem Reduction Space</vt:lpstr>
      <vt:lpstr>Problem Reduction Space</vt:lpstr>
      <vt:lpstr>Problem Reduction Space</vt:lpstr>
      <vt:lpstr>Problem Reduction Space</vt:lpstr>
      <vt:lpstr>Problem Reduction Space</vt:lpstr>
      <vt:lpstr>AND/OR Graphs</vt:lpstr>
      <vt:lpstr>AND/OR Graphs</vt:lpstr>
      <vt:lpstr>AND/OR Graph</vt:lpstr>
      <vt:lpstr>AND/OR Graph</vt:lpstr>
      <vt:lpstr>Solution subgraph for AND/OR trees</vt:lpstr>
      <vt:lpstr>Example of AND-OR Tree</vt:lpstr>
      <vt:lpstr>AND–OR Graph Search</vt:lpstr>
      <vt:lpstr>Contd.. Example</vt:lpstr>
      <vt:lpstr>PowerPoint Presentation</vt:lpstr>
      <vt:lpstr>Explanation</vt:lpstr>
      <vt:lpstr>Contd..</vt:lpstr>
      <vt:lpstr>Contd..</vt:lpstr>
      <vt:lpstr>Search Strategies</vt:lpstr>
      <vt:lpstr>Search Strategies</vt:lpstr>
      <vt:lpstr>Uninformed vs. informed</vt:lpstr>
      <vt:lpstr>Uninformed Search Strategies</vt:lpstr>
      <vt:lpstr>Breadth-First</vt:lpstr>
      <vt:lpstr>PowerPoint Presentation</vt:lpstr>
      <vt:lpstr>PowerPoint Presentation</vt:lpstr>
      <vt:lpstr>PowerPoint Presentation</vt:lpstr>
      <vt:lpstr>PowerPoint Presentation</vt:lpstr>
      <vt:lpstr>Breadth-First</vt:lpstr>
      <vt:lpstr>Breadth-First</vt:lpstr>
      <vt:lpstr>Breadth-First Snapshot 1</vt:lpstr>
      <vt:lpstr>Breadth-First Snapshot 2</vt:lpstr>
      <vt:lpstr>Breadth-First Snapshot 3</vt:lpstr>
      <vt:lpstr>Breadth-First Snapshot 4</vt:lpstr>
      <vt:lpstr>Breadth-First Snapshot 5</vt:lpstr>
      <vt:lpstr>Breadth-First Snapshot 6</vt:lpstr>
      <vt:lpstr>Breadth-First Snapshot 7</vt:lpstr>
      <vt:lpstr>Breadth-First Snapshot 8</vt:lpstr>
      <vt:lpstr>Breadth-First Snapshot 9</vt:lpstr>
      <vt:lpstr>Breadth-First Snapshot 10</vt:lpstr>
      <vt:lpstr>Breadth-First Snapshot 11</vt:lpstr>
      <vt:lpstr>Breadth-First Snapshot 12</vt:lpstr>
      <vt:lpstr>Breadth-First Snapshot 13</vt:lpstr>
      <vt:lpstr>Breadth-First Snapshot 14</vt:lpstr>
      <vt:lpstr>Breadth-First Snapshot 15</vt:lpstr>
      <vt:lpstr>Breadth-First Snapshot 16</vt:lpstr>
      <vt:lpstr>Breadth-First Snapshot 17</vt:lpstr>
      <vt:lpstr>Breadth-First Snapshot 18</vt:lpstr>
      <vt:lpstr>Breadth-First Snapshot 19</vt:lpstr>
      <vt:lpstr>Breadth-First Snapshot 20</vt:lpstr>
      <vt:lpstr>Breadth-First Snapshot 21</vt:lpstr>
      <vt:lpstr>Breadth-First Snapshot 22</vt:lpstr>
      <vt:lpstr>Breadth-First Snapshot 23</vt:lpstr>
      <vt:lpstr>Breadth-First Snapshot 24</vt:lpstr>
      <vt:lpstr>Uniform-Cost -First</vt:lpstr>
      <vt:lpstr>Uniform-Cost -First</vt:lpstr>
      <vt:lpstr>Uniform-Cost Snapshot</vt:lpstr>
      <vt:lpstr>Uniform Cost Fringe Trace</vt:lpstr>
      <vt:lpstr>Breadth-First vs. Uniform-Cost</vt:lpstr>
      <vt:lpstr>Depth First Search</vt:lpstr>
      <vt:lpstr>Depth First 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Depth First Search</vt:lpstr>
      <vt:lpstr>Depth First Search</vt:lpstr>
      <vt:lpstr>Depth First Search</vt:lpstr>
      <vt:lpstr>Depth-First Search </vt:lpstr>
      <vt:lpstr>Depth-First Search </vt:lpstr>
      <vt:lpstr>Backtracking Search</vt:lpstr>
      <vt:lpstr>Depth limited Search </vt:lpstr>
      <vt:lpstr> </vt:lpstr>
      <vt:lpstr>Iterative deepening </vt:lpstr>
      <vt:lpstr>Iterative deepening </vt:lpstr>
      <vt:lpstr>Iterative deepening search l =0</vt:lpstr>
      <vt:lpstr>Iterative deepening search l =1</vt:lpstr>
      <vt:lpstr>Iterative deepening search l =2</vt:lpstr>
      <vt:lpstr>Iterative deepening search l =3</vt:lpstr>
      <vt:lpstr>Iterative deepening </vt:lpstr>
      <vt:lpstr>Iterative deepening </vt:lpstr>
      <vt:lpstr>Bidirectional Search</vt:lpstr>
      <vt:lpstr>Improving Search Methods</vt:lpstr>
      <vt:lpstr>Avoiding Repeated States</vt:lpstr>
      <vt:lpstr>Informed Search</vt:lpstr>
      <vt:lpstr>Informed Search</vt:lpstr>
      <vt:lpstr>Best-First Search</vt:lpstr>
      <vt:lpstr>Heuristic function</vt:lpstr>
      <vt:lpstr>Best-First Search</vt:lpstr>
      <vt:lpstr>Best-First Search</vt:lpstr>
      <vt:lpstr>Best-First Search</vt:lpstr>
      <vt:lpstr>Best-First Search</vt:lpstr>
      <vt:lpstr>Greedy Best-First Search</vt:lpstr>
      <vt:lpstr>Greedy Best-First Search</vt:lpstr>
      <vt:lpstr>Greedy Best First Search</vt:lpstr>
      <vt:lpstr>Greedy Best First Search</vt:lpstr>
      <vt:lpstr>Greedy Best First Search</vt:lpstr>
      <vt:lpstr>Greedy Best First Search</vt:lpstr>
      <vt:lpstr>Greedy Best-First Search Snapshot</vt:lpstr>
      <vt:lpstr>Best first (Greedy) search</vt:lpstr>
      <vt:lpstr>Properties of greedy best-first search</vt:lpstr>
      <vt:lpstr>A* Search</vt:lpstr>
      <vt:lpstr>Algorithm A*</vt:lpstr>
      <vt:lpstr>A* Snapshot</vt:lpstr>
      <vt:lpstr>A* Snapshot with all f-Costs</vt:lpstr>
      <vt:lpstr>A* Snapshot with Contour f=13</vt:lpstr>
      <vt:lpstr>A* search example</vt:lpstr>
      <vt:lpstr>A* search example</vt:lpstr>
      <vt:lpstr>A* search example</vt:lpstr>
      <vt:lpstr>A* search example</vt:lpstr>
      <vt:lpstr>A* search example</vt:lpstr>
      <vt:lpstr>A* search example</vt:lpstr>
      <vt:lpstr>A* search example</vt:lpstr>
      <vt:lpstr>PowerPoint Presentation</vt:lpstr>
      <vt:lpstr>PowerPoint Presentation</vt:lpstr>
      <vt:lpstr>The A* procedure (7)</vt:lpstr>
      <vt:lpstr>PowerPoint Presentation</vt:lpstr>
      <vt:lpstr>PowerPoint Presentation</vt:lpstr>
      <vt:lpstr>PowerPoint Presentation</vt:lpstr>
      <vt:lpstr>PowerPoint Presentation</vt:lpstr>
      <vt:lpstr>PowerPoint Presentation</vt:lpstr>
      <vt:lpstr>Another Example</vt:lpstr>
      <vt:lpstr>PowerPoint Presentation</vt:lpstr>
      <vt:lpstr>Another Example</vt:lpstr>
      <vt:lpstr>Heuristics for Searching</vt:lpstr>
      <vt:lpstr>Euclidean Distance</vt:lpstr>
      <vt:lpstr>Manhattan Distance</vt:lpstr>
      <vt:lpstr>Nilsson's Sequence Score</vt:lpstr>
      <vt:lpstr>8-Puzzle Heuristics</vt:lpstr>
      <vt:lpstr>Problem-Space Graphs</vt:lpstr>
      <vt:lpstr>Modified heuristic for 8-puzzle</vt:lpstr>
      <vt:lpstr>PowerPoint Presentation</vt:lpstr>
      <vt:lpstr>Properties of A*</vt:lpstr>
      <vt:lpstr>Admissible Heuristics</vt:lpstr>
      <vt:lpstr>Example: Admissible Heuristics in 8-Puzzle Game</vt:lpstr>
      <vt:lpstr>Memory-Bounded Search</vt:lpstr>
      <vt:lpstr>Iterative Deepening A* (IDA*)</vt:lpstr>
      <vt:lpstr>Recursive Best-First Search</vt:lpstr>
      <vt:lpstr>Simplified Memory-Bounded A* (SMA*)</vt:lpstr>
      <vt:lpstr>AND/OR Graphs</vt:lpstr>
      <vt:lpstr>AND/OR graphs</vt:lpstr>
      <vt:lpstr>Searching AND/OR graphs</vt:lpstr>
      <vt:lpstr>AND/OR search </vt:lpstr>
      <vt:lpstr>AND/OR  Best-First-Search</vt:lpstr>
      <vt:lpstr>AND/OR Best-First-Search example</vt:lpstr>
      <vt:lpstr>AND/OR Best-First-Search example</vt:lpstr>
      <vt:lpstr>Interacting Sub goals</vt:lpstr>
      <vt:lpstr>AO* algorithm</vt:lpstr>
      <vt:lpstr>AO* algorithm (Cont.)</vt:lpstr>
      <vt:lpstr>An Example of AO* Algorithm</vt:lpstr>
      <vt:lpstr>An Example</vt:lpstr>
      <vt:lpstr>An Example</vt:lpstr>
      <vt:lpstr>An Example</vt:lpstr>
      <vt:lpstr>An Example</vt:lpstr>
      <vt:lpstr>An Example</vt:lpstr>
      <vt:lpstr>An Example</vt:lpstr>
      <vt:lpstr>Problem Reduction</vt:lpstr>
      <vt:lpstr>Problem Reduction: AO*</vt:lpstr>
      <vt:lpstr>Problem Reduction: AO*</vt:lpstr>
      <vt:lpstr>Local Search Algorithms</vt:lpstr>
      <vt:lpstr>Local Search Algorithms</vt:lpstr>
      <vt:lpstr>Local Search Algorithms</vt:lpstr>
      <vt:lpstr>Local Search(Iterative Improvement) Algorithms</vt:lpstr>
      <vt:lpstr>Example: n-queens</vt:lpstr>
      <vt:lpstr>Example: TSP</vt:lpstr>
      <vt:lpstr>Algorithm for TSP</vt:lpstr>
      <vt:lpstr>Local Search Algorithms</vt:lpstr>
      <vt:lpstr>Hill-climbing search</vt:lpstr>
      <vt:lpstr>Hill-climbing search Algorithm</vt:lpstr>
      <vt:lpstr>Hill-climbing search</vt:lpstr>
      <vt:lpstr>Example: TSP</vt:lpstr>
      <vt:lpstr>Hill-climbing search: 8-queens problem</vt:lpstr>
      <vt:lpstr>Hill-climbing search: 8-queens problem</vt:lpstr>
      <vt:lpstr>Hill-climbing search Problems </vt:lpstr>
      <vt:lpstr>Problem</vt:lpstr>
      <vt:lpstr>Hill-climbing in Continuous Spaces</vt:lpstr>
      <vt:lpstr>Variations of Hill Climbing Search</vt:lpstr>
      <vt:lpstr>Variations of Hill Climbing Search</vt:lpstr>
      <vt:lpstr>Simulated annealing search</vt:lpstr>
      <vt:lpstr>Simulated annealing search</vt:lpstr>
      <vt:lpstr>Example: 8-puzzle</vt:lpstr>
      <vt:lpstr>Example: 8-puzzle</vt:lpstr>
      <vt:lpstr>Local Beam Search</vt:lpstr>
      <vt:lpstr>Local Beam Search Algorithm</vt:lpstr>
      <vt:lpstr>Local Beam Search Example</vt:lpstr>
      <vt:lpstr>Tabu Search</vt:lpstr>
      <vt:lpstr>Genetic algorithms</vt:lpstr>
      <vt:lpstr>Searching with nondeterministic actions</vt:lpstr>
      <vt:lpstr>AND OR SEARCH TREES</vt:lpstr>
      <vt:lpstr>Searching with partial observations</vt:lpstr>
      <vt:lpstr>PowerPoint Presentation</vt:lpstr>
      <vt:lpstr>Online Search Agents and Unknown Environments</vt:lpstr>
      <vt:lpstr>PowerPoint Presentation</vt:lpstr>
      <vt:lpstr>Online Search Agents</vt:lpstr>
      <vt:lpstr>Adversarial search methods(Game Theory)</vt:lpstr>
      <vt:lpstr>Game Playing</vt:lpstr>
      <vt:lpstr>Formal definition game as a search problem </vt:lpstr>
      <vt:lpstr>Types of Games</vt:lpstr>
      <vt:lpstr>Search versus Games</vt:lpstr>
      <vt:lpstr>Game tree</vt:lpstr>
      <vt:lpstr>Game Tree</vt:lpstr>
      <vt:lpstr>Game Tree</vt:lpstr>
      <vt:lpstr>Game tree</vt:lpstr>
      <vt:lpstr>Partial Game Tree for Tic-Tac-Toe</vt:lpstr>
      <vt:lpstr>Correspondence with AND/OR graph</vt:lpstr>
      <vt:lpstr>Game tree</vt:lpstr>
      <vt:lpstr>Status Labeling Procedure</vt:lpstr>
      <vt:lpstr>Status Labeling Procedure</vt:lpstr>
      <vt:lpstr>How to play a game</vt:lpstr>
      <vt:lpstr>MiniMax  Algorithm</vt:lpstr>
      <vt:lpstr>MiniMax  Algorithm</vt:lpstr>
      <vt:lpstr>Minimax procedure</vt:lpstr>
      <vt:lpstr>Example_1</vt:lpstr>
      <vt:lpstr>Example_2</vt:lpstr>
      <vt:lpstr>Evaluation function</vt:lpstr>
      <vt:lpstr>Evaluation function examples</vt:lpstr>
      <vt:lpstr>PowerPoint Presentation</vt:lpstr>
      <vt:lpstr>PowerPoint Presentation</vt:lpstr>
      <vt:lpstr>Alpha-Beta Pruning</vt:lpstr>
      <vt:lpstr>Alpha-beta pruning</vt:lpstr>
      <vt:lpstr>Alpha-beta pruning</vt:lpstr>
      <vt:lpstr>Alpha-Beta Procedure</vt:lpstr>
      <vt:lpstr>Example_1</vt:lpstr>
      <vt:lpstr>PowerPoint Presentation</vt:lpstr>
      <vt:lpstr>Example_2</vt:lpstr>
      <vt:lpstr>Effectiveness of alpha-beta</vt:lpstr>
      <vt:lpstr>Stochastic Games</vt:lpstr>
      <vt:lpstr>Constraint Satisfaction Problem</vt:lpstr>
      <vt:lpstr>Constraint Satisfaction Problem</vt:lpstr>
      <vt:lpstr>CSP as search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dc:title>
  <dc:creator>bhagyashree</dc:creator>
  <cp:lastModifiedBy>Unitech Engg</cp:lastModifiedBy>
  <cp:revision>454</cp:revision>
  <dcterms:created xsi:type="dcterms:W3CDTF">2015-06-01T11:22:42Z</dcterms:created>
  <dcterms:modified xsi:type="dcterms:W3CDTF">2025-02-04T11:45:41Z</dcterms:modified>
</cp:coreProperties>
</file>